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63" r:id="rId17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70" autoAdjust="0"/>
    <p:restoredTop sz="94678"/>
  </p:normalViewPr>
  <p:slideViewPr>
    <p:cSldViewPr snapToGrid="0">
      <p:cViewPr varScale="1">
        <p:scale>
          <a:sx n="87" d="100"/>
          <a:sy n="87" d="100"/>
        </p:scale>
        <p:origin x="200" y="2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05DBC626-4DD8-95BD-2906-E62D73E83E1B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F4F4B-645B-AE4E-2BF4-F7E94EEF37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30363" y="2077401"/>
            <a:ext cx="9144000" cy="750852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COURSE NAME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2F5CA641-4378-FFF4-6C63-FE20A7AB18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46843" y="4323334"/>
            <a:ext cx="11298314" cy="92405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Teacher:</a:t>
            </a:r>
          </a:p>
          <a:p>
            <a:r>
              <a:rPr lang="en-US" dirty="0"/>
              <a:t>First name, Last name, academic degree, academic title, position</a:t>
            </a:r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D8244C4-6C89-A133-852B-C8FC03F1D08E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1026" name="Picture 2" descr="COMAI - Ulysseus">
            <a:extLst>
              <a:ext uri="{FF2B5EF4-FFF2-40B4-BE49-F238E27FC236}">
                <a16:creationId xmlns:a16="http://schemas.microsoft.com/office/drawing/2014/main" id="{C12C8155-5617-3A68-F4D7-AAD08BB06DE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Місце для зображення 12">
            <a:extLst>
              <a:ext uri="{FF2B5EF4-FFF2-40B4-BE49-F238E27FC236}">
                <a16:creationId xmlns:a16="http://schemas.microsoft.com/office/drawing/2014/main" id="{E815AE2E-6725-7927-4881-DA2D2C5A4F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4" name="Місце для зображення 12">
            <a:extLst>
              <a:ext uri="{FF2B5EF4-FFF2-40B4-BE49-F238E27FC236}">
                <a16:creationId xmlns:a16="http://schemas.microsoft.com/office/drawing/2014/main" id="{62658F34-B66C-A1D3-B3B4-DF50825EA16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9" name="Місце для тексту 18">
            <a:extLst>
              <a:ext uri="{FF2B5EF4-FFF2-40B4-BE49-F238E27FC236}">
                <a16:creationId xmlns:a16="http://schemas.microsoft.com/office/drawing/2014/main" id="{B10AEEDB-6C49-4C16-1AB4-353507F394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0363" y="3033506"/>
            <a:ext cx="9144000" cy="75085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Lecture #. “Title”</a:t>
            </a:r>
            <a:endParaRPr lang="uk-UA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46E11E8-C94E-4AE7-ADB5-FDEAADAE04C0}"/>
              </a:ext>
            </a:extLst>
          </p:cNvPr>
          <p:cNvSpPr txBox="1"/>
          <p:nvPr userDrawn="1"/>
        </p:nvSpPr>
        <p:spPr>
          <a:xfrm>
            <a:off x="407951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85943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2">
            <a:extLst>
              <a:ext uri="{FF2B5EF4-FFF2-40B4-BE49-F238E27FC236}">
                <a16:creationId xmlns:a16="http://schemas.microsoft.com/office/drawing/2014/main" id="{20CB3192-52DB-1C4F-CDF1-2C5834701427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  <p:txBody>
          <a:bodyPr/>
          <a:lstStyle/>
          <a:p>
            <a:endParaRPr lang="uk-UA" dirty="0"/>
          </a:p>
        </p:txBody>
      </p:sp>
      <p:sp>
        <p:nvSpPr>
          <p:cNvPr id="9" name="Місце для тексту 8">
            <a:extLst>
              <a:ext uri="{FF2B5EF4-FFF2-40B4-BE49-F238E27FC236}">
                <a16:creationId xmlns:a16="http://schemas.microsoft.com/office/drawing/2014/main" id="{8DA5757D-9772-C9F6-1941-FA9F1C1F97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4066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3" name="Заголовок 12">
            <a:extLst>
              <a:ext uri="{FF2B5EF4-FFF2-40B4-BE49-F238E27FC236}">
                <a16:creationId xmlns:a16="http://schemas.microsoft.com/office/drawing/2014/main" id="{B648F94A-93CF-5554-B9EC-99C1603543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LECTURE PLAN</a:t>
            </a:r>
            <a:endParaRPr lang="uk-UA" dirty="0"/>
          </a:p>
        </p:txBody>
      </p:sp>
      <p:sp>
        <p:nvSpPr>
          <p:cNvPr id="18" name="Місце для тексту 8">
            <a:extLst>
              <a:ext uri="{FF2B5EF4-FFF2-40B4-BE49-F238E27FC236}">
                <a16:creationId xmlns:a16="http://schemas.microsoft.com/office/drawing/2014/main" id="{2C4AAD83-F098-467E-30E8-5B1DBFBB92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44065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9" name="Місце для тексту 8">
            <a:extLst>
              <a:ext uri="{FF2B5EF4-FFF2-40B4-BE49-F238E27FC236}">
                <a16:creationId xmlns:a16="http://schemas.microsoft.com/office/drawing/2014/main" id="{E19B8F13-7D27-6CB4-C4E2-740F7D45DE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066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0" name="Місце для тексту 8">
            <a:extLst>
              <a:ext uri="{FF2B5EF4-FFF2-40B4-BE49-F238E27FC236}">
                <a16:creationId xmlns:a16="http://schemas.microsoft.com/office/drawing/2014/main" id="{478A70D7-9C17-6A3A-7307-37FCE7F9D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44065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1" name="Місце для тексту 8">
            <a:extLst>
              <a:ext uri="{FF2B5EF4-FFF2-40B4-BE49-F238E27FC236}">
                <a16:creationId xmlns:a16="http://schemas.microsoft.com/office/drawing/2014/main" id="{6C85C806-5D99-80B3-1B5C-C1F865438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2685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2" name="Місце для тексту 8">
            <a:extLst>
              <a:ext uri="{FF2B5EF4-FFF2-40B4-BE49-F238E27FC236}">
                <a16:creationId xmlns:a16="http://schemas.microsoft.com/office/drawing/2014/main" id="{A9DE4B24-321A-7699-D368-923ABAFA73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2684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3" name="Місце для тексту 8">
            <a:extLst>
              <a:ext uri="{FF2B5EF4-FFF2-40B4-BE49-F238E27FC236}">
                <a16:creationId xmlns:a16="http://schemas.microsoft.com/office/drawing/2014/main" id="{AFA89644-FB9E-ABAF-F0D3-EA41087639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32685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4" name="Місце для тексту 8">
            <a:extLst>
              <a:ext uri="{FF2B5EF4-FFF2-40B4-BE49-F238E27FC236}">
                <a16:creationId xmlns:a16="http://schemas.microsoft.com/office/drawing/2014/main" id="{E4A3D9BF-973C-0418-3024-30595EBA45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32684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97676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5A07F23F-4277-FC4D-97B7-3E341B68F917}"/>
              </a:ext>
            </a:extLst>
          </p:cNvPr>
          <p:cNvSpPr/>
          <p:nvPr userDrawn="1"/>
        </p:nvSpPr>
        <p:spPr>
          <a:xfrm rot="19833573">
            <a:off x="4329829" y="-375306"/>
            <a:ext cx="9880718" cy="7608613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897EB8-BC56-C8CD-3070-C9ACA13EC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50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 OF THE # POINT FROM THE LECTURE PLAN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27D60B2F-9685-26A3-EC21-6D22D8A4D04B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FBD412A2-E641-132E-78FF-02F60B95DF11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  <p:sp>
        <p:nvSpPr>
          <p:cNvPr id="11" name="Freeform 4">
            <a:extLst>
              <a:ext uri="{FF2B5EF4-FFF2-40B4-BE49-F238E27FC236}">
                <a16:creationId xmlns:a16="http://schemas.microsoft.com/office/drawing/2014/main" id="{F07C4348-D2BB-5FEF-BFDE-ED24D7871E6A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2363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>
            <a:extLst>
              <a:ext uri="{FF2B5EF4-FFF2-40B4-BE49-F238E27FC236}">
                <a16:creationId xmlns:a16="http://schemas.microsoft.com/office/drawing/2014/main" id="{438A861F-723B-32BD-123D-23AB50C1E9DF}"/>
              </a:ext>
            </a:extLst>
          </p:cNvPr>
          <p:cNvSpPr/>
          <p:nvPr userDrawn="1"/>
        </p:nvSpPr>
        <p:spPr>
          <a:xfrm rot="6517973">
            <a:off x="-1650001" y="805883"/>
            <a:ext cx="9663726" cy="6609046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7D33B1-0CDC-ED77-635F-731BCFBFA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710261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1339ECB-7836-56BF-C31D-3BAEBCA8F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7" name="Місце для тексту 6">
            <a:extLst>
              <a:ext uri="{FF2B5EF4-FFF2-40B4-BE49-F238E27FC236}">
                <a16:creationId xmlns:a16="http://schemas.microsoft.com/office/drawing/2014/main" id="{8E8B18C6-9CBB-DF5A-5A27-4791831B8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870075"/>
            <a:ext cx="5532120" cy="842963"/>
          </a:xfrm>
        </p:spPr>
        <p:txBody>
          <a:bodyPr/>
          <a:lstStyle>
            <a:lvl1pPr marL="0" indent="0">
              <a:buNone/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8" name="Місце для тексту 6">
            <a:extLst>
              <a:ext uri="{FF2B5EF4-FFF2-40B4-BE49-F238E27FC236}">
                <a16:creationId xmlns:a16="http://schemas.microsoft.com/office/drawing/2014/main" id="{6CBD2B82-584E-B922-D53A-B6F456C86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2892424"/>
            <a:ext cx="5532120" cy="3467736"/>
          </a:xfrm>
        </p:spPr>
        <p:txBody>
          <a:bodyPr>
            <a:normAutofit/>
          </a:bodyPr>
          <a:lstStyle>
            <a:lvl1pPr marL="0" indent="0">
              <a:buNone/>
              <a:defRPr sz="2500" b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1" name="Місце для зображення 10">
            <a:extLst>
              <a:ext uri="{FF2B5EF4-FFF2-40B4-BE49-F238E27FC236}">
                <a16:creationId xmlns:a16="http://schemas.microsoft.com/office/drawing/2014/main" id="{A33FF4F4-EFEE-BFD1-375F-648CA393F5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24638" y="1870074"/>
            <a:ext cx="4729162" cy="4490085"/>
          </a:xfrm>
        </p:spPr>
        <p:txBody>
          <a:bodyPr/>
          <a:lstStyle/>
          <a:p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8753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70C13FFF-F513-4654-24F8-20B9F6D33240}"/>
              </a:ext>
            </a:extLst>
          </p:cNvPr>
          <p:cNvSpPr/>
          <p:nvPr userDrawn="1"/>
        </p:nvSpPr>
        <p:spPr>
          <a:xfrm rot="8411302" flipH="1" flipV="1">
            <a:off x="4748439" y="-391160"/>
            <a:ext cx="9459568" cy="8276884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FB564-C2AF-2A39-32F5-C8AE625B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>
              <a:defRPr sz="32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6E35D1EC-A30B-2B54-1BAD-F7B1C813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7470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D619E5F8-83B6-C4B1-CDE6-E2576A5D97D9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9268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8718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60F5C-0E3F-B81E-3874-5DFE7B95B6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43C40CA-D14D-1220-C849-3E91200A184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text/assets</a:t>
            </a:r>
            <a:endParaRPr lang="uk-UA" dirty="0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6A858D7C-35A5-2A50-602A-248A2D961D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latin typeface="Aptos" panose="020B00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text/assets</a:t>
            </a:r>
            <a:endParaRPr lang="uk-UA" dirty="0"/>
          </a:p>
          <a:p>
            <a:pPr lvl="0"/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1261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CONCLUSIONS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3543415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ADDITIONALS MATERIALS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157760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8CD1E789-90A0-FE6B-0F10-C15EB3FD5B16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1D3FF62-D606-B90B-7956-E3AB4C912B48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9" name="Picture 2" descr="COMAI - Ulysseus">
            <a:extLst>
              <a:ext uri="{FF2B5EF4-FFF2-40B4-BE49-F238E27FC236}">
                <a16:creationId xmlns:a16="http://schemas.microsoft.com/office/drawing/2014/main" id="{E4A298BE-4D28-41A3-FCCC-78D6F73C5D2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Місце для зображення 12">
            <a:extLst>
              <a:ext uri="{FF2B5EF4-FFF2-40B4-BE49-F238E27FC236}">
                <a16:creationId xmlns:a16="http://schemas.microsoft.com/office/drawing/2014/main" id="{E0592F16-BCB5-9327-78F3-B2E92935A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1" name="Місце для зображення 12">
            <a:extLst>
              <a:ext uri="{FF2B5EF4-FFF2-40B4-BE49-F238E27FC236}">
                <a16:creationId xmlns:a16="http://schemas.microsoft.com/office/drawing/2014/main" id="{9C30DA7F-596D-B59E-26DA-3B0C3F4C06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8C1CC2-B9AD-AB54-C17A-8D901E5C744E}"/>
              </a:ext>
            </a:extLst>
          </p:cNvPr>
          <p:cNvSpPr txBox="1"/>
          <p:nvPr userDrawn="1"/>
        </p:nvSpPr>
        <p:spPr>
          <a:xfrm>
            <a:off x="446088" y="2682240"/>
            <a:ext cx="92839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solidFill>
                  <a:srgbClr val="203864"/>
                </a:solidFill>
                <a:latin typeface="Aptos" panose="020B0004020202020204" pitchFamily="34" charset="0"/>
              </a:rPr>
              <a:t>THANK YOU FOR ATTENTION!</a:t>
            </a:r>
            <a:endParaRPr lang="uk-UA" sz="5400" b="1" dirty="0">
              <a:solidFill>
                <a:srgbClr val="203864"/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9BA098-B1CD-0269-8D35-42A582493920}"/>
              </a:ext>
            </a:extLst>
          </p:cNvPr>
          <p:cNvSpPr txBox="1"/>
          <p:nvPr userDrawn="1"/>
        </p:nvSpPr>
        <p:spPr>
          <a:xfrm>
            <a:off x="446088" y="3556813"/>
            <a:ext cx="28714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Any questions?</a:t>
            </a:r>
            <a:endParaRPr lang="uk-UA" sz="3200" b="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5163F224-4127-B18E-51F9-39EA8647CB63}"/>
              </a:ext>
            </a:extLst>
          </p:cNvPr>
          <p:cNvSpPr txBox="1"/>
          <p:nvPr userDrawn="1"/>
        </p:nvSpPr>
        <p:spPr>
          <a:xfrm>
            <a:off x="393402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183435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38C6A-C972-4D9E-AA74-333EB6C38D98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32CD-2E3F-4A7F-B8A0-E5258AB21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78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62A46F7-AE3D-FE17-716F-BD0735588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40003CE-35D9-0D22-9697-103258AF7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П'ятий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99D95934-CB61-23CC-5A3B-CAE88FF8F7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B528A8-01FA-4E19-966E-6D8EBDB87570}" type="datetimeFigureOut">
              <a:rPr lang="uk-UA" smtClean="0"/>
              <a:t>18.04.26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C9D978F-CE49-2A2D-0742-4A82CA25FA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D4B8B66-57F6-0E1C-BC7E-F1BC1A8B0E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4FF707-F803-4672-B2C0-069A27EADB5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8762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7" r:id="rId6"/>
    <p:sldLayoutId id="2147483652" r:id="rId7"/>
    <p:sldLayoutId id="2147483658" r:id="rId8"/>
    <p:sldLayoutId id="2147483660" r:id="rId9"/>
    <p:sldLayoutId id="2147483659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D7EDF-EC43-C3F4-B3FA-A3653E0A3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9497" y="2077401"/>
            <a:ext cx="9614866" cy="750852"/>
          </a:xfrm>
        </p:spPr>
        <p:txBody>
          <a:bodyPr>
            <a:normAutofit fontScale="90000"/>
          </a:bodyPr>
          <a:lstStyle/>
          <a:p>
            <a:r>
              <a:rPr lang="en-US" dirty="0"/>
              <a:t>Квантова та постквантова безпека № 1</a:t>
            </a:r>
            <a:endParaRPr lang="uk-UA" dirty="0"/>
          </a:p>
        </p:txBody>
      </p:sp>
      <p:sp>
        <p:nvSpPr>
          <p:cNvPr id="6" name="Місце для тексту 5">
            <a:extLst>
              <a:ext uri="{FF2B5EF4-FFF2-40B4-BE49-F238E27FC236}">
                <a16:creationId xmlns:a16="http://schemas.microsoft.com/office/drawing/2014/main" id="{5865D50E-67FD-0929-0A83-003F307A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/>
              <a:t>Основи квантових обчислень </a:t>
            </a:r>
            <a:endParaRPr lang="uk-UA" dirty="0"/>
          </a:p>
        </p:txBody>
      </p:sp>
      <p:pic>
        <p:nvPicPr>
          <p:cNvPr id="12" name="Picture 11" descr="Image result for caucasus university">
            <a:extLst>
              <a:ext uri="{FF2B5EF4-FFF2-40B4-BE49-F238E27FC236}">
                <a16:creationId xmlns:a16="http://schemas.microsoft.com/office/drawing/2014/main" id="{E09FF6E2-F06E-14E7-8874-F4EC4069A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FEC94D-E8A1-53EF-6760-B84C3A4D2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56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dirty="0"/>
              <a:t>Основи класичних обчислень</a:t>
            </a:r>
            <a:endParaRPr lang="uk-UA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FA9BA9F-8C4C-88AD-B29B-B3CEF6C8A91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632" y="1481674"/>
            <a:ext cx="9313127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Біт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найменша одиниця інформації,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0 або 1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Базується на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логічних елементах Булевої логіки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(AND, OR, NOT)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Детерміновані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операції: однаковий вхід → однаковий вихід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Послідовна обробка з обмеженим паралелізмом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Обмежені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класичним масштабуванням апаратного забезпечення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(закон Мура)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E92BDB-2FA7-C92E-6761-85B37EB7944F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06632" y="4004495"/>
            <a:ext cx="571895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Використовується в повсякденних пристроях: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ПК, смартфонах, серверах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Застосування: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бази даних, моделювання, криптографія (RSA, ECC)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Обмеження: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експоненціальне зростання часу обчислення для певних задач</a:t>
            </a:r>
          </a:p>
        </p:txBody>
      </p:sp>
      <p:pic>
        <p:nvPicPr>
          <p:cNvPr id="2053" name="Picture 5" descr="Binary code. Printed circuit board back side. Digital electronic background.  Hardware component. Abstract green texture of PCB detail. Blue 0, 1 digit  Stock Photo - Alamy">
            <a:extLst>
              <a:ext uri="{FF2B5EF4-FFF2-40B4-BE49-F238E27FC236}">
                <a16:creationId xmlns:a16="http://schemas.microsoft.com/office/drawing/2014/main" id="{F54E57CE-BF9F-ED9C-6F6D-7418AB3192C0}"/>
              </a:ext>
            </a:extLst>
          </p:cNvPr>
          <p:cNvPicPr>
            <a:picLocks noGrp="1" noChangeAspect="1" noChangeArrowheads="1"/>
          </p:cNvPicPr>
          <p:nvPr>
            <p:ph type="pic"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67" r="11267"/>
          <a:stretch>
            <a:fillRect/>
          </a:stretch>
        </p:blipFill>
        <p:spPr bwMode="auto">
          <a:xfrm>
            <a:off x="7305775" y="3732919"/>
            <a:ext cx="3652100" cy="2759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207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05408-BF07-86A4-1EB2-3D75386B2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881434-6EB2-6415-2271-FE675645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1852" y="150957"/>
            <a:ext cx="5478379" cy="1074412"/>
          </a:xfrm>
        </p:spPr>
        <p:txBody>
          <a:bodyPr/>
          <a:lstStyle/>
          <a:p>
            <a:r>
              <a:rPr lang="en-US" dirty="0"/>
              <a:t>Квантовий стрибок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FFF56EF-4F8E-D5B5-E50B-8C6C8184B1B8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741217" y="1162339"/>
            <a:ext cx="533696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Кубіт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квантова версія біта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Використовує квантову механіку: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суперпозицію, заплутаність, інтерференцію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Працює з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амплітудами ймовірності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замість фіксованих станів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248EAC4D-A731-55B1-EBCC-76DF9FA7B516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741363" y="4170542"/>
            <a:ext cx="5225988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Потенціал для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експоненціального зростання простору станів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Може швидше вирішувати конкретні проблеми (наприклад, розкладання на множники, пошук)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Руйнує сучасні криптографічні системи</a:t>
            </a:r>
          </a:p>
        </p:txBody>
      </p:sp>
      <p:pic>
        <p:nvPicPr>
          <p:cNvPr id="3090" name="Picture 18" descr="Representation of a bit from classical as well as quantum... | Download  Scientific Diagram">
            <a:extLst>
              <a:ext uri="{FF2B5EF4-FFF2-40B4-BE49-F238E27FC236}">
                <a16:creationId xmlns:a16="http://schemas.microsoft.com/office/drawing/2014/main" id="{44FB6515-125C-0D11-2778-96D4A75923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3226" y="1535907"/>
            <a:ext cx="4610100" cy="348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1022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AE9E4-FC53-632B-3AF1-0AD4CA26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CF2055-1298-0CE9-51D9-45994C438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7631" y="172620"/>
            <a:ext cx="2374232" cy="1325563"/>
          </a:xfrm>
        </p:spPr>
        <p:txBody>
          <a:bodyPr/>
          <a:lstStyle/>
          <a:p>
            <a:r>
              <a:rPr lang="en-US" dirty="0"/>
              <a:t>Кубіти</a:t>
            </a:r>
            <a:endParaRPr lang="uk-U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8BE2268-93C9-88B4-6AC3-ABDF9115FF2A}"/>
                  </a:ext>
                </a:extLst>
              </p:cNvPr>
              <p:cNvSpPr>
                <a:spLocks noGrp="1" noChangeArrowheads="1"/>
              </p:cNvSpPr>
              <p:nvPr>
                <p:ph type="body" sz="quarter" idx="10"/>
              </p:nvPr>
            </p:nvSpPr>
            <p:spPr bwMode="auto">
              <a:xfrm>
                <a:off x="741363" y="1377848"/>
                <a:ext cx="5336969" cy="27033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Стан:  </a:t>
                </a:r>
                <a14:m>
                  <m:oMath xmlns:m="http://schemas.openxmlformats.org/officeDocument/2006/math"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⟩=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|0⟩+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endParaRPr lang="en-US" sz="1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є комплексними амплітудами з </a:t>
                </a:r>
                <a14:m>
                  <m:oMath xmlns:m="http://schemas.openxmlformats.org/officeDocument/2006/math"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US" sz="18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+|</m:t>
                    </m:r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US" sz="18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Вимірювання зводиться до 0 або 1 на основі ймовірностей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8BE2268-93C9-88B4-6AC3-ABDF9115FF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 bwMode="auto">
              <a:xfrm>
                <a:off x="741363" y="1377848"/>
                <a:ext cx="5336969" cy="2703304"/>
              </a:xfrm>
              <a:prstGeom prst="rect">
                <a:avLst/>
              </a:prstGeom>
              <a:blipFill>
                <a:blip r:embed="rId2"/>
                <a:stretch>
                  <a:fillRect l="-80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8D42B780-DDD1-CDEF-54D1-CA1E52481B89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741363" y="4473604"/>
                <a:ext cx="5225988" cy="10969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Сфера Блоха візуалізує стани кубітів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Операції = обертання на сфері Блоха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Базові стани: </a:t>
                </a:r>
                <a14:m>
                  <m:oMath xmlns:m="http://schemas.openxmlformats.org/officeDocument/2006/math">
                    <m:r>
                      <a:rPr lang="en-US" sz="18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|0⟩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endParaRPr lang="en-US" sz="1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8D42B780-DDD1-CDEF-54D1-CA1E52481B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741363" y="4473604"/>
                <a:ext cx="5225988" cy="1096903"/>
              </a:xfrm>
              <a:prstGeom prst="rect">
                <a:avLst/>
              </a:prstGeom>
              <a:blipFill>
                <a:blip r:embed="rId3"/>
                <a:stretch>
                  <a:fillRect l="-817" t="-5000" b="-888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82" name="Picture 10" descr="A quarter century ago, the qubit was born">
            <a:extLst>
              <a:ext uri="{FF2B5EF4-FFF2-40B4-BE49-F238E27FC236}">
                <a16:creationId xmlns:a16="http://schemas.microsoft.com/office/drawing/2014/main" id="{183D4C7D-CC65-9653-990B-733C8FFCA58A}"/>
              </a:ext>
            </a:extLst>
          </p:cNvPr>
          <p:cNvPicPr>
            <a:picLocks noGrp="1" noChangeAspect="1" noChangeArrowheads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28" r="2182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447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9666-F5F7-5849-7B61-C95D92B8F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909F-C420-5487-0150-B67BDA376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4588" y="166945"/>
            <a:ext cx="4038600" cy="1325563"/>
          </a:xfrm>
        </p:spPr>
        <p:txBody>
          <a:bodyPr/>
          <a:lstStyle/>
          <a:p>
            <a:r>
              <a:rPr lang="en-US" dirty="0"/>
              <a:t>Суперпозиція</a:t>
            </a:r>
            <a:endParaRPr lang="uk-UA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5D8291D-A0B5-99AF-470C-D7BC5EAFB8E5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944563" y="1324045"/>
            <a:ext cx="5883275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Кубіт може перебувати в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лінійній комбінації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∣0</a:t>
            </a:r>
            <a:r>
              <a:rPr lang="en-US" altLang="en-US" sz="1800" b="0" dirty="0">
                <a:solidFill>
                  <a:schemeClr val="tx1"/>
                </a:solidFill>
                <a:latin typeface="Arial" panose="020B0604020202020204" pitchFamily="34" charset="0"/>
              </a:rPr>
              <a:t> ⟩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та ∣1⟩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Дозволяє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квантовий паралелізм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Приклад: 3 кубіти → 2³ = 823=8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станів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одночасно</a:t>
            </a:r>
            <a:endParaRPr kumimoji="0" lang="uk-UA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4251C37E-CA40-8225-B015-005F59948135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741363" y="3962793"/>
            <a:ext cx="588327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Неможливо прочитати всі стани безпосередньо — вимірювання обмежує інформацію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Використовується в алгоритмах, таких як пошук Гровера та факторизація Шора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Контрольована інтерференція підсилює правильні результати</a:t>
            </a:r>
          </a:p>
        </p:txBody>
      </p:sp>
      <p:pic>
        <p:nvPicPr>
          <p:cNvPr id="5131" name="Picture 11" descr="What is quantum entanglement? Part 3: Entanglement, at last | Skulls in the  Stars">
            <a:extLst>
              <a:ext uri="{FF2B5EF4-FFF2-40B4-BE49-F238E27FC236}">
                <a16:creationId xmlns:a16="http://schemas.microsoft.com/office/drawing/2014/main" id="{90A9E6DC-7F24-4E6B-8EE7-72B880C9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7838" y="2591059"/>
            <a:ext cx="4884858" cy="2774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610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7B322-B9EE-D24E-6D42-D776CB46D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9DB5A-0D1A-C39D-1D50-19B70B9E3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6115" y="418341"/>
            <a:ext cx="3937000" cy="1325563"/>
          </a:xfrm>
        </p:spPr>
        <p:txBody>
          <a:bodyPr/>
          <a:lstStyle/>
          <a:p>
            <a:r>
              <a:rPr lang="en-US" dirty="0"/>
              <a:t>Заплутаність</a:t>
            </a:r>
            <a:endParaRPr lang="uk-U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EBB10B96-FBDB-F83B-7AC0-C3012087F2FA}"/>
                  </a:ext>
                </a:extLst>
              </p:cNvPr>
              <p:cNvSpPr>
                <a:spLocks noGrp="1" noChangeArrowheads="1"/>
              </p:cNvSpPr>
              <p:nvPr>
                <p:ph type="body" sz="quarter" idx="10"/>
              </p:nvPr>
            </p:nvSpPr>
            <p:spPr bwMode="auto">
              <a:xfrm>
                <a:off x="741363" y="1770758"/>
                <a:ext cx="5883275" cy="19178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4400" lvl="0" indent="-2844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Сильна кореляція між кубітами</a:t>
                </a:r>
              </a:p>
              <a:p>
                <a:pPr marL="284400" lvl="0" indent="-284400">
                  <a:lnSpc>
                    <a:spcPct val="15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Приклад стану Белла: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|00⟩+|11⟩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uk-UA" sz="1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4400" lvl="0" indent="-284400">
                  <a:lnSpc>
                    <a:spcPct val="15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Вимірювання одного миттєво впливає на інший</a:t>
                </a: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EBB10B96-FBDB-F83B-7AC0-C3012087F2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 bwMode="auto">
              <a:xfrm>
                <a:off x="741363" y="1770758"/>
                <a:ext cx="5883275" cy="1917897"/>
              </a:xfrm>
              <a:prstGeom prst="rect">
                <a:avLst/>
              </a:prstGeom>
              <a:blipFill>
                <a:blip r:embed="rId2"/>
                <a:stretch>
                  <a:fillRect l="-725" b="-476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 descr="Quantum Entanglement | Brilliant Math &amp; Science Wiki">
            <a:extLst>
              <a:ext uri="{FF2B5EF4-FFF2-40B4-BE49-F238E27FC236}">
                <a16:creationId xmlns:a16="http://schemas.microsoft.com/office/drawing/2014/main" id="{CA36A087-AB13-24A3-AD04-1D4503BD8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1041" y="2497460"/>
            <a:ext cx="4071374" cy="119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18AC69-DE8E-3E35-6C76-8DFBABAF1D27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741363" y="4378291"/>
            <a:ext cx="7007046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uk-U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Базис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для QKD та багатьох квантових алгоритмів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Перевірено експериментально (наприклад, тести Белла)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Ресурс для квантової телепортації</a:t>
            </a:r>
          </a:p>
        </p:txBody>
      </p:sp>
    </p:spTree>
    <p:extLst>
      <p:ext uri="{BB962C8B-B14F-4D97-AF65-F5344CB8AC3E}">
        <p14:creationId xmlns:p14="http://schemas.microsoft.com/office/powerpoint/2010/main" val="4278621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49911-B9AF-2657-5339-351D9A00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4533BA-C993-030F-6FAD-B0CF1B738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Стан Белла в </a:t>
            </a:r>
            <a:r>
              <a:rPr lang="en-US" dirty="0" err="1"/>
              <a:t>Qiskit</a:t>
            </a:r>
            <a:endParaRPr lang="uk-UA" dirty="0"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DE71452D-FF3B-AE45-2879-31D988C2D05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838200" y="1725970"/>
            <a:ext cx="3747760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Створити 2-кубітну схему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Застосувати H до кубіта 0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Застосувати CNOT (0 → 1)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Виміряйте обидва кубіти</a:t>
            </a:r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21C9C9F1-FB78-2C6F-1FBA-9B5143390F55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741363" y="4378291"/>
            <a:ext cx="4487126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Очікувані результати: ~50%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00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~50%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11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Демонструє заплутаність на практиці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Інструмент: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Qiskit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(бібліотека Python)</a:t>
            </a:r>
          </a:p>
        </p:txBody>
      </p:sp>
      <p:pic>
        <p:nvPicPr>
          <p:cNvPr id="7180" name="Picture 12" descr="Visualize circuits | IBM Quantum Documentation">
            <a:extLst>
              <a:ext uri="{FF2B5EF4-FFF2-40B4-BE49-F238E27FC236}">
                <a16:creationId xmlns:a16="http://schemas.microsoft.com/office/drawing/2014/main" id="{F33DA1BD-9863-C030-0AF4-D117B21B6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252" y="1763153"/>
            <a:ext cx="4987389" cy="3467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87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0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0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0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0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Квантова інтерференція</a:t>
            </a:r>
          </a:p>
          <a:p>
            <a:endParaRPr lang="uk-UA" dirty="0"/>
          </a:p>
        </p:txBody>
      </p:sp>
      <p:sp>
        <p:nvSpPr>
          <p:cNvPr id="206" name="Rounded Rectangle 205"/>
          <p:cNvSpPr/>
          <p:nvPr/>
        </p:nvSpPr>
        <p:spPr>
          <a:xfrm>
            <a:off x="700000" y="160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Конструктивна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00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Однакові фази амплітуд</a:t>
            </a:r>
          </a:p>
          <a:p>
            <a:r>
              <a:rPr sz="1400">
                <a:solidFill>
                  <a:srgbClr val="222233"/>
                </a:solidFill>
              </a:rPr>
              <a:t>•  Амплітуди складаються</a:t>
            </a:r>
          </a:p>
          <a:p>
            <a:r>
              <a:rPr sz="1400">
                <a:solidFill>
                  <a:srgbClr val="222233"/>
                </a:solidFill>
              </a:rPr>
              <a:t>•  Ймовірність → зростає</a:t>
            </a:r>
          </a:p>
          <a:p>
            <a:r>
              <a:rPr sz="1400">
                <a:solidFill>
                  <a:srgbClr val="222233"/>
                </a:solidFill>
              </a:rPr>
              <a:t>•  Корисні результати підсилюються</a:t>
            </a:r>
          </a:p>
          <a:p>
            <a:r>
              <a:rPr sz="1400">
                <a:solidFill>
                  <a:srgbClr val="222233"/>
                </a:solidFill>
              </a:rPr>
              <a:t>•  Приклад: QFT у Shor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46000" y="160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Деструктивна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246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Протилежні фази амплітуд</a:t>
            </a:r>
          </a:p>
          <a:p>
            <a:r>
              <a:rPr sz="1400">
                <a:solidFill>
                  <a:srgbClr val="222233"/>
                </a:solidFill>
              </a:rPr>
              <a:t>•  Амплітуди взаємознищуються</a:t>
            </a:r>
          </a:p>
          <a:p>
            <a:r>
              <a:rPr sz="1400">
                <a:solidFill>
                  <a:srgbClr val="222233"/>
                </a:solidFill>
              </a:rPr>
              <a:t>•  Ймовірність → 0</a:t>
            </a:r>
          </a:p>
          <a:p>
            <a:r>
              <a:rPr sz="1400">
                <a:solidFill>
                  <a:srgbClr val="222233"/>
                </a:solidFill>
              </a:rPr>
              <a:t>•  Хибні результати пригнічуються</a:t>
            </a:r>
          </a:p>
          <a:p>
            <a:r>
              <a:rPr sz="1400">
                <a:solidFill>
                  <a:srgbClr val="222233"/>
                </a:solidFill>
              </a:rPr>
              <a:t>•  Приклад: Grover дифузор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00000" y="618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577"/>
                </a:solidFill>
              </a:rPr>
              <a:t>Квантовий алгоритм = суперпозиція + інтерференція + вимірювання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0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0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0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Квантова телепортація: схема протоколу</a:t>
            </a:r>
          </a:p>
          <a:p>
            <a:endParaRPr lang="uk-UA" dirty="0"/>
          </a:p>
        </p:txBody>
      </p:sp>
      <p:sp>
        <p:nvSpPr>
          <p:cNvPr id="211" name="Rounded Rectangle 210"/>
          <p:cNvSpPr/>
          <p:nvPr/>
        </p:nvSpPr>
        <p:spPr>
          <a:xfrm>
            <a:off x="800000" y="2400000"/>
            <a:ext cx="1798400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000" tIns="100000" rIns="10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EPR-пара</a:t>
            </a:r>
          </a:p>
          <a:p>
            <a:pPr algn="ctr"/>
            <a:r>
              <a:rPr sz="1100">
                <a:solidFill>
                  <a:srgbClr val="E8EEF9"/>
                </a:solidFill>
              </a:rPr>
              <a:t>Алісі та Бобу</a:t>
            </a:r>
          </a:p>
        </p:txBody>
      </p:sp>
      <p:sp>
        <p:nvSpPr>
          <p:cNvPr id="212" name="Right Arrow 211"/>
          <p:cNvSpPr/>
          <p:nvPr/>
        </p:nvSpPr>
        <p:spPr>
          <a:xfrm>
            <a:off x="2598400" y="2950000"/>
            <a:ext cx="40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ounded Rectangle 212"/>
          <p:cNvSpPr/>
          <p:nvPr/>
        </p:nvSpPr>
        <p:spPr>
          <a:xfrm>
            <a:off x="2998400" y="2400000"/>
            <a:ext cx="1798400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000" tIns="100000" rIns="10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Белл-
вимірювання</a:t>
            </a:r>
          </a:p>
          <a:p>
            <a:pPr algn="ctr"/>
            <a:r>
              <a:rPr sz="1100">
                <a:solidFill>
                  <a:srgbClr val="E8EEF9"/>
                </a:solidFill>
              </a:rPr>
              <a:t>Аліса: ψ ⊗ EPR</a:t>
            </a:r>
          </a:p>
        </p:txBody>
      </p:sp>
      <p:sp>
        <p:nvSpPr>
          <p:cNvPr id="214" name="Right Arrow 213"/>
          <p:cNvSpPr/>
          <p:nvPr/>
        </p:nvSpPr>
        <p:spPr>
          <a:xfrm>
            <a:off x="4796800" y="2950000"/>
            <a:ext cx="40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ounded Rectangle 214"/>
          <p:cNvSpPr/>
          <p:nvPr/>
        </p:nvSpPr>
        <p:spPr>
          <a:xfrm>
            <a:off x="5196800" y="2400000"/>
            <a:ext cx="1798400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000" tIns="100000" rIns="10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2 біти</a:t>
            </a:r>
          </a:p>
          <a:p>
            <a:pPr algn="ctr"/>
            <a:r>
              <a:rPr sz="1100">
                <a:solidFill>
                  <a:srgbClr val="E8EEF9"/>
                </a:solidFill>
              </a:rPr>
              <a:t>класичний канал</a:t>
            </a:r>
          </a:p>
        </p:txBody>
      </p:sp>
      <p:sp>
        <p:nvSpPr>
          <p:cNvPr id="216" name="Right Arrow 215"/>
          <p:cNvSpPr/>
          <p:nvPr/>
        </p:nvSpPr>
        <p:spPr>
          <a:xfrm>
            <a:off x="6995200" y="2950000"/>
            <a:ext cx="40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ounded Rectangle 216"/>
          <p:cNvSpPr/>
          <p:nvPr/>
        </p:nvSpPr>
        <p:spPr>
          <a:xfrm>
            <a:off x="7395200" y="2400000"/>
            <a:ext cx="1798400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000" tIns="100000" rIns="10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Корекція</a:t>
            </a:r>
          </a:p>
          <a:p>
            <a:pPr algn="ctr"/>
            <a:r>
              <a:rPr sz="1100">
                <a:solidFill>
                  <a:srgbClr val="E8EEF9"/>
                </a:solidFill>
              </a:rPr>
              <a:t>Боб: I/X/Z/XZ</a:t>
            </a:r>
          </a:p>
        </p:txBody>
      </p:sp>
      <p:sp>
        <p:nvSpPr>
          <p:cNvPr id="218" name="Right Arrow 217"/>
          <p:cNvSpPr/>
          <p:nvPr/>
        </p:nvSpPr>
        <p:spPr>
          <a:xfrm>
            <a:off x="9193600" y="2950000"/>
            <a:ext cx="40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ounded Rectangle 218"/>
          <p:cNvSpPr/>
          <p:nvPr/>
        </p:nvSpPr>
        <p:spPr>
          <a:xfrm>
            <a:off x="9593600" y="2400000"/>
            <a:ext cx="1798400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000" tIns="100000" rIns="10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|ψ⟩</a:t>
            </a:r>
          </a:p>
          <a:p>
            <a:pPr algn="ctr"/>
            <a:r>
              <a:rPr sz="1100">
                <a:solidFill>
                  <a:srgbClr val="E8EEF9"/>
                </a:solidFill>
              </a:rPr>
              <a:t>відновлений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00000" y="4300000"/>
            <a:ext cx="105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45577"/>
                </a:solidFill>
              </a:rPr>
              <a:t>Стан |ψ⟩ телепортовано без фізичного перенесення кубіта (швидкість ≤ c, бо потрібен класичний канал)</a:t>
            </a:r>
          </a:p>
        </p:txBody>
      </p:sp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200000"/>
            <a:ext cx="1700000" cy="4973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1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Матриця густини ρ: чистий vs змішаний стан</a:t>
            </a:r>
          </a:p>
          <a:p>
            <a:endParaRPr lang="uk-UA" dirty="0"/>
          </a:p>
        </p:txBody>
      </p:sp>
      <p:sp>
        <p:nvSpPr>
          <p:cNvPr id="216" name="Rounded Rectangle 215"/>
          <p:cNvSpPr/>
          <p:nvPr/>
        </p:nvSpPr>
        <p:spPr>
          <a:xfrm>
            <a:off x="700000" y="160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Чистий стан |ψ⟩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00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ρ = |ψ⟩⟨ψ|</a:t>
            </a:r>
          </a:p>
          <a:p>
            <a:r>
              <a:rPr sz="1400">
                <a:solidFill>
                  <a:srgbClr val="222233"/>
                </a:solidFill>
              </a:rPr>
              <a:t>•  Tr(ρ²) = 1</a:t>
            </a:r>
          </a:p>
          <a:p>
            <a:r>
              <a:rPr sz="1400">
                <a:solidFill>
                  <a:srgbClr val="222233"/>
                </a:solidFill>
              </a:rPr>
              <a:t>•  Ентропія S(ρ) = 0</a:t>
            </a:r>
          </a:p>
          <a:p>
            <a:r>
              <a:rPr sz="1400">
                <a:solidFill>
                  <a:srgbClr val="222233"/>
                </a:solidFill>
              </a:rPr>
              <a:t>•  Повна інформація про систему</a:t>
            </a:r>
          </a:p>
          <a:p>
            <a:r>
              <a:rPr sz="1400">
                <a:solidFill>
                  <a:srgbClr val="222233"/>
                </a:solidFill>
              </a:rPr>
              <a:t>•  Сфера Блоха: точка на поверхні (r = 1)</a:t>
            </a:r>
          </a:p>
          <a:p>
            <a:r>
              <a:rPr sz="1400">
                <a:solidFill>
                  <a:srgbClr val="222233"/>
                </a:solidFill>
              </a:rPr>
              <a:t>•  Приклад: після H на |0⟩ → |+⟩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6246000" y="160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Змішаний стан ρ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246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ρ = Σ pᵢ|ψᵢ⟩⟨ψᵢ|</a:t>
            </a:r>
          </a:p>
          <a:p>
            <a:r>
              <a:rPr sz="1400">
                <a:solidFill>
                  <a:srgbClr val="222233"/>
                </a:solidFill>
              </a:rPr>
              <a:t>•  Tr(ρ²) &lt; 1</a:t>
            </a:r>
          </a:p>
          <a:p>
            <a:r>
              <a:rPr sz="1400">
                <a:solidFill>
                  <a:srgbClr val="222233"/>
                </a:solidFill>
              </a:rPr>
              <a:t>•  Ентропія S(ρ) &gt; 0</a:t>
            </a:r>
          </a:p>
          <a:p>
            <a:r>
              <a:rPr sz="1400">
                <a:solidFill>
                  <a:srgbClr val="222233"/>
                </a:solidFill>
              </a:rPr>
              <a:t>•  Статистична суміш станів</a:t>
            </a:r>
          </a:p>
          <a:p>
            <a:r>
              <a:rPr sz="1400">
                <a:solidFill>
                  <a:srgbClr val="222233"/>
                </a:solidFill>
              </a:rPr>
              <a:t>•  Сфера Блоха: точка всередині (r &lt; 1)</a:t>
            </a:r>
          </a:p>
          <a:p>
            <a:r>
              <a:rPr sz="1400">
                <a:solidFill>
                  <a:srgbClr val="222233"/>
                </a:solidFill>
              </a:rPr>
              <a:t>•  Приклад: ½|0⟩⟨0| + ½|1⟩⟨1| (центр сфери)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0000" y="618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577"/>
                </a:solidFill>
              </a:rPr>
              <a:t>Декогеренція: чистий стан → змішаний через взаємодію з оточенням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1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1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Квантові алгоритми: прискорення vs класичні</a:t>
            </a:r>
          </a:p>
          <a:p>
            <a:endParaRPr lang="uk-UA" dirty="0"/>
          </a:p>
        </p:txBody>
      </p:sp>
      <p:graphicFrame>
        <p:nvGraphicFramePr>
          <p:cNvPr id="221" name="Table 220"/>
          <p:cNvGraphicFramePr>
            <a:graphicFrameLocks noGrp="1"/>
          </p:cNvGraphicFramePr>
          <p:nvPr/>
        </p:nvGraphicFramePr>
        <p:xfrm>
          <a:off x="607000" y="1550000"/>
          <a:ext cx="10978000" cy="42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22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Алгоритм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Рік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Класична складність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Квантова складність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Тип прискорення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Deutsch–Jozsa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O(2ⁿ⁻¹+1)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Експоненціальне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Bernstein–Vazirani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1993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O(1)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Лінійне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Simon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O(2ⁿ/²)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Експоненціальне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Shor (факторизація)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1994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O(exp(n^⅓))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O(n³)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Суперполіноміальне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Grover (пошук)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O(√N)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Квадратичне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HHL (лін. системи)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2009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O(log N)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Експоненційне*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22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VQE / QAOA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NISQ-heuristic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Евристичне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22" name="TextBox 221"/>
          <p:cNvSpPr txBox="1"/>
          <p:nvPr/>
        </p:nvSpPr>
        <p:spPr>
          <a:xfrm>
            <a:off x="607000" y="5908000"/>
            <a:ext cx="1097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66"/>
                </a:solidFill>
              </a:rPr>
              <a:t>* HHL має обмеження: вхід/вихід — квантовий, не завжди застосовне до реальних задач.</a:t>
            </a:r>
          </a:p>
        </p:txBody>
      </p:sp>
      <p:pic>
        <p:nvPicPr>
          <p:cNvPr id="223" name="Picture 222" descr="imag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000" y="200000"/>
            <a:ext cx="1900000" cy="8136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2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Алгоритм Шора: загроза RSA та ECC</a:t>
            </a:r>
          </a:p>
          <a:p>
            <a:endParaRPr lang="uk-UA" dirty="0"/>
          </a:p>
        </p:txBody>
      </p:sp>
      <p:pic>
        <p:nvPicPr>
          <p:cNvPr id="226" name="Picture 225" descr="image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000" y="2500400"/>
            <a:ext cx="4800000" cy="269920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07000" y="1550000"/>
            <a:ext cx="5778000" cy="4600000"/>
          </a:xfrm>
          <a:prstGeom prst="rect">
            <a:avLst/>
          </a:prstGeom>
          <a:noFill/>
        </p:spPr>
        <p:txBody>
          <a:bodyPr wrap="square" lIns="100000" rIns="10000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Мета: факторизувати N = p × q за поліноміальний час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QFT знаходить період f(x) = aˣ mod 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Класично (GNFS): O(exp(n^⅓)) ≈ 10⁹ років для RSA-2048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Квантово (Shor): O(n³) — години на CRQC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Уразливі: RSA (факторизація); ECDSA, DH, ECDH (дискр. логарифм)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CRQC: ~20 млн фіз. кубітів (surface code)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</a:rPr>
              <a:t>•  Q-Day прогнози: 2030–2040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07000" y="6300000"/>
            <a:ext cx="10978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445577"/>
                </a:solidFill>
              </a:rPr>
              <a:t>HNDL: "Harvest Now, Decrypt Later" — дані з секретністю &gt;10 р. треба захищати вже СЬОГОДНІ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2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2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NIST стандарти постквантової криптографії (2024)</a:t>
            </a:r>
          </a:p>
          <a:p>
            <a:endParaRPr lang="uk-UA" dirty="0"/>
          </a:p>
        </p:txBody>
      </p:sp>
      <p:graphicFrame>
        <p:nvGraphicFramePr>
          <p:cNvPr id="231" name="Table 230"/>
          <p:cNvGraphicFramePr>
            <a:graphicFrameLocks noGrp="1"/>
          </p:cNvGraphicFramePr>
          <p:nvPr/>
        </p:nvGraphicFramePr>
        <p:xfrm>
          <a:off x="607000" y="1550000"/>
          <a:ext cx="10978000" cy="42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966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Стандарт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Алгоритм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Призначення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Основа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Замінює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FIPS 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ML-KEM (Kyber)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Інкапсуляція ключів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Module-LWE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ECDH / RSA-KEM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FIPS 204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ML-DSA (Dilithium)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Цифровий</a:t>
                      </a:r>
                      <a:r>
                        <a:rPr sz="1200" dirty="0">
                          <a:solidFill>
                            <a:srgbClr val="1F1F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F1F2E"/>
                          </a:solidFill>
                        </a:rPr>
                        <a:t>підпис</a:t>
                      </a:r>
                      <a:endParaRPr sz="12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Module-SIS, Fiat-Shamir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ECDSA / RSA-PSS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FIPS 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SLH-DSA (SPHINCS+)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Hash-based підпис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SHA-3 / SHAKE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RSA (consv. alt.)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FN-DSA (2025)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FALCON (NTRU)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Компактний підпис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NTRU-lattice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ECDSA (мобільні)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96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Round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BIKE / HQC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KEM (code-based)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QC-MDPC / Hamming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1F1F2E"/>
                          </a:solidFill>
                        </a:rPr>
                        <a:t>Альтернатива</a:t>
                      </a:r>
                      <a:r>
                        <a:rPr sz="1200" dirty="0">
                          <a:solidFill>
                            <a:srgbClr val="1F1F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F1F2E"/>
                          </a:solidFill>
                        </a:rPr>
                        <a:t>Kyber</a:t>
                      </a:r>
                      <a:endParaRPr sz="12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2" name="TextBox 231"/>
          <p:cNvSpPr txBox="1"/>
          <p:nvPr/>
        </p:nvSpPr>
        <p:spPr>
          <a:xfrm>
            <a:off x="607000" y="5908000"/>
            <a:ext cx="1097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66"/>
                </a:solidFill>
              </a:rPr>
              <a:t>Міграція: Chrome, Cloudflare, OpenSSH 9.0+, Signal (PQXDH) — вже розгорнуто гібрид X25519+ML-KEM768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3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Провідні квантові платформи (2024)</a:t>
            </a:r>
          </a:p>
          <a:p>
            <a:endParaRPr lang="uk-UA" dirty="0"/>
          </a:p>
        </p:txBody>
      </p:sp>
      <p:graphicFrame>
        <p:nvGraphicFramePr>
          <p:cNvPr id="236" name="Table 235"/>
          <p:cNvGraphicFramePr>
            <a:graphicFrameLocks noGrp="1"/>
          </p:cNvGraphicFramePr>
          <p:nvPr/>
        </p:nvGraphicFramePr>
        <p:xfrm>
          <a:off x="607000" y="1550000"/>
          <a:ext cx="10978000" cy="42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5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311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Компанія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Система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Кубіти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Технологія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Доступ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IBM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Heron / Condor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133 / 1121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Надпровідні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IBM Quantum cloud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Google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Willow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105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Надпровідні (QEC below-threshold)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Приватний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IonQ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Forte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36 (AQ=35)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Захоплені іони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AWS Braket, Azure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Quantinuum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Іони, 99.9% 2Q-fidelity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Azure Quantum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QuEra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Нейтральні атоми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AWS Braket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Atom Computing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1180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Нейтральні атоми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Partnership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1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Xanadu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Borealis / X-series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216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Фотонні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Xanadu Cloud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1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Microsoft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Majorana 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prototype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Топологічні (у розробці)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1F2E"/>
                          </a:solidFill>
                        </a:rPr>
                        <a:t>Azure Quantum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7" name="TextBox 236"/>
          <p:cNvSpPr txBox="1"/>
          <p:nvPr/>
        </p:nvSpPr>
        <p:spPr>
          <a:xfrm>
            <a:off x="607000" y="5908000"/>
            <a:ext cx="1097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66"/>
                </a:solidFill>
              </a:rPr>
              <a:t>Для CRQC RSA-2048 потрібно ~20 млн фізичних кубітів + QEC below threshold — ще не досягнуто</a:t>
            </a:r>
          </a:p>
        </p:txBody>
      </p:sp>
      <p:pic>
        <p:nvPicPr>
          <p:cNvPr id="238" name="Picture 237" descr="image4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2000" y="200000"/>
            <a:ext cx="1700000" cy="9562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23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3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24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838200" y="365125"/>
            <a:ext cx="10515600" cy="1116549"/>
          </a:xfrm>
        </p:spPr>
        <p:txBody>
          <a:bodyPr/>
          <a:lstStyle/>
          <a:p>
            <a:pPr algn="ctr"/>
            <a:r>
              <a:rPr lang="en-US" sz="3200" dirty="0"/>
              <a:t>Підсумки лекції 1</a:t>
            </a:r>
          </a:p>
          <a:p>
            <a:endParaRPr lang="uk-UA" dirty="0"/>
          </a:p>
        </p:txBody>
      </p:sp>
      <p:sp>
        <p:nvSpPr>
          <p:cNvPr id="241" name="Rounded Rectangle 240"/>
          <p:cNvSpPr/>
          <p:nvPr/>
        </p:nvSpPr>
        <p:spPr>
          <a:xfrm>
            <a:off x="700000" y="160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Квантова механіка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00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Кубіт: суперпозиція α|0⟩+β|1⟩</a:t>
            </a:r>
          </a:p>
          <a:p>
            <a:r>
              <a:rPr sz="1400">
                <a:solidFill>
                  <a:srgbClr val="222233"/>
                </a:solidFill>
              </a:rPr>
              <a:t>•  Сфера Блоха: θ, φ</a:t>
            </a:r>
          </a:p>
          <a:p>
            <a:r>
              <a:rPr sz="1400">
                <a:solidFill>
                  <a:srgbClr val="222233"/>
                </a:solidFill>
              </a:rPr>
              <a:t>•  Вентилі {H, T, CNOT} — універс. набір</a:t>
            </a:r>
          </a:p>
          <a:p>
            <a:r>
              <a:rPr sz="1400">
                <a:solidFill>
                  <a:srgbClr val="222233"/>
                </a:solidFill>
              </a:rPr>
              <a:t>•  n кубітів → 2ⁿ станів (паралелізм)</a:t>
            </a:r>
          </a:p>
          <a:p>
            <a:r>
              <a:rPr sz="1400">
                <a:solidFill>
                  <a:srgbClr val="222233"/>
                </a:solidFill>
              </a:rPr>
              <a:t>•  Заплутаність: стан Белла</a:t>
            </a:r>
          </a:p>
          <a:p>
            <a:r>
              <a:rPr sz="1400">
                <a:solidFill>
                  <a:srgbClr val="222233"/>
                </a:solidFill>
              </a:rPr>
              <a:t>•  No-cloning theorem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6246000" y="160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0000" bIns="5000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Криптографічні наслідки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246000" y="2400000"/>
            <a:ext cx="5246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400">
                <a:solidFill>
                  <a:srgbClr val="222233"/>
                </a:solidFill>
              </a:rPr>
              <a:t>•  Shor: RSA/ECC → зламані</a:t>
            </a:r>
          </a:p>
          <a:p>
            <a:r>
              <a:rPr sz="1400">
                <a:solidFill>
                  <a:srgbClr val="222233"/>
                </a:solidFill>
              </a:rPr>
              <a:t>•  Grover: AES-128 → 64-біт ефект.</a:t>
            </a:r>
          </a:p>
          <a:p>
            <a:r>
              <a:rPr sz="1400">
                <a:solidFill>
                  <a:srgbClr val="222233"/>
                </a:solidFill>
              </a:rPr>
              <a:t>•  Q-Day: 2030–2040</a:t>
            </a:r>
          </a:p>
          <a:p>
            <a:r>
              <a:rPr sz="1400">
                <a:solidFill>
                  <a:srgbClr val="222233"/>
                </a:solidFill>
              </a:rPr>
              <a:t>•  HNDL загроза вже СЬОГОДНІ</a:t>
            </a:r>
          </a:p>
          <a:p>
            <a:r>
              <a:rPr sz="1400">
                <a:solidFill>
                  <a:srgbClr val="222233"/>
                </a:solidFill>
              </a:rPr>
              <a:t>•  NIST 2024: ML-KEM / ML-DSA / SLH-DSA</a:t>
            </a:r>
          </a:p>
          <a:p>
            <a:r>
              <a:rPr sz="1400">
                <a:solidFill>
                  <a:srgbClr val="222233"/>
                </a:solidFill>
              </a:rPr>
              <a:t>•  Гібрид X25519+ML-KEM — best practice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0000" y="618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577"/>
                </a:solidFill>
              </a:rPr>
              <a:t>Наступна лекція: алгоритм Ґровера та квантовий пошук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 result for caucasus university">
            <a:extLst>
              <a:ext uri="{FF2B5EF4-FFF2-40B4-BE49-F238E27FC236}">
                <a16:creationId xmlns:a16="http://schemas.microsoft.com/office/drawing/2014/main" id="{41160F76-96C7-DC1E-EEA7-A4872968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DA0928-EB30-F39D-6A09-83ED624004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861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1719</TotalTime>
  <Words>1148</Words>
  <Application>Microsoft Macintosh PowerPoint</Application>
  <PresentationFormat>Widescreen</PresentationFormat>
  <Paragraphs>235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 Unicode MS</vt:lpstr>
      <vt:lpstr>Aptos</vt:lpstr>
      <vt:lpstr>Arial</vt:lpstr>
      <vt:lpstr>Calibri</vt:lpstr>
      <vt:lpstr>Calibri Light</vt:lpstr>
      <vt:lpstr>Cambria Math</vt:lpstr>
      <vt:lpstr>Тема Office</vt:lpstr>
      <vt:lpstr>Квантова та постквантова безпека № 1</vt:lpstr>
      <vt:lpstr>Основи класичних обчислень</vt:lpstr>
      <vt:lpstr>Квантовий стрибок</vt:lpstr>
      <vt:lpstr>Кубіти</vt:lpstr>
      <vt:lpstr>Суперпозиція</vt:lpstr>
      <vt:lpstr>Заплутаність</vt:lpstr>
      <vt:lpstr>Стан Белла в Qiskit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Квантова та постквантова безпека № 1</dc:title>
  <dc:creator>Alla Pinchuk</dc:creator>
  <cp:keywords>, docId:9A0E76D41C9A51B842CA243D69D03AE1</cp:keywords>
  <cp:lastModifiedBy>Dima Bil</cp:lastModifiedBy>
  <cp:revision>120</cp:revision>
  <dcterms:created xsi:type="dcterms:W3CDTF">2025-07-11T12:38:56Z</dcterms:created>
  <dcterms:modified xsi:type="dcterms:W3CDTF">2026-04-18T14:32:01Z</dcterms:modified>
</cp:coreProperties>
</file>