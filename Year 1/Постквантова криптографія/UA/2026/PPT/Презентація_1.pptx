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86" r:id="rId5"/>
    <p:sldId id="287" r:id="rId6"/>
    <p:sldId id="288" r:id="rId7"/>
    <p:sldId id="289" r:id="rId8"/>
    <p:sldId id="263" r:id="rId9"/>
    <p:sldId id="290" r:id="rId10"/>
    <p:sldId id="291" r:id="rId11"/>
    <p:sldId id="266" r:id="rId12"/>
    <p:sldId id="267" r:id="rId13"/>
    <p:sldId id="292" r:id="rId14"/>
    <p:sldId id="269" r:id="rId15"/>
    <p:sldId id="270" r:id="rId16"/>
    <p:sldId id="271" r:id="rId17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21"/>
    <p:restoredTop sz="94610"/>
  </p:normalViewPr>
  <p:slideViewPr>
    <p:cSldViewPr snapToGrid="0" snapToObjects="1">
      <p:cViewPr>
        <p:scale>
          <a:sx n="106" d="100"/>
          <a:sy n="106" d="100"/>
        </p:scale>
        <p:origin x="1752" y="20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2917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49351"/>
            <a:ext cx="12188952" cy="7315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572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BDD7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Черкаський державний технологічний університет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Лекція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Вступ до квантових обчислень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60350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Білозор Дмитро Олександрович  |  </a:t>
            </a:r>
            <a:r>
              <a:rPr lang="en-US" sz="1400" dirty="0" err="1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Група</a:t>
            </a:r>
            <a:r>
              <a:rPr lang="en-US" sz="14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А-F5-25  |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лекції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1430000" cy="54864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11100816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Класичне проти квантове обчислення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Кубіт, суперпозиція, заплутаність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Математичний формалізм: сфера Блоха, квантові вентилі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Квантовий паралелізм та клас BQP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Хронологія розвитку квантових обчислень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Криптографічне значення — загрози та NIST PQC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Навіщо квантові обчислення?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1430000" cy="18288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111008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Квантові комп'ютери використовують закони квантової механіки для обробки інформації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відміну від класичних бітів, кубіти можуть існувати в кількох станах одночасно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3108960"/>
            <a:ext cx="5394960" cy="347472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3246120"/>
            <a:ext cx="506577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Загроза HNDL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"Harvest Now, Decrypt Later" —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зловмисники вже зараз збирають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зашифровані дані,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розшифрувати іх пізніше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квантовим комп'ютером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035040" y="3108960"/>
            <a:ext cx="5760720" cy="34747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99632" y="3246120"/>
            <a:ext cx="543153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Навіщо важливо?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RSA-2048 вразливий перед Shor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AES-128 ослаблено Grover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NIST уже видав FIPS 203/204/205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Q-Day очікується у ’ 30-40-х рр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Класичний біт проти кубіт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5394960" cy="5029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Класичний біт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5394960" cy="5029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109728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Кубіт (qubit)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" y="1645920"/>
            <a:ext cx="5394960" cy="4389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783080"/>
            <a:ext cx="5065776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Значення: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або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1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Одночасно лише один стан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Вимірювання не змінює стан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Масштабування: лінійне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(2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Технічна реалізація: транзистор</a:t>
            </a:r>
          </a:p>
        </p:txBody>
      </p:sp>
      <p:sp>
        <p:nvSpPr>
          <p:cNvPr id="10" name="Shape 8"/>
          <p:cNvSpPr/>
          <p:nvPr/>
        </p:nvSpPr>
        <p:spPr>
          <a:xfrm>
            <a:off x="6400800" y="1645920"/>
            <a:ext cx="5394960" cy="43891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1783080"/>
            <a:ext cx="5065776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Стан: 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α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|0⟩ + 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β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|1⟩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(суперпозиція)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Одночасно усі стани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Вимірювання: колапс до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або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1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Масштабування: експоненційне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(2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Тех. реалізація: надпровідні стани іонів, фотони</a:t>
            </a:r>
          </a:p>
        </p:txBody>
      </p:sp>
      <p:sp>
        <p:nvSpPr>
          <p:cNvPr id="12" name="Text 10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0693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 суперпозиції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1430000" cy="173736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11100816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Кубіт може знаходитись у лінійній комбінації базисних станів: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</a:t>
            </a:r>
            <a:r>
              <a:rPr lang="en-US" sz="20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ψ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⟩ = </a:t>
            </a:r>
            <a:r>
              <a:rPr lang="en-US" sz="20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α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|0⟩ + </a:t>
            </a:r>
            <a:r>
              <a:rPr lang="en-US" sz="20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β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|1⟩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  де   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</a:t>
            </a:r>
            <a:r>
              <a:rPr lang="en-US" sz="20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α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</a:t>
            </a:r>
            <a:r>
              <a:rPr lang="en-US" sz="20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 + |</a:t>
            </a:r>
            <a:r>
              <a:rPr lang="en-US" sz="20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β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</a:t>
            </a:r>
            <a:r>
              <a:rPr lang="en-US" sz="20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 = 1</a:t>
            </a:r>
          </a:p>
        </p:txBody>
      </p:sp>
      <p:sp>
        <p:nvSpPr>
          <p:cNvPr id="6" name="Shape 4"/>
          <p:cNvSpPr/>
          <p:nvPr/>
        </p:nvSpPr>
        <p:spPr>
          <a:xfrm>
            <a:off x="365760" y="3017520"/>
            <a:ext cx="5486400" cy="356616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3154680"/>
            <a:ext cx="5157216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Амплітуди 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α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β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комплексні числа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α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ймовірність виміряти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0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β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ймовірність виміряти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1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Вимірювання колапсує суперпозицію</a:t>
            </a:r>
          </a:p>
        </p:txBody>
      </p:sp>
      <p:sp>
        <p:nvSpPr>
          <p:cNvPr id="8" name="Shape 6"/>
          <p:cNvSpPr/>
          <p:nvPr/>
        </p:nvSpPr>
        <p:spPr>
          <a:xfrm>
            <a:off x="6126480" y="3017520"/>
            <a:ext cx="5669280" cy="356616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2" y="3154680"/>
            <a:ext cx="5340096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Рівномірна суперпозиція (Hadamard):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|+⟩ = (|0⟩ + |1⟩) / √2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|−⟩ = (|0⟩ − |1⟩) / √2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Кожний результат: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або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з 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 = 50%</a:t>
            </a:r>
          </a:p>
        </p:txBody>
      </p:sp>
      <p:sp>
        <p:nvSpPr>
          <p:cNvPr id="10" name="Text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66C3A7-2F17-3CB7-617E-EA551C2362EC}"/>
              </a:ext>
            </a:extLst>
          </p:cNvPr>
          <p:cNvSpPr txBox="1"/>
          <p:nvPr/>
        </p:nvSpPr>
        <p:spPr>
          <a:xfrm>
            <a:off x="5638800" y="29972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A" dirty="0"/>
          </a:p>
        </p:txBody>
      </p:sp>
    </p:spTree>
    <p:extLst>
      <p:ext uri="{BB962C8B-B14F-4D97-AF65-F5344CB8AC3E}">
        <p14:creationId xmlns:p14="http://schemas.microsoft.com/office/powerpoint/2010/main" val="3047264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Квантова заплутаність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1430000" cy="16459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111008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або більше кубітів утворюють заплутану пару — вони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можуть бути описані незалежно один від одного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2880360"/>
            <a:ext cx="5394960" cy="374904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3017520"/>
            <a:ext cx="5065776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Властивості: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Нелокальність — кореляції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зберігаються на будь-якій відстані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Вимірювання одного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миттєво визначає стан іншого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Теорема Белла: природа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нелокальна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126480" y="2880360"/>
            <a:ext cx="5669280" cy="37490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2" y="3017520"/>
            <a:ext cx="5340096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 Белла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Φ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+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|Φ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+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⟩ = (|00⟩ + |11⟩) / √2</a:t>
            </a:r>
          </a:p>
          <a:p>
            <a:pPr marL="0" indent="0"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 Белла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Φ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−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|Φ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−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⟩ = (|00⟩ − |11⟩) / √2</a:t>
            </a:r>
          </a:p>
          <a:p>
            <a:pPr marL="0" indent="0"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Стани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Ψ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+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Ψ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−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аналогічно</a:t>
            </a:r>
          </a:p>
        </p:txBody>
      </p:sp>
      <p:sp>
        <p:nvSpPr>
          <p:cNvPr id="10" name="Text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710695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Сфера Блоха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1430000" cy="173736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11100816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Геометричне представлення стану одного кубіта: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</a:t>
            </a:r>
            <a:r>
              <a:rPr lang="en-US" sz="20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ψ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⟩ = cos(</a:t>
            </a:r>
            <a:r>
              <a:rPr lang="en-US" sz="20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θ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/2)|0⟩ + </a:t>
            </a:r>
            <a:r>
              <a:rPr lang="en-US" sz="20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lang="en-US" sz="20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iφ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 sin(</a:t>
            </a:r>
            <a:r>
              <a:rPr lang="en-US" sz="20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θ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/2)|1⟩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20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θ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 ∈ [0, π],   </a:t>
            </a:r>
            <a:r>
              <a:rPr lang="en-US" sz="20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φ</a:t>
            </a:r>
            <a:r>
              <a:rPr lang="en-US" sz="2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 ∈ [0, 2π)</a:t>
            </a:r>
          </a:p>
        </p:txBody>
      </p:sp>
      <p:sp>
        <p:nvSpPr>
          <p:cNvPr id="6" name="Shape 4"/>
          <p:cNvSpPr/>
          <p:nvPr/>
        </p:nvSpPr>
        <p:spPr>
          <a:xfrm>
            <a:off x="365760" y="2926080"/>
            <a:ext cx="5486400" cy="374904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3063240"/>
            <a:ext cx="5157216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Полюсний зв’язок Z: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|0⟩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північний полюс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|1⟩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південний полюс</a:t>
            </a:r>
          </a:p>
          <a:p>
            <a:pPr marL="0" indent="0"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Екваторіальна площина: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|+⟩ = (|0⟩+|1⟩)/√2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(вісь +X)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|−⟩ = (|0⟩−|1⟩)/√2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(вісь −X)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⟩ = (|0⟩+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|1⟩)/√2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(вісь +Y)</a:t>
            </a:r>
          </a:p>
        </p:txBody>
      </p:sp>
      <p:sp>
        <p:nvSpPr>
          <p:cNvPr id="8" name="Shape 6"/>
          <p:cNvSpPr/>
          <p:nvPr/>
        </p:nvSpPr>
        <p:spPr>
          <a:xfrm>
            <a:off x="6126480" y="2926080"/>
            <a:ext cx="5669280" cy="37490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2" y="3063240"/>
            <a:ext cx="5340096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Дія вентилів на сфері: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(NOT): обертання навколо осі X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Z: обертання навколо осі Z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H: поворот на 135° (ось Z → ось X)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S: поворот на 90° (ось Z)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T: поворот на 45° (ось Z)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Y: обертання навколо осі 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00488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Однокубітні квантові вентилі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743200" cy="4572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Вентиль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108960" y="1097280"/>
            <a:ext cx="4572000" cy="4572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0" y="10972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Матриця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80960" y="1097280"/>
            <a:ext cx="4389120" cy="4572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10972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Дія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2743200" cy="62179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600200"/>
            <a:ext cx="25968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Pauli-X (NOT)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108960" y="1600200"/>
            <a:ext cx="4572000" cy="62179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82112" y="1600200"/>
            <a:ext cx="44256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[[0,1],[1,0]]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680960" y="1600200"/>
            <a:ext cx="4389120" cy="62179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54112" y="1600200"/>
            <a:ext cx="4242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|0⟩↔|1⟩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258568"/>
            <a:ext cx="2743200" cy="621792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2258568"/>
            <a:ext cx="25968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Pauli-Y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2258568"/>
            <a:ext cx="4572000" cy="621792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82112" y="2258568"/>
            <a:ext cx="44256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[[0,−i],[i,0]]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680960" y="2258568"/>
            <a:ext cx="4389120" cy="621792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54112" y="2258568"/>
            <a:ext cx="4242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Обертання X+Z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65760" y="2916936"/>
            <a:ext cx="2743200" cy="62179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2916936"/>
            <a:ext cx="25968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Pauli-Z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108960" y="2916936"/>
            <a:ext cx="4572000" cy="62179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82112" y="2916936"/>
            <a:ext cx="44256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[[1,0],[0,−1]]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680960" y="2916936"/>
            <a:ext cx="4389120" cy="62179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54112" y="2916936"/>
            <a:ext cx="4242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|1⟩ → −|1⟩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65760" y="3575304"/>
            <a:ext cx="2743200" cy="621792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3575304"/>
            <a:ext cx="25968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Hadamard (H)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3108960" y="3575304"/>
            <a:ext cx="4572000" cy="621792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182112" y="3575304"/>
            <a:ext cx="44256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1/√2 [[1,1],[1,−1]]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680960" y="3575304"/>
            <a:ext cx="4389120" cy="621792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4112" y="3575304"/>
            <a:ext cx="4242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|0⟩ → |+⟩, |1⟩ → |−⟩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65760" y="4233672"/>
            <a:ext cx="2743200" cy="62179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4233672"/>
            <a:ext cx="25968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(фаза 90°)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3108960" y="4233672"/>
            <a:ext cx="4572000" cy="62179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82112" y="4233672"/>
            <a:ext cx="44256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[[1,0],[0,i]]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7680960" y="4233672"/>
            <a:ext cx="4389120" cy="62179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54112" y="4233672"/>
            <a:ext cx="4242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Z¹² (T²)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65760" y="4892040"/>
            <a:ext cx="2743200" cy="621792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" y="4892040"/>
            <a:ext cx="25968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(фаза 45°)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3108960" y="4892040"/>
            <a:ext cx="4572000" cy="621792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82112" y="4892040"/>
            <a:ext cx="44256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[[1,0],[0,e^{iπ/4}]]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680960" y="4892040"/>
            <a:ext cx="4389120" cy="621792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54112" y="4892040"/>
            <a:ext cx="4242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Універсальний набір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Двокубітні вентилі і універсальність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5486400" cy="2743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5157216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CNOT (Controlled-NOT):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Умовний кубіт (control) керує цільовим (target)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|00⟩→|00⟩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|01⟩→|01⟩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|10⟩→|11⟩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|11⟩→|10⟩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Створює заплутані стани разом з H</a:t>
            </a:r>
          </a:p>
        </p:txBody>
      </p:sp>
      <p:sp>
        <p:nvSpPr>
          <p:cNvPr id="6" name="Shape 4"/>
          <p:cNvSpPr/>
          <p:nvPr/>
        </p:nvSpPr>
        <p:spPr>
          <a:xfrm>
            <a:off x="6126480" y="1097280"/>
            <a:ext cx="5669280" cy="27432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91072" y="1234440"/>
            <a:ext cx="5340096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SWAP: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Обмінює стани двох кубітів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Реалізується через 3 CNOT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Toffoli (CCNOT):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Controlled-Controlled-NOT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Універсальний для класичних обчислень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977640"/>
            <a:ext cx="11430000" cy="265176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4114800"/>
            <a:ext cx="11100816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Універсальний набір: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{H, T, CNOT}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універсальний для квантових обчислень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Теорема Соловайа-Кітаєва: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будь-який вентиль можна наблизити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елементами набору</a:t>
            </a:r>
          </a:p>
        </p:txBody>
      </p:sp>
      <p:sp>
        <p:nvSpPr>
          <p:cNvPr id="10" name="Text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764602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Квантовий паралелізм і клас BQP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5486400" cy="36576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5157216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Паралелізм: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кубітів одночасно представляють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станів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Вентиль діє на всіх одночасно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Інтерференція посилює потрібну відповідь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Вимірювання витягує з високою ймовірністю</a:t>
            </a:r>
          </a:p>
        </p:txBody>
      </p:sp>
      <p:sp>
        <p:nvSpPr>
          <p:cNvPr id="6" name="Shape 4"/>
          <p:cNvSpPr/>
          <p:nvPr/>
        </p:nvSpPr>
        <p:spPr>
          <a:xfrm>
            <a:off x="6126480" y="1097280"/>
            <a:ext cx="5669280" cy="365760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91072" y="1234440"/>
            <a:ext cx="5340096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 BQP: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Bounded-error Quantum Polynomial time</a:t>
            </a:r>
          </a:p>
          <a:p>
            <a:pPr marL="0" indent="0"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Задачі з помилкою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&lt; 1/3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за поліноміальний час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P ⊆ BQP ⊆ PSPACE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Факторизація (Shor)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∈ BQP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але вірогідно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∉ P</a:t>
            </a:r>
          </a:p>
        </p:txBody>
      </p:sp>
      <p:sp>
        <p:nvSpPr>
          <p:cNvPr id="8" name="Shape 6"/>
          <p:cNvSpPr/>
          <p:nvPr/>
        </p:nvSpPr>
        <p:spPr>
          <a:xfrm>
            <a:off x="365760" y="4892040"/>
            <a:ext cx="11430000" cy="16916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5029200"/>
            <a:ext cx="11100816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Обмеження: квантовий комп'ютер не віршує все швидше — лише задачі зі спеціальною структурою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672100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Класичні проти квантові обчислення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2880" y="1097280"/>
            <a:ext cx="3200400" cy="4572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Характеристика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3840480" cy="4572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0" y="1097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Класичне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223760" y="1097280"/>
            <a:ext cx="4754880" cy="4572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10972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Квантове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82880" y="1600200"/>
            <a:ext cx="3200400" cy="649224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600200"/>
            <a:ext cx="305409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Основна одиниця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83280" y="1600200"/>
            <a:ext cx="3840480" cy="649224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0"/>
            <a:ext cx="36941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Біт (0/1)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223760" y="1600200"/>
            <a:ext cx="4754880" cy="64922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96912" y="1600200"/>
            <a:ext cx="46085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Кубіт (суперпозиція)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82880" y="2286000"/>
            <a:ext cx="3200400" cy="649224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2286000"/>
            <a:ext cx="305409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Операції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83280" y="2286000"/>
            <a:ext cx="3840480" cy="649224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56432" y="2286000"/>
            <a:ext cx="36941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Логічні вентилі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23760" y="2286000"/>
            <a:ext cx="4754880" cy="64922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96912" y="2286000"/>
            <a:ext cx="46085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Квантові (unitary)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82880" y="2971800"/>
            <a:ext cx="3200400" cy="649224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2971800"/>
            <a:ext cx="305409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Паралелізм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383280" y="2971800"/>
            <a:ext cx="3840480" cy="649224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56432" y="2971800"/>
            <a:ext cx="36941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Апаратний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223760" y="2971800"/>
            <a:ext cx="4754880" cy="64922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96912" y="2971800"/>
            <a:ext cx="46085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Квантовий (2^n)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82880" y="3657600"/>
            <a:ext cx="3200400" cy="649224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" y="3657600"/>
            <a:ext cx="305409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Обчислення RSA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3383280" y="3657600"/>
            <a:ext cx="3840480" cy="649224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657600"/>
            <a:ext cx="36941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O(e^{n^{1/3}})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223760" y="3657600"/>
            <a:ext cx="4754880" cy="64922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96912" y="3657600"/>
            <a:ext cx="46085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O(n³) — Shor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82880" y="4343400"/>
            <a:ext cx="3200400" cy="649224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6032" y="4343400"/>
            <a:ext cx="305409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Обчислення пошуку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3383280" y="4343400"/>
            <a:ext cx="3840480" cy="649224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56432" y="4343400"/>
            <a:ext cx="36941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O(N)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7223760" y="4343400"/>
            <a:ext cx="4754880" cy="64922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96912" y="4343400"/>
            <a:ext cx="46085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O(√N) — Grover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182880" y="5029200"/>
            <a:ext cx="3200400" cy="649224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56032" y="5029200"/>
            <a:ext cx="305409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Помилковість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3383280" y="5029200"/>
            <a:ext cx="3840480" cy="649224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56432" y="5029200"/>
            <a:ext cx="36941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Детермінована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223760" y="5029200"/>
            <a:ext cx="4754880" cy="64922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96912" y="5029200"/>
            <a:ext cx="460857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Ймовірнісна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Хронологія розвитку квантових обчислень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1097280" cy="713232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88720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463040" y="1188720"/>
            <a:ext cx="1828800" cy="713232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1188720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Фейнман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8503920" cy="71323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325880"/>
            <a:ext cx="817473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Пропонує квантові комп'ютери для моделювання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2084832"/>
            <a:ext cx="1097280" cy="713232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084832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463040" y="2084832"/>
            <a:ext cx="1828800" cy="713232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2084832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Шор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383280" y="2084832"/>
            <a:ext cx="8503920" cy="71323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47872" y="2221992"/>
            <a:ext cx="817473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Алгоритм факторизації — RSA під загрозою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4320" y="2980944"/>
            <a:ext cx="1097280" cy="713232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80944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463040" y="2980944"/>
            <a:ext cx="1828800" cy="713232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54480" y="2980944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Гровер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383280" y="2980944"/>
            <a:ext cx="8503920" cy="71323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47872" y="3118104"/>
            <a:ext cx="817473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Пошук за O(√N) — симетрія ослаблена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74320" y="3877056"/>
            <a:ext cx="1097280" cy="713232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77056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463040" y="3877056"/>
            <a:ext cx="1828800" cy="713232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54480" y="3877056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383280" y="3877056"/>
            <a:ext cx="8503920" cy="71323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47872" y="4014216"/>
            <a:ext cx="817473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Sycamore: перевага над класикою (53 кубіти)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74320" y="4773168"/>
            <a:ext cx="1097280" cy="713232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773168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463040" y="4773168"/>
            <a:ext cx="1828800" cy="713232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54480" y="4773168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383280" y="4773168"/>
            <a:ext cx="8503920" cy="71323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47872" y="4910328"/>
            <a:ext cx="817473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Condor: 1121 кубіт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274320" y="5669280"/>
            <a:ext cx="1097280" cy="713232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669280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463040" y="5669280"/>
            <a:ext cx="1828800" cy="713232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554480" y="5669280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383280" y="5669280"/>
            <a:ext cx="8503920" cy="71323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47872" y="5806440"/>
            <a:ext cx="817473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 203, 204, 205 — PQC стандарти видані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Криптографічні загрози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5486400" cy="320040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515721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Алгоритм Шора (1994)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Факторизація за 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O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(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3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поліноміальний час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Знищує: RSA, DSA, ECC, DH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2048-бітний RSA: класично —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10</a:t>
            </a:r>
            <a:r>
              <a:rPr lang="en-US" sz="1800" baseline="300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9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років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на квантовому — години</a:t>
            </a:r>
          </a:p>
        </p:txBody>
      </p:sp>
      <p:sp>
        <p:nvSpPr>
          <p:cNvPr id="6" name="Shape 4"/>
          <p:cNvSpPr/>
          <p:nvPr/>
        </p:nvSpPr>
        <p:spPr>
          <a:xfrm>
            <a:off x="6126480" y="1097280"/>
            <a:ext cx="5669280" cy="32004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91072" y="1234440"/>
            <a:ext cx="53400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Алгоритм Гровера (1996)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Пошук за 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O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(√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проти 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O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(</a:t>
            </a:r>
            <a:r>
              <a:rPr lang="en-US" sz="1800" i="1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Ослаблює: AES, SHA-256/512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AES-128 ефективно → </a:t>
            </a:r>
            <a:r>
              <a:rPr lang="en-US" sz="18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64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-біт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Фікс: подвойти довжину ключа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(AES-256, SHA-384+)</a:t>
            </a:r>
          </a:p>
        </p:txBody>
      </p:sp>
      <p:sp>
        <p:nvSpPr>
          <p:cNvPr id="8" name="Shape 6"/>
          <p:cNvSpPr/>
          <p:nvPr/>
        </p:nvSpPr>
        <p:spPr>
          <a:xfrm>
            <a:off x="365760" y="4434840"/>
            <a:ext cx="11430000" cy="219456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4572000"/>
            <a:ext cx="1110081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Відповідь — NIST Post-Quantum Cryptography: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FIPS 203 (ML-KEM / Kyber) — кінкапсуляція ключів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FIPS 204 (ML-DSA / Dilithium) — цифрові підписи</a:t>
            </a:r>
            <a:endParaRPr lang="en-US" sz="18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FIPS 205 (SLH-DSA / SPHINCS+) — геш-цифрові підписи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08163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PQC стандарти (2024)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2880" y="1097280"/>
            <a:ext cx="1463040" cy="4572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737360" y="1097280"/>
            <a:ext cx="1828800" cy="4572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097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Алгоритм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0" y="1097280"/>
            <a:ext cx="4389120" cy="4572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0972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Матем. основа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38160" y="1097280"/>
            <a:ext cx="3200400" cy="45720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097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Призначення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82880" y="1645920"/>
            <a:ext cx="1463040" cy="11887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" y="1691640"/>
            <a:ext cx="131673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 203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737360" y="1645920"/>
            <a:ext cx="1828800" cy="11887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0512" y="1691640"/>
            <a:ext cx="16824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ML-KEM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(Kyber)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0" y="1645920"/>
            <a:ext cx="4389120" cy="11887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30752" y="1691640"/>
            <a:ext cx="424281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Гратки-центрірована криптографія (LWE)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138160" y="1645920"/>
            <a:ext cx="3200400" cy="11887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11312" y="1691640"/>
            <a:ext cx="30540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Кінкапсуляція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ключів (KEM)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82880" y="2926080"/>
            <a:ext cx="1463040" cy="118872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" y="2971800"/>
            <a:ext cx="131673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 204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737360" y="2926080"/>
            <a:ext cx="1828800" cy="118872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10512" y="2971800"/>
            <a:ext cx="16824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ML-DSA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(Dilithium)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657600" y="2926080"/>
            <a:ext cx="4389120" cy="118872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971800"/>
            <a:ext cx="424281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Гратки-центрована криптографія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138160" y="2926080"/>
            <a:ext cx="3200400" cy="118872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11312" y="2971800"/>
            <a:ext cx="30540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Цифрові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підписи (DSA)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82880" y="4206240"/>
            <a:ext cx="1463040" cy="1188720"/>
          </a:xfrm>
          <a:prstGeom prst="rect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" y="4251960"/>
            <a:ext cx="131673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 205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737360" y="4206240"/>
            <a:ext cx="1828800" cy="1188720"/>
          </a:xfrm>
          <a:prstGeom prst="rect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10512" y="4251960"/>
            <a:ext cx="16824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SLH-DSA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(SPHINCS+)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3657600" y="4206240"/>
            <a:ext cx="4389120" cy="1188720"/>
          </a:xfrm>
          <a:prstGeom prst="rect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30752" y="4251960"/>
            <a:ext cx="424281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Геш-функції (SHA)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138160" y="4206240"/>
            <a:ext cx="3200400" cy="1188720"/>
          </a:xfrm>
          <a:prstGeom prst="rect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11312" y="4251960"/>
            <a:ext cx="30540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Цифрові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підписи (DSA)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182880" y="5577840"/>
            <a:ext cx="1179576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7472" y="5715000"/>
            <a:ext cx="114665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Практичні кроки: TLS 1.3+, SSH і VPN вже інтегрують PQC алгоритми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Висновки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1430000" cy="46634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11100816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Кубіт = суперпозиція + заплутаність — фундамент квант. переваги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Вентилі (H, X, Y, Z, S, T, CNOT) — унітарні операції над кубітами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Алгоритм Шора: RSA і ECC — не безпечні після Q-Day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Алгоритм Гровера: AES &lt; 256 біт ослаблюється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HNDL-загроза: ключі треба міняти вже зараз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FIPS 203/204/205 — постквантові стандарти вже затверджені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031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Контрольні запитання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1430000" cy="5029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11100816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Чим кубіт відрізняється від класичного біта?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Що відбувається після вимірювання кубіта в стані суперпозиції?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Що таке квантова заплутаність? Наведіть стани Белла.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Які алгоритми використовуються у постквантовій криптографії і чому?</a:t>
            </a:r>
            <a:endParaRPr lang="en-US" sz="20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Що означають стандарти FIPS 203, 204, 205?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Постквантова криптографія | Лекція 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178B814-829D-BF44-803B-9CC81D1DB69E}">
  <we:reference id="wa200010001" version="1.0.0.1" store="en-GB" storeType="OMEX"/>
  <we:alternateReferences>
    <we:reference id="WA200010001" version="1.0.0.1" store="WA200010001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1422</Words>
  <Application>Microsoft Macintosh PowerPoint</Application>
  <PresentationFormat>Custom</PresentationFormat>
  <Paragraphs>265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ЧДТУ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Постквантова криптографія — Лекція 1</dc:title>
  <dc:subject>PptxGenJS Presentation</dc:subject>
  <dc:creator>Dmytro Bilozor</dc:creator>
  <cp:lastModifiedBy>Dima Bil</cp:lastModifiedBy>
  <cp:revision>4</cp:revision>
  <dcterms:created xsi:type="dcterms:W3CDTF">2026-03-29T20:10:45Z</dcterms:created>
  <dcterms:modified xsi:type="dcterms:W3CDTF">2026-03-30T07:02:21Z</dcterms:modified>
</cp:coreProperties>
</file>