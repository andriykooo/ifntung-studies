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63" r:id="rId17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59" autoAdjust="0"/>
    <p:restoredTop sz="94678"/>
  </p:normalViewPr>
  <p:slideViewPr>
    <p:cSldViewPr snapToGrid="0">
      <p:cViewPr varScale="1">
        <p:scale>
          <a:sx n="178" d="100"/>
          <a:sy n="178" d="100"/>
        </p:scale>
        <p:origin x="20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05DBC626-4DD8-95BD-2906-E62D73E83E1B}"/>
              </a:ext>
            </a:extLst>
          </p:cNvPr>
          <p:cNvSpPr/>
          <p:nvPr userDrawn="1"/>
        </p:nvSpPr>
        <p:spPr>
          <a:xfrm>
            <a:off x="6920801" y="-3295"/>
            <a:ext cx="6541199" cy="6861295"/>
          </a:xfrm>
          <a:custGeom>
            <a:avLst/>
            <a:gdLst/>
            <a:ahLst/>
            <a:cxnLst/>
            <a:rect l="l" t="t" r="r" b="b"/>
            <a:pathLst>
              <a:path w="10580914" h="10287000">
                <a:moveTo>
                  <a:pt x="0" y="0"/>
                </a:moveTo>
                <a:lnTo>
                  <a:pt x="10580914" y="0"/>
                </a:lnTo>
                <a:lnTo>
                  <a:pt x="10580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F4F4B-645B-AE4E-2BF4-F7E94EEF37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30363" y="2077401"/>
            <a:ext cx="9144000" cy="750852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COURSE NAME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2F5CA641-4378-FFF4-6C63-FE20A7AB18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6843" y="4323334"/>
            <a:ext cx="11298314" cy="92405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Teacher:</a:t>
            </a:r>
          </a:p>
          <a:p>
            <a:r>
              <a:rPr lang="en-US" dirty="0"/>
              <a:t>First name, Last name, academic degree, academic title, position</a:t>
            </a:r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4D8244C4-6C89-A133-852B-C8FC03F1D08E}"/>
              </a:ext>
            </a:extLst>
          </p:cNvPr>
          <p:cNvSpPr/>
          <p:nvPr userDrawn="1"/>
        </p:nvSpPr>
        <p:spPr>
          <a:xfrm>
            <a:off x="9455450" y="5909845"/>
            <a:ext cx="2289707" cy="561979"/>
          </a:xfrm>
          <a:custGeom>
            <a:avLst/>
            <a:gdLst/>
            <a:ahLst/>
            <a:cxnLst/>
            <a:rect l="l" t="t" r="r" b="b"/>
            <a:pathLst>
              <a:path w="3304721" h="832124">
                <a:moveTo>
                  <a:pt x="0" y="0"/>
                </a:moveTo>
                <a:lnTo>
                  <a:pt x="3304721" y="0"/>
                </a:lnTo>
                <a:lnTo>
                  <a:pt x="3304721" y="832124"/>
                </a:lnTo>
                <a:lnTo>
                  <a:pt x="0" y="8321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1026" name="Picture 2" descr="COMAI - Ulysseus">
            <a:extLst>
              <a:ext uri="{FF2B5EF4-FFF2-40B4-BE49-F238E27FC236}">
                <a16:creationId xmlns:a16="http://schemas.microsoft.com/office/drawing/2014/main" id="{C12C8155-5617-3A68-F4D7-AAD08BB06D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43" y="5909845"/>
            <a:ext cx="2867487" cy="582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Місце для зображення 12">
            <a:extLst>
              <a:ext uri="{FF2B5EF4-FFF2-40B4-BE49-F238E27FC236}">
                <a16:creationId xmlns:a16="http://schemas.microsoft.com/office/drawing/2014/main" id="{E815AE2E-6725-7927-4881-DA2D2C5A4F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6088" y="328613"/>
            <a:ext cx="2368550" cy="923925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 dirty="0"/>
              <a:t>University logo</a:t>
            </a:r>
            <a:endParaRPr lang="uk-UA" dirty="0"/>
          </a:p>
        </p:txBody>
      </p:sp>
      <p:sp>
        <p:nvSpPr>
          <p:cNvPr id="14" name="Місце для зображення 12">
            <a:extLst>
              <a:ext uri="{FF2B5EF4-FFF2-40B4-BE49-F238E27FC236}">
                <a16:creationId xmlns:a16="http://schemas.microsoft.com/office/drawing/2014/main" id="{62658F34-B66C-A1D3-B3B4-DF50825EA16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376607" y="328612"/>
            <a:ext cx="2368550" cy="92392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 dirty="0"/>
              <a:t>Department logo</a:t>
            </a:r>
            <a:endParaRPr lang="uk-UA" dirty="0"/>
          </a:p>
        </p:txBody>
      </p:sp>
      <p:sp>
        <p:nvSpPr>
          <p:cNvPr id="19" name="Місце для тексту 18">
            <a:extLst>
              <a:ext uri="{FF2B5EF4-FFF2-40B4-BE49-F238E27FC236}">
                <a16:creationId xmlns:a16="http://schemas.microsoft.com/office/drawing/2014/main" id="{B10AEEDB-6C49-4C16-1AB4-353507F394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0363" y="3033506"/>
            <a:ext cx="9144000" cy="750852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Lecture #. “Title”</a:t>
            </a:r>
            <a:endParaRPr lang="uk-UA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C46E11E8-C94E-4AE7-ADB5-FDEAADAE04C0}"/>
              </a:ext>
            </a:extLst>
          </p:cNvPr>
          <p:cNvSpPr txBox="1"/>
          <p:nvPr userDrawn="1"/>
        </p:nvSpPr>
        <p:spPr>
          <a:xfrm>
            <a:off x="4079519" y="5820282"/>
            <a:ext cx="5967043" cy="651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  <a:spcBef>
                <a:spcPct val="0"/>
              </a:spcBef>
            </a:pPr>
            <a:r>
              <a:rPr lang="en-US" sz="1000" b="1" dirty="0">
                <a:solidFill>
                  <a:srgbClr val="023399"/>
                </a:solidFill>
                <a:latin typeface="Aptos" panose="020B0004020202020204" pitchFamily="34" charset="0"/>
                <a:ea typeface="Arial Bold"/>
                <a:cs typeface="Arial Bold"/>
                <a:sym typeface="Arial Bold"/>
              </a:rPr>
              <a:t>SECURE ERASMUS-EDU-2024-CBHE</a:t>
            </a:r>
          </a:p>
          <a:p>
            <a:pPr algn="l">
              <a:lnSpc>
                <a:spcPts val="1689"/>
              </a:lnSpc>
              <a:spcBef>
                <a:spcPct val="0"/>
              </a:spcBef>
            </a:pPr>
            <a:r>
              <a:rPr lang="en-US" sz="1000" dirty="0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This project has received funding from the European Union’s Erasmus + </a:t>
            </a:r>
            <a:r>
              <a:rPr lang="en-US" sz="1000" dirty="0" err="1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Programme</a:t>
            </a:r>
            <a:r>
              <a:rPr lang="en-US" sz="1000" dirty="0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689"/>
              </a:lnSpc>
              <a:spcBef>
                <a:spcPct val="0"/>
              </a:spcBef>
            </a:pPr>
            <a:r>
              <a:rPr lang="en-US" sz="1000" dirty="0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"Capacity building in the field of higher education", project id 101179818</a:t>
            </a:r>
          </a:p>
        </p:txBody>
      </p:sp>
    </p:spTree>
    <p:extLst>
      <p:ext uri="{BB962C8B-B14F-4D97-AF65-F5344CB8AC3E}">
        <p14:creationId xmlns:p14="http://schemas.microsoft.com/office/powerpoint/2010/main" val="859439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2">
            <a:extLst>
              <a:ext uri="{FF2B5EF4-FFF2-40B4-BE49-F238E27FC236}">
                <a16:creationId xmlns:a16="http://schemas.microsoft.com/office/drawing/2014/main" id="{20CB3192-52DB-1C4F-CDF1-2C5834701427}"/>
              </a:ext>
            </a:extLst>
          </p:cNvPr>
          <p:cNvSpPr/>
          <p:nvPr userDrawn="1"/>
        </p:nvSpPr>
        <p:spPr>
          <a:xfrm>
            <a:off x="6920801" y="-3295"/>
            <a:ext cx="6541199" cy="6861295"/>
          </a:xfrm>
          <a:custGeom>
            <a:avLst/>
            <a:gdLst/>
            <a:ahLst/>
            <a:cxnLst/>
            <a:rect l="l" t="t" r="r" b="b"/>
            <a:pathLst>
              <a:path w="10580914" h="10287000">
                <a:moveTo>
                  <a:pt x="0" y="0"/>
                </a:moveTo>
                <a:lnTo>
                  <a:pt x="10580914" y="0"/>
                </a:lnTo>
                <a:lnTo>
                  <a:pt x="10580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9" name="Місце для тексту 8">
            <a:extLst>
              <a:ext uri="{FF2B5EF4-FFF2-40B4-BE49-F238E27FC236}">
                <a16:creationId xmlns:a16="http://schemas.microsoft.com/office/drawing/2014/main" id="{8DA5757D-9772-C9F6-1941-FA9F1C1F97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4066" y="2392077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B648F94A-93CF-5554-B9EC-99C1603543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LECTURE PLAN</a:t>
            </a:r>
            <a:endParaRPr lang="uk-UA" dirty="0"/>
          </a:p>
        </p:txBody>
      </p:sp>
      <p:sp>
        <p:nvSpPr>
          <p:cNvPr id="18" name="Місце для тексту 8">
            <a:extLst>
              <a:ext uri="{FF2B5EF4-FFF2-40B4-BE49-F238E27FC236}">
                <a16:creationId xmlns:a16="http://schemas.microsoft.com/office/drawing/2014/main" id="{2C4AAD83-F098-467E-30E8-5B1DBFBB92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44065" y="3267036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19" name="Місце для тексту 8">
            <a:extLst>
              <a:ext uri="{FF2B5EF4-FFF2-40B4-BE49-F238E27FC236}">
                <a16:creationId xmlns:a16="http://schemas.microsoft.com/office/drawing/2014/main" id="{E19B8F13-7D27-6CB4-C4E2-740F7D45DE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44066" y="4141995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20" name="Місце для тексту 8">
            <a:extLst>
              <a:ext uri="{FF2B5EF4-FFF2-40B4-BE49-F238E27FC236}">
                <a16:creationId xmlns:a16="http://schemas.microsoft.com/office/drawing/2014/main" id="{478A70D7-9C17-6A3A-7307-37FCE7F9DE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44065" y="5016954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21" name="Місце для тексту 8">
            <a:extLst>
              <a:ext uri="{FF2B5EF4-FFF2-40B4-BE49-F238E27FC236}">
                <a16:creationId xmlns:a16="http://schemas.microsoft.com/office/drawing/2014/main" id="{6C85C806-5D99-80B3-1B5C-C1F8654380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32685" y="2392077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22" name="Місце для тексту 8">
            <a:extLst>
              <a:ext uri="{FF2B5EF4-FFF2-40B4-BE49-F238E27FC236}">
                <a16:creationId xmlns:a16="http://schemas.microsoft.com/office/drawing/2014/main" id="{A9DE4B24-321A-7699-D368-923ABAFA73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32684" y="3267036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23" name="Місце для тексту 8">
            <a:extLst>
              <a:ext uri="{FF2B5EF4-FFF2-40B4-BE49-F238E27FC236}">
                <a16:creationId xmlns:a16="http://schemas.microsoft.com/office/drawing/2014/main" id="{AFA89644-FB9E-ABAF-F0D3-EA41087639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32685" y="4141995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24" name="Місце для тексту 8">
            <a:extLst>
              <a:ext uri="{FF2B5EF4-FFF2-40B4-BE49-F238E27FC236}">
                <a16:creationId xmlns:a16="http://schemas.microsoft.com/office/drawing/2014/main" id="{E4A3D9BF-973C-0418-3024-30595EBA45F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32684" y="5016954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97676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5A07F23F-4277-FC4D-97B7-3E341B68F917}"/>
              </a:ext>
            </a:extLst>
          </p:cNvPr>
          <p:cNvSpPr/>
          <p:nvPr userDrawn="1"/>
        </p:nvSpPr>
        <p:spPr>
          <a:xfrm rot="19833573">
            <a:off x="4329829" y="-375306"/>
            <a:ext cx="9880718" cy="7608613"/>
          </a:xfrm>
          <a:custGeom>
            <a:avLst/>
            <a:gdLst/>
            <a:ahLst/>
            <a:cxnLst/>
            <a:rect l="l" t="t" r="r" b="b"/>
            <a:pathLst>
              <a:path w="13347232" h="10847660">
                <a:moveTo>
                  <a:pt x="0" y="0"/>
                </a:moveTo>
                <a:lnTo>
                  <a:pt x="13347232" y="0"/>
                </a:lnTo>
                <a:lnTo>
                  <a:pt x="13347232" y="10847660"/>
                </a:lnTo>
                <a:lnTo>
                  <a:pt x="0" y="1084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97EB8-BC56-C8CD-3070-C9ACA13EC0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ctr">
            <a:normAutofit/>
          </a:bodyPr>
          <a:lstStyle>
            <a:lvl1pPr algn="ctr">
              <a:defRPr sz="5000"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 OF THE # POINT FROM THE LECTURE PLAN</a:t>
            </a:r>
            <a:endParaRPr lang="uk-UA" dirty="0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27D60B2F-9685-26A3-EC21-6D22D8A4D04B}"/>
              </a:ext>
            </a:extLst>
          </p:cNvPr>
          <p:cNvGrpSpPr/>
          <p:nvPr userDrawn="1"/>
        </p:nvGrpSpPr>
        <p:grpSpPr>
          <a:xfrm>
            <a:off x="8794071" y="468052"/>
            <a:ext cx="3397929" cy="417760"/>
            <a:chOff x="0" y="0"/>
            <a:chExt cx="1239574" cy="152400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FBD412A2-E641-132E-78FF-02F60B95DF11}"/>
                </a:ext>
              </a:extLst>
            </p:cNvPr>
            <p:cNvSpPr/>
            <p:nvPr/>
          </p:nvSpPr>
          <p:spPr>
            <a:xfrm>
              <a:off x="0" y="0"/>
              <a:ext cx="1239574" cy="152400"/>
            </a:xfrm>
            <a:custGeom>
              <a:avLst/>
              <a:gdLst/>
              <a:ahLst/>
              <a:cxnLst/>
              <a:rect l="l" t="t" r="r" b="b"/>
              <a:pathLst>
                <a:path w="1239574" h="152400">
                  <a:moveTo>
                    <a:pt x="0" y="0"/>
                  </a:moveTo>
                  <a:lnTo>
                    <a:pt x="1239574" y="0"/>
                  </a:lnTo>
                  <a:lnTo>
                    <a:pt x="1239574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D2A59"/>
            </a:solidFill>
          </p:spPr>
        </p:sp>
      </p:grpSp>
      <p:sp>
        <p:nvSpPr>
          <p:cNvPr id="11" name="Freeform 4">
            <a:extLst>
              <a:ext uri="{FF2B5EF4-FFF2-40B4-BE49-F238E27FC236}">
                <a16:creationId xmlns:a16="http://schemas.microsoft.com/office/drawing/2014/main" id="{F07C4348-D2BB-5FEF-BFDE-ED24D7871E6A}"/>
              </a:ext>
            </a:extLst>
          </p:cNvPr>
          <p:cNvSpPr/>
          <p:nvPr userDrawn="1"/>
        </p:nvSpPr>
        <p:spPr>
          <a:xfrm>
            <a:off x="9455450" y="5909845"/>
            <a:ext cx="2289707" cy="561979"/>
          </a:xfrm>
          <a:custGeom>
            <a:avLst/>
            <a:gdLst/>
            <a:ahLst/>
            <a:cxnLst/>
            <a:rect l="l" t="t" r="r" b="b"/>
            <a:pathLst>
              <a:path w="3304721" h="832124">
                <a:moveTo>
                  <a:pt x="0" y="0"/>
                </a:moveTo>
                <a:lnTo>
                  <a:pt x="3304721" y="0"/>
                </a:lnTo>
                <a:lnTo>
                  <a:pt x="3304721" y="832124"/>
                </a:lnTo>
                <a:lnTo>
                  <a:pt x="0" y="83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323636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438A861F-723B-32BD-123D-23AB50C1E9DF}"/>
              </a:ext>
            </a:extLst>
          </p:cNvPr>
          <p:cNvSpPr/>
          <p:nvPr userDrawn="1"/>
        </p:nvSpPr>
        <p:spPr>
          <a:xfrm rot="6517973">
            <a:off x="-1650001" y="805883"/>
            <a:ext cx="9663726" cy="6609046"/>
          </a:xfrm>
          <a:custGeom>
            <a:avLst/>
            <a:gdLst/>
            <a:ahLst/>
            <a:cxnLst/>
            <a:rect l="l" t="t" r="r" b="b"/>
            <a:pathLst>
              <a:path w="13347232" h="10847660">
                <a:moveTo>
                  <a:pt x="0" y="0"/>
                </a:moveTo>
                <a:lnTo>
                  <a:pt x="13347232" y="0"/>
                </a:lnTo>
                <a:lnTo>
                  <a:pt x="13347232" y="10847660"/>
                </a:lnTo>
                <a:lnTo>
                  <a:pt x="0" y="1084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D33B1-0CDC-ED77-635F-731BCFBFA5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10261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1339ECB-7836-56BF-C31D-3BAEBCA8F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  <p:sp>
        <p:nvSpPr>
          <p:cNvPr id="7" name="Місце для тексту 6">
            <a:extLst>
              <a:ext uri="{FF2B5EF4-FFF2-40B4-BE49-F238E27FC236}">
                <a16:creationId xmlns:a16="http://schemas.microsoft.com/office/drawing/2014/main" id="{8E8B18C6-9CBB-DF5A-5A27-4791831B80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870075"/>
            <a:ext cx="5532120" cy="842963"/>
          </a:xfrm>
        </p:spPr>
        <p:txBody>
          <a:bodyPr/>
          <a:lstStyle>
            <a:lvl1pPr marL="0" indent="0">
              <a:buNone/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8" name="Місце для тексту 6">
            <a:extLst>
              <a:ext uri="{FF2B5EF4-FFF2-40B4-BE49-F238E27FC236}">
                <a16:creationId xmlns:a16="http://schemas.microsoft.com/office/drawing/2014/main" id="{6CBD2B82-584E-B922-D53A-B6F456C865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2892424"/>
            <a:ext cx="5532120" cy="3467736"/>
          </a:xfrm>
        </p:spPr>
        <p:txBody>
          <a:bodyPr>
            <a:normAutofit/>
          </a:bodyPr>
          <a:lstStyle>
            <a:lvl1pPr marL="0" indent="0">
              <a:buNone/>
              <a:defRPr sz="2500" b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11" name="Місце для зображення 10">
            <a:extLst>
              <a:ext uri="{FF2B5EF4-FFF2-40B4-BE49-F238E27FC236}">
                <a16:creationId xmlns:a16="http://schemas.microsoft.com/office/drawing/2014/main" id="{A33FF4F4-EFEE-BFD1-375F-648CA393F5E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24638" y="1870074"/>
            <a:ext cx="4729162" cy="4490085"/>
          </a:xfr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8753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">
            <a:extLst>
              <a:ext uri="{FF2B5EF4-FFF2-40B4-BE49-F238E27FC236}">
                <a16:creationId xmlns:a16="http://schemas.microsoft.com/office/drawing/2014/main" id="{70C13FFF-F513-4654-24F8-20B9F6D33240}"/>
              </a:ext>
            </a:extLst>
          </p:cNvPr>
          <p:cNvSpPr/>
          <p:nvPr userDrawn="1"/>
        </p:nvSpPr>
        <p:spPr>
          <a:xfrm rot="8411302" flipH="1" flipV="1">
            <a:off x="4748439" y="-391160"/>
            <a:ext cx="9459568" cy="8276884"/>
          </a:xfrm>
          <a:custGeom>
            <a:avLst/>
            <a:gdLst/>
            <a:ahLst/>
            <a:cxnLst/>
            <a:rect l="l" t="t" r="r" b="b"/>
            <a:pathLst>
              <a:path w="13347232" h="10847660">
                <a:moveTo>
                  <a:pt x="0" y="0"/>
                </a:moveTo>
                <a:lnTo>
                  <a:pt x="13347232" y="0"/>
                </a:lnTo>
                <a:lnTo>
                  <a:pt x="13347232" y="10847660"/>
                </a:lnTo>
                <a:lnTo>
                  <a:pt x="0" y="1084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2FB564-C2AF-2A39-32F5-C8AE625BFF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>
              <a:defRPr sz="3200"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6E35D1EC-A30B-2B54-1BAD-F7B1C813C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0"/>
            <a:ext cx="6172200" cy="57470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D619E5F8-83B6-C4B1-CDE6-E2576A5D97D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39268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88718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60F5C-0E3F-B81E-3874-5DFE7B95B6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43C40CA-D14D-1220-C849-3E91200A184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 marL="0" indent="0">
              <a:buNone/>
              <a:defRPr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text/assets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A858D7C-35A5-2A50-602A-248A2D961DA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text/assets</a:t>
            </a:r>
            <a:endParaRPr lang="uk-UA" dirty="0"/>
          </a:p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2613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C437F139-DD75-BFB8-2FA9-97A05C2AE574}"/>
              </a:ext>
            </a:extLst>
          </p:cNvPr>
          <p:cNvSpPr/>
          <p:nvPr userDrawn="1"/>
        </p:nvSpPr>
        <p:spPr>
          <a:xfrm rot="3018939" flipV="1">
            <a:off x="1616475" y="-3063601"/>
            <a:ext cx="8959050" cy="6857449"/>
          </a:xfrm>
          <a:custGeom>
            <a:avLst/>
            <a:gdLst/>
            <a:ahLst/>
            <a:cxnLst/>
            <a:rect l="l" t="t" r="r" b="b"/>
            <a:pathLst>
              <a:path w="13347232" h="10847660">
                <a:moveTo>
                  <a:pt x="0" y="10847659"/>
                </a:moveTo>
                <a:lnTo>
                  <a:pt x="13347232" y="10847659"/>
                </a:lnTo>
                <a:lnTo>
                  <a:pt x="13347232" y="0"/>
                </a:lnTo>
                <a:lnTo>
                  <a:pt x="0" y="0"/>
                </a:lnTo>
                <a:lnTo>
                  <a:pt x="0" y="108476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481017-89BE-29C2-1A48-1CA1E40695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CONCLUSIONS</a:t>
            </a:r>
            <a:endParaRPr lang="uk-UA" dirty="0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7286543E-9BBE-1534-1F22-48AB59E465D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4"/>
            <a:ext cx="10515600" cy="4544695"/>
          </a:xfrm>
        </p:spPr>
        <p:txBody>
          <a:bodyPr vert="horz"/>
          <a:lstStyle>
            <a:lvl1pPr marL="0" indent="0">
              <a:buNone/>
              <a:defRPr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95BE0E7F-0198-EA12-056F-87B0F57B8966}"/>
              </a:ext>
            </a:extLst>
          </p:cNvPr>
          <p:cNvGrpSpPr/>
          <p:nvPr userDrawn="1"/>
        </p:nvGrpSpPr>
        <p:grpSpPr>
          <a:xfrm>
            <a:off x="8794071" y="468052"/>
            <a:ext cx="3397929" cy="417760"/>
            <a:chOff x="0" y="0"/>
            <a:chExt cx="1239574" cy="152400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195A661F-45EA-3984-9BEC-BC9C3B1A31E6}"/>
                </a:ext>
              </a:extLst>
            </p:cNvPr>
            <p:cNvSpPr/>
            <p:nvPr/>
          </p:nvSpPr>
          <p:spPr>
            <a:xfrm>
              <a:off x="0" y="0"/>
              <a:ext cx="1239574" cy="152400"/>
            </a:xfrm>
            <a:custGeom>
              <a:avLst/>
              <a:gdLst/>
              <a:ahLst/>
              <a:cxnLst/>
              <a:rect l="l" t="t" r="r" b="b"/>
              <a:pathLst>
                <a:path w="1239574" h="152400">
                  <a:moveTo>
                    <a:pt x="0" y="0"/>
                  </a:moveTo>
                  <a:lnTo>
                    <a:pt x="1239574" y="0"/>
                  </a:lnTo>
                  <a:lnTo>
                    <a:pt x="1239574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D2A59"/>
            </a:solidFill>
          </p:spPr>
        </p:sp>
      </p:grpSp>
    </p:spTree>
    <p:extLst>
      <p:ext uri="{BB962C8B-B14F-4D97-AF65-F5344CB8AC3E}">
        <p14:creationId xmlns:p14="http://schemas.microsoft.com/office/powerpoint/2010/main" val="3543415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C437F139-DD75-BFB8-2FA9-97A05C2AE574}"/>
              </a:ext>
            </a:extLst>
          </p:cNvPr>
          <p:cNvSpPr/>
          <p:nvPr userDrawn="1"/>
        </p:nvSpPr>
        <p:spPr>
          <a:xfrm rot="3018939" flipV="1">
            <a:off x="1616475" y="-3063601"/>
            <a:ext cx="8959050" cy="6857449"/>
          </a:xfrm>
          <a:custGeom>
            <a:avLst/>
            <a:gdLst/>
            <a:ahLst/>
            <a:cxnLst/>
            <a:rect l="l" t="t" r="r" b="b"/>
            <a:pathLst>
              <a:path w="13347232" h="10847660">
                <a:moveTo>
                  <a:pt x="0" y="10847659"/>
                </a:moveTo>
                <a:lnTo>
                  <a:pt x="13347232" y="10847659"/>
                </a:lnTo>
                <a:lnTo>
                  <a:pt x="13347232" y="0"/>
                </a:lnTo>
                <a:lnTo>
                  <a:pt x="0" y="0"/>
                </a:lnTo>
                <a:lnTo>
                  <a:pt x="0" y="108476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481017-89BE-29C2-1A48-1CA1E40695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ADDITIONALS MATERIALS</a:t>
            </a:r>
            <a:endParaRPr lang="uk-UA" dirty="0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7286543E-9BBE-1534-1F22-48AB59E465D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4"/>
            <a:ext cx="10515600" cy="4544695"/>
          </a:xfrm>
        </p:spPr>
        <p:txBody>
          <a:bodyPr vert="horz"/>
          <a:lstStyle>
            <a:lvl1pPr marL="0" indent="0">
              <a:buNone/>
              <a:defRPr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95BE0E7F-0198-EA12-056F-87B0F57B8966}"/>
              </a:ext>
            </a:extLst>
          </p:cNvPr>
          <p:cNvGrpSpPr/>
          <p:nvPr userDrawn="1"/>
        </p:nvGrpSpPr>
        <p:grpSpPr>
          <a:xfrm>
            <a:off x="8794071" y="468052"/>
            <a:ext cx="3397929" cy="417760"/>
            <a:chOff x="0" y="0"/>
            <a:chExt cx="1239574" cy="152400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195A661F-45EA-3984-9BEC-BC9C3B1A31E6}"/>
                </a:ext>
              </a:extLst>
            </p:cNvPr>
            <p:cNvSpPr/>
            <p:nvPr/>
          </p:nvSpPr>
          <p:spPr>
            <a:xfrm>
              <a:off x="0" y="0"/>
              <a:ext cx="1239574" cy="152400"/>
            </a:xfrm>
            <a:custGeom>
              <a:avLst/>
              <a:gdLst/>
              <a:ahLst/>
              <a:cxnLst/>
              <a:rect l="l" t="t" r="r" b="b"/>
              <a:pathLst>
                <a:path w="1239574" h="152400">
                  <a:moveTo>
                    <a:pt x="0" y="0"/>
                  </a:moveTo>
                  <a:lnTo>
                    <a:pt x="1239574" y="0"/>
                  </a:lnTo>
                  <a:lnTo>
                    <a:pt x="1239574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D2A59"/>
            </a:solidFill>
          </p:spPr>
        </p:sp>
      </p:grpSp>
    </p:spTree>
    <p:extLst>
      <p:ext uri="{BB962C8B-B14F-4D97-AF65-F5344CB8AC3E}">
        <p14:creationId xmlns:p14="http://schemas.microsoft.com/office/powerpoint/2010/main" val="1577605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8CD1E789-90A0-FE6B-0F10-C15EB3FD5B16}"/>
              </a:ext>
            </a:extLst>
          </p:cNvPr>
          <p:cNvSpPr/>
          <p:nvPr userDrawn="1"/>
        </p:nvSpPr>
        <p:spPr>
          <a:xfrm>
            <a:off x="6920801" y="-3295"/>
            <a:ext cx="6541199" cy="6861295"/>
          </a:xfrm>
          <a:custGeom>
            <a:avLst/>
            <a:gdLst/>
            <a:ahLst/>
            <a:cxnLst/>
            <a:rect l="l" t="t" r="r" b="b"/>
            <a:pathLst>
              <a:path w="10580914" h="10287000">
                <a:moveTo>
                  <a:pt x="0" y="0"/>
                </a:moveTo>
                <a:lnTo>
                  <a:pt x="10580914" y="0"/>
                </a:lnTo>
                <a:lnTo>
                  <a:pt x="10580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/>
            </a:stretch>
          </a:blipFill>
        </p:spPr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C1D3FF62-D606-B90B-7956-E3AB4C912B48}"/>
              </a:ext>
            </a:extLst>
          </p:cNvPr>
          <p:cNvSpPr/>
          <p:nvPr userDrawn="1"/>
        </p:nvSpPr>
        <p:spPr>
          <a:xfrm>
            <a:off x="9455450" y="5909845"/>
            <a:ext cx="2289707" cy="561979"/>
          </a:xfrm>
          <a:custGeom>
            <a:avLst/>
            <a:gdLst/>
            <a:ahLst/>
            <a:cxnLst/>
            <a:rect l="l" t="t" r="r" b="b"/>
            <a:pathLst>
              <a:path w="3304721" h="832124">
                <a:moveTo>
                  <a:pt x="0" y="0"/>
                </a:moveTo>
                <a:lnTo>
                  <a:pt x="3304721" y="0"/>
                </a:lnTo>
                <a:lnTo>
                  <a:pt x="3304721" y="832124"/>
                </a:lnTo>
                <a:lnTo>
                  <a:pt x="0" y="8321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9" name="Picture 2" descr="COMAI - Ulysseus">
            <a:extLst>
              <a:ext uri="{FF2B5EF4-FFF2-40B4-BE49-F238E27FC236}">
                <a16:creationId xmlns:a16="http://schemas.microsoft.com/office/drawing/2014/main" id="{E4A298BE-4D28-41A3-FCCC-78D6F73C5D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43" y="5909845"/>
            <a:ext cx="2867487" cy="582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Місце для зображення 12">
            <a:extLst>
              <a:ext uri="{FF2B5EF4-FFF2-40B4-BE49-F238E27FC236}">
                <a16:creationId xmlns:a16="http://schemas.microsoft.com/office/drawing/2014/main" id="{E0592F16-BCB5-9327-78F3-B2E92935A21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6088" y="328613"/>
            <a:ext cx="2368550" cy="923925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 dirty="0"/>
              <a:t>University logo</a:t>
            </a:r>
            <a:endParaRPr lang="uk-UA" dirty="0"/>
          </a:p>
        </p:txBody>
      </p:sp>
      <p:sp>
        <p:nvSpPr>
          <p:cNvPr id="11" name="Місце для зображення 12">
            <a:extLst>
              <a:ext uri="{FF2B5EF4-FFF2-40B4-BE49-F238E27FC236}">
                <a16:creationId xmlns:a16="http://schemas.microsoft.com/office/drawing/2014/main" id="{9C30DA7F-596D-B59E-26DA-3B0C3F4C065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376607" y="328612"/>
            <a:ext cx="2368550" cy="92392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 dirty="0"/>
              <a:t>Department logo</a:t>
            </a:r>
            <a:endParaRPr lang="uk-U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8C1CC2-B9AD-AB54-C17A-8D901E5C744E}"/>
              </a:ext>
            </a:extLst>
          </p:cNvPr>
          <p:cNvSpPr txBox="1"/>
          <p:nvPr userDrawn="1"/>
        </p:nvSpPr>
        <p:spPr>
          <a:xfrm>
            <a:off x="446088" y="2682240"/>
            <a:ext cx="92839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203864"/>
                </a:solidFill>
                <a:latin typeface="Aptos" panose="020B0004020202020204" pitchFamily="34" charset="0"/>
              </a:rPr>
              <a:t>THANK YOU FOR ATTENTION!</a:t>
            </a:r>
            <a:endParaRPr lang="uk-UA" sz="5400" b="1" dirty="0">
              <a:solidFill>
                <a:srgbClr val="203864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9BA098-B1CD-0269-8D35-42A582493920}"/>
              </a:ext>
            </a:extLst>
          </p:cNvPr>
          <p:cNvSpPr txBox="1"/>
          <p:nvPr userDrawn="1"/>
        </p:nvSpPr>
        <p:spPr>
          <a:xfrm>
            <a:off x="446088" y="3556813"/>
            <a:ext cx="28714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Any questions?</a:t>
            </a:r>
            <a:endParaRPr lang="uk-UA" sz="3200"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5163F224-4127-B18E-51F9-39EA8647CB63}"/>
              </a:ext>
            </a:extLst>
          </p:cNvPr>
          <p:cNvSpPr txBox="1"/>
          <p:nvPr userDrawn="1"/>
        </p:nvSpPr>
        <p:spPr>
          <a:xfrm>
            <a:off x="3934029" y="5820282"/>
            <a:ext cx="5967043" cy="651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  <a:spcBef>
                <a:spcPct val="0"/>
              </a:spcBef>
            </a:pPr>
            <a:r>
              <a:rPr lang="en-US" sz="1000" b="1" dirty="0">
                <a:solidFill>
                  <a:srgbClr val="023399"/>
                </a:solidFill>
                <a:latin typeface="Aptos" panose="020B0004020202020204" pitchFamily="34" charset="0"/>
                <a:ea typeface="Arial Bold"/>
                <a:cs typeface="Arial Bold"/>
                <a:sym typeface="Arial Bold"/>
              </a:rPr>
              <a:t>SECURE ERASMUS-EDU-2024-CBHE</a:t>
            </a:r>
          </a:p>
          <a:p>
            <a:pPr algn="l">
              <a:lnSpc>
                <a:spcPts val="1689"/>
              </a:lnSpc>
              <a:spcBef>
                <a:spcPct val="0"/>
              </a:spcBef>
            </a:pPr>
            <a:r>
              <a:rPr lang="en-US" sz="1000" dirty="0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This project has received funding from the European Union’s Erasmus + </a:t>
            </a:r>
            <a:r>
              <a:rPr lang="en-US" sz="1000" dirty="0" err="1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Programme</a:t>
            </a:r>
            <a:r>
              <a:rPr lang="en-US" sz="1000" dirty="0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689"/>
              </a:lnSpc>
              <a:spcBef>
                <a:spcPct val="0"/>
              </a:spcBef>
            </a:pPr>
            <a:r>
              <a:rPr lang="en-US" sz="1000" dirty="0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"Capacity building in the field of higher education", project id 101179818</a:t>
            </a:r>
          </a:p>
        </p:txBody>
      </p:sp>
    </p:spTree>
    <p:extLst>
      <p:ext uri="{BB962C8B-B14F-4D97-AF65-F5344CB8AC3E}">
        <p14:creationId xmlns:p14="http://schemas.microsoft.com/office/powerpoint/2010/main" val="1834359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38C6A-C972-4D9E-AA74-333EB6C38D98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32CD-2E3F-4A7F-B8A0-E5258AB21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78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262A46F7-AE3D-FE17-716F-BD0735588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40003CE-35D9-0D22-9697-103258AF7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9D95934-CB61-23CC-5A3B-CAE88FF8F7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528A8-01FA-4E19-966E-6D8EBDB87570}" type="datetimeFigureOut">
              <a:rPr lang="uk-UA" smtClean="0"/>
              <a:t>07.04.26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C9D978F-CE49-2A2D-0742-4A82CA25F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D4B8B66-57F6-0E1C-BC7E-F1BC1A8B0E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FF707-F803-4672-B2C0-069A27EADB5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87627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5" r:id="rId5"/>
    <p:sldLayoutId id="2147483657" r:id="rId6"/>
    <p:sldLayoutId id="2147483652" r:id="rId7"/>
    <p:sldLayoutId id="2147483658" r:id="rId8"/>
    <p:sldLayoutId id="2147483660" r:id="rId9"/>
    <p:sldLayoutId id="2147483659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D7EDF-EC43-C3F4-B3FA-A3653E0A3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9497" y="2077401"/>
            <a:ext cx="9614866" cy="750852"/>
          </a:xfrm>
        </p:spPr>
        <p:txBody>
          <a:bodyPr>
            <a:normAutofit fontScale="90000"/>
          </a:bodyPr>
          <a:lstStyle/>
          <a:p>
            <a:r>
              <a:rPr lang="en-US" dirty="0"/>
              <a:t>Квантова та постквантова безпека № 1</a:t>
            </a:r>
            <a:endParaRPr lang="uk-UA" dirty="0"/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5865D50E-67FD-0929-0A83-003F307A0E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/>
              <a:t>Основи квантових обчислень </a:t>
            </a:r>
            <a:endParaRPr lang="uk-UA" dirty="0"/>
          </a:p>
        </p:txBody>
      </p:sp>
      <p:pic>
        <p:nvPicPr>
          <p:cNvPr id="12" name="Picture 11" descr="Image result for caucasus university">
            <a:extLst>
              <a:ext uri="{FF2B5EF4-FFF2-40B4-BE49-F238E27FC236}">
                <a16:creationId xmlns:a16="http://schemas.microsoft.com/office/drawing/2014/main" id="{E09FF6E2-F06E-14E7-8874-F4EC4069A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FEC94D-E8A1-53EF-6760-B84C3A4D2E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161232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856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6549"/>
          </a:xfrm>
        </p:spPr>
        <p:txBody>
          <a:bodyPr/>
          <a:lstStyle/>
          <a:p>
            <a:pPr algn="ctr"/>
            <a:r>
              <a:rPr lang="en-US" dirty="0"/>
              <a:t>Основи класичних обчислень</a:t>
            </a:r>
            <a:endParaRPr lang="uk-UA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FA9BA9F-8C4C-88AD-B29B-B3CEF6C8A913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606632" y="1481674"/>
            <a:ext cx="9313127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Біт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найменша одиниця інформації,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 або 1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Базується на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логічних елементах Булевої логіки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(AND, OR, NOT)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Детерміновані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операції: однаковий вхід → однаковий вихід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Послідовна обробка з обмеженим паралелізмом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Обмежені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класичним масштабуванням апаратного забезпечення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(закон Мура)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FE92BDB-2FA7-C92E-6761-85B37EB7944F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606632" y="4004495"/>
            <a:ext cx="5718959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Використовується в повсякденних пристроях: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ПК, смартфонах, серверах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Застосування: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бази даних, моделювання, криптографія (RSA, ECC)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Обмеження: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експоненціальне зростання часу обчислення для певних задач</a:t>
            </a:r>
          </a:p>
        </p:txBody>
      </p:sp>
      <p:pic>
        <p:nvPicPr>
          <p:cNvPr id="2053" name="Picture 5" descr="Binary code. Printed circuit board back side. Digital electronic background.  Hardware component. Abstract green texture of PCB detail. Blue 0, 1 digit  Stock Photo - Alamy">
            <a:extLst>
              <a:ext uri="{FF2B5EF4-FFF2-40B4-BE49-F238E27FC236}">
                <a16:creationId xmlns:a16="http://schemas.microsoft.com/office/drawing/2014/main" id="{F54E57CE-BF9F-ED9C-6F6D-7418AB3192C0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67" r="11267"/>
          <a:stretch>
            <a:fillRect/>
          </a:stretch>
        </p:blipFill>
        <p:spPr bwMode="auto">
          <a:xfrm>
            <a:off x="7305775" y="3732919"/>
            <a:ext cx="3652100" cy="2759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2071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05408-BF07-86A4-1EB2-3D75386B2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881434-6EB2-6415-2271-FE6756458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1852" y="150957"/>
            <a:ext cx="5478379" cy="1074412"/>
          </a:xfrm>
        </p:spPr>
        <p:txBody>
          <a:bodyPr/>
          <a:lstStyle/>
          <a:p>
            <a:r>
              <a:rPr lang="en-US" dirty="0"/>
              <a:t>Квантовий стрибок</a:t>
            </a:r>
            <a:endParaRPr lang="uk-UA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FFF56EF-4F8E-D5B5-E50B-8C6C8184B1B8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741217" y="1162339"/>
            <a:ext cx="5336969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Кіббіт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квантова версія біта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Використовує квантову механіку: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суперпозицію, заплутаність, інтерференцію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Працює з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амплітудами ймовірності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замість фіксованих станів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48EAC4D-A731-55B1-EBCC-76DF9FA7B516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41363" y="4170542"/>
            <a:ext cx="5225988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Потенціал для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експоненціального зростання простору станів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Може швидше вирішувати конкретні проблеми (наприклад, розкладання на множники, пошук)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Руйнує сучасні криптографічні системи</a:t>
            </a:r>
          </a:p>
        </p:txBody>
      </p:sp>
      <p:pic>
        <p:nvPicPr>
          <p:cNvPr id="3090" name="Picture 18" descr="Representation of a bit from classical as well as quantum... | Download  Scientific Diagram">
            <a:extLst>
              <a:ext uri="{FF2B5EF4-FFF2-40B4-BE49-F238E27FC236}">
                <a16:creationId xmlns:a16="http://schemas.microsoft.com/office/drawing/2014/main" id="{44FB6515-125C-0D11-2778-96D4A7592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226" y="1535907"/>
            <a:ext cx="4610100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022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AE9E4-FC53-632B-3AF1-0AD4CA26F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CF2055-1298-0CE9-51D9-45994C438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7631" y="172620"/>
            <a:ext cx="2374232" cy="1325563"/>
          </a:xfrm>
        </p:spPr>
        <p:txBody>
          <a:bodyPr/>
          <a:lstStyle/>
          <a:p>
            <a:r>
              <a:rPr lang="en-US" dirty="0"/>
              <a:t>Кубіти</a:t>
            </a:r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88BE2268-93C9-88B4-6AC3-ABDF9115FF2A}"/>
                  </a:ext>
                </a:extLst>
              </p:cNvPr>
              <p:cNvSpPr>
                <a:spLocks noGrp="1" noChangeArrowheads="1"/>
              </p:cNvSpPr>
              <p:nvPr>
                <p:ph type="body" sz="quarter" idx="10"/>
              </p:nvPr>
            </p:nvSpPr>
            <p:spPr bwMode="auto">
              <a:xfrm>
                <a:off x="741363" y="1377848"/>
                <a:ext cx="5336969" cy="2703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Стан:  </a:t>
                </a:r>
                <a14:m>
                  <m:oMath xmlns:m="http://schemas.openxmlformats.org/officeDocument/2006/math"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⟩=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|0⟩+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є комплексними амплітудами з </a:t>
                </a:r>
                <a14:m>
                  <m:oMath xmlns:m="http://schemas.openxmlformats.org/officeDocument/2006/math"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+|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sSup>
                      <m:s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Вимірювання зводиться до 0 або 1 на основі ймовірностей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88BE2268-93C9-88B4-6AC3-ABDF9115FF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 bwMode="auto">
              <a:xfrm>
                <a:off x="741363" y="1377848"/>
                <a:ext cx="5336969" cy="2703304"/>
              </a:xfrm>
              <a:prstGeom prst="rect">
                <a:avLst/>
              </a:prstGeom>
              <a:blipFill>
                <a:blip r:embed="rId2"/>
                <a:stretch>
                  <a:fillRect l="-8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8D42B780-DDD1-CDEF-54D1-CA1E52481B89}"/>
                  </a:ext>
                </a:extLst>
              </p:cNvPr>
              <p:cNvSpPr>
                <a:spLocks noGrp="1" noChangeArrowheads="1"/>
              </p:cNvSpPr>
              <p:nvPr>
                <p:ph type="body" sz="quarter" idx="11"/>
              </p:nvPr>
            </p:nvSpPr>
            <p:spPr bwMode="auto">
              <a:xfrm>
                <a:off x="741363" y="4473604"/>
                <a:ext cx="5225988" cy="10969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Сфера Блоха візуалізує стани кубітів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Операції = обертання на сфері Блоха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Базові стани: </a:t>
                </a:r>
                <a14:m>
                  <m:oMath xmlns:m="http://schemas.openxmlformats.org/officeDocument/2006/math">
                    <m:r>
                      <a:rPr lang="en-US" sz="1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8D42B780-DDD1-CDEF-54D1-CA1E52481B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 bwMode="auto">
              <a:xfrm>
                <a:off x="741363" y="4473604"/>
                <a:ext cx="5225988" cy="1096903"/>
              </a:xfrm>
              <a:prstGeom prst="rect">
                <a:avLst/>
              </a:prstGeom>
              <a:blipFill>
                <a:blip r:embed="rId3"/>
                <a:stretch>
                  <a:fillRect l="-817" t="-5000" b="-888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82" name="Picture 10" descr="A quarter century ago, the qubit was born">
            <a:extLst>
              <a:ext uri="{FF2B5EF4-FFF2-40B4-BE49-F238E27FC236}">
                <a16:creationId xmlns:a16="http://schemas.microsoft.com/office/drawing/2014/main" id="{183D4C7D-CC65-9653-990B-733C8FFCA58A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28" r="21828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47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29666-F5F7-5849-7B61-C95D92B8F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F909F-C420-5487-0150-B67BDA37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588" y="166945"/>
            <a:ext cx="4038600" cy="1325563"/>
          </a:xfrm>
        </p:spPr>
        <p:txBody>
          <a:bodyPr/>
          <a:lstStyle/>
          <a:p>
            <a:r>
              <a:rPr lang="en-US" dirty="0"/>
              <a:t>Суперпозиція</a:t>
            </a:r>
            <a:endParaRPr lang="uk-UA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5D8291D-A0B5-99AF-470C-D7BC5EAFB8E5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944563" y="1324045"/>
            <a:ext cx="5883275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Кіббіт може перебувати в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лінійній комбінації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∣0</a:t>
            </a:r>
            <a:r>
              <a:rPr lang="en-US" altLang="en-U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⟩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та ∣1⟩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Дозволяє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квантовий паралелізм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Приклад: 3 кубіти → 23=82^3 = 823=8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станів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одночасно</a:t>
            </a:r>
            <a:endParaRPr kumimoji="0" lang="uk-U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251C37E-CA40-8225-B015-005F59948135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41363" y="3962793"/>
            <a:ext cx="5883275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Неможливо прочитати всі стани безпосередньо — вимірювання обмежує інформацію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Використовується в алгоритмах, таких як пошук Гровера та факторизація Шора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Контрольована інтерференція підсилює правильні результати</a:t>
            </a:r>
          </a:p>
        </p:txBody>
      </p:sp>
      <p:pic>
        <p:nvPicPr>
          <p:cNvPr id="5131" name="Picture 11" descr="What is quantum entanglement? Part 3: Entanglement, at last | Skulls in the  Stars">
            <a:extLst>
              <a:ext uri="{FF2B5EF4-FFF2-40B4-BE49-F238E27FC236}">
                <a16:creationId xmlns:a16="http://schemas.microsoft.com/office/drawing/2014/main" id="{90A9E6DC-7F24-4E6B-8EE7-72B880C9B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3188" y="2591059"/>
            <a:ext cx="5259508" cy="2774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610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7B322-B9EE-D24E-6D42-D776CB46D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49DB5A-0D1A-C39D-1D50-19B70B9E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115" y="418341"/>
            <a:ext cx="3937000" cy="1325563"/>
          </a:xfrm>
        </p:spPr>
        <p:txBody>
          <a:bodyPr/>
          <a:lstStyle/>
          <a:p>
            <a:r>
              <a:rPr lang="en-US" dirty="0"/>
              <a:t>Заплутаність</a:t>
            </a:r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2">
                <a:extLst>
                  <a:ext uri="{FF2B5EF4-FFF2-40B4-BE49-F238E27FC236}">
                    <a16:creationId xmlns:a16="http://schemas.microsoft.com/office/drawing/2014/main" id="{EBB10B96-FBDB-F83B-7AC0-C3012087F2FA}"/>
                  </a:ext>
                </a:extLst>
              </p:cNvPr>
              <p:cNvSpPr>
                <a:spLocks noGrp="1" noChangeArrowheads="1"/>
              </p:cNvSpPr>
              <p:nvPr>
                <p:ph type="body" sz="quarter" idx="10"/>
              </p:nvPr>
            </p:nvSpPr>
            <p:spPr bwMode="auto">
              <a:xfrm>
                <a:off x="741363" y="1770758"/>
                <a:ext cx="5883275" cy="19178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4400" lvl="0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Сильна кореляція між кубітами</a:t>
                </a:r>
              </a:p>
              <a:p>
                <a:pPr marL="284400" lvl="0" indent="-284400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Приклад стану Белла: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|00⟩+|11⟩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uk-UA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4400" lvl="0" indent="-284400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Вимірювання одного миттєво впливає на інший</a:t>
                </a:r>
              </a:p>
            </p:txBody>
          </p:sp>
        </mc:Choice>
        <mc:Fallback xmlns="">
          <p:sp>
            <p:nvSpPr>
              <p:cNvPr id="4" name="Rectangle 2">
                <a:extLst>
                  <a:ext uri="{FF2B5EF4-FFF2-40B4-BE49-F238E27FC236}">
                    <a16:creationId xmlns:a16="http://schemas.microsoft.com/office/drawing/2014/main" id="{EBB10B96-FBDB-F83B-7AC0-C3012087F2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 bwMode="auto">
              <a:xfrm>
                <a:off x="741363" y="1770758"/>
                <a:ext cx="5883275" cy="1917897"/>
              </a:xfrm>
              <a:prstGeom prst="rect">
                <a:avLst/>
              </a:prstGeom>
              <a:blipFill>
                <a:blip r:embed="rId2"/>
                <a:stretch>
                  <a:fillRect l="-725" b="-476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 descr="Quantum Entanglement | Brilliant Math &amp; Science Wiki">
            <a:extLst>
              <a:ext uri="{FF2B5EF4-FFF2-40B4-BE49-F238E27FC236}">
                <a16:creationId xmlns:a16="http://schemas.microsoft.com/office/drawing/2014/main" id="{CA36A087-AB13-24A3-AD04-1D4503BD8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041" y="2497460"/>
            <a:ext cx="4071374" cy="1191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18AC69-DE8E-3E35-6C76-8DFBABAF1D27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41363" y="4378291"/>
            <a:ext cx="7007046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uk-UA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Базис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для QKD та багатьох квантових алгоритмів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Перевірено експериментально (наприклад, тести Белла)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Ресурс для квантової телепортації</a:t>
            </a:r>
          </a:p>
        </p:txBody>
      </p:sp>
    </p:spTree>
    <p:extLst>
      <p:ext uri="{BB962C8B-B14F-4D97-AF65-F5344CB8AC3E}">
        <p14:creationId xmlns:p14="http://schemas.microsoft.com/office/powerpoint/2010/main" val="4278621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49911-B9AF-2657-5339-351D9A005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4533BA-C993-030F-6FAD-B0CF1B738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Стан дзвоника в </a:t>
            </a:r>
            <a:r>
              <a:rPr lang="en-US" dirty="0" err="1"/>
              <a:t>Qiskit</a:t>
            </a:r>
            <a:endParaRPr lang="uk-UA" dirty="0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DE71452D-FF3B-AE45-2879-31D988C2D053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838200" y="1725970"/>
            <a:ext cx="3747760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Створити 2-кубітну схему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Застосувати H до кубіта 0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Застосувати CNOT (0 → 1)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Виміряйте обидва кубіти</a:t>
            </a: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21C9C9F1-FB78-2C6F-1FBA-9B5143390F55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41363" y="4378291"/>
            <a:ext cx="4487126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Очікувані результати: ~50%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00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~50%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11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Демонструє заплутаність на практиці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Інструмент: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Qiskit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(бібліотека Python)</a:t>
            </a:r>
          </a:p>
        </p:txBody>
      </p:sp>
      <p:pic>
        <p:nvPicPr>
          <p:cNvPr id="7180" name="Picture 12" descr="Visualize circuits | IBM Quantum Documentation">
            <a:extLst>
              <a:ext uri="{FF2B5EF4-FFF2-40B4-BE49-F238E27FC236}">
                <a16:creationId xmlns:a16="http://schemas.microsoft.com/office/drawing/2014/main" id="{F33DA1BD-9863-C030-0AF4-D117B21B6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252" y="1763153"/>
            <a:ext cx="4987389" cy="346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873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uppress_None"/>
          <p:cNvSpPr>
            <a:spLocks noGrp="1"/>
          </p:cNvSpPr>
          <p:nvPr>
            <p:ph type="title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90000"/>
          </a:bodyPr>
          <a:lstStyle/>
          <a:p>
            <a:endParaRPr/>
          </a:p>
        </p:txBody>
      </p:sp>
      <p:sp>
        <p:nvSpPr>
          <p:cNvPr id="102" name="suppress_10"/>
          <p:cNvSpPr>
            <a:spLocks noGrp="1"/>
          </p:cNvSpPr>
          <p:nvPr>
            <p:ph type="body" idx="10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03" name="suppress_11"/>
          <p:cNvSpPr>
            <a:spLocks noGrp="1"/>
          </p:cNvSpPr>
          <p:nvPr>
            <p:ph type="body" idx="11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04" name="suppress_12"/>
          <p:cNvSpPr>
            <a:spLocks noGrp="1"/>
          </p:cNvSpPr>
          <p:nvPr>
            <p:ph type="body" idx="12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05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/>
        </p:nvSpPr>
        <p:spPr>
          <a:xfrm>
            <a:off x="838200" y="365125"/>
            <a:ext cx="10515600" cy="1116549"/>
          </a:xfrm>
        </p:spPr>
        <p:txBody>
          <a:bodyPr/>
          <a:lstStyle/>
          <a:p>
            <a:pPr algn="ctr"/>
            <a:r>
              <a:rPr lang="en-US" sz="1400" dirty="0"/>
              <a:t>Квантова інтерференція</a:t>
            </a:r>
          </a:p>
          <a:p>
            <a:endParaRPr lang="uk-UA" dirty="0"/>
          </a:p>
        </p:txBody>
      </p:sp>
      <p:sp>
        <p:nvSpPr>
          <p:cNvPr id="106" name="Rectangle 2">
            <a:extLst>
              <a:ext uri="{FF2B5EF4-FFF2-40B4-BE49-F238E27FC236}">
                <a16:creationId xmlns:a16="http://schemas.microsoft.com/office/drawing/2014/main" id="{3FA9BA9F-8C4C-88AD-B29B-B3CEF6C8A91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07000" y="1480000"/>
            <a:ext cx="5339000" cy="44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Амплітуди ймовірностей складаються алгебраїчно (не як класичні ймовірності)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Конструктивна інтерференція: однакові знаки → ймовірність зростає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Деструктивна інтерференція: протилежні знаки → ймовірність → 0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Аналогія: дослід Юнга — електрон через 2 щілини одночасно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Вимірювання руйнує суперпозицію (аналог закриття щілини)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Корисна інформація витягується через конструктивну інтерференцію</a:t>
            </a:r>
          </a:p>
          <a:p>
            <a:endParaRPr lang="uk-UA" dirty="0"/>
          </a:p>
        </p:txBody>
      </p:sp>
      <p:sp>
        <p:nvSpPr>
          <p:cNvPr id="107" name="Rectangle 2">
            <a:extLst>
              <a:ext uri="{FF2B5EF4-FFF2-40B4-BE49-F238E27FC236}">
                <a16:creationId xmlns:a16="http://schemas.microsoft.com/office/drawing/2014/main" id="{3FA9BA9F-8C4C-88AD-B29B-B3CEF6C8A91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246000" y="1480000"/>
            <a:ext cx="5339000" cy="44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HZH = X: фазова різниця між |0⟩ та |1⟩ перетворюється на інверсію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 → Z → H на |0⟩ дає результат 100% |1⟩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Алгоритм Дойча: 1 запит проти 2ⁿ⁻¹+1 класичних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Алгоритм Шора: QFT посилює правильні результати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Алгоритм Ґровера: дифузія Ґровера = інтерференція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Без інтерференції квантовий паралелізм даремний</a:t>
            </a:r>
          </a:p>
          <a:p>
            <a:endParaRPr lang="uk-UA" dirty="0"/>
          </a:p>
        </p:txBody>
      </p:sp>
      <p:sp>
        <p:nvSpPr>
          <p:cNvPr id="108" name="Rectangle 3">
            <a:extLst>
              <a:ext uri="{FF2B5EF4-FFF2-40B4-BE49-F238E27FC236}">
                <a16:creationId xmlns:a16="http://schemas.microsoft.com/office/drawing/2014/main" id="{CFE92BDB-2FA7-C92E-6761-85B37EB7944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07000" y="6028000"/>
            <a:ext cx="10978000" cy="4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5750" marR="0" lvl="0" indent="-28575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Квантовий алгоритм = суперпозиція + оракул + конструктивна інтерференція + вимірювання</a:t>
            </a:r>
          </a:p>
          <a:p>
            <a:endParaRPr lang="uk-U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uppress_None"/>
          <p:cNvSpPr>
            <a:spLocks noGrp="1"/>
          </p:cNvSpPr>
          <p:nvPr>
            <p:ph type="title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90000"/>
          </a:bodyPr>
          <a:lstStyle/>
          <a:p>
            <a:endParaRPr/>
          </a:p>
        </p:txBody>
      </p:sp>
      <p:sp>
        <p:nvSpPr>
          <p:cNvPr id="110" name="suppress_10"/>
          <p:cNvSpPr>
            <a:spLocks noGrp="1"/>
          </p:cNvSpPr>
          <p:nvPr>
            <p:ph type="body" idx="10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11" name="suppress_11"/>
          <p:cNvSpPr>
            <a:spLocks noGrp="1"/>
          </p:cNvSpPr>
          <p:nvPr>
            <p:ph type="body" idx="11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12" name="suppress_12"/>
          <p:cNvSpPr>
            <a:spLocks noGrp="1"/>
          </p:cNvSpPr>
          <p:nvPr>
            <p:ph type="body" idx="12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13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/>
        </p:nvSpPr>
        <p:spPr>
          <a:xfrm>
            <a:off x="838200" y="365125"/>
            <a:ext cx="10515600" cy="1116549"/>
          </a:xfrm>
        </p:spPr>
        <p:txBody>
          <a:bodyPr/>
          <a:lstStyle/>
          <a:p>
            <a:pPr algn="ctr"/>
            <a:r>
              <a:rPr lang="en-US" sz="1400" dirty="0"/>
              <a:t>Квантова телепортація та суперщільне кодування</a:t>
            </a:r>
          </a:p>
          <a:p>
            <a:endParaRPr lang="uk-UA" dirty="0"/>
          </a:p>
        </p:txBody>
      </p:sp>
      <p:sp>
        <p:nvSpPr>
          <p:cNvPr id="114" name="Rectangle 2">
            <a:extLst>
              <a:ext uri="{FF2B5EF4-FFF2-40B4-BE49-F238E27FC236}">
                <a16:creationId xmlns:a16="http://schemas.microsoft.com/office/drawing/2014/main" id="{3FA9BA9F-8C4C-88AD-B29B-B3CEF6C8A91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07000" y="1480000"/>
            <a:ext cx="5339000" cy="502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Телепортація (Bennett et al. 1993):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Передача стану |ψ⟩ = α|0⟩ + β|1⟩ без фізичного перенесення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Крок 1: спільна EPR-пара між Алісою та Бобом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Крок 2: Аліса вимірює Белл-базис → 2 класичних біти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Крок 3: Аліса надсилає 2 біти класичним каналом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Крок 4: Боб застосовує I / X / Z / XZ → відновлює |ψ⟩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Швидкість &lt; c: класичний канал обов'язковий</a:t>
            </a:r>
          </a:p>
          <a:p>
            <a:endParaRPr lang="uk-UA" dirty="0"/>
          </a:p>
        </p:txBody>
      </p:sp>
      <p:sp>
        <p:nvSpPr>
          <p:cNvPr id="115" name="Rectangle 2">
            <a:extLst>
              <a:ext uri="{FF2B5EF4-FFF2-40B4-BE49-F238E27FC236}">
                <a16:creationId xmlns:a16="http://schemas.microsoft.com/office/drawing/2014/main" id="{3FA9BA9F-8C4C-88AD-B29B-B3CEF6C8A91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246000" y="1480000"/>
            <a:ext cx="5339000" cy="502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Суперщільне кодування (Bennett &amp; Wiesner 1992):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 класичних біти через 1 кубіт (при наявній EPR-парі)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00 → I,  01 → X,  10 → Z,  11 → XZ на своєму кубіті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Боб виконує Белл-вимірювання → отримує 2 біти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No-cloning theorem: неможливо скопіювати невідомий |ψ⟩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QKD BB84: підслуховування виявляється статистично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QKD E91: порушення нерівностей Белла гарантує безпеку</a:t>
            </a:r>
          </a:p>
          <a:p>
            <a:endParaRPr lang="uk-UA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uppress_None"/>
          <p:cNvSpPr>
            <a:spLocks noGrp="1"/>
          </p:cNvSpPr>
          <p:nvPr>
            <p:ph type="title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90000"/>
          </a:bodyPr>
          <a:lstStyle/>
          <a:p>
            <a:endParaRPr/>
          </a:p>
        </p:txBody>
      </p:sp>
      <p:sp>
        <p:nvSpPr>
          <p:cNvPr id="117" name="suppress_10"/>
          <p:cNvSpPr>
            <a:spLocks noGrp="1"/>
          </p:cNvSpPr>
          <p:nvPr>
            <p:ph type="body" idx="10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18" name="suppress_11"/>
          <p:cNvSpPr>
            <a:spLocks noGrp="1"/>
          </p:cNvSpPr>
          <p:nvPr>
            <p:ph type="body" idx="11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19" name="suppress_12"/>
          <p:cNvSpPr>
            <a:spLocks noGrp="1"/>
          </p:cNvSpPr>
          <p:nvPr>
            <p:ph type="body" idx="12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20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/>
        </p:nvSpPr>
        <p:spPr>
          <a:xfrm>
            <a:off x="838200" y="365125"/>
            <a:ext cx="10515600" cy="1116549"/>
          </a:xfrm>
        </p:spPr>
        <p:txBody>
          <a:bodyPr/>
          <a:lstStyle/>
          <a:p>
            <a:pPr algn="ctr"/>
            <a:r>
              <a:rPr lang="en-US" sz="1400" dirty="0"/>
              <a:t>Постулат вимірювання та матриця густини</a:t>
            </a:r>
          </a:p>
          <a:p>
            <a:endParaRPr lang="uk-UA" dirty="0"/>
          </a:p>
        </p:txBody>
      </p:sp>
      <p:sp>
        <p:nvSpPr>
          <p:cNvPr id="121" name="Rectangle 2">
            <a:extLst>
              <a:ext uri="{FF2B5EF4-FFF2-40B4-BE49-F238E27FC236}">
                <a16:creationId xmlns:a16="http://schemas.microsoft.com/office/drawing/2014/main" id="{3FA9BA9F-8C4C-88AD-B29B-B3CEF6C8A91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07000" y="1480000"/>
            <a:ext cx="5339000" cy="502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Постулат: |ψ⟩ = Σcᵢ|aᵢ⟩ → колапс до |aₖ⟩ з P(aₖ) = |cₖ|²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Середнє значення: ⟨A⟩ = ⟨ψ|A|ψ⟩ = Σᵢ|cᵢ|²aᵢ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Проективні вимірювання: Pᵢ = |aᵢ⟩⟨aᵢ|, ΣPᵢ = I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POVM: узагальнення для реалістичних фізичних пристроїв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Вимірювання кубіту в базисі Z: P(0) = |α|², P(1) = |β|²</a:t>
            </a:r>
          </a:p>
          <a:p>
            <a:endParaRPr lang="uk-UA" dirty="0"/>
          </a:p>
        </p:txBody>
      </p:sp>
      <p:sp>
        <p:nvSpPr>
          <p:cNvPr id="122" name="Rectangle 2">
            <a:extLst>
              <a:ext uri="{FF2B5EF4-FFF2-40B4-BE49-F238E27FC236}">
                <a16:creationId xmlns:a16="http://schemas.microsoft.com/office/drawing/2014/main" id="{3FA9BA9F-8C4C-88AD-B29B-B3CEF6C8A91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246000" y="1480000"/>
            <a:ext cx="5339000" cy="502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Матриця густини ρ: чистий та змішаний стани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Чистий: ρ = |ψ⟩⟨ψ|, Tr(ρ²) = 1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Змішаний: ρ = Σpᵢ|ψᵢ⟩⟨ψᵢ|, Tr(ρ²) &lt; 1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Ентропія Фон Неймана: S(ρ) = −Tr(ρ log ρ)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Часткове слідування: ρ_A = Tr_B(ρ_AB)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Томографія: ρ = (I + ⟨X⟩σₓ + ⟨Y⟩σᵧ + ⟨Z⟩σᵤ) / 2</a:t>
            </a:r>
          </a:p>
          <a:p>
            <a:endParaRPr lang="uk-UA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uppress_None"/>
          <p:cNvSpPr>
            <a:spLocks noGrp="1"/>
          </p:cNvSpPr>
          <p:nvPr>
            <p:ph type="title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90000"/>
          </a:bodyPr>
          <a:lstStyle/>
          <a:p>
            <a:endParaRPr/>
          </a:p>
        </p:txBody>
      </p:sp>
      <p:sp>
        <p:nvSpPr>
          <p:cNvPr id="124" name="suppress_10"/>
          <p:cNvSpPr>
            <a:spLocks noGrp="1"/>
          </p:cNvSpPr>
          <p:nvPr>
            <p:ph type="body" idx="10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25" name="suppress_11"/>
          <p:cNvSpPr>
            <a:spLocks noGrp="1"/>
          </p:cNvSpPr>
          <p:nvPr>
            <p:ph type="body" idx="11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26" name="suppress_12"/>
          <p:cNvSpPr>
            <a:spLocks noGrp="1"/>
          </p:cNvSpPr>
          <p:nvPr>
            <p:ph type="body" idx="12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27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/>
        </p:nvSpPr>
        <p:spPr>
          <a:xfrm>
            <a:off x="838200" y="365125"/>
            <a:ext cx="10515600" cy="1116549"/>
          </a:xfrm>
        </p:spPr>
        <p:txBody>
          <a:bodyPr/>
          <a:lstStyle/>
          <a:p>
            <a:pPr algn="ctr"/>
            <a:r>
              <a:rPr lang="en-US" sz="1400" dirty="0"/>
              <a:t>Квантові алгоритми та прискорення</a:t>
            </a:r>
          </a:p>
          <a:p>
            <a:endParaRPr lang="uk-UA" dirty="0"/>
          </a:p>
        </p:txBody>
      </p:sp>
      <p:sp>
        <p:nvSpPr>
          <p:cNvPr id="128" name="Rectangle 2">
            <a:extLst>
              <a:ext uri="{FF2B5EF4-FFF2-40B4-BE49-F238E27FC236}">
                <a16:creationId xmlns:a16="http://schemas.microsoft.com/office/drawing/2014/main" id="{3FA9BA9F-8C4C-88AD-B29B-B3CEF6C8A91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07000" y="1480000"/>
            <a:ext cx="5339000" cy="44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Deutsch-Jozsa (1992): 1 запит vs 2ⁿ⁻¹+1 класичних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Bernstein-Vazirani (1993): 1 vs n запитів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Simon (1994): O(n) vs O(2ⁿ/²) — перше суперполіном. прискорення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Shor (1994): факторизація O(n³) через QFT + прихована підгрупа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Grover (1996): пошук O(√N) vs O(N) класичного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VQE, QAOA: варіаційні алгоритми для NISQ-пристроїв</a:t>
            </a:r>
          </a:p>
          <a:p>
            <a:endParaRPr lang="uk-UA" dirty="0"/>
          </a:p>
        </p:txBody>
      </p:sp>
      <p:sp>
        <p:nvSpPr>
          <p:cNvPr id="129" name="Rectangle 2">
            <a:extLst>
              <a:ext uri="{FF2B5EF4-FFF2-40B4-BE49-F238E27FC236}">
                <a16:creationId xmlns:a16="http://schemas.microsoft.com/office/drawing/2014/main" id="{3FA9BA9F-8C4C-88AD-B29B-B3CEF6C8A91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246000" y="1480000"/>
            <a:ext cx="5339000" cy="44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Клас BQP: квантово-поліноміальні задачі з помилкою &lt; 1/3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 ⊆ BQP ⊆ PSPACE (точне місце BQP в NP невідоме)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QMA: квантовий аналог NP (локальний гамільтоніан — QMA-повна)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HSP (Hidden Subgroup Problem): Deutsch, Simon, Shor — єдина структура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Barren plateau: зникання градієнтів у VQA при масштабуванні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Квантова перевага ≠ для всіх задач, лише для специфічних</a:t>
            </a:r>
          </a:p>
          <a:p>
            <a:endParaRPr lang="uk-UA" dirty="0"/>
          </a:p>
        </p:txBody>
      </p:sp>
      <p:sp>
        <p:nvSpPr>
          <p:cNvPr id="130" name="Rectangle 3">
            <a:extLst>
              <a:ext uri="{FF2B5EF4-FFF2-40B4-BE49-F238E27FC236}">
                <a16:creationId xmlns:a16="http://schemas.microsoft.com/office/drawing/2014/main" id="{CFE92BDB-2FA7-C92E-6761-85B37EB7944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07000" y="6028000"/>
            <a:ext cx="10978000" cy="4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5750" marR="0" lvl="0" indent="-28575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 ⊆ BQP ⊆ PSPACE   |   Shor ∈ BQP \ (можливо) P   |   BQP vs NP — відкрите питання</a:t>
            </a:r>
          </a:p>
          <a:p>
            <a:endParaRPr lang="uk-UA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uppress_None"/>
          <p:cNvSpPr>
            <a:spLocks noGrp="1"/>
          </p:cNvSpPr>
          <p:nvPr>
            <p:ph type="title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90000"/>
          </a:bodyPr>
          <a:lstStyle/>
          <a:p>
            <a:endParaRPr/>
          </a:p>
        </p:txBody>
      </p:sp>
      <p:sp>
        <p:nvSpPr>
          <p:cNvPr id="132" name="suppress_10"/>
          <p:cNvSpPr>
            <a:spLocks noGrp="1"/>
          </p:cNvSpPr>
          <p:nvPr>
            <p:ph type="body" idx="10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33" name="suppress_11"/>
          <p:cNvSpPr>
            <a:spLocks noGrp="1"/>
          </p:cNvSpPr>
          <p:nvPr>
            <p:ph type="body" idx="11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34" name="suppress_12"/>
          <p:cNvSpPr>
            <a:spLocks noGrp="1"/>
          </p:cNvSpPr>
          <p:nvPr>
            <p:ph type="body" idx="12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35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/>
        </p:nvSpPr>
        <p:spPr>
          <a:xfrm>
            <a:off x="838200" y="365125"/>
            <a:ext cx="10515600" cy="1116549"/>
          </a:xfrm>
        </p:spPr>
        <p:txBody>
          <a:bodyPr/>
          <a:lstStyle/>
          <a:p>
            <a:pPr algn="ctr"/>
            <a:r>
              <a:rPr lang="en-US" sz="1400" dirty="0"/>
              <a:t>Алгоритм Шора: загроза RSA та ECC</a:t>
            </a:r>
          </a:p>
          <a:p>
            <a:endParaRPr lang="uk-UA" dirty="0"/>
          </a:p>
        </p:txBody>
      </p:sp>
      <p:sp>
        <p:nvSpPr>
          <p:cNvPr id="136" name="Rectangle 2">
            <a:extLst>
              <a:ext uri="{FF2B5EF4-FFF2-40B4-BE49-F238E27FC236}">
                <a16:creationId xmlns:a16="http://schemas.microsoft.com/office/drawing/2014/main" id="{3FA9BA9F-8C4C-88AD-B29B-B3CEF6C8A91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07000" y="1480000"/>
            <a:ext cx="5339000" cy="44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Мета: факторизувати N = p × q за поліноміальний час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Ключовий крок: QFT знаходить період f(x) = aˣ mod N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Класично (GNFS): O(exp(n^{1/3})) ≈ 10⁹ років для RSA-2048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Квантово (Shor): O(n³) — кілька годин на CRQC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Уразливі: RSA, ECDSA, DSA, DH, ECDH — всі на складності факторизації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Grover: AES-128 → ефективний 64-бітний ключ (недостатньо)</a:t>
            </a:r>
          </a:p>
          <a:p>
            <a:endParaRPr lang="uk-UA" dirty="0"/>
          </a:p>
        </p:txBody>
      </p:sp>
      <p:sp>
        <p:nvSpPr>
          <p:cNvPr id="137" name="Rectangle 2">
            <a:extLst>
              <a:ext uri="{FF2B5EF4-FFF2-40B4-BE49-F238E27FC236}">
                <a16:creationId xmlns:a16="http://schemas.microsoft.com/office/drawing/2014/main" id="{3FA9BA9F-8C4C-88AD-B29B-B3CEF6C8A91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246000" y="1480000"/>
            <a:ext cx="5339000" cy="44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CRQC для RSA-2048: ~4000 логічних кубітів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~20 млн фізичних кубітів (surface code QEC)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ECC-256 ще вразливіша за RSA-2048 (менше кубітів потрібно)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Q-Day: оцінки 2030–2040 (залежить від прогресу QEC)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HNDL: "Harvest Now, Decrypt Later" — загроза вже СЬОГОДНІ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Дані з терміном секретності &gt;10 років треба захищати зараз</a:t>
            </a:r>
          </a:p>
          <a:p>
            <a:endParaRPr lang="uk-UA" dirty="0"/>
          </a:p>
        </p:txBody>
      </p:sp>
      <p:sp>
        <p:nvSpPr>
          <p:cNvPr id="138" name="Rectangle 3">
            <a:extLst>
              <a:ext uri="{FF2B5EF4-FFF2-40B4-BE49-F238E27FC236}">
                <a16:creationId xmlns:a16="http://schemas.microsoft.com/office/drawing/2014/main" id="{CFE92BDB-2FA7-C92E-6761-85B37EB7944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07000" y="6028000"/>
            <a:ext cx="10978000" cy="4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5750" marR="0" lvl="0" indent="-28575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NSA: системи з держ. секретами треба мігрувати на PQC до 2030 р.</a:t>
            </a:r>
          </a:p>
          <a:p>
            <a:endParaRPr lang="uk-UA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uppress_None"/>
          <p:cNvSpPr>
            <a:spLocks noGrp="1"/>
          </p:cNvSpPr>
          <p:nvPr>
            <p:ph type="title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90000"/>
          </a:bodyPr>
          <a:lstStyle/>
          <a:p>
            <a:endParaRPr/>
          </a:p>
        </p:txBody>
      </p:sp>
      <p:sp>
        <p:nvSpPr>
          <p:cNvPr id="140" name="suppress_10"/>
          <p:cNvSpPr>
            <a:spLocks noGrp="1"/>
          </p:cNvSpPr>
          <p:nvPr>
            <p:ph type="body" idx="10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41" name="suppress_11"/>
          <p:cNvSpPr>
            <a:spLocks noGrp="1"/>
          </p:cNvSpPr>
          <p:nvPr>
            <p:ph type="body" idx="11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42" name="suppress_12"/>
          <p:cNvSpPr>
            <a:spLocks noGrp="1"/>
          </p:cNvSpPr>
          <p:nvPr>
            <p:ph type="body" idx="12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43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/>
        </p:nvSpPr>
        <p:spPr>
          <a:xfrm>
            <a:off x="838200" y="365125"/>
            <a:ext cx="10515600" cy="1116549"/>
          </a:xfrm>
        </p:spPr>
        <p:txBody>
          <a:bodyPr/>
          <a:lstStyle/>
          <a:p>
            <a:pPr algn="ctr"/>
            <a:r>
              <a:rPr lang="en-US" sz="1400" dirty="0"/>
              <a:t>Стандарти постквантової криптографії NIST 2024</a:t>
            </a:r>
          </a:p>
          <a:p>
            <a:endParaRPr lang="uk-UA" dirty="0"/>
          </a:p>
        </p:txBody>
      </p:sp>
      <p:sp>
        <p:nvSpPr>
          <p:cNvPr id="144" name="Rectangle 2">
            <a:extLst>
              <a:ext uri="{FF2B5EF4-FFF2-40B4-BE49-F238E27FC236}">
                <a16:creationId xmlns:a16="http://schemas.microsoft.com/office/drawing/2014/main" id="{3FA9BA9F-8C4C-88AD-B29B-B3CEF6C8A91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07000" y="1480000"/>
            <a:ext cx="5339000" cy="44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FIPS 203 — ML-KEM (Kyber): механізм інкапсуляції ключів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Основа: Module-LWE (задача навчання з помилками)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Заміна: ECDH/RSA у TLS 1.3, SSH, VPN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FIPS 204 — ML-DSA (Dilithium): цифровий підпис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Основа: Module-SIS, Fiat-Shamir with aborts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Заміна: ECDSA/RSA у сертифікатах та коді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FIPS 205 — SLH-DSA (SPHINCS+): підпис на хеш-функціях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Безпека: лише стійкість SHA-3/SHAKE (найконсервативніший)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FN-DSA (FALCON/NTRU): компактніший підпис, очікується 2025</a:t>
            </a:r>
          </a:p>
          <a:p>
            <a:endParaRPr lang="uk-UA" dirty="0"/>
          </a:p>
        </p:txBody>
      </p:sp>
      <p:sp>
        <p:nvSpPr>
          <p:cNvPr id="145" name="Rectangle 2">
            <a:extLst>
              <a:ext uri="{FF2B5EF4-FFF2-40B4-BE49-F238E27FC236}">
                <a16:creationId xmlns:a16="http://schemas.microsoft.com/office/drawing/2014/main" id="{3FA9BA9F-8C4C-88AD-B29B-B3CEF6C8A91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246000" y="1480000"/>
            <a:ext cx="5339000" cy="44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Хронологія NIST: 2016 (69 кандидатів) → 2024 (4 стандарти)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Round 4: BIKE, HQC (code-based) — рішення 2025-26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Rainbow (мультиваріативний) зламаний у 2022 ноутбуком за 53 год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Гібридний режим: X25519 + ML-KEM768 у TLS 1.3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Chrome, Cloudflare, OpenSSH 9.0+, Signal (PQXDH) — вже мігрували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NSA CNSA 2.0: обов'язковий перехід до 2030-2035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ETSI, ISO, IETF — активна стандартизація протоколів міграції</a:t>
            </a:r>
          </a:p>
          <a:p>
            <a:endParaRPr lang="uk-UA" dirty="0"/>
          </a:p>
        </p:txBody>
      </p:sp>
      <p:sp>
        <p:nvSpPr>
          <p:cNvPr id="146" name="Rectangle 3">
            <a:extLst>
              <a:ext uri="{FF2B5EF4-FFF2-40B4-BE49-F238E27FC236}">
                <a16:creationId xmlns:a16="http://schemas.microsoft.com/office/drawing/2014/main" id="{CFE92BDB-2FA7-C92E-6761-85B37EB7944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07000" y="6028000"/>
            <a:ext cx="10978000" cy="4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5750" marR="0" lvl="0" indent="-28575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Гібрид: KDF(ss_X25519 || ss_MLKEM) — якщо один алгоритм зламано, другий захищає</a:t>
            </a:r>
          </a:p>
          <a:p>
            <a:endParaRPr lang="uk-UA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uppress_None"/>
          <p:cNvSpPr>
            <a:spLocks noGrp="1"/>
          </p:cNvSpPr>
          <p:nvPr>
            <p:ph type="title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90000"/>
          </a:bodyPr>
          <a:lstStyle/>
          <a:p>
            <a:endParaRPr/>
          </a:p>
        </p:txBody>
      </p:sp>
      <p:sp>
        <p:nvSpPr>
          <p:cNvPr id="148" name="suppress_10"/>
          <p:cNvSpPr>
            <a:spLocks noGrp="1"/>
          </p:cNvSpPr>
          <p:nvPr>
            <p:ph type="body" idx="10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49" name="suppress_11"/>
          <p:cNvSpPr>
            <a:spLocks noGrp="1"/>
          </p:cNvSpPr>
          <p:nvPr>
            <p:ph type="body" idx="11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50" name="suppress_12"/>
          <p:cNvSpPr>
            <a:spLocks noGrp="1"/>
          </p:cNvSpPr>
          <p:nvPr>
            <p:ph type="body" idx="12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51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/>
        </p:nvSpPr>
        <p:spPr>
          <a:xfrm>
            <a:off x="838200" y="365125"/>
            <a:ext cx="10515600" cy="1116549"/>
          </a:xfrm>
        </p:spPr>
        <p:txBody>
          <a:bodyPr/>
          <a:lstStyle/>
          <a:p>
            <a:pPr algn="ctr"/>
            <a:r>
              <a:rPr lang="en-US" sz="1400" dirty="0"/>
              <a:t>Квантові платформи: порівняння та дорожні плани</a:t>
            </a:r>
          </a:p>
          <a:p>
            <a:endParaRPr lang="uk-UA" dirty="0"/>
          </a:p>
        </p:txBody>
      </p:sp>
      <p:sp>
        <p:nvSpPr>
          <p:cNvPr id="152" name="Rectangle 2">
            <a:extLst>
              <a:ext uri="{FF2B5EF4-FFF2-40B4-BE49-F238E27FC236}">
                <a16:creationId xmlns:a16="http://schemas.microsoft.com/office/drawing/2014/main" id="{3FA9BA9F-8C4C-88AD-B29B-B3CEF6C8A91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07000" y="1480000"/>
            <a:ext cx="5339000" cy="44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IBM: Eagle(127) → Osprey(433) → Condor(1121) → Heron(133*)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* менша к-сть, але краща точність та зв'язність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Ціль: 100 логічних кубітів до 2029, хмара: IBM Quantum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Google: Sycamore(53, 2019) → Willow(105, 2024)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Willow: перша below-threshold QEC демонстрація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IonQ Forte: 36 іонів, Algorithmic Qubits #AQ = 35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Quantinuum H2: 56 кубітів, 99.9% точність 2Q-вентиля</a:t>
            </a:r>
          </a:p>
          <a:p>
            <a:endParaRPr lang="uk-UA" dirty="0"/>
          </a:p>
        </p:txBody>
      </p:sp>
      <p:sp>
        <p:nvSpPr>
          <p:cNvPr id="153" name="Rectangle 2">
            <a:extLst>
              <a:ext uri="{FF2B5EF4-FFF2-40B4-BE49-F238E27FC236}">
                <a16:creationId xmlns:a16="http://schemas.microsoft.com/office/drawing/2014/main" id="{3FA9BA9F-8C4C-88AD-B29B-B3CEF6C8A91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246000" y="1480000"/>
            <a:ext cx="5339000" cy="44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QuEra Gemini: 256 нейтральних атомів (цифровий режим)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Atom Computing: 1180 атомів (рекорд кількості, 2023)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Xanadu: фотонні кубіти, кімнатна температура, PsiQuantum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Microsoft: топологічні кубіти Majorana — у розробці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Хмарний доступ: IBM Quantum, AWS Braket, Azure Quantum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NISQ-ера: шум обмежує глибину схем (~100-300 2Q-вентилів)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Когерентність: надпровідники ~100 мкс, іони ~1-100 с</a:t>
            </a:r>
          </a:p>
          <a:p>
            <a:endParaRPr lang="uk-UA" dirty="0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CFE92BDB-2FA7-C92E-6761-85B37EB7944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07000" y="6028000"/>
            <a:ext cx="10978000" cy="4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5750" marR="0" lvl="0" indent="-28575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Для CRQC (RSA-2048): ~20 млн фізичних кубітів + QEC below threshold — ще не досягнуто</a:t>
            </a:r>
          </a:p>
          <a:p>
            <a:endParaRPr lang="uk-UA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uppress_None"/>
          <p:cNvSpPr>
            <a:spLocks noGrp="1"/>
          </p:cNvSpPr>
          <p:nvPr>
            <p:ph type="title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90000"/>
          </a:bodyPr>
          <a:lstStyle/>
          <a:p>
            <a:endParaRPr/>
          </a:p>
        </p:txBody>
      </p:sp>
      <p:sp>
        <p:nvSpPr>
          <p:cNvPr id="156" name="suppress_10"/>
          <p:cNvSpPr>
            <a:spLocks noGrp="1"/>
          </p:cNvSpPr>
          <p:nvPr>
            <p:ph type="body" idx="10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57" name="suppress_11"/>
          <p:cNvSpPr>
            <a:spLocks noGrp="1"/>
          </p:cNvSpPr>
          <p:nvPr>
            <p:ph type="body" idx="11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58" name="suppress_12"/>
          <p:cNvSpPr>
            <a:spLocks noGrp="1"/>
          </p:cNvSpPr>
          <p:nvPr>
            <p:ph type="body" idx="12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59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/>
        </p:nvSpPr>
        <p:spPr>
          <a:xfrm>
            <a:off x="838200" y="365125"/>
            <a:ext cx="10515600" cy="1116549"/>
          </a:xfrm>
        </p:spPr>
        <p:txBody>
          <a:bodyPr/>
          <a:lstStyle/>
          <a:p>
            <a:pPr algn="ctr"/>
            <a:r>
              <a:rPr lang="en-US" sz="1400" dirty="0"/>
              <a:t>Підсумки лекції 1</a:t>
            </a:r>
          </a:p>
          <a:p>
            <a:endParaRPr lang="uk-UA" dirty="0"/>
          </a:p>
        </p:txBody>
      </p:sp>
      <p:sp>
        <p:nvSpPr>
          <p:cNvPr id="160" name="Rectangle 2">
            <a:extLst>
              <a:ext uri="{FF2B5EF4-FFF2-40B4-BE49-F238E27FC236}">
                <a16:creationId xmlns:a16="http://schemas.microsoft.com/office/drawing/2014/main" id="{3FA9BA9F-8C4C-88AD-B29B-B3CEF6C8A91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07000" y="1480000"/>
            <a:ext cx="5339000" cy="44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Кубіт = суперпозиція + заплутаність + інтерференція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Сфера Блоха: геометрія одного кубіта (θ, φ)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Вентилі {H, T, CNOT} — мінімальний універсальний набір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 кубітів → 2ⁿ станів одночасно (квантовий паралелізм)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Заплутаність: кореляції без прихованих змінних (теорема Белла)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No-cloning: неможливо скопіювати невідомий квантовий стан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QEC (surface code): ~1000 фізичних/логічний кубіт</a:t>
            </a:r>
          </a:p>
          <a:p>
            <a:endParaRPr lang="uk-UA" dirty="0"/>
          </a:p>
        </p:txBody>
      </p:sp>
      <p:sp>
        <p:nvSpPr>
          <p:cNvPr id="161" name="Rectangle 2">
            <a:extLst>
              <a:ext uri="{FF2B5EF4-FFF2-40B4-BE49-F238E27FC236}">
                <a16:creationId xmlns:a16="http://schemas.microsoft.com/office/drawing/2014/main" id="{3FA9BA9F-8C4C-88AD-B29B-B3CEF6C8A91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246000" y="1480000"/>
            <a:ext cx="5339000" cy="44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Алгоритм Шора: RSA/ECC → зламані квантовим комп'ютером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Алгоритм Ґровера: AES-128 → потрібен AES-256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CRQC: ~20 млн фіз. кубітів, Q-Day: 2030-2040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HNDL загроза актуальна ЗАРАЗ, не в майбутньому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NIST 2024: ML-KEM, ML-DSA, SLH-DSA — стандарти готові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Гібрид X25519+ML-KEM: best practice для переходу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Наступна лекція: алгоритм Ґровера та квантовий пошук</a:t>
            </a:r>
          </a:p>
          <a:p>
            <a:endParaRPr lang="uk-UA" dirty="0"/>
          </a:p>
        </p:txBody>
      </p:sp>
      <p:sp>
        <p:nvSpPr>
          <p:cNvPr id="162" name="Rectangle 3">
            <a:extLst>
              <a:ext uri="{FF2B5EF4-FFF2-40B4-BE49-F238E27FC236}">
                <a16:creationId xmlns:a16="http://schemas.microsoft.com/office/drawing/2014/main" id="{CFE92BDB-2FA7-C92E-6761-85B37EB7944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07000" y="6028000"/>
            <a:ext cx="10978000" cy="4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5750" marR="0" lvl="0" indent="-28575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Постквантова криптографія — відповідь на квантову загрозу. Міграція вже розпочалась.</a:t>
            </a:r>
          </a:p>
          <a:p>
            <a:endParaRPr lang="uk-UA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 result for caucasus university">
            <a:extLst>
              <a:ext uri="{FF2B5EF4-FFF2-40B4-BE49-F238E27FC236}">
                <a16:creationId xmlns:a16="http://schemas.microsoft.com/office/drawing/2014/main" id="{41160F76-96C7-DC1E-EEA7-A48729688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DA0928-EB30-F39D-6A09-83ED624004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861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1720</TotalTime>
  <Words>1653</Words>
  <Application>Microsoft Macintosh PowerPoint</Application>
  <PresentationFormat>Widescreen</PresentationFormat>
  <Paragraphs>166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 Unicode MS</vt:lpstr>
      <vt:lpstr>Aptos</vt:lpstr>
      <vt:lpstr>Arial</vt:lpstr>
      <vt:lpstr>Calibri</vt:lpstr>
      <vt:lpstr>Calibri Light</vt:lpstr>
      <vt:lpstr>Cambria Math</vt:lpstr>
      <vt:lpstr>Тема Office</vt:lpstr>
      <vt:lpstr>Квантова та постквантова безпека № 1</vt:lpstr>
      <vt:lpstr>Основи класичних обчислень</vt:lpstr>
      <vt:lpstr>Квантовий стрибок</vt:lpstr>
      <vt:lpstr>Кубіти</vt:lpstr>
      <vt:lpstr>Суперпозиція</vt:lpstr>
      <vt:lpstr>Заплутаність</vt:lpstr>
      <vt:lpstr>Стан дзвоника в Qiskit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Квантова та постквантова безпека № 1</dc:title>
  <dc:creator>Alla Pinchuk</dc:creator>
  <cp:keywords>, docId:9A0E76D41C9A51B842CA243D69D03AE1</cp:keywords>
  <cp:lastModifiedBy>Dima Bil</cp:lastModifiedBy>
  <cp:revision>120</cp:revision>
  <dcterms:created xsi:type="dcterms:W3CDTF">2025-07-11T12:38:56Z</dcterms:created>
  <dcterms:modified xsi:type="dcterms:W3CDTF">2026-04-07T13:46:11Z</dcterms:modified>
</cp:coreProperties>
</file>