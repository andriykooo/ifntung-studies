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323" r:id="rId2"/>
    <p:sldId id="324" r:id="rId3"/>
    <p:sldId id="332" r:id="rId4"/>
    <p:sldId id="333" r:id="rId5"/>
    <p:sldId id="334" r:id="rId6"/>
    <p:sldId id="335" r:id="rId7"/>
    <p:sldId id="336" r:id="rId8"/>
    <p:sldId id="326" r:id="rId9"/>
    <p:sldId id="328" r:id="rId10"/>
    <p:sldId id="329" r:id="rId11"/>
    <p:sldId id="330" r:id="rId12"/>
    <p:sldId id="331" r:id="rId13"/>
    <p:sldId id="337" r:id="rId14"/>
    <p:sldId id="338" r:id="rId15"/>
    <p:sldId id="339" r:id="rId16"/>
    <p:sldId id="340" r:id="rId17"/>
    <p:sldId id="341" r:id="rId18"/>
    <p:sldId id="342" r:id="rId19"/>
    <p:sldId id="343" r:id="rId20"/>
    <p:sldId id="345" r:id="rId21"/>
    <p:sldId id="346" r:id="rId22"/>
    <p:sldId id="347" r:id="rId23"/>
    <p:sldId id="348" r:id="rId24"/>
    <p:sldId id="349" r:id="rId25"/>
    <p:sldId id="350" r:id="rId26"/>
    <p:sldId id="351" r:id="rId27"/>
    <p:sldId id="352" r:id="rId28"/>
    <p:sldId id="344" r:id="rId29"/>
  </p:sldIdLst>
  <p:sldSz cx="12192000" cy="6858000"/>
  <p:notesSz cx="6858000" cy="9144000"/>
  <p:defaultTextStyle>
    <a:defPPr>
      <a:defRPr lang="uk-UA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0386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366" autoAdjust="0"/>
    <p:restoredTop sz="94658"/>
  </p:normalViewPr>
  <p:slideViewPr>
    <p:cSldViewPr snapToGrid="0">
      <p:cViewPr varScale="1">
        <p:scale>
          <a:sx n="104" d="100"/>
          <a:sy n="104" d="100"/>
        </p:scale>
        <p:origin x="224" y="4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sv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sv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sv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sv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sv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и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 2">
            <a:extLst>
              <a:ext uri="{FF2B5EF4-FFF2-40B4-BE49-F238E27FC236}">
                <a16:creationId xmlns:a16="http://schemas.microsoft.com/office/drawing/2014/main" id="{05DBC626-4DD8-95BD-2906-E62D73E83E1B}"/>
              </a:ext>
            </a:extLst>
          </p:cNvPr>
          <p:cNvSpPr/>
          <p:nvPr userDrawn="1"/>
        </p:nvSpPr>
        <p:spPr>
          <a:xfrm>
            <a:off x="6920801" y="-3295"/>
            <a:ext cx="6541199" cy="6861295"/>
          </a:xfrm>
          <a:custGeom>
            <a:avLst/>
            <a:gdLst/>
            <a:ahLst/>
            <a:cxnLst/>
            <a:rect l="l" t="t" r="r" b="b"/>
            <a:pathLst>
              <a:path w="10580914" h="10287000">
                <a:moveTo>
                  <a:pt x="0" y="0"/>
                </a:moveTo>
                <a:lnTo>
                  <a:pt x="10580914" y="0"/>
                </a:lnTo>
                <a:lnTo>
                  <a:pt x="10580914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16000"/>
            </a:blip>
            <a:stretch>
              <a:fillRect/>
            </a:stretch>
          </a:blipFill>
        </p:spPr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32F4F4B-645B-AE4E-2BF4-F7E94EEF370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630363" y="2077401"/>
            <a:ext cx="9144000" cy="750852"/>
          </a:xfrm>
        </p:spPr>
        <p:txBody>
          <a:bodyPr anchor="b">
            <a:normAutofit/>
          </a:bodyPr>
          <a:lstStyle>
            <a:lvl1pPr algn="ctr">
              <a:defRPr sz="4400" b="1">
                <a:solidFill>
                  <a:schemeClr val="accent1">
                    <a:lumMod val="50000"/>
                  </a:schemeClr>
                </a:solidFill>
                <a:latin typeface="Aptos" panose="020B0004020202020204" pitchFamily="34" charset="0"/>
              </a:defRPr>
            </a:lvl1pPr>
          </a:lstStyle>
          <a:p>
            <a:r>
              <a:rPr lang="en-US" dirty="0"/>
              <a:t>COURSE NAME</a:t>
            </a:r>
            <a:endParaRPr lang="uk-UA" dirty="0"/>
          </a:p>
        </p:txBody>
      </p:sp>
      <p:sp>
        <p:nvSpPr>
          <p:cNvPr id="3" name="Підзаголовок 2">
            <a:extLst>
              <a:ext uri="{FF2B5EF4-FFF2-40B4-BE49-F238E27FC236}">
                <a16:creationId xmlns:a16="http://schemas.microsoft.com/office/drawing/2014/main" id="{2F5CA641-4378-FFF4-6C63-FE20A7AB188E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46843" y="4323334"/>
            <a:ext cx="11298314" cy="924058"/>
          </a:xfrm>
        </p:spPr>
        <p:txBody>
          <a:bodyPr>
            <a:normAutofit/>
          </a:bodyPr>
          <a:lstStyle>
            <a:lvl1pPr marL="0" indent="0" algn="l">
              <a:buNone/>
              <a:defRPr sz="1800" b="0">
                <a:latin typeface="Aptos" panose="020B00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Teacher:</a:t>
            </a:r>
          </a:p>
          <a:p>
            <a:r>
              <a:rPr lang="en-US" dirty="0"/>
              <a:t>First name, Last name, academic degree, academic title, position</a:t>
            </a:r>
          </a:p>
        </p:txBody>
      </p:sp>
      <p:sp>
        <p:nvSpPr>
          <p:cNvPr id="8" name="Freeform 4">
            <a:extLst>
              <a:ext uri="{FF2B5EF4-FFF2-40B4-BE49-F238E27FC236}">
                <a16:creationId xmlns:a16="http://schemas.microsoft.com/office/drawing/2014/main" id="{4D8244C4-6C89-A133-852B-C8FC03F1D08E}"/>
              </a:ext>
            </a:extLst>
          </p:cNvPr>
          <p:cNvSpPr/>
          <p:nvPr userDrawn="1"/>
        </p:nvSpPr>
        <p:spPr>
          <a:xfrm>
            <a:off x="9455450" y="5909845"/>
            <a:ext cx="2289707" cy="561979"/>
          </a:xfrm>
          <a:custGeom>
            <a:avLst/>
            <a:gdLst/>
            <a:ahLst/>
            <a:cxnLst/>
            <a:rect l="l" t="t" r="r" b="b"/>
            <a:pathLst>
              <a:path w="3304721" h="832124">
                <a:moveTo>
                  <a:pt x="0" y="0"/>
                </a:moveTo>
                <a:lnTo>
                  <a:pt x="3304721" y="0"/>
                </a:lnTo>
                <a:lnTo>
                  <a:pt x="3304721" y="832124"/>
                </a:lnTo>
                <a:lnTo>
                  <a:pt x="0" y="83212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pic>
        <p:nvPicPr>
          <p:cNvPr id="1026" name="Picture 2" descr="COMAI - Ulysseus">
            <a:extLst>
              <a:ext uri="{FF2B5EF4-FFF2-40B4-BE49-F238E27FC236}">
                <a16:creationId xmlns:a16="http://schemas.microsoft.com/office/drawing/2014/main" id="{C12C8155-5617-3A68-F4D7-AAD08BB06DE1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6843" y="5909845"/>
            <a:ext cx="2867487" cy="5824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Місце для зображення 12">
            <a:extLst>
              <a:ext uri="{FF2B5EF4-FFF2-40B4-BE49-F238E27FC236}">
                <a16:creationId xmlns:a16="http://schemas.microsoft.com/office/drawing/2014/main" id="{E815AE2E-6725-7927-4881-DA2D2C5A4FB9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446088" y="328613"/>
            <a:ext cx="2368550" cy="923925"/>
          </a:xfrm>
        </p:spPr>
        <p:txBody>
          <a:bodyPr>
            <a:normAutofit/>
          </a:bodyPr>
          <a:lstStyle>
            <a:lvl1pPr>
              <a:defRPr sz="1800"/>
            </a:lvl1pPr>
          </a:lstStyle>
          <a:p>
            <a:r>
              <a:rPr lang="en-US" dirty="0"/>
              <a:t>University logo</a:t>
            </a:r>
            <a:endParaRPr lang="uk-UA" dirty="0"/>
          </a:p>
        </p:txBody>
      </p:sp>
      <p:sp>
        <p:nvSpPr>
          <p:cNvPr id="14" name="Місце для зображення 12">
            <a:extLst>
              <a:ext uri="{FF2B5EF4-FFF2-40B4-BE49-F238E27FC236}">
                <a16:creationId xmlns:a16="http://schemas.microsoft.com/office/drawing/2014/main" id="{62658F34-B66C-A1D3-B3B4-DF50825EA164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9376607" y="328612"/>
            <a:ext cx="2368550" cy="923925"/>
          </a:xfrm>
        </p:spPr>
        <p:txBody>
          <a:bodyPr>
            <a:normAutofit/>
          </a:bodyPr>
          <a:lstStyle>
            <a:lvl1pPr>
              <a:defRPr sz="1600"/>
            </a:lvl1pPr>
          </a:lstStyle>
          <a:p>
            <a:r>
              <a:rPr lang="en-US" dirty="0"/>
              <a:t>Department logo</a:t>
            </a:r>
            <a:endParaRPr lang="uk-UA" dirty="0"/>
          </a:p>
        </p:txBody>
      </p:sp>
      <p:sp>
        <p:nvSpPr>
          <p:cNvPr id="19" name="Місце для тексту 18">
            <a:extLst>
              <a:ext uri="{FF2B5EF4-FFF2-40B4-BE49-F238E27FC236}">
                <a16:creationId xmlns:a16="http://schemas.microsoft.com/office/drawing/2014/main" id="{B10AEEDB-6C49-4C16-1AB4-353507F3945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630363" y="3033506"/>
            <a:ext cx="9144000" cy="750852"/>
          </a:xfrm>
        </p:spPr>
        <p:txBody>
          <a:bodyPr>
            <a:normAutofit/>
          </a:bodyPr>
          <a:lstStyle>
            <a:lvl1pPr marL="0" indent="0" algn="ctr">
              <a:buNone/>
              <a:defRPr sz="3600">
                <a:latin typeface="Aptos" panose="020B0004020202020204" pitchFamily="34" charset="0"/>
              </a:defRPr>
            </a:lvl1pPr>
          </a:lstStyle>
          <a:p>
            <a:pPr lvl="0"/>
            <a:r>
              <a:rPr lang="en-US" dirty="0"/>
              <a:t>Lecture #. “Title”</a:t>
            </a:r>
            <a:endParaRPr lang="uk-UA" dirty="0"/>
          </a:p>
        </p:txBody>
      </p:sp>
      <p:sp>
        <p:nvSpPr>
          <p:cNvPr id="4" name="TextBox 8">
            <a:extLst>
              <a:ext uri="{FF2B5EF4-FFF2-40B4-BE49-F238E27FC236}">
                <a16:creationId xmlns:a16="http://schemas.microsoft.com/office/drawing/2014/main" id="{C46E11E8-C94E-4AE7-ADB5-FDEAADAE04C0}"/>
              </a:ext>
            </a:extLst>
          </p:cNvPr>
          <p:cNvSpPr txBox="1"/>
          <p:nvPr userDrawn="1"/>
        </p:nvSpPr>
        <p:spPr>
          <a:xfrm>
            <a:off x="4079519" y="5820282"/>
            <a:ext cx="5967043" cy="6515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89"/>
              </a:lnSpc>
              <a:spcBef>
                <a:spcPct val="0"/>
              </a:spcBef>
            </a:pPr>
            <a:r>
              <a:rPr lang="en-US" sz="1000" b="1" dirty="0">
                <a:solidFill>
                  <a:srgbClr val="023399"/>
                </a:solidFill>
                <a:latin typeface="Aptos" panose="020B0004020202020204" pitchFamily="34" charset="0"/>
                <a:ea typeface="Arial Bold"/>
                <a:cs typeface="Arial Bold"/>
                <a:sym typeface="Arial Bold"/>
              </a:rPr>
              <a:t>SECURE ERASMUS-EDU-2024-CBHE</a:t>
            </a:r>
          </a:p>
          <a:p>
            <a:pPr algn="l">
              <a:lnSpc>
                <a:spcPts val="1689"/>
              </a:lnSpc>
              <a:spcBef>
                <a:spcPct val="0"/>
              </a:spcBef>
            </a:pPr>
            <a:r>
              <a:rPr lang="en-US" sz="1000" dirty="0">
                <a:solidFill>
                  <a:srgbClr val="023399"/>
                </a:solidFill>
                <a:latin typeface="Aptos" panose="020B0004020202020204" pitchFamily="34" charset="0"/>
                <a:ea typeface="Arial"/>
                <a:cs typeface="Arial"/>
                <a:sym typeface="Arial"/>
              </a:rPr>
              <a:t>This project has received funding from the European Union’s Erasmus + </a:t>
            </a:r>
            <a:r>
              <a:rPr lang="en-US" sz="1000" dirty="0" err="1">
                <a:solidFill>
                  <a:srgbClr val="023399"/>
                </a:solidFill>
                <a:latin typeface="Aptos" panose="020B0004020202020204" pitchFamily="34" charset="0"/>
                <a:ea typeface="Arial"/>
                <a:cs typeface="Arial"/>
                <a:sym typeface="Arial"/>
              </a:rPr>
              <a:t>Programme</a:t>
            </a:r>
            <a:r>
              <a:rPr lang="en-US" sz="1000" dirty="0">
                <a:solidFill>
                  <a:srgbClr val="023399"/>
                </a:solidFill>
                <a:latin typeface="Aptos" panose="020B0004020202020204" pitchFamily="34" charset="0"/>
                <a:ea typeface="Arial"/>
                <a:cs typeface="Arial"/>
                <a:sym typeface="Arial"/>
              </a:rPr>
              <a:t> </a:t>
            </a:r>
          </a:p>
          <a:p>
            <a:pPr algn="l">
              <a:lnSpc>
                <a:spcPts val="1689"/>
              </a:lnSpc>
              <a:spcBef>
                <a:spcPct val="0"/>
              </a:spcBef>
            </a:pPr>
            <a:r>
              <a:rPr lang="en-US" sz="1000" dirty="0">
                <a:solidFill>
                  <a:srgbClr val="023399"/>
                </a:solidFill>
                <a:latin typeface="Aptos" panose="020B0004020202020204" pitchFamily="34" charset="0"/>
                <a:ea typeface="Arial"/>
                <a:cs typeface="Arial"/>
                <a:sym typeface="Arial"/>
              </a:rPr>
              <a:t>"Capacity building in the field of higher education", project id 101179818</a:t>
            </a:r>
          </a:p>
        </p:txBody>
      </p:sp>
    </p:spTree>
    <p:extLst>
      <p:ext uri="{BB962C8B-B14F-4D97-AF65-F5344CB8AC3E}">
        <p14:creationId xmlns:p14="http://schemas.microsoft.com/office/powerpoint/2010/main" val="85943934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Назва та вмі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reeform 2">
            <a:extLst>
              <a:ext uri="{FF2B5EF4-FFF2-40B4-BE49-F238E27FC236}">
                <a16:creationId xmlns:a16="http://schemas.microsoft.com/office/drawing/2014/main" id="{20CB3192-52DB-1C4F-CDF1-2C5834701427}"/>
              </a:ext>
            </a:extLst>
          </p:cNvPr>
          <p:cNvSpPr/>
          <p:nvPr userDrawn="1"/>
        </p:nvSpPr>
        <p:spPr>
          <a:xfrm>
            <a:off x="6920801" y="-3295"/>
            <a:ext cx="6541199" cy="6861295"/>
          </a:xfrm>
          <a:custGeom>
            <a:avLst/>
            <a:gdLst/>
            <a:ahLst/>
            <a:cxnLst/>
            <a:rect l="l" t="t" r="r" b="b"/>
            <a:pathLst>
              <a:path w="10580914" h="10287000">
                <a:moveTo>
                  <a:pt x="0" y="0"/>
                </a:moveTo>
                <a:lnTo>
                  <a:pt x="10580914" y="0"/>
                </a:lnTo>
                <a:lnTo>
                  <a:pt x="10580914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16000"/>
            </a:blip>
            <a:stretch>
              <a:fillRect/>
            </a:stretch>
          </a:blipFill>
        </p:spPr>
        <p:txBody>
          <a:bodyPr/>
          <a:lstStyle/>
          <a:p>
            <a:endParaRPr lang="uk-UA" dirty="0"/>
          </a:p>
        </p:txBody>
      </p:sp>
      <p:sp>
        <p:nvSpPr>
          <p:cNvPr id="9" name="Місце для тексту 8">
            <a:extLst>
              <a:ext uri="{FF2B5EF4-FFF2-40B4-BE49-F238E27FC236}">
                <a16:creationId xmlns:a16="http://schemas.microsoft.com/office/drawing/2014/main" id="{8DA5757D-9772-C9F6-1941-FA9F1C1F976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544066" y="2392077"/>
            <a:ext cx="4321115" cy="537555"/>
          </a:xfrm>
        </p:spPr>
        <p:txBody>
          <a:bodyPr>
            <a:normAutofit/>
          </a:bodyPr>
          <a:lstStyle>
            <a:lvl1pPr marL="0" indent="0">
              <a:buNone/>
              <a:defRPr sz="2200">
                <a:latin typeface="Aptos" panose="020B0004020202020204" pitchFamily="34" charset="0"/>
              </a:defRPr>
            </a:lvl1pPr>
          </a:lstStyle>
          <a:p>
            <a:pPr lvl="0"/>
            <a:r>
              <a:rPr lang="en-US" dirty="0"/>
              <a:t>Click to add text</a:t>
            </a:r>
            <a:endParaRPr lang="uk-UA" dirty="0"/>
          </a:p>
        </p:txBody>
      </p:sp>
      <p:sp>
        <p:nvSpPr>
          <p:cNvPr id="13" name="Заголовок 12">
            <a:extLst>
              <a:ext uri="{FF2B5EF4-FFF2-40B4-BE49-F238E27FC236}">
                <a16:creationId xmlns:a16="http://schemas.microsoft.com/office/drawing/2014/main" id="{B648F94A-93CF-5554-B9EC-99C1603543C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="1">
                <a:solidFill>
                  <a:srgbClr val="203864"/>
                </a:solidFill>
                <a:latin typeface="Aptos" panose="020B0004020202020204" pitchFamily="34" charset="0"/>
              </a:defRPr>
            </a:lvl1pPr>
          </a:lstStyle>
          <a:p>
            <a:r>
              <a:rPr lang="en-US" dirty="0"/>
              <a:t>LECTURE PLAN</a:t>
            </a:r>
            <a:endParaRPr lang="uk-UA" dirty="0"/>
          </a:p>
        </p:txBody>
      </p:sp>
      <p:sp>
        <p:nvSpPr>
          <p:cNvPr id="18" name="Місце для тексту 8">
            <a:extLst>
              <a:ext uri="{FF2B5EF4-FFF2-40B4-BE49-F238E27FC236}">
                <a16:creationId xmlns:a16="http://schemas.microsoft.com/office/drawing/2014/main" id="{2C4AAD83-F098-467E-30E8-5B1DBFBB9299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544065" y="3267036"/>
            <a:ext cx="4321115" cy="537555"/>
          </a:xfrm>
        </p:spPr>
        <p:txBody>
          <a:bodyPr>
            <a:normAutofit/>
          </a:bodyPr>
          <a:lstStyle>
            <a:lvl1pPr marL="0" indent="0">
              <a:buNone/>
              <a:defRPr sz="2200">
                <a:latin typeface="Aptos" panose="020B0004020202020204" pitchFamily="34" charset="0"/>
              </a:defRPr>
            </a:lvl1pPr>
          </a:lstStyle>
          <a:p>
            <a:pPr lvl="0"/>
            <a:r>
              <a:rPr lang="en-US" dirty="0"/>
              <a:t>Click to add text</a:t>
            </a:r>
            <a:endParaRPr lang="uk-UA" dirty="0"/>
          </a:p>
        </p:txBody>
      </p:sp>
      <p:sp>
        <p:nvSpPr>
          <p:cNvPr id="19" name="Місце для тексту 8">
            <a:extLst>
              <a:ext uri="{FF2B5EF4-FFF2-40B4-BE49-F238E27FC236}">
                <a16:creationId xmlns:a16="http://schemas.microsoft.com/office/drawing/2014/main" id="{E19B8F13-7D27-6CB4-C4E2-740F7D45DED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544066" y="4141995"/>
            <a:ext cx="4321115" cy="537555"/>
          </a:xfrm>
        </p:spPr>
        <p:txBody>
          <a:bodyPr>
            <a:normAutofit/>
          </a:bodyPr>
          <a:lstStyle>
            <a:lvl1pPr marL="0" indent="0">
              <a:buNone/>
              <a:defRPr sz="2200">
                <a:latin typeface="Aptos" panose="020B0004020202020204" pitchFamily="34" charset="0"/>
              </a:defRPr>
            </a:lvl1pPr>
          </a:lstStyle>
          <a:p>
            <a:pPr lvl="0"/>
            <a:r>
              <a:rPr lang="en-US" dirty="0"/>
              <a:t>Click to add text</a:t>
            </a:r>
            <a:endParaRPr lang="uk-UA" dirty="0"/>
          </a:p>
        </p:txBody>
      </p:sp>
      <p:sp>
        <p:nvSpPr>
          <p:cNvPr id="20" name="Місце для тексту 8">
            <a:extLst>
              <a:ext uri="{FF2B5EF4-FFF2-40B4-BE49-F238E27FC236}">
                <a16:creationId xmlns:a16="http://schemas.microsoft.com/office/drawing/2014/main" id="{478A70D7-9C17-6A3A-7307-37FCE7F9DE4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544065" y="5016954"/>
            <a:ext cx="4321115" cy="537555"/>
          </a:xfrm>
        </p:spPr>
        <p:txBody>
          <a:bodyPr>
            <a:normAutofit/>
          </a:bodyPr>
          <a:lstStyle>
            <a:lvl1pPr marL="0" indent="0">
              <a:buNone/>
              <a:defRPr sz="2200">
                <a:latin typeface="Aptos" panose="020B0004020202020204" pitchFamily="34" charset="0"/>
              </a:defRPr>
            </a:lvl1pPr>
          </a:lstStyle>
          <a:p>
            <a:pPr lvl="0"/>
            <a:r>
              <a:rPr lang="en-US" dirty="0"/>
              <a:t>Click to add text</a:t>
            </a:r>
            <a:endParaRPr lang="uk-UA" dirty="0"/>
          </a:p>
        </p:txBody>
      </p:sp>
      <p:sp>
        <p:nvSpPr>
          <p:cNvPr id="21" name="Місце для тексту 8">
            <a:extLst>
              <a:ext uri="{FF2B5EF4-FFF2-40B4-BE49-F238E27FC236}">
                <a16:creationId xmlns:a16="http://schemas.microsoft.com/office/drawing/2014/main" id="{6C85C806-5D99-80B3-1B5C-C1F8654380A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032685" y="2392077"/>
            <a:ext cx="4321115" cy="537555"/>
          </a:xfrm>
        </p:spPr>
        <p:txBody>
          <a:bodyPr>
            <a:normAutofit/>
          </a:bodyPr>
          <a:lstStyle>
            <a:lvl1pPr marL="0" indent="0">
              <a:buNone/>
              <a:defRPr sz="2200">
                <a:latin typeface="Aptos" panose="020B0004020202020204" pitchFamily="34" charset="0"/>
              </a:defRPr>
            </a:lvl1pPr>
          </a:lstStyle>
          <a:p>
            <a:pPr lvl="0"/>
            <a:r>
              <a:rPr lang="en-US" dirty="0"/>
              <a:t>Click to add text</a:t>
            </a:r>
            <a:endParaRPr lang="uk-UA" dirty="0"/>
          </a:p>
        </p:txBody>
      </p:sp>
      <p:sp>
        <p:nvSpPr>
          <p:cNvPr id="22" name="Місце для тексту 8">
            <a:extLst>
              <a:ext uri="{FF2B5EF4-FFF2-40B4-BE49-F238E27FC236}">
                <a16:creationId xmlns:a16="http://schemas.microsoft.com/office/drawing/2014/main" id="{A9DE4B24-321A-7699-D368-923ABAFA739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032684" y="3267036"/>
            <a:ext cx="4321115" cy="537555"/>
          </a:xfrm>
        </p:spPr>
        <p:txBody>
          <a:bodyPr>
            <a:normAutofit/>
          </a:bodyPr>
          <a:lstStyle>
            <a:lvl1pPr marL="0" indent="0">
              <a:buNone/>
              <a:defRPr sz="2200">
                <a:latin typeface="Aptos" panose="020B0004020202020204" pitchFamily="34" charset="0"/>
              </a:defRPr>
            </a:lvl1pPr>
          </a:lstStyle>
          <a:p>
            <a:pPr lvl="0"/>
            <a:r>
              <a:rPr lang="en-US" dirty="0"/>
              <a:t>Click to add text</a:t>
            </a:r>
            <a:endParaRPr lang="uk-UA" dirty="0"/>
          </a:p>
        </p:txBody>
      </p:sp>
      <p:sp>
        <p:nvSpPr>
          <p:cNvPr id="23" name="Місце для тексту 8">
            <a:extLst>
              <a:ext uri="{FF2B5EF4-FFF2-40B4-BE49-F238E27FC236}">
                <a16:creationId xmlns:a16="http://schemas.microsoft.com/office/drawing/2014/main" id="{AFA89644-FB9E-ABAF-F0D3-EA410876393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7032685" y="4141995"/>
            <a:ext cx="4321115" cy="537555"/>
          </a:xfrm>
        </p:spPr>
        <p:txBody>
          <a:bodyPr>
            <a:normAutofit/>
          </a:bodyPr>
          <a:lstStyle>
            <a:lvl1pPr marL="0" indent="0">
              <a:buNone/>
              <a:defRPr sz="2200">
                <a:latin typeface="Aptos" panose="020B0004020202020204" pitchFamily="34" charset="0"/>
              </a:defRPr>
            </a:lvl1pPr>
          </a:lstStyle>
          <a:p>
            <a:pPr lvl="0"/>
            <a:r>
              <a:rPr lang="en-US" dirty="0"/>
              <a:t>Click to add text</a:t>
            </a:r>
            <a:endParaRPr lang="uk-UA" dirty="0"/>
          </a:p>
        </p:txBody>
      </p:sp>
      <p:sp>
        <p:nvSpPr>
          <p:cNvPr id="24" name="Місце для тексту 8">
            <a:extLst>
              <a:ext uri="{FF2B5EF4-FFF2-40B4-BE49-F238E27FC236}">
                <a16:creationId xmlns:a16="http://schemas.microsoft.com/office/drawing/2014/main" id="{E4A3D9BF-973C-0418-3024-30595EBA45F8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032684" y="5016954"/>
            <a:ext cx="4321115" cy="537555"/>
          </a:xfrm>
        </p:spPr>
        <p:txBody>
          <a:bodyPr>
            <a:normAutofit/>
          </a:bodyPr>
          <a:lstStyle>
            <a:lvl1pPr marL="0" indent="0">
              <a:buNone/>
              <a:defRPr sz="2200">
                <a:latin typeface="Aptos" panose="020B0004020202020204" pitchFamily="34" charset="0"/>
              </a:defRPr>
            </a:lvl1pPr>
          </a:lstStyle>
          <a:p>
            <a:pPr lvl="0"/>
            <a:r>
              <a:rPr lang="en-US" dirty="0"/>
              <a:t>Click to add text</a:t>
            </a:r>
            <a:endParaRPr lang="uk-UA" dirty="0"/>
          </a:p>
        </p:txBody>
      </p:sp>
    </p:spTree>
    <p:extLst>
      <p:ext uri="{BB962C8B-B14F-4D97-AF65-F5344CB8AC3E}">
        <p14:creationId xmlns:p14="http://schemas.microsoft.com/office/powerpoint/2010/main" val="29976769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Назва розділ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 2">
            <a:extLst>
              <a:ext uri="{FF2B5EF4-FFF2-40B4-BE49-F238E27FC236}">
                <a16:creationId xmlns:a16="http://schemas.microsoft.com/office/drawing/2014/main" id="{5A07F23F-4277-FC4D-97B7-3E341B68F917}"/>
              </a:ext>
            </a:extLst>
          </p:cNvPr>
          <p:cNvSpPr/>
          <p:nvPr userDrawn="1"/>
        </p:nvSpPr>
        <p:spPr>
          <a:xfrm rot="19833573">
            <a:off x="4329829" y="-375306"/>
            <a:ext cx="9880718" cy="7608613"/>
          </a:xfrm>
          <a:custGeom>
            <a:avLst/>
            <a:gdLst/>
            <a:ahLst/>
            <a:cxnLst/>
            <a:rect l="l" t="t" r="r" b="b"/>
            <a:pathLst>
              <a:path w="13347232" h="10847660">
                <a:moveTo>
                  <a:pt x="0" y="0"/>
                </a:moveTo>
                <a:lnTo>
                  <a:pt x="13347232" y="0"/>
                </a:lnTo>
                <a:lnTo>
                  <a:pt x="13347232" y="10847660"/>
                </a:lnTo>
                <a:lnTo>
                  <a:pt x="0" y="1084766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9897EB8-BC56-C8CD-3070-C9ACA13EC07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1850" y="1709738"/>
            <a:ext cx="10515600" cy="2852737"/>
          </a:xfrm>
        </p:spPr>
        <p:txBody>
          <a:bodyPr anchor="ctr">
            <a:normAutofit/>
          </a:bodyPr>
          <a:lstStyle>
            <a:lvl1pPr algn="ctr">
              <a:defRPr sz="5000" b="1">
                <a:solidFill>
                  <a:srgbClr val="203864"/>
                </a:solidFill>
                <a:latin typeface="Aptos" panose="020B0004020202020204" pitchFamily="34" charset="0"/>
              </a:defRPr>
            </a:lvl1pPr>
          </a:lstStyle>
          <a:p>
            <a:r>
              <a:rPr lang="en-US" dirty="0"/>
              <a:t>CLICK TO ADD TITLE OF THE # POINT FROM THE LECTURE PLAN</a:t>
            </a:r>
            <a:endParaRPr lang="uk-UA" dirty="0"/>
          </a:p>
        </p:txBody>
      </p:sp>
      <p:grpSp>
        <p:nvGrpSpPr>
          <p:cNvPr id="8" name="Group 3">
            <a:extLst>
              <a:ext uri="{FF2B5EF4-FFF2-40B4-BE49-F238E27FC236}">
                <a16:creationId xmlns:a16="http://schemas.microsoft.com/office/drawing/2014/main" id="{27D60B2F-9685-26A3-EC21-6D22D8A4D04B}"/>
              </a:ext>
            </a:extLst>
          </p:cNvPr>
          <p:cNvGrpSpPr/>
          <p:nvPr userDrawn="1"/>
        </p:nvGrpSpPr>
        <p:grpSpPr>
          <a:xfrm>
            <a:off x="8794071" y="468052"/>
            <a:ext cx="3397929" cy="417760"/>
            <a:chOff x="0" y="0"/>
            <a:chExt cx="1239574" cy="152400"/>
          </a:xfrm>
        </p:grpSpPr>
        <p:sp>
          <p:nvSpPr>
            <p:cNvPr id="9" name="Freeform 4">
              <a:extLst>
                <a:ext uri="{FF2B5EF4-FFF2-40B4-BE49-F238E27FC236}">
                  <a16:creationId xmlns:a16="http://schemas.microsoft.com/office/drawing/2014/main" id="{FBD412A2-E641-132E-78FF-02F60B95DF11}"/>
                </a:ext>
              </a:extLst>
            </p:cNvPr>
            <p:cNvSpPr/>
            <p:nvPr/>
          </p:nvSpPr>
          <p:spPr>
            <a:xfrm>
              <a:off x="0" y="0"/>
              <a:ext cx="1239574" cy="152400"/>
            </a:xfrm>
            <a:custGeom>
              <a:avLst/>
              <a:gdLst/>
              <a:ahLst/>
              <a:cxnLst/>
              <a:rect l="l" t="t" r="r" b="b"/>
              <a:pathLst>
                <a:path w="1239574" h="152400">
                  <a:moveTo>
                    <a:pt x="0" y="0"/>
                  </a:moveTo>
                  <a:lnTo>
                    <a:pt x="1239574" y="0"/>
                  </a:lnTo>
                  <a:lnTo>
                    <a:pt x="1239574" y="152400"/>
                  </a:lnTo>
                  <a:lnTo>
                    <a:pt x="0" y="152400"/>
                  </a:lnTo>
                  <a:close/>
                </a:path>
              </a:pathLst>
            </a:custGeom>
            <a:solidFill>
              <a:srgbClr val="0D2A59"/>
            </a:solidFill>
          </p:spPr>
        </p:sp>
      </p:grpSp>
      <p:sp>
        <p:nvSpPr>
          <p:cNvPr id="11" name="Freeform 4">
            <a:extLst>
              <a:ext uri="{FF2B5EF4-FFF2-40B4-BE49-F238E27FC236}">
                <a16:creationId xmlns:a16="http://schemas.microsoft.com/office/drawing/2014/main" id="{F07C4348-D2BB-5FEF-BFDE-ED24D7871E6A}"/>
              </a:ext>
            </a:extLst>
          </p:cNvPr>
          <p:cNvSpPr/>
          <p:nvPr userDrawn="1"/>
        </p:nvSpPr>
        <p:spPr>
          <a:xfrm>
            <a:off x="9455450" y="5909845"/>
            <a:ext cx="2289707" cy="561979"/>
          </a:xfrm>
          <a:custGeom>
            <a:avLst/>
            <a:gdLst/>
            <a:ahLst/>
            <a:cxnLst/>
            <a:rect l="l" t="t" r="r" b="b"/>
            <a:pathLst>
              <a:path w="3304721" h="832124">
                <a:moveTo>
                  <a:pt x="0" y="0"/>
                </a:moveTo>
                <a:lnTo>
                  <a:pt x="3304721" y="0"/>
                </a:lnTo>
                <a:lnTo>
                  <a:pt x="3304721" y="832124"/>
                </a:lnTo>
                <a:lnTo>
                  <a:pt x="0" y="83212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</p:spTree>
    <p:extLst>
      <p:ext uri="{BB962C8B-B14F-4D97-AF65-F5344CB8AC3E}">
        <p14:creationId xmlns:p14="http://schemas.microsoft.com/office/powerpoint/2010/main" val="13236362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Лише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reeform 2">
            <a:extLst>
              <a:ext uri="{FF2B5EF4-FFF2-40B4-BE49-F238E27FC236}">
                <a16:creationId xmlns:a16="http://schemas.microsoft.com/office/drawing/2014/main" id="{438A861F-723B-32BD-123D-23AB50C1E9DF}"/>
              </a:ext>
            </a:extLst>
          </p:cNvPr>
          <p:cNvSpPr/>
          <p:nvPr userDrawn="1"/>
        </p:nvSpPr>
        <p:spPr>
          <a:xfrm rot="6517973">
            <a:off x="-1650001" y="805883"/>
            <a:ext cx="9663726" cy="6609046"/>
          </a:xfrm>
          <a:custGeom>
            <a:avLst/>
            <a:gdLst/>
            <a:ahLst/>
            <a:cxnLst/>
            <a:rect l="l" t="t" r="r" b="b"/>
            <a:pathLst>
              <a:path w="13347232" h="10847660">
                <a:moveTo>
                  <a:pt x="0" y="0"/>
                </a:moveTo>
                <a:lnTo>
                  <a:pt x="13347232" y="0"/>
                </a:lnTo>
                <a:lnTo>
                  <a:pt x="13347232" y="10847660"/>
                </a:lnTo>
                <a:lnTo>
                  <a:pt x="0" y="1084766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E7D33B1-0CDC-ED77-635F-731BCFBFA53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="1">
                <a:solidFill>
                  <a:srgbClr val="203864"/>
                </a:solidFill>
                <a:latin typeface="Aptos" panose="020B0004020202020204" pitchFamily="34" charset="0"/>
              </a:defRPr>
            </a:lvl1pPr>
          </a:lstStyle>
          <a:p>
            <a:r>
              <a:rPr lang="en-US" dirty="0"/>
              <a:t>CLICK TO ADD TITLE</a:t>
            </a:r>
            <a:endParaRPr lang="uk-UA" dirty="0"/>
          </a:p>
        </p:txBody>
      </p:sp>
    </p:spTree>
    <p:extLst>
      <p:ext uri="{BB962C8B-B14F-4D97-AF65-F5344CB8AC3E}">
        <p14:creationId xmlns:p14="http://schemas.microsoft.com/office/powerpoint/2010/main" val="171026103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сти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1">
            <a:extLst>
              <a:ext uri="{FF2B5EF4-FFF2-40B4-BE49-F238E27FC236}">
                <a16:creationId xmlns:a16="http://schemas.microsoft.com/office/drawing/2014/main" id="{91339ECB-7836-56BF-C31D-3BAEBCA8FA5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365125"/>
            <a:ext cx="10515600" cy="1325563"/>
          </a:xfrm>
        </p:spPr>
        <p:txBody>
          <a:bodyPr/>
          <a:lstStyle>
            <a:lvl1pPr>
              <a:defRPr b="1">
                <a:solidFill>
                  <a:srgbClr val="203864"/>
                </a:solidFill>
                <a:latin typeface="Aptos" panose="020B0004020202020204" pitchFamily="34" charset="0"/>
              </a:defRPr>
            </a:lvl1pPr>
          </a:lstStyle>
          <a:p>
            <a:r>
              <a:rPr lang="en-US" dirty="0"/>
              <a:t>CLICK TO ADD TITLE</a:t>
            </a:r>
            <a:endParaRPr lang="uk-UA" dirty="0"/>
          </a:p>
        </p:txBody>
      </p:sp>
      <p:sp>
        <p:nvSpPr>
          <p:cNvPr id="7" name="Місце для тексту 6">
            <a:extLst>
              <a:ext uri="{FF2B5EF4-FFF2-40B4-BE49-F238E27FC236}">
                <a16:creationId xmlns:a16="http://schemas.microsoft.com/office/drawing/2014/main" id="{8E8B18C6-9CBB-DF5A-5A27-4791831B80B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38200" y="1870075"/>
            <a:ext cx="5532120" cy="842963"/>
          </a:xfrm>
        </p:spPr>
        <p:txBody>
          <a:bodyPr/>
          <a:lstStyle>
            <a:lvl1pPr marL="0" indent="0">
              <a:buNone/>
              <a:defRPr b="1">
                <a:solidFill>
                  <a:srgbClr val="203864"/>
                </a:solidFill>
                <a:latin typeface="Aptos" panose="020B0004020202020204" pitchFamily="34" charset="0"/>
              </a:defRPr>
            </a:lvl1pPr>
          </a:lstStyle>
          <a:p>
            <a:pPr lvl="0"/>
            <a:r>
              <a:rPr lang="en-US" dirty="0"/>
              <a:t>Click to add text</a:t>
            </a:r>
            <a:endParaRPr lang="uk-UA" dirty="0"/>
          </a:p>
        </p:txBody>
      </p:sp>
      <p:sp>
        <p:nvSpPr>
          <p:cNvPr id="8" name="Місце для тексту 6">
            <a:extLst>
              <a:ext uri="{FF2B5EF4-FFF2-40B4-BE49-F238E27FC236}">
                <a16:creationId xmlns:a16="http://schemas.microsoft.com/office/drawing/2014/main" id="{6CBD2B82-584E-B922-D53A-B6F456C8652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838200" y="2892424"/>
            <a:ext cx="5532120" cy="3467736"/>
          </a:xfrm>
        </p:spPr>
        <p:txBody>
          <a:bodyPr>
            <a:normAutofit/>
          </a:bodyPr>
          <a:lstStyle>
            <a:lvl1pPr marL="0" indent="0">
              <a:buNone/>
              <a:defRPr sz="2500" b="0">
                <a:solidFill>
                  <a:schemeClr val="tx1">
                    <a:lumMod val="75000"/>
                    <a:lumOff val="25000"/>
                  </a:schemeClr>
                </a:solidFill>
                <a:latin typeface="Aptos" panose="020B0004020202020204" pitchFamily="34" charset="0"/>
              </a:defRPr>
            </a:lvl1pPr>
          </a:lstStyle>
          <a:p>
            <a:pPr lvl="0"/>
            <a:r>
              <a:rPr lang="en-US" dirty="0"/>
              <a:t>Click to add text</a:t>
            </a:r>
            <a:endParaRPr lang="uk-UA" dirty="0"/>
          </a:p>
        </p:txBody>
      </p:sp>
      <p:sp>
        <p:nvSpPr>
          <p:cNvPr id="11" name="Місце для зображення 10">
            <a:extLst>
              <a:ext uri="{FF2B5EF4-FFF2-40B4-BE49-F238E27FC236}">
                <a16:creationId xmlns:a16="http://schemas.microsoft.com/office/drawing/2014/main" id="{A33FF4F4-EFEE-BFD1-375F-648CA393F5E2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624638" y="1870074"/>
            <a:ext cx="4729162" cy="4490085"/>
          </a:xfrm>
        </p:spPr>
        <p:txBody>
          <a:bodyPr/>
          <a:lstStyle/>
          <a:p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8875338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і підпис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 2">
            <a:extLst>
              <a:ext uri="{FF2B5EF4-FFF2-40B4-BE49-F238E27FC236}">
                <a16:creationId xmlns:a16="http://schemas.microsoft.com/office/drawing/2014/main" id="{70C13FFF-F513-4654-24F8-20B9F6D33240}"/>
              </a:ext>
            </a:extLst>
          </p:cNvPr>
          <p:cNvSpPr/>
          <p:nvPr userDrawn="1"/>
        </p:nvSpPr>
        <p:spPr>
          <a:xfrm rot="8411302" flipH="1" flipV="1">
            <a:off x="4748439" y="-391160"/>
            <a:ext cx="9459568" cy="8276884"/>
          </a:xfrm>
          <a:custGeom>
            <a:avLst/>
            <a:gdLst/>
            <a:ahLst/>
            <a:cxnLst/>
            <a:rect l="l" t="t" r="r" b="b"/>
            <a:pathLst>
              <a:path w="13347232" h="10847660">
                <a:moveTo>
                  <a:pt x="0" y="0"/>
                </a:moveTo>
                <a:lnTo>
                  <a:pt x="13347232" y="0"/>
                </a:lnTo>
                <a:lnTo>
                  <a:pt x="13347232" y="10847660"/>
                </a:lnTo>
                <a:lnTo>
                  <a:pt x="0" y="1084766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F2FB564-C2AF-2A39-32F5-C8AE625BFFF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9788" y="457200"/>
            <a:ext cx="3932237" cy="1600200"/>
          </a:xfrm>
        </p:spPr>
        <p:txBody>
          <a:bodyPr anchor="ctr"/>
          <a:lstStyle>
            <a:lvl1pPr>
              <a:defRPr sz="3200" b="1">
                <a:solidFill>
                  <a:srgbClr val="203864"/>
                </a:solidFill>
                <a:latin typeface="Aptos" panose="020B0004020202020204" pitchFamily="34" charset="0"/>
              </a:defRPr>
            </a:lvl1pPr>
          </a:lstStyle>
          <a:p>
            <a:r>
              <a:rPr lang="en-US" dirty="0"/>
              <a:t>CLICK TO ADD TITLE</a:t>
            </a:r>
            <a:endParaRPr lang="uk-UA" dirty="0"/>
          </a:p>
        </p:txBody>
      </p:sp>
      <p:sp>
        <p:nvSpPr>
          <p:cNvPr id="3" name="Місце для зображення 2">
            <a:extLst>
              <a:ext uri="{FF2B5EF4-FFF2-40B4-BE49-F238E27FC236}">
                <a16:creationId xmlns:a16="http://schemas.microsoft.com/office/drawing/2014/main" id="{6E35D1EC-A30B-2B54-1BAD-F7B1C813CE3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457200"/>
            <a:ext cx="6172200" cy="5747067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uk-UA"/>
          </a:p>
        </p:txBody>
      </p:sp>
      <p:sp>
        <p:nvSpPr>
          <p:cNvPr id="4" name="Місце для тексту 3">
            <a:extLst>
              <a:ext uri="{FF2B5EF4-FFF2-40B4-BE49-F238E27FC236}">
                <a16:creationId xmlns:a16="http://schemas.microsoft.com/office/drawing/2014/main" id="{D619E5F8-83B6-C4B1-CDE6-E2576A5D97D9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839788" y="2392680"/>
            <a:ext cx="3932237" cy="3811588"/>
          </a:xfrm>
        </p:spPr>
        <p:txBody>
          <a:bodyPr>
            <a:normAutofit/>
          </a:bodyPr>
          <a:lstStyle>
            <a:lvl1pPr marL="0" indent="0"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  <a:latin typeface="Aptos" panose="020B0004020202020204" pitchFamily="34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add text</a:t>
            </a:r>
            <a:endParaRPr lang="uk-UA" dirty="0"/>
          </a:p>
        </p:txBody>
      </p:sp>
    </p:spTree>
    <p:extLst>
      <p:ext uri="{BB962C8B-B14F-4D97-AF65-F5344CB8AC3E}">
        <p14:creationId xmlns:p14="http://schemas.microsoft.com/office/powerpoint/2010/main" val="27887181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’єкт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BE60F5C-0E3F-B81E-3874-5DFE7B95B65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="1">
                <a:solidFill>
                  <a:srgbClr val="203864"/>
                </a:solidFill>
                <a:latin typeface="Aptos" panose="020B0004020202020204" pitchFamily="34" charset="0"/>
              </a:defRPr>
            </a:lvl1pPr>
          </a:lstStyle>
          <a:p>
            <a:r>
              <a:rPr lang="en-US" dirty="0"/>
              <a:t>CLICK TO ADD TITLE</a:t>
            </a:r>
            <a:endParaRPr lang="uk-UA" dirty="0"/>
          </a:p>
        </p:txBody>
      </p:sp>
      <p:sp>
        <p:nvSpPr>
          <p:cNvPr id="3" name="Місце для вмісту 2">
            <a:extLst>
              <a:ext uri="{FF2B5EF4-FFF2-40B4-BE49-F238E27FC236}">
                <a16:creationId xmlns:a16="http://schemas.microsoft.com/office/drawing/2014/main" id="{143C40CA-D14D-1220-C849-3E91200A1849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838200" y="1825625"/>
            <a:ext cx="5181600" cy="4351338"/>
          </a:xfrm>
        </p:spPr>
        <p:txBody>
          <a:bodyPr/>
          <a:lstStyle>
            <a:lvl1pPr marL="0" indent="0">
              <a:buNone/>
              <a:defRPr>
                <a:latin typeface="Aptos" panose="020B0004020202020204" pitchFamily="34" charset="0"/>
              </a:defRPr>
            </a:lvl1pPr>
          </a:lstStyle>
          <a:p>
            <a:pPr lvl="0"/>
            <a:r>
              <a:rPr lang="en-US" dirty="0"/>
              <a:t>Click to add text/assets</a:t>
            </a:r>
            <a:endParaRPr lang="uk-UA" dirty="0"/>
          </a:p>
        </p:txBody>
      </p:sp>
      <p:sp>
        <p:nvSpPr>
          <p:cNvPr id="4" name="Місце для вмісту 3">
            <a:extLst>
              <a:ext uri="{FF2B5EF4-FFF2-40B4-BE49-F238E27FC236}">
                <a16:creationId xmlns:a16="http://schemas.microsoft.com/office/drawing/2014/main" id="{6A858D7C-35A5-2A50-602A-248A2D961DA4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6172200" y="1825625"/>
            <a:ext cx="5181600" cy="4351338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>
                <a:latin typeface="Aptos" panose="020B00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Click to add text/assets</a:t>
            </a:r>
            <a:endParaRPr lang="uk-UA" dirty="0"/>
          </a:p>
          <a:p>
            <a:pPr lvl="0"/>
            <a:endParaRPr lang="uk-UA" dirty="0"/>
          </a:p>
        </p:txBody>
      </p:sp>
    </p:spTree>
    <p:extLst>
      <p:ext uri="{BB962C8B-B14F-4D97-AF65-F5344CB8AC3E}">
        <p14:creationId xmlns:p14="http://schemas.microsoft.com/office/powerpoint/2010/main" val="2126133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і вертикальни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 2">
            <a:extLst>
              <a:ext uri="{FF2B5EF4-FFF2-40B4-BE49-F238E27FC236}">
                <a16:creationId xmlns:a16="http://schemas.microsoft.com/office/drawing/2014/main" id="{C437F139-DD75-BFB8-2FA9-97A05C2AE574}"/>
              </a:ext>
            </a:extLst>
          </p:cNvPr>
          <p:cNvSpPr/>
          <p:nvPr userDrawn="1"/>
        </p:nvSpPr>
        <p:spPr>
          <a:xfrm rot="3018939" flipV="1">
            <a:off x="1616475" y="-3063601"/>
            <a:ext cx="8959050" cy="6857449"/>
          </a:xfrm>
          <a:custGeom>
            <a:avLst/>
            <a:gdLst/>
            <a:ahLst/>
            <a:cxnLst/>
            <a:rect l="l" t="t" r="r" b="b"/>
            <a:pathLst>
              <a:path w="13347232" h="10847660">
                <a:moveTo>
                  <a:pt x="0" y="10847659"/>
                </a:moveTo>
                <a:lnTo>
                  <a:pt x="13347232" y="10847659"/>
                </a:lnTo>
                <a:lnTo>
                  <a:pt x="13347232" y="0"/>
                </a:lnTo>
                <a:lnTo>
                  <a:pt x="0" y="0"/>
                </a:lnTo>
                <a:lnTo>
                  <a:pt x="0" y="10847659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2481017-89BE-29C2-1A48-1CA1E40695E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="1">
                <a:solidFill>
                  <a:srgbClr val="203864"/>
                </a:solidFill>
                <a:latin typeface="Aptos" panose="020B0004020202020204" pitchFamily="34" charset="0"/>
              </a:defRPr>
            </a:lvl1pPr>
          </a:lstStyle>
          <a:p>
            <a:r>
              <a:rPr lang="en-US" dirty="0"/>
              <a:t>CONCLUSIONS</a:t>
            </a:r>
            <a:endParaRPr lang="uk-UA" dirty="0"/>
          </a:p>
        </p:txBody>
      </p:sp>
      <p:sp>
        <p:nvSpPr>
          <p:cNvPr id="3" name="Місце для вертикального тексту 2">
            <a:extLst>
              <a:ext uri="{FF2B5EF4-FFF2-40B4-BE49-F238E27FC236}">
                <a16:creationId xmlns:a16="http://schemas.microsoft.com/office/drawing/2014/main" id="{7286543E-9BBE-1534-1F22-48AB59E465DB}"/>
              </a:ext>
            </a:extLst>
          </p:cNvPr>
          <p:cNvSpPr>
            <a:spLocks noGrp="1"/>
          </p:cNvSpPr>
          <p:nvPr>
            <p:ph type="body" orient="vert" idx="1" hasCustomPrompt="1"/>
          </p:nvPr>
        </p:nvSpPr>
        <p:spPr>
          <a:xfrm>
            <a:off x="838200" y="1825624"/>
            <a:ext cx="10515600" cy="4544695"/>
          </a:xfrm>
        </p:spPr>
        <p:txBody>
          <a:bodyPr vert="horz"/>
          <a:lstStyle>
            <a:lvl1pPr marL="0" indent="0">
              <a:buNone/>
              <a:defRPr>
                <a:latin typeface="Aptos" panose="020B0004020202020204" pitchFamily="34" charset="0"/>
              </a:defRPr>
            </a:lvl1pPr>
          </a:lstStyle>
          <a:p>
            <a:pPr lvl="0"/>
            <a:r>
              <a:rPr lang="en-US" dirty="0"/>
              <a:t>Click to add text</a:t>
            </a:r>
            <a:endParaRPr lang="uk-UA" dirty="0"/>
          </a:p>
        </p:txBody>
      </p:sp>
      <p:grpSp>
        <p:nvGrpSpPr>
          <p:cNvPr id="8" name="Group 3">
            <a:extLst>
              <a:ext uri="{FF2B5EF4-FFF2-40B4-BE49-F238E27FC236}">
                <a16:creationId xmlns:a16="http://schemas.microsoft.com/office/drawing/2014/main" id="{95BE0E7F-0198-EA12-056F-87B0F57B8966}"/>
              </a:ext>
            </a:extLst>
          </p:cNvPr>
          <p:cNvGrpSpPr/>
          <p:nvPr userDrawn="1"/>
        </p:nvGrpSpPr>
        <p:grpSpPr>
          <a:xfrm>
            <a:off x="8794071" y="468052"/>
            <a:ext cx="3397929" cy="417760"/>
            <a:chOff x="0" y="0"/>
            <a:chExt cx="1239574" cy="152400"/>
          </a:xfrm>
        </p:grpSpPr>
        <p:sp>
          <p:nvSpPr>
            <p:cNvPr id="9" name="Freeform 4">
              <a:extLst>
                <a:ext uri="{FF2B5EF4-FFF2-40B4-BE49-F238E27FC236}">
                  <a16:creationId xmlns:a16="http://schemas.microsoft.com/office/drawing/2014/main" id="{195A661F-45EA-3984-9BEC-BC9C3B1A31E6}"/>
                </a:ext>
              </a:extLst>
            </p:cNvPr>
            <p:cNvSpPr/>
            <p:nvPr/>
          </p:nvSpPr>
          <p:spPr>
            <a:xfrm>
              <a:off x="0" y="0"/>
              <a:ext cx="1239574" cy="152400"/>
            </a:xfrm>
            <a:custGeom>
              <a:avLst/>
              <a:gdLst/>
              <a:ahLst/>
              <a:cxnLst/>
              <a:rect l="l" t="t" r="r" b="b"/>
              <a:pathLst>
                <a:path w="1239574" h="152400">
                  <a:moveTo>
                    <a:pt x="0" y="0"/>
                  </a:moveTo>
                  <a:lnTo>
                    <a:pt x="1239574" y="0"/>
                  </a:lnTo>
                  <a:lnTo>
                    <a:pt x="1239574" y="152400"/>
                  </a:lnTo>
                  <a:lnTo>
                    <a:pt x="0" y="152400"/>
                  </a:lnTo>
                  <a:close/>
                </a:path>
              </a:pathLst>
            </a:custGeom>
            <a:solidFill>
              <a:srgbClr val="0D2A59"/>
            </a:solidFill>
          </p:spPr>
        </p:sp>
      </p:grpSp>
    </p:spTree>
    <p:extLst>
      <p:ext uri="{BB962C8B-B14F-4D97-AF65-F5344CB8AC3E}">
        <p14:creationId xmlns:p14="http://schemas.microsoft.com/office/powerpoint/2010/main" val="35434150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1_Заголовок і вертикальни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 2">
            <a:extLst>
              <a:ext uri="{FF2B5EF4-FFF2-40B4-BE49-F238E27FC236}">
                <a16:creationId xmlns:a16="http://schemas.microsoft.com/office/drawing/2014/main" id="{C437F139-DD75-BFB8-2FA9-97A05C2AE574}"/>
              </a:ext>
            </a:extLst>
          </p:cNvPr>
          <p:cNvSpPr/>
          <p:nvPr userDrawn="1"/>
        </p:nvSpPr>
        <p:spPr>
          <a:xfrm rot="3018939" flipV="1">
            <a:off x="1616475" y="-3063601"/>
            <a:ext cx="8959050" cy="6857449"/>
          </a:xfrm>
          <a:custGeom>
            <a:avLst/>
            <a:gdLst/>
            <a:ahLst/>
            <a:cxnLst/>
            <a:rect l="l" t="t" r="r" b="b"/>
            <a:pathLst>
              <a:path w="13347232" h="10847660">
                <a:moveTo>
                  <a:pt x="0" y="10847659"/>
                </a:moveTo>
                <a:lnTo>
                  <a:pt x="13347232" y="10847659"/>
                </a:lnTo>
                <a:lnTo>
                  <a:pt x="13347232" y="0"/>
                </a:lnTo>
                <a:lnTo>
                  <a:pt x="0" y="0"/>
                </a:lnTo>
                <a:lnTo>
                  <a:pt x="0" y="10847659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2481017-89BE-29C2-1A48-1CA1E40695E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="1">
                <a:solidFill>
                  <a:srgbClr val="203864"/>
                </a:solidFill>
                <a:latin typeface="Aptos" panose="020B0004020202020204" pitchFamily="34" charset="0"/>
              </a:defRPr>
            </a:lvl1pPr>
          </a:lstStyle>
          <a:p>
            <a:r>
              <a:rPr lang="en-US" dirty="0"/>
              <a:t>ADDITIONALS MATERIALS</a:t>
            </a:r>
            <a:endParaRPr lang="uk-UA" dirty="0"/>
          </a:p>
        </p:txBody>
      </p:sp>
      <p:sp>
        <p:nvSpPr>
          <p:cNvPr id="3" name="Місце для вертикального тексту 2">
            <a:extLst>
              <a:ext uri="{FF2B5EF4-FFF2-40B4-BE49-F238E27FC236}">
                <a16:creationId xmlns:a16="http://schemas.microsoft.com/office/drawing/2014/main" id="{7286543E-9BBE-1534-1F22-48AB59E465DB}"/>
              </a:ext>
            </a:extLst>
          </p:cNvPr>
          <p:cNvSpPr>
            <a:spLocks noGrp="1"/>
          </p:cNvSpPr>
          <p:nvPr>
            <p:ph type="body" orient="vert" idx="1" hasCustomPrompt="1"/>
          </p:nvPr>
        </p:nvSpPr>
        <p:spPr>
          <a:xfrm>
            <a:off x="838200" y="1825624"/>
            <a:ext cx="10515600" cy="4544695"/>
          </a:xfrm>
        </p:spPr>
        <p:txBody>
          <a:bodyPr vert="horz"/>
          <a:lstStyle>
            <a:lvl1pPr marL="0" indent="0">
              <a:buNone/>
              <a:defRPr>
                <a:latin typeface="Aptos" panose="020B0004020202020204" pitchFamily="34" charset="0"/>
              </a:defRPr>
            </a:lvl1pPr>
          </a:lstStyle>
          <a:p>
            <a:pPr lvl="0"/>
            <a:r>
              <a:rPr lang="en-US" dirty="0"/>
              <a:t>Click to add text</a:t>
            </a:r>
            <a:endParaRPr lang="uk-UA" dirty="0"/>
          </a:p>
        </p:txBody>
      </p:sp>
      <p:grpSp>
        <p:nvGrpSpPr>
          <p:cNvPr id="8" name="Group 3">
            <a:extLst>
              <a:ext uri="{FF2B5EF4-FFF2-40B4-BE49-F238E27FC236}">
                <a16:creationId xmlns:a16="http://schemas.microsoft.com/office/drawing/2014/main" id="{95BE0E7F-0198-EA12-056F-87B0F57B8966}"/>
              </a:ext>
            </a:extLst>
          </p:cNvPr>
          <p:cNvGrpSpPr/>
          <p:nvPr userDrawn="1"/>
        </p:nvGrpSpPr>
        <p:grpSpPr>
          <a:xfrm>
            <a:off x="8794071" y="468052"/>
            <a:ext cx="3397929" cy="417760"/>
            <a:chOff x="0" y="0"/>
            <a:chExt cx="1239574" cy="152400"/>
          </a:xfrm>
        </p:grpSpPr>
        <p:sp>
          <p:nvSpPr>
            <p:cNvPr id="9" name="Freeform 4">
              <a:extLst>
                <a:ext uri="{FF2B5EF4-FFF2-40B4-BE49-F238E27FC236}">
                  <a16:creationId xmlns:a16="http://schemas.microsoft.com/office/drawing/2014/main" id="{195A661F-45EA-3984-9BEC-BC9C3B1A31E6}"/>
                </a:ext>
              </a:extLst>
            </p:cNvPr>
            <p:cNvSpPr/>
            <p:nvPr/>
          </p:nvSpPr>
          <p:spPr>
            <a:xfrm>
              <a:off x="0" y="0"/>
              <a:ext cx="1239574" cy="152400"/>
            </a:xfrm>
            <a:custGeom>
              <a:avLst/>
              <a:gdLst/>
              <a:ahLst/>
              <a:cxnLst/>
              <a:rect l="l" t="t" r="r" b="b"/>
              <a:pathLst>
                <a:path w="1239574" h="152400">
                  <a:moveTo>
                    <a:pt x="0" y="0"/>
                  </a:moveTo>
                  <a:lnTo>
                    <a:pt x="1239574" y="0"/>
                  </a:lnTo>
                  <a:lnTo>
                    <a:pt x="1239574" y="152400"/>
                  </a:lnTo>
                  <a:lnTo>
                    <a:pt x="0" y="152400"/>
                  </a:lnTo>
                  <a:close/>
                </a:path>
              </a:pathLst>
            </a:custGeom>
            <a:solidFill>
              <a:srgbClr val="0D2A59"/>
            </a:solidFill>
          </p:spPr>
        </p:sp>
      </p:grpSp>
    </p:spTree>
    <p:extLst>
      <p:ext uri="{BB962C8B-B14F-4D97-AF65-F5344CB8AC3E}">
        <p14:creationId xmlns:p14="http://schemas.microsoft.com/office/powerpoint/2010/main" val="157760543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Вертикальний заголовок і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 2">
            <a:extLst>
              <a:ext uri="{FF2B5EF4-FFF2-40B4-BE49-F238E27FC236}">
                <a16:creationId xmlns:a16="http://schemas.microsoft.com/office/drawing/2014/main" id="{8CD1E789-90A0-FE6B-0F10-C15EB3FD5B16}"/>
              </a:ext>
            </a:extLst>
          </p:cNvPr>
          <p:cNvSpPr/>
          <p:nvPr userDrawn="1"/>
        </p:nvSpPr>
        <p:spPr>
          <a:xfrm>
            <a:off x="6920801" y="-3295"/>
            <a:ext cx="6541199" cy="6861295"/>
          </a:xfrm>
          <a:custGeom>
            <a:avLst/>
            <a:gdLst/>
            <a:ahLst/>
            <a:cxnLst/>
            <a:rect l="l" t="t" r="r" b="b"/>
            <a:pathLst>
              <a:path w="10580914" h="10287000">
                <a:moveTo>
                  <a:pt x="0" y="0"/>
                </a:moveTo>
                <a:lnTo>
                  <a:pt x="10580914" y="0"/>
                </a:lnTo>
                <a:lnTo>
                  <a:pt x="10580914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16000"/>
            </a:blip>
            <a:stretch>
              <a:fillRect/>
            </a:stretch>
          </a:blipFill>
        </p:spPr>
      </p:sp>
      <p:sp>
        <p:nvSpPr>
          <p:cNvPr id="8" name="Freeform 4">
            <a:extLst>
              <a:ext uri="{FF2B5EF4-FFF2-40B4-BE49-F238E27FC236}">
                <a16:creationId xmlns:a16="http://schemas.microsoft.com/office/drawing/2014/main" id="{C1D3FF62-D606-B90B-7956-E3AB4C912B48}"/>
              </a:ext>
            </a:extLst>
          </p:cNvPr>
          <p:cNvSpPr/>
          <p:nvPr userDrawn="1"/>
        </p:nvSpPr>
        <p:spPr>
          <a:xfrm>
            <a:off x="9455450" y="5909845"/>
            <a:ext cx="2289707" cy="561979"/>
          </a:xfrm>
          <a:custGeom>
            <a:avLst/>
            <a:gdLst/>
            <a:ahLst/>
            <a:cxnLst/>
            <a:rect l="l" t="t" r="r" b="b"/>
            <a:pathLst>
              <a:path w="3304721" h="832124">
                <a:moveTo>
                  <a:pt x="0" y="0"/>
                </a:moveTo>
                <a:lnTo>
                  <a:pt x="3304721" y="0"/>
                </a:lnTo>
                <a:lnTo>
                  <a:pt x="3304721" y="832124"/>
                </a:lnTo>
                <a:lnTo>
                  <a:pt x="0" y="83212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pic>
        <p:nvPicPr>
          <p:cNvPr id="9" name="Picture 2" descr="COMAI - Ulysseus">
            <a:extLst>
              <a:ext uri="{FF2B5EF4-FFF2-40B4-BE49-F238E27FC236}">
                <a16:creationId xmlns:a16="http://schemas.microsoft.com/office/drawing/2014/main" id="{E4A298BE-4D28-41A3-FCCC-78D6F73C5D2C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6843" y="5909845"/>
            <a:ext cx="2867487" cy="5824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Місце для зображення 12">
            <a:extLst>
              <a:ext uri="{FF2B5EF4-FFF2-40B4-BE49-F238E27FC236}">
                <a16:creationId xmlns:a16="http://schemas.microsoft.com/office/drawing/2014/main" id="{E0592F16-BCB5-9327-78F3-B2E92935A21C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446088" y="328613"/>
            <a:ext cx="2368550" cy="923925"/>
          </a:xfrm>
        </p:spPr>
        <p:txBody>
          <a:bodyPr>
            <a:normAutofit/>
          </a:bodyPr>
          <a:lstStyle>
            <a:lvl1pPr>
              <a:defRPr sz="1800"/>
            </a:lvl1pPr>
          </a:lstStyle>
          <a:p>
            <a:r>
              <a:rPr lang="en-US" dirty="0"/>
              <a:t>University logo</a:t>
            </a:r>
            <a:endParaRPr lang="uk-UA" dirty="0"/>
          </a:p>
        </p:txBody>
      </p:sp>
      <p:sp>
        <p:nvSpPr>
          <p:cNvPr id="11" name="Місце для зображення 12">
            <a:extLst>
              <a:ext uri="{FF2B5EF4-FFF2-40B4-BE49-F238E27FC236}">
                <a16:creationId xmlns:a16="http://schemas.microsoft.com/office/drawing/2014/main" id="{9C30DA7F-596D-B59E-26DA-3B0C3F4C0653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9376607" y="328612"/>
            <a:ext cx="2368550" cy="923925"/>
          </a:xfrm>
        </p:spPr>
        <p:txBody>
          <a:bodyPr>
            <a:normAutofit/>
          </a:bodyPr>
          <a:lstStyle>
            <a:lvl1pPr>
              <a:defRPr sz="1600"/>
            </a:lvl1pPr>
          </a:lstStyle>
          <a:p>
            <a:r>
              <a:rPr lang="en-US" dirty="0"/>
              <a:t>Department logo</a:t>
            </a:r>
            <a:endParaRPr lang="uk-UA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D8C1CC2-B9AD-AB54-C17A-8D901E5C744E}"/>
              </a:ext>
            </a:extLst>
          </p:cNvPr>
          <p:cNvSpPr txBox="1"/>
          <p:nvPr userDrawn="1"/>
        </p:nvSpPr>
        <p:spPr>
          <a:xfrm>
            <a:off x="446088" y="2682240"/>
            <a:ext cx="9283952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400" b="1" dirty="0">
                <a:solidFill>
                  <a:srgbClr val="203864"/>
                </a:solidFill>
                <a:latin typeface="Aptos" panose="020B0004020202020204" pitchFamily="34" charset="0"/>
              </a:rPr>
              <a:t>THANK YOU FOR ATTENTION!</a:t>
            </a:r>
            <a:endParaRPr lang="uk-UA" sz="5400" b="1" dirty="0">
              <a:solidFill>
                <a:srgbClr val="203864"/>
              </a:solidFill>
              <a:latin typeface="Aptos" panose="020B000402020202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C9BA098-B1CD-0269-8D35-42A582493920}"/>
              </a:ext>
            </a:extLst>
          </p:cNvPr>
          <p:cNvSpPr txBox="1"/>
          <p:nvPr userDrawn="1"/>
        </p:nvSpPr>
        <p:spPr>
          <a:xfrm>
            <a:off x="446088" y="3556813"/>
            <a:ext cx="287149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0" dirty="0">
                <a:solidFill>
                  <a:schemeClr val="tx1">
                    <a:lumMod val="75000"/>
                    <a:lumOff val="25000"/>
                  </a:schemeClr>
                </a:solidFill>
                <a:latin typeface="Aptos" panose="020B0004020202020204" pitchFamily="34" charset="0"/>
              </a:rPr>
              <a:t>Any questions?</a:t>
            </a:r>
            <a:endParaRPr lang="uk-UA" sz="3200" b="0" dirty="0">
              <a:solidFill>
                <a:schemeClr val="tx1">
                  <a:lumMod val="75000"/>
                  <a:lumOff val="25000"/>
                </a:schemeClr>
              </a:solidFill>
              <a:latin typeface="Aptos" panose="020B0004020202020204" pitchFamily="34" charset="0"/>
            </a:endParaRPr>
          </a:p>
        </p:txBody>
      </p:sp>
      <p:sp>
        <p:nvSpPr>
          <p:cNvPr id="2" name="TextBox 8">
            <a:extLst>
              <a:ext uri="{FF2B5EF4-FFF2-40B4-BE49-F238E27FC236}">
                <a16:creationId xmlns:a16="http://schemas.microsoft.com/office/drawing/2014/main" id="{5163F224-4127-B18E-51F9-39EA8647CB63}"/>
              </a:ext>
            </a:extLst>
          </p:cNvPr>
          <p:cNvSpPr txBox="1"/>
          <p:nvPr userDrawn="1"/>
        </p:nvSpPr>
        <p:spPr>
          <a:xfrm>
            <a:off x="3934029" y="5820282"/>
            <a:ext cx="5967043" cy="6515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89"/>
              </a:lnSpc>
              <a:spcBef>
                <a:spcPct val="0"/>
              </a:spcBef>
            </a:pPr>
            <a:r>
              <a:rPr lang="en-US" sz="1000" b="1" dirty="0">
                <a:solidFill>
                  <a:srgbClr val="023399"/>
                </a:solidFill>
                <a:latin typeface="Aptos" panose="020B0004020202020204" pitchFamily="34" charset="0"/>
                <a:ea typeface="Arial Bold"/>
                <a:cs typeface="Arial Bold"/>
                <a:sym typeface="Arial Bold"/>
              </a:rPr>
              <a:t>SECURE ERASMUS-EDU-2024-CBHE</a:t>
            </a:r>
          </a:p>
          <a:p>
            <a:pPr algn="l">
              <a:lnSpc>
                <a:spcPts val="1689"/>
              </a:lnSpc>
              <a:spcBef>
                <a:spcPct val="0"/>
              </a:spcBef>
            </a:pPr>
            <a:r>
              <a:rPr lang="en-US" sz="1000" dirty="0">
                <a:solidFill>
                  <a:srgbClr val="023399"/>
                </a:solidFill>
                <a:latin typeface="Aptos" panose="020B0004020202020204" pitchFamily="34" charset="0"/>
                <a:ea typeface="Arial"/>
                <a:cs typeface="Arial"/>
                <a:sym typeface="Arial"/>
              </a:rPr>
              <a:t>This project has received funding from the European Union’s Erasmus + </a:t>
            </a:r>
            <a:r>
              <a:rPr lang="en-US" sz="1000" dirty="0" err="1">
                <a:solidFill>
                  <a:srgbClr val="023399"/>
                </a:solidFill>
                <a:latin typeface="Aptos" panose="020B0004020202020204" pitchFamily="34" charset="0"/>
                <a:ea typeface="Arial"/>
                <a:cs typeface="Arial"/>
                <a:sym typeface="Arial"/>
              </a:rPr>
              <a:t>Programme</a:t>
            </a:r>
            <a:r>
              <a:rPr lang="en-US" sz="1000" dirty="0">
                <a:solidFill>
                  <a:srgbClr val="023399"/>
                </a:solidFill>
                <a:latin typeface="Aptos" panose="020B0004020202020204" pitchFamily="34" charset="0"/>
                <a:ea typeface="Arial"/>
                <a:cs typeface="Arial"/>
                <a:sym typeface="Arial"/>
              </a:rPr>
              <a:t> </a:t>
            </a:r>
          </a:p>
          <a:p>
            <a:pPr algn="l">
              <a:lnSpc>
                <a:spcPts val="1689"/>
              </a:lnSpc>
              <a:spcBef>
                <a:spcPct val="0"/>
              </a:spcBef>
            </a:pPr>
            <a:r>
              <a:rPr lang="en-US" sz="1000" dirty="0">
                <a:solidFill>
                  <a:srgbClr val="023399"/>
                </a:solidFill>
                <a:latin typeface="Aptos" panose="020B0004020202020204" pitchFamily="34" charset="0"/>
                <a:ea typeface="Arial"/>
                <a:cs typeface="Arial"/>
                <a:sym typeface="Arial"/>
              </a:rPr>
              <a:t>"Capacity building in the field of higher education", project id 101179818</a:t>
            </a:r>
          </a:p>
        </p:txBody>
      </p:sp>
    </p:spTree>
    <p:extLst>
      <p:ext uri="{BB962C8B-B14F-4D97-AF65-F5344CB8AC3E}">
        <p14:creationId xmlns:p14="http://schemas.microsoft.com/office/powerpoint/2010/main" val="183435945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E38C6A-C972-4D9E-AA74-333EB6C38D98}" type="datetimeFigureOut">
              <a:rPr lang="en-US" smtClean="0"/>
              <a:t>5/31/26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8532CD-2E3F-4A7F-B8A0-E5258AB211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71786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Місце для заголовка 1">
            <a:extLst>
              <a:ext uri="{FF2B5EF4-FFF2-40B4-BE49-F238E27FC236}">
                <a16:creationId xmlns:a16="http://schemas.microsoft.com/office/drawing/2014/main" id="{262A46F7-AE3D-FE17-716F-BD07355880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uk-UA"/>
              <a:t>Клацніть, щоб редагувати стиль зразка заголовка</a:t>
            </a:r>
          </a:p>
        </p:txBody>
      </p:sp>
      <p:sp>
        <p:nvSpPr>
          <p:cNvPr id="3" name="Місце для тексту 2">
            <a:extLst>
              <a:ext uri="{FF2B5EF4-FFF2-40B4-BE49-F238E27FC236}">
                <a16:creationId xmlns:a16="http://schemas.microsoft.com/office/drawing/2014/main" id="{440003CE-35D9-0D22-9697-103258AF726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uk-UA"/>
              <a:t>Клацніть, щоб відредагувати стилі зразків тексту</a:t>
            </a:r>
          </a:p>
          <a:p>
            <a:pPr lvl="1"/>
            <a:r>
              <a:rPr lang="uk-UA"/>
              <a:t>Другий рівень</a:t>
            </a:r>
          </a:p>
          <a:p>
            <a:pPr lvl="2"/>
            <a:r>
              <a:rPr lang="uk-UA"/>
              <a:t>Третій рівень</a:t>
            </a:r>
          </a:p>
          <a:p>
            <a:pPr lvl="3"/>
            <a:r>
              <a:rPr lang="uk-UA"/>
              <a:t>Четвертий рівень</a:t>
            </a:r>
          </a:p>
          <a:p>
            <a:pPr lvl="4"/>
            <a:r>
              <a:rPr lang="uk-UA"/>
              <a:t>П'ятий рівень</a:t>
            </a:r>
          </a:p>
        </p:txBody>
      </p:sp>
      <p:sp>
        <p:nvSpPr>
          <p:cNvPr id="4" name="Місце для дати 3">
            <a:extLst>
              <a:ext uri="{FF2B5EF4-FFF2-40B4-BE49-F238E27FC236}">
                <a16:creationId xmlns:a16="http://schemas.microsoft.com/office/drawing/2014/main" id="{99D95934-CB61-23CC-5A3B-CAE88FF8F71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2B528A8-01FA-4E19-966E-6D8EBDB87570}" type="datetimeFigureOut">
              <a:rPr lang="uk-UA" smtClean="0"/>
              <a:t>31.05.26</a:t>
            </a:fld>
            <a:endParaRPr lang="uk-UA"/>
          </a:p>
        </p:txBody>
      </p:sp>
      <p:sp>
        <p:nvSpPr>
          <p:cNvPr id="5" name="Місце для нижнього колонтитула 4">
            <a:extLst>
              <a:ext uri="{FF2B5EF4-FFF2-40B4-BE49-F238E27FC236}">
                <a16:creationId xmlns:a16="http://schemas.microsoft.com/office/drawing/2014/main" id="{5C9D978F-CE49-2A2D-0742-4A82CA25FA1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uk-UA"/>
          </a:p>
        </p:txBody>
      </p:sp>
      <p:sp>
        <p:nvSpPr>
          <p:cNvPr id="6" name="Місце для номера слайда 5">
            <a:extLst>
              <a:ext uri="{FF2B5EF4-FFF2-40B4-BE49-F238E27FC236}">
                <a16:creationId xmlns:a16="http://schemas.microsoft.com/office/drawing/2014/main" id="{8D4B8B66-57F6-0E1C-BC7E-F1BC1A8B0E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24FF707-F803-4672-B2C0-069A27EADB59}" type="slidenum">
              <a:rPr lang="uk-UA" smtClean="0"/>
              <a:t>‹#›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23876275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4" r:id="rId4"/>
    <p:sldLayoutId id="2147483655" r:id="rId5"/>
    <p:sldLayoutId id="2147483657" r:id="rId6"/>
    <p:sldLayoutId id="2147483652" r:id="rId7"/>
    <p:sldLayoutId id="2147483658" r:id="rId8"/>
    <p:sldLayoutId id="2147483660" r:id="rId9"/>
    <p:sldLayoutId id="2147483659" r:id="rId10"/>
    <p:sldLayoutId id="214748366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uk-UA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g"/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5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5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jpeg"/><Relationship Id="rId1" Type="http://schemas.openxmlformats.org/officeDocument/2006/relationships/slideLayout" Target="../slideLayouts/slideLayout5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A3D7EDF-EC43-C3F4-B3FA-A3653E0A304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50070" y="2077401"/>
            <a:ext cx="9624293" cy="750852"/>
          </a:xfrm>
        </p:spPr>
        <p:txBody>
          <a:bodyPr>
            <a:normAutofit fontScale="90000"/>
          </a:bodyPr>
          <a:lstStyle/>
          <a:p>
            <a:r>
              <a:rPr lang="en-US" dirty="0"/>
              <a:t>Квантова та постквантова безпека № 7</a:t>
            </a:r>
            <a:endParaRPr lang="uk-UA" dirty="0"/>
          </a:p>
        </p:txBody>
      </p:sp>
      <p:sp>
        <p:nvSpPr>
          <p:cNvPr id="6" name="Місце для тексту 5">
            <a:extLst>
              <a:ext uri="{FF2B5EF4-FFF2-40B4-BE49-F238E27FC236}">
                <a16:creationId xmlns:a16="http://schemas.microsoft.com/office/drawing/2014/main" id="{5865D50E-67FD-0929-0A83-003F307A0EB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16497" y="3053574"/>
            <a:ext cx="11159005" cy="750852"/>
          </a:xfrm>
        </p:spPr>
        <p:txBody>
          <a:bodyPr/>
          <a:lstStyle/>
          <a:p>
            <a:r>
              <a:rPr lang="en-US" b="1" dirty="0"/>
              <a:t>Схеми цифрового підпису на основі хеш-функцій</a:t>
            </a:r>
            <a:endParaRPr lang="uk-UA" b="1" dirty="0"/>
          </a:p>
        </p:txBody>
      </p:sp>
      <p:pic>
        <p:nvPicPr>
          <p:cNvPr id="12" name="Picture 11" descr="Image result for caucasus university">
            <a:extLst>
              <a:ext uri="{FF2B5EF4-FFF2-40B4-BE49-F238E27FC236}">
                <a16:creationId xmlns:a16="http://schemas.microsoft.com/office/drawing/2014/main" id="{E09FF6E2-F06E-14E7-8874-F4EC4069A03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1788" y="230687"/>
            <a:ext cx="1541081" cy="15772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85FEC94D-E8A1-53EF-6760-B84C3A4D2E36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47931" y="89794"/>
            <a:ext cx="1852863" cy="18528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028779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B6E16CF-568A-DB52-A3EB-6D4FADCDD9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Мотивація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DB86B2E6-EF52-BEFC-2919-DA04E2C4AD6E}"/>
              </a:ext>
            </a:extLst>
          </p:cNvPr>
          <p:cNvSpPr>
            <a:spLocks noGrp="1" noChangeArrowheads="1"/>
          </p:cNvSpPr>
          <p:nvPr>
            <p:ph type="body" sz="quarter" idx="10"/>
          </p:nvPr>
        </p:nvSpPr>
        <p:spPr bwMode="auto">
          <a:xfrm>
            <a:off x="447674" y="1747303"/>
            <a:ext cx="5453396" cy="17013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normAutofit/>
          </a:bodyPr>
          <a:lstStyle/>
          <a:p>
            <a:pPr lv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2000" i="1" dirty="0"/>
              <a:t>Чому саме хеш-підписи?</a:t>
            </a:r>
            <a:br>
              <a:rPr lang="en-US" sz="2000" dirty="0"/>
            </a:br>
            <a:r>
              <a:rPr lang="en-US" sz="2000" dirty="0"/>
              <a:t>Безпечні навіть проти квантових комп'ютерів.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alibri"/>
            </a:endParaRPr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441E25CA-E5AF-083F-B1CB-3CEB4B67935D}"/>
              </a:ext>
            </a:extLst>
          </p:cNvPr>
          <p:cNvSpPr>
            <a:spLocks noGrp="1" noChangeArrowheads="1"/>
          </p:cNvSpPr>
          <p:nvPr>
            <p:ph type="body" sz="quarter" idx="11"/>
          </p:nvPr>
        </p:nvSpPr>
        <p:spPr bwMode="auto">
          <a:xfrm>
            <a:off x="447674" y="4260022"/>
            <a:ext cx="5844841" cy="12875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Базуються виключно на </a:t>
            </a: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безпеці хеш-функції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Стійкі до алгоритму Шора.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Проста конструкція, добре вивчена з 1970-х років.</a:t>
            </a:r>
          </a:p>
        </p:txBody>
      </p:sp>
      <p:pic>
        <p:nvPicPr>
          <p:cNvPr id="1028" name="Picture 4" descr="7 Top Motivation Models To Use As a Leader">
            <a:extLst>
              <a:ext uri="{FF2B5EF4-FFF2-40B4-BE49-F238E27FC236}">
                <a16:creationId xmlns:a16="http://schemas.microsoft.com/office/drawing/2014/main" id="{B9BFC49E-0FA6-C776-DB31-1276BBD2545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91941" y="1447613"/>
            <a:ext cx="5595157" cy="34561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5414801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35051B-F397-768C-04C8-682CD290A7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55240" y="332296"/>
            <a:ext cx="7081520" cy="700990"/>
          </a:xfrm>
        </p:spPr>
        <p:txBody>
          <a:bodyPr/>
          <a:lstStyle/>
          <a:p>
            <a:pPr algn="ctr"/>
            <a:r>
              <a:rPr lang="en-US" b="1" dirty="0">
                <a:solidFill>
                  <a:srgbClr val="203864"/>
                </a:solidFill>
                <a:latin typeface="Calibri"/>
              </a:rPr>
              <a:t>Цифровий підпис Лампорта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7621B6-C99A-6CF6-F8D0-289AC74564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74329"/>
            <a:ext cx="10515600" cy="5451375"/>
          </a:xfrm>
        </p:spPr>
        <p:txBody>
          <a:bodyPr>
            <a:noAutofit/>
          </a:bodyPr>
          <a:lstStyle/>
          <a:p>
            <a:pPr algn="l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sz="2200" b="1" i="0" dirty="0" err="1">
                <a:effectLst/>
                <a:latin typeface="Calibri"/>
              </a:rPr>
              <a:t>Схема</a:t>
            </a:r>
            <a:r>
              <a:rPr lang="en-US" sz="2200" b="1" i="0" dirty="0">
                <a:effectLst/>
                <a:latin typeface="Calibri"/>
              </a:rPr>
              <a:t> </a:t>
            </a:r>
            <a:r>
              <a:rPr lang="en-US" sz="2200" b="1" i="0" dirty="0" err="1">
                <a:effectLst/>
                <a:latin typeface="Calibri"/>
              </a:rPr>
              <a:t>цифрового</a:t>
            </a:r>
            <a:r>
              <a:rPr lang="en-US" sz="2200" b="1" i="0" dirty="0">
                <a:effectLst/>
                <a:latin typeface="Calibri"/>
              </a:rPr>
              <a:t> </a:t>
            </a:r>
            <a:r>
              <a:rPr lang="en-US" sz="2200" b="1" i="0" dirty="0" err="1">
                <a:effectLst/>
                <a:latin typeface="Calibri"/>
              </a:rPr>
              <a:t>підпису</a:t>
            </a:r>
            <a:r>
              <a:rPr lang="en-US" sz="2200" b="1" i="0" dirty="0">
                <a:effectLst/>
                <a:latin typeface="Calibri"/>
              </a:rPr>
              <a:t> </a:t>
            </a:r>
            <a:r>
              <a:rPr lang="en-US" sz="2200" b="1" i="0" dirty="0" err="1">
                <a:effectLst/>
                <a:latin typeface="Calibri"/>
              </a:rPr>
              <a:t>на</a:t>
            </a:r>
            <a:r>
              <a:rPr lang="en-US" sz="2200" b="1" i="0" dirty="0">
                <a:effectLst/>
                <a:latin typeface="Calibri"/>
              </a:rPr>
              <a:t> </a:t>
            </a:r>
            <a:r>
              <a:rPr lang="en-US" sz="2200" b="1" i="0" dirty="0" err="1">
                <a:effectLst/>
                <a:latin typeface="Calibri"/>
              </a:rPr>
              <a:t>основі</a:t>
            </a:r>
            <a:r>
              <a:rPr lang="en-US" sz="2200" b="1" i="0" dirty="0">
                <a:effectLst/>
                <a:latin typeface="Calibri"/>
              </a:rPr>
              <a:t> </a:t>
            </a:r>
            <a:r>
              <a:rPr lang="en-US" sz="2200" b="1" i="0" dirty="0" err="1">
                <a:effectLst/>
                <a:latin typeface="Calibri"/>
              </a:rPr>
              <a:t>хеш-функції</a:t>
            </a:r>
            <a:endParaRPr lang="en-US" sz="2200" b="0" i="0" dirty="0">
              <a:effectLst/>
              <a:latin typeface="Calibri"/>
            </a:endParaRPr>
          </a:p>
          <a:p>
            <a:pPr algn="l">
              <a:lnSpc>
                <a:spcPct val="100000"/>
              </a:lnSpc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2200" b="0" i="0" dirty="0" err="1">
                <a:effectLst/>
                <a:latin typeface="Calibri"/>
              </a:rPr>
              <a:t>Призначена</a:t>
            </a:r>
            <a:r>
              <a:rPr lang="en-US" sz="2200" b="0" i="0" dirty="0">
                <a:effectLst/>
                <a:latin typeface="Calibri"/>
              </a:rPr>
              <a:t> </a:t>
            </a:r>
            <a:r>
              <a:rPr lang="en-US" sz="2200" b="0" i="0" dirty="0" err="1">
                <a:effectLst/>
                <a:latin typeface="Calibri"/>
              </a:rPr>
              <a:t>для</a:t>
            </a:r>
            <a:r>
              <a:rPr lang="en-US" sz="2200" b="0" i="0" dirty="0">
                <a:effectLst/>
                <a:latin typeface="Calibri"/>
              </a:rPr>
              <a:t> </a:t>
            </a:r>
            <a:r>
              <a:rPr lang="en-US" sz="2200" b="1" i="0" dirty="0" err="1">
                <a:effectLst/>
                <a:latin typeface="Calibri"/>
              </a:rPr>
              <a:t>одноразового</a:t>
            </a:r>
            <a:r>
              <a:rPr lang="en-US" sz="2200" b="1" i="0" dirty="0">
                <a:effectLst/>
                <a:latin typeface="Calibri"/>
              </a:rPr>
              <a:t> </a:t>
            </a:r>
            <a:r>
              <a:rPr lang="en-US" sz="2200" b="1" i="0" dirty="0" err="1">
                <a:effectLst/>
                <a:latin typeface="Calibri"/>
              </a:rPr>
              <a:t>використання</a:t>
            </a:r>
            <a:r>
              <a:rPr lang="en-US" sz="2200" b="1" i="0" dirty="0">
                <a:effectLst/>
                <a:latin typeface="Calibri"/>
              </a:rPr>
              <a:t> </a:t>
            </a:r>
            <a:r>
              <a:rPr lang="en-US" sz="2200" b="0" i="0" dirty="0">
                <a:effectLst/>
                <a:latin typeface="Calibri"/>
              </a:rPr>
              <a:t>(</a:t>
            </a:r>
            <a:r>
              <a:rPr lang="en-US" sz="2200" b="0" i="0" dirty="0" err="1">
                <a:effectLst/>
                <a:latin typeface="Calibri"/>
              </a:rPr>
              <a:t>кожна</a:t>
            </a:r>
            <a:r>
              <a:rPr lang="en-US" sz="2200" b="0" i="0" dirty="0">
                <a:effectLst/>
                <a:latin typeface="Calibri"/>
              </a:rPr>
              <a:t> </a:t>
            </a:r>
            <a:r>
              <a:rPr lang="en-US" sz="2200" b="0" i="0" dirty="0" err="1">
                <a:effectLst/>
                <a:latin typeface="Calibri"/>
              </a:rPr>
              <a:t>пара</a:t>
            </a:r>
            <a:r>
              <a:rPr lang="en-US" sz="2200" b="0" i="0" dirty="0">
                <a:effectLst/>
                <a:latin typeface="Calibri"/>
              </a:rPr>
              <a:t> </a:t>
            </a:r>
            <a:r>
              <a:rPr lang="en-US" sz="2200" b="0" i="0" dirty="0" err="1">
                <a:effectLst/>
                <a:latin typeface="Calibri"/>
              </a:rPr>
              <a:t>ключів</a:t>
            </a:r>
            <a:r>
              <a:rPr lang="en-US" sz="2200" b="0" i="0" dirty="0">
                <a:effectLst/>
                <a:latin typeface="Calibri"/>
              </a:rPr>
              <a:t> </a:t>
            </a:r>
            <a:r>
              <a:rPr lang="en-US" sz="2200" b="0" i="0" dirty="0" err="1">
                <a:effectLst/>
                <a:latin typeface="Calibri"/>
              </a:rPr>
              <a:t>підписує</a:t>
            </a:r>
            <a:r>
              <a:rPr lang="en-US" sz="2200" b="0" i="0" dirty="0">
                <a:effectLst/>
                <a:latin typeface="Calibri"/>
              </a:rPr>
              <a:t> </a:t>
            </a:r>
            <a:r>
              <a:rPr lang="en-US" sz="2200" b="0" i="0" dirty="0" err="1">
                <a:effectLst/>
                <a:latin typeface="Calibri"/>
              </a:rPr>
              <a:t>тільки</a:t>
            </a:r>
            <a:r>
              <a:rPr lang="en-US" sz="2200" b="0" i="0" dirty="0">
                <a:effectLst/>
                <a:latin typeface="Calibri"/>
              </a:rPr>
              <a:t> </a:t>
            </a:r>
            <a:r>
              <a:rPr lang="en-US" sz="2200" b="0" i="0" dirty="0" err="1">
                <a:effectLst/>
                <a:latin typeface="Calibri"/>
              </a:rPr>
              <a:t>одне</a:t>
            </a:r>
            <a:r>
              <a:rPr lang="en-US" sz="2200" b="0" i="0" dirty="0">
                <a:effectLst/>
                <a:latin typeface="Calibri"/>
              </a:rPr>
              <a:t> </a:t>
            </a:r>
            <a:r>
              <a:rPr lang="en-US" sz="2200" b="0" i="0" dirty="0" err="1">
                <a:effectLst/>
                <a:latin typeface="Calibri"/>
              </a:rPr>
              <a:t>повідомлення</a:t>
            </a:r>
            <a:r>
              <a:rPr lang="en-US" sz="2200" b="0" i="0" dirty="0">
                <a:effectLst/>
                <a:latin typeface="Calibri"/>
              </a:rPr>
              <a:t>)</a:t>
            </a:r>
          </a:p>
          <a:p>
            <a:pPr algn="l">
              <a:lnSpc>
                <a:spcPct val="100000"/>
              </a:lnSpc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2200" b="0" i="0" dirty="0" err="1">
                <a:effectLst/>
                <a:latin typeface="Calibri"/>
              </a:rPr>
              <a:t>Базується</a:t>
            </a:r>
            <a:r>
              <a:rPr lang="en-US" sz="2200" b="0" i="0" dirty="0">
                <a:effectLst/>
                <a:latin typeface="Calibri"/>
              </a:rPr>
              <a:t> на безпеці криптографічних хеш-функцій</a:t>
            </a:r>
          </a:p>
          <a:p>
            <a:pPr algn="l">
              <a:lnSpc>
                <a:spcPct val="100000"/>
              </a:lnSpc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US" sz="2200" b="1" i="0" dirty="0" err="1">
                <a:effectLst/>
                <a:latin typeface="Calibri"/>
              </a:rPr>
              <a:t>Постквантова</a:t>
            </a:r>
            <a:r>
              <a:rPr lang="en-US" sz="2200" b="1" i="0" dirty="0">
                <a:effectLst/>
                <a:latin typeface="Calibri"/>
              </a:rPr>
              <a:t> </a:t>
            </a:r>
            <a:r>
              <a:rPr lang="en-US" sz="2200" b="1" i="0" dirty="0" err="1">
                <a:effectLst/>
                <a:latin typeface="Calibri"/>
              </a:rPr>
              <a:t>безпека</a:t>
            </a:r>
            <a:r>
              <a:rPr lang="en-US" sz="2200" b="0" i="0" dirty="0">
                <a:effectLst/>
                <a:latin typeface="Calibri"/>
              </a:rPr>
              <a:t>:</a:t>
            </a:r>
          </a:p>
          <a:p>
            <a:pPr marL="457200" lvl="1" indent="0" algn="l">
              <a:lnSpc>
                <a:spcPct val="100000"/>
              </a:lnSpc>
              <a:spcBef>
                <a:spcPts val="300"/>
              </a:spcBef>
              <a:buNone/>
            </a:pPr>
            <a:r>
              <a:rPr lang="uk-UA" sz="2200" b="0" i="0" dirty="0">
                <a:effectLst/>
                <a:latin typeface="Calibri"/>
              </a:rPr>
              <a:t>- </a:t>
            </a:r>
            <a:r>
              <a:rPr lang="en-US" sz="2200" b="0" i="0" dirty="0" err="1">
                <a:effectLst/>
                <a:latin typeface="Calibri"/>
              </a:rPr>
              <a:t>Стійка</a:t>
            </a:r>
            <a:r>
              <a:rPr lang="en-US" sz="2200" b="0" i="0" dirty="0">
                <a:effectLst/>
                <a:latin typeface="Calibri"/>
              </a:rPr>
              <a:t> </a:t>
            </a:r>
            <a:r>
              <a:rPr lang="en-US" sz="2200" b="0" i="0" dirty="0" err="1">
                <a:effectLst/>
                <a:latin typeface="Calibri"/>
              </a:rPr>
              <a:t>до</a:t>
            </a:r>
            <a:r>
              <a:rPr lang="en-US" sz="2200" b="0" i="0" dirty="0">
                <a:effectLst/>
                <a:latin typeface="Calibri"/>
              </a:rPr>
              <a:t> </a:t>
            </a:r>
            <a:r>
              <a:rPr lang="en-US" sz="2200" b="0" i="0" dirty="0" err="1">
                <a:effectLst/>
                <a:latin typeface="Calibri"/>
              </a:rPr>
              <a:t>квантових</a:t>
            </a:r>
            <a:r>
              <a:rPr lang="en-US" sz="2200" b="0" i="0" dirty="0">
                <a:effectLst/>
                <a:latin typeface="Calibri"/>
              </a:rPr>
              <a:t> </a:t>
            </a:r>
            <a:r>
              <a:rPr lang="en-US" sz="2200" b="0" i="0" dirty="0" err="1">
                <a:effectLst/>
                <a:latin typeface="Calibri"/>
              </a:rPr>
              <a:t>атак</a:t>
            </a:r>
            <a:r>
              <a:rPr lang="en-US" sz="2200" b="0" i="0" dirty="0">
                <a:effectLst/>
                <a:latin typeface="Calibri"/>
              </a:rPr>
              <a:t> (</a:t>
            </a:r>
            <a:r>
              <a:rPr lang="en-US" sz="2200" b="0" i="0" dirty="0" err="1">
                <a:effectLst/>
                <a:latin typeface="Calibri"/>
              </a:rPr>
              <a:t>базується</a:t>
            </a:r>
            <a:r>
              <a:rPr lang="en-US" sz="2200" b="0" i="0" dirty="0">
                <a:effectLst/>
                <a:latin typeface="Calibri"/>
              </a:rPr>
              <a:t> </a:t>
            </a:r>
            <a:r>
              <a:rPr lang="en-US" sz="2200" b="0" i="0" dirty="0" err="1">
                <a:effectLst/>
                <a:latin typeface="Calibri"/>
              </a:rPr>
              <a:t>на</a:t>
            </a:r>
            <a:r>
              <a:rPr lang="en-US" sz="2200" b="0" i="0" dirty="0">
                <a:effectLst/>
                <a:latin typeface="Calibri"/>
              </a:rPr>
              <a:t> </a:t>
            </a:r>
            <a:r>
              <a:rPr lang="en-US" sz="2200" b="0" i="0" dirty="0" err="1">
                <a:effectLst/>
                <a:latin typeface="Calibri"/>
              </a:rPr>
              <a:t>хеш-функціях</a:t>
            </a:r>
            <a:r>
              <a:rPr lang="en-US" sz="2200" b="0" i="0" dirty="0">
                <a:effectLst/>
                <a:latin typeface="Calibri"/>
              </a:rPr>
              <a:t>, </a:t>
            </a:r>
            <a:r>
              <a:rPr lang="en-US" sz="2200" b="0" i="0" dirty="0" err="1">
                <a:effectLst/>
                <a:latin typeface="Calibri"/>
              </a:rPr>
              <a:t>не</a:t>
            </a:r>
            <a:r>
              <a:rPr lang="en-US" sz="2200" b="0" i="0" dirty="0">
                <a:effectLst/>
                <a:latin typeface="Calibri"/>
              </a:rPr>
              <a:t> </a:t>
            </a:r>
            <a:r>
              <a:rPr lang="en-US" sz="2200" b="0" i="0" dirty="0" err="1">
                <a:effectLst/>
                <a:latin typeface="Calibri"/>
              </a:rPr>
              <a:t>вразлива</a:t>
            </a:r>
            <a:r>
              <a:rPr lang="en-US" sz="2200" b="0" i="0" dirty="0">
                <a:effectLst/>
                <a:latin typeface="Calibri"/>
              </a:rPr>
              <a:t> </a:t>
            </a:r>
            <a:r>
              <a:rPr lang="en-US" sz="2200" b="0" i="0" dirty="0" err="1">
                <a:effectLst/>
                <a:latin typeface="Calibri"/>
              </a:rPr>
              <a:t>до</a:t>
            </a:r>
            <a:r>
              <a:rPr lang="en-US" sz="2200" b="0" i="0" dirty="0">
                <a:effectLst/>
                <a:latin typeface="Calibri"/>
              </a:rPr>
              <a:t> </a:t>
            </a:r>
            <a:r>
              <a:rPr lang="en-US" sz="2200" b="0" i="0" dirty="0" err="1">
                <a:effectLst/>
                <a:latin typeface="Calibri"/>
              </a:rPr>
              <a:t>алгоритму</a:t>
            </a:r>
            <a:r>
              <a:rPr lang="en-US" sz="2200" b="0" i="0" dirty="0">
                <a:effectLst/>
                <a:latin typeface="Calibri"/>
              </a:rPr>
              <a:t> </a:t>
            </a:r>
            <a:r>
              <a:rPr lang="en-US" sz="2200" b="0" i="0" dirty="0" err="1">
                <a:effectLst/>
                <a:latin typeface="Calibri"/>
              </a:rPr>
              <a:t>Шора</a:t>
            </a:r>
            <a:r>
              <a:rPr lang="en-US" sz="2200" b="0" i="0" dirty="0">
                <a:effectLst/>
                <a:latin typeface="Calibri"/>
              </a:rPr>
              <a:t>)</a:t>
            </a:r>
          </a:p>
          <a:p>
            <a:pPr algn="l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US" sz="2200" b="1" i="0" dirty="0" err="1">
                <a:effectLst/>
                <a:latin typeface="Calibri"/>
              </a:rPr>
              <a:t>Простота</a:t>
            </a:r>
            <a:r>
              <a:rPr lang="en-US" sz="2200" b="0" i="0" dirty="0">
                <a:effectLst/>
                <a:latin typeface="Calibri"/>
              </a:rPr>
              <a:t>:</a:t>
            </a:r>
          </a:p>
          <a:p>
            <a:pPr marL="457200" lvl="1" indent="0" algn="l">
              <a:lnSpc>
                <a:spcPct val="100000"/>
              </a:lnSpc>
              <a:spcBef>
                <a:spcPts val="300"/>
              </a:spcBef>
              <a:buNone/>
            </a:pPr>
            <a:r>
              <a:rPr lang="uk-UA" sz="2200" b="0" i="0" dirty="0">
                <a:effectLst/>
                <a:latin typeface="Calibri"/>
              </a:rPr>
              <a:t>- </a:t>
            </a:r>
            <a:r>
              <a:rPr lang="en-US" sz="2200" b="0" i="0" dirty="0" err="1">
                <a:effectLst/>
                <a:latin typeface="Calibri"/>
              </a:rPr>
              <a:t>Використовує</a:t>
            </a:r>
            <a:r>
              <a:rPr lang="en-US" sz="2200" b="0" i="0" dirty="0">
                <a:effectLst/>
                <a:latin typeface="Calibri"/>
              </a:rPr>
              <a:t> тільки хеш-функції, уникаючи складних математичних операцій, таких як модульне піднесення </a:t>
            </a:r>
            <a:r>
              <a:rPr lang="en-US" sz="2200" b="0" i="0" dirty="0" err="1">
                <a:effectLst/>
                <a:latin typeface="Calibri"/>
              </a:rPr>
              <a:t>до</a:t>
            </a:r>
            <a:r>
              <a:rPr lang="en-US" sz="2200" b="0" i="0" dirty="0">
                <a:effectLst/>
                <a:latin typeface="Calibri"/>
              </a:rPr>
              <a:t> </a:t>
            </a:r>
            <a:r>
              <a:rPr lang="en-US" sz="2200" b="0" i="0" dirty="0" err="1">
                <a:effectLst/>
                <a:latin typeface="Calibri"/>
              </a:rPr>
              <a:t>степеня</a:t>
            </a:r>
            <a:endParaRPr lang="en-US" sz="2200" b="0" i="0" dirty="0">
              <a:effectLst/>
              <a:latin typeface="Calibri"/>
            </a:endParaRPr>
          </a:p>
          <a:p>
            <a:pPr algn="l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US" sz="2200" b="1" i="0" dirty="0">
                <a:effectLst/>
                <a:latin typeface="Calibri"/>
              </a:rPr>
              <a:t>Одноразове використання</a:t>
            </a:r>
            <a:r>
              <a:rPr lang="en-US" sz="2200" b="0" i="0" dirty="0">
                <a:effectLst/>
                <a:latin typeface="Calibri"/>
              </a:rPr>
              <a:t>:</a:t>
            </a:r>
          </a:p>
          <a:p>
            <a:pPr marL="457200" lvl="1" indent="0" algn="l">
              <a:lnSpc>
                <a:spcPct val="100000"/>
              </a:lnSpc>
              <a:spcBef>
                <a:spcPts val="300"/>
              </a:spcBef>
              <a:buNone/>
            </a:pPr>
            <a:r>
              <a:rPr lang="uk-UA" sz="2200" b="0" i="0" dirty="0">
                <a:effectLst/>
                <a:latin typeface="Calibri"/>
              </a:rPr>
              <a:t>- </a:t>
            </a:r>
            <a:r>
              <a:rPr lang="en-US" sz="2200" b="0" i="0" dirty="0" err="1">
                <a:effectLst/>
                <a:latin typeface="Calibri"/>
              </a:rPr>
              <a:t>Забезпечує</a:t>
            </a:r>
            <a:r>
              <a:rPr lang="en-US" sz="2200" b="0" i="0" dirty="0">
                <a:effectLst/>
                <a:latin typeface="Calibri"/>
              </a:rPr>
              <a:t> безпеку для окремих транзакцій </a:t>
            </a:r>
            <a:r>
              <a:rPr lang="en-US" sz="2200" b="0" i="0" dirty="0" err="1">
                <a:effectLst/>
                <a:latin typeface="Calibri"/>
              </a:rPr>
              <a:t>або</a:t>
            </a:r>
            <a:r>
              <a:rPr lang="en-US" sz="2200" b="0" i="0" dirty="0">
                <a:effectLst/>
                <a:latin typeface="Calibri"/>
              </a:rPr>
              <a:t> </a:t>
            </a:r>
            <a:r>
              <a:rPr lang="en-US" sz="2200" b="0" i="0" dirty="0" err="1">
                <a:effectLst/>
                <a:latin typeface="Calibri"/>
              </a:rPr>
              <a:t>комунікацій</a:t>
            </a:r>
            <a:endParaRPr lang="en-US" sz="2200" b="0" i="0" dirty="0">
              <a:effectLst/>
              <a:latin typeface="Calibri"/>
            </a:endParaRPr>
          </a:p>
          <a:p>
            <a:pPr algn="l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US" sz="2200" b="1" i="0" dirty="0">
                <a:effectLst/>
                <a:latin typeface="Calibri"/>
              </a:rPr>
              <a:t>Компактні підписи</a:t>
            </a:r>
            <a:r>
              <a:rPr lang="en-US" sz="2200" b="0" i="0" dirty="0">
                <a:effectLst/>
                <a:latin typeface="Calibri"/>
              </a:rPr>
              <a:t>:</a:t>
            </a:r>
          </a:p>
          <a:p>
            <a:pPr marL="457200" lvl="1" indent="0" algn="just">
              <a:lnSpc>
                <a:spcPct val="100000"/>
              </a:lnSpc>
              <a:spcBef>
                <a:spcPts val="300"/>
              </a:spcBef>
              <a:buNone/>
            </a:pPr>
            <a:r>
              <a:rPr lang="uk-UA" sz="2200" b="0" i="0" dirty="0">
                <a:effectLst/>
                <a:latin typeface="Calibri"/>
              </a:rPr>
              <a:t>- </a:t>
            </a:r>
            <a:r>
              <a:rPr lang="en-US" sz="2200" b="0" i="0" dirty="0" err="1">
                <a:effectLst/>
                <a:latin typeface="Calibri"/>
              </a:rPr>
              <a:t>Менші</a:t>
            </a:r>
            <a:r>
              <a:rPr lang="en-US" sz="2200" b="0" i="0" dirty="0">
                <a:effectLst/>
                <a:latin typeface="Calibri"/>
              </a:rPr>
              <a:t> за інші схеми на основі хеш-функцій (наприклад, підписи </a:t>
            </a:r>
            <a:r>
              <a:rPr lang="en-US" sz="2200" b="0" i="0" dirty="0" err="1">
                <a:effectLst/>
                <a:latin typeface="Calibri"/>
              </a:rPr>
              <a:t>Меркла</a:t>
            </a:r>
            <a:r>
              <a:rPr lang="en-US" sz="2200" b="0" i="0" dirty="0">
                <a:effectLst/>
                <a:latin typeface="Calibri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62370946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B64E76-A341-7076-042B-43CE4D5A5D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74071" y="198437"/>
            <a:ext cx="5440680" cy="1325563"/>
          </a:xfrm>
        </p:spPr>
        <p:txBody>
          <a:bodyPr>
            <a:normAutofit/>
          </a:bodyPr>
          <a:lstStyle/>
          <a:p>
            <a:r>
              <a:rPr lang="en-US" b="1" dirty="0">
                <a:solidFill>
                  <a:srgbClr val="203864"/>
                </a:solidFill>
                <a:latin typeface="Calibri"/>
              </a:rPr>
              <a:t>Lamport: генерація ключів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376B782-75E1-8FB0-250E-633C1C28B00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141411" y="1524000"/>
                <a:ext cx="9905999" cy="4774531"/>
              </a:xfrm>
            </p:spPr>
            <p:txBody>
              <a:bodyPr>
                <a:noAutofit/>
              </a:bodyPr>
              <a:lstStyle/>
              <a:p>
                <a:pPr marL="342900" marR="0" lvl="0" indent="-342900">
                  <a:lnSpc>
                    <a:spcPct val="100000"/>
                  </a:lnSpc>
                  <a:spcBef>
                    <a:spcPts val="0"/>
                  </a:spcBef>
                  <a:spcAft>
                    <a:spcPts val="600"/>
                  </a:spcAft>
                  <a:buFont typeface="+mj-lt"/>
                  <a:buAutoNum type="arabicPeriod"/>
                  <a:tabLst>
                    <a:tab pos="685800" algn="l"/>
                  </a:tabLst>
                </a:pPr>
                <a:r>
                  <a:rPr lang="en-US" sz="2400" dirty="0">
                    <a:effectLst/>
                    <a:latin typeface="Calibri"/>
                    <a:ea typeface="Calibri"/>
                    <a:cs typeface="Calibri"/>
                  </a:rPr>
                  <a:t>Приватний ключ (</a:t>
                </a:r>
                <a14:m>
                  <m:oMath xmlns:m="http://schemas.openxmlformats.org/officeDocument/2006/math">
                    <m:r>
                      <a:rPr lang="en-US" sz="2400" i="1" smtClean="0">
                        <a:effectLst/>
                        <a:latin typeface="Cambria Math" panose="02040503050406030204" pitchFamily="18" charset="0"/>
                        <a:ea typeface="Calibri"/>
                        <a:cs typeface="Calibri"/>
                      </a:rPr>
                      <m:t>𝑥</m:t>
                    </m:r>
                  </m:oMath>
                </a14:m>
                <a:r>
                  <a:rPr lang="en-US" sz="2400" dirty="0">
                    <a:effectLst/>
                    <a:latin typeface="Calibri"/>
                    <a:ea typeface="Calibri"/>
                    <a:cs typeface="Calibri"/>
                  </a:rPr>
                  <a:t>):</a:t>
                </a:r>
              </a:p>
              <a:p>
                <a:pPr marL="342900" marR="0" lvl="0" indent="-342900">
                  <a:lnSpc>
                    <a:spcPct val="100000"/>
                  </a:lnSpc>
                  <a:spcBef>
                    <a:spcPts val="0"/>
                  </a:spcBef>
                  <a:spcAft>
                    <a:spcPts val="600"/>
                  </a:spcAft>
                  <a:buFont typeface="Symbol" panose="05050102010706020507" pitchFamily="18" charset="2"/>
                  <a:buChar char=""/>
                  <a:tabLst>
                    <a:tab pos="685800" algn="l"/>
                  </a:tabLst>
                </a:pPr>
                <a:r>
                  <a:rPr lang="en-US" sz="2400" dirty="0" err="1">
                    <a:effectLst/>
                    <a:latin typeface="Calibri"/>
                    <a:ea typeface="Calibri"/>
                    <a:cs typeface="Calibri"/>
                  </a:rPr>
                  <a:t>Згенеруйте</a:t>
                </a:r>
                <a:r>
                  <a:rPr lang="uk-UA" sz="2400" dirty="0">
                    <a:effectLst/>
                    <a:latin typeface="Calibri"/>
                    <a:ea typeface="Calibri"/>
                    <a:cs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sz="2400" smtClean="0">
                        <a:effectLst/>
                        <a:latin typeface="Cambria Math" panose="02040503050406030204" pitchFamily="18" charset="0"/>
                        <a:ea typeface="Calibri"/>
                        <a:cs typeface="Calibri"/>
                      </a:rPr>
                      <m:t>2</m:t>
                    </m:r>
                    <m:r>
                      <a:rPr lang="en-US" sz="2400" i="1" smtClean="0">
                        <a:effectLst/>
                        <a:latin typeface="Cambria Math" panose="02040503050406030204" pitchFamily="18" charset="0"/>
                        <a:ea typeface="Calibri"/>
                        <a:cs typeface="Calibri"/>
                      </a:rPr>
                      <m:t>𝑛</m:t>
                    </m:r>
                  </m:oMath>
                </a14:m>
                <a:r>
                  <a:rPr lang="en-US" sz="2400" dirty="0">
                    <a:effectLst/>
                    <a:latin typeface="Calibri"/>
                    <a:ea typeface="Calibri"/>
                    <a:cs typeface="Calibri"/>
                  </a:rPr>
                  <a:t> випадкові значення , </a:t>
                </a:r>
                <a:r>
                  <a:rPr lang="en-US" sz="2400" dirty="0" err="1">
                    <a:effectLst/>
                    <a:latin typeface="Calibri"/>
                    <a:ea typeface="Calibri"/>
                    <a:cs typeface="Calibri"/>
                  </a:rPr>
                  <a:t>де</a:t>
                </a:r>
                <a:r>
                  <a:rPr lang="uk-UA" sz="2400" dirty="0">
                    <a:effectLst/>
                    <a:latin typeface="Calibri"/>
                    <a:ea typeface="Calibri"/>
                    <a:cs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  <a:ea typeface="Calibri"/>
                        <a:cs typeface="Calibri"/>
                      </a:rPr>
                      <m:t>𝑛</m:t>
                    </m:r>
                  </m:oMath>
                </a14:m>
                <a:r>
                  <a:rPr lang="en-US" sz="2400" dirty="0">
                    <a:effectLst/>
                    <a:latin typeface="Calibri"/>
                    <a:ea typeface="Calibri"/>
                    <a:cs typeface="Calibri"/>
                  </a:rPr>
                  <a:t> - довжина хешу повідомлення.</a:t>
                </a:r>
              </a:p>
              <a:p>
                <a:pPr marL="342900" marR="0" lvl="0" indent="-342900">
                  <a:lnSpc>
                    <a:spcPct val="100000"/>
                  </a:lnSpc>
                  <a:spcBef>
                    <a:spcPts val="0"/>
                  </a:spcBef>
                  <a:spcAft>
                    <a:spcPts val="600"/>
                  </a:spcAft>
                  <a:buFont typeface="Symbol" panose="05050102010706020507" pitchFamily="18" charset="2"/>
                  <a:buChar char=""/>
                  <a:tabLst>
                    <a:tab pos="685800" algn="l"/>
                  </a:tabLst>
                </a:pPr>
                <a:r>
                  <a:rPr lang="en-US" sz="2400" dirty="0">
                    <a:effectLst/>
                    <a:latin typeface="Calibri"/>
                    <a:ea typeface="Calibri"/>
                    <a:cs typeface="Calibri"/>
                  </a:rPr>
                  <a:t>Розділити на дві частини:</a:t>
                </a:r>
              </a:p>
              <a:p>
                <a:pPr marL="0" marR="0" indent="0">
                  <a:lnSpc>
                    <a:spcPct val="100000"/>
                  </a:lnSpc>
                  <a:spcBef>
                    <a:spcPts val="0"/>
                  </a:spcBef>
                  <a:spcAft>
                    <a:spcPts val="11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>
                          <a:effectLst/>
                          <a:latin typeface="Cambria Math" panose="02040503050406030204" pitchFamily="18" charset="0"/>
                          <a:ea typeface="Calibri"/>
                          <a:cs typeface="Calibri"/>
                        </a:rPr>
                        <m:t>𝑥</m:t>
                      </m:r>
                      <m:r>
                        <a:rPr lang="en-US" sz="2400">
                          <a:effectLst/>
                          <a:latin typeface="Cambria Math" panose="02040503050406030204" pitchFamily="18" charset="0"/>
                          <a:ea typeface="Calibri"/>
                          <a:cs typeface="Calibri"/>
                        </a:rPr>
                        <m:t>=</m:t>
                      </m:r>
                      <m:d>
                        <m:dPr>
                          <m:ctrlPr>
                            <a:rPr lang="en-US" sz="2400" i="1">
                              <a:effectLst/>
                              <a:latin typeface="Cambria Math" panose="02040503050406030204" pitchFamily="18" charset="0"/>
                              <a:ea typeface="Calibri"/>
                              <a:cs typeface="Calibri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i="1">
                                  <a:effectLst/>
                                  <a:latin typeface="Cambria Math" panose="02040503050406030204" pitchFamily="18" charset="0"/>
                                  <a:ea typeface="Calibri"/>
                                  <a:cs typeface="Calibri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effectLst/>
                                  <a:latin typeface="Cambria Math" panose="02040503050406030204" pitchFamily="18" charset="0"/>
                                  <a:ea typeface="Calibri"/>
                                  <a:cs typeface="Calibri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2400">
                                  <a:effectLst/>
                                  <a:latin typeface="Cambria Math" panose="02040503050406030204" pitchFamily="18" charset="0"/>
                                  <a:ea typeface="Calibri"/>
                                  <a:cs typeface="Calibri"/>
                                </a:rPr>
                                <m:t>1,0</m:t>
                              </m:r>
                            </m:sub>
                          </m:sSub>
                          <m:r>
                            <a:rPr lang="en-US" sz="2400">
                              <a:effectLst/>
                              <a:latin typeface="Cambria Math" panose="02040503050406030204" pitchFamily="18" charset="0"/>
                              <a:ea typeface="Calibri"/>
                              <a:cs typeface="Calibri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2400" i="1">
                                  <a:effectLst/>
                                  <a:latin typeface="Cambria Math" panose="02040503050406030204" pitchFamily="18" charset="0"/>
                                  <a:ea typeface="Calibri"/>
                                  <a:cs typeface="Calibri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effectLst/>
                                  <a:latin typeface="Cambria Math" panose="02040503050406030204" pitchFamily="18" charset="0"/>
                                  <a:ea typeface="Calibri"/>
                                  <a:cs typeface="Calibri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2400">
                                  <a:effectLst/>
                                  <a:latin typeface="Cambria Math" panose="02040503050406030204" pitchFamily="18" charset="0"/>
                                  <a:ea typeface="Calibri"/>
                                  <a:cs typeface="Calibri"/>
                                </a:rPr>
                                <m:t>1,1</m:t>
                              </m:r>
                            </m:sub>
                          </m:sSub>
                          <m:r>
                            <a:rPr lang="en-US" sz="2400">
                              <a:effectLst/>
                              <a:latin typeface="Cambria Math" panose="02040503050406030204" pitchFamily="18" charset="0"/>
                              <a:ea typeface="Calibri"/>
                              <a:cs typeface="Calibri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2400" i="1">
                                  <a:effectLst/>
                                  <a:latin typeface="Cambria Math" panose="02040503050406030204" pitchFamily="18" charset="0"/>
                                  <a:ea typeface="Calibri"/>
                                  <a:cs typeface="Calibri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effectLst/>
                                  <a:latin typeface="Cambria Math" panose="02040503050406030204" pitchFamily="18" charset="0"/>
                                  <a:ea typeface="Calibri"/>
                                  <a:cs typeface="Calibri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2400">
                                  <a:effectLst/>
                                  <a:latin typeface="Cambria Math" panose="02040503050406030204" pitchFamily="18" charset="0"/>
                                  <a:ea typeface="Calibri"/>
                                  <a:cs typeface="Calibri"/>
                                </a:rPr>
                                <m:t>2,0</m:t>
                              </m:r>
                            </m:sub>
                          </m:sSub>
                          <m:r>
                            <a:rPr lang="en-US" sz="2400">
                              <a:effectLst/>
                              <a:latin typeface="Cambria Math" panose="02040503050406030204" pitchFamily="18" charset="0"/>
                              <a:ea typeface="Calibri"/>
                              <a:cs typeface="Calibri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2400" i="1">
                                  <a:effectLst/>
                                  <a:latin typeface="Cambria Math" panose="02040503050406030204" pitchFamily="18" charset="0"/>
                                  <a:ea typeface="Calibri"/>
                                  <a:cs typeface="Calibri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effectLst/>
                                  <a:latin typeface="Cambria Math" panose="02040503050406030204" pitchFamily="18" charset="0"/>
                                  <a:ea typeface="Calibri"/>
                                  <a:cs typeface="Calibri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2400">
                                  <a:effectLst/>
                                  <a:latin typeface="Cambria Math" panose="02040503050406030204" pitchFamily="18" charset="0"/>
                                  <a:ea typeface="Calibri"/>
                                  <a:cs typeface="Calibri"/>
                                </a:rPr>
                                <m:t>2,1</m:t>
                              </m:r>
                            </m:sub>
                          </m:sSub>
                          <m:r>
                            <a:rPr lang="en-US" sz="2400">
                              <a:effectLst/>
                              <a:latin typeface="Cambria Math" panose="02040503050406030204" pitchFamily="18" charset="0"/>
                              <a:ea typeface="Calibri"/>
                              <a:cs typeface="Calibri"/>
                            </a:rPr>
                            <m:t>,…,</m:t>
                          </m:r>
                          <m:sSub>
                            <m:sSubPr>
                              <m:ctrlPr>
                                <a:rPr lang="en-US" sz="2400" i="1">
                                  <a:effectLst/>
                                  <a:latin typeface="Cambria Math" panose="02040503050406030204" pitchFamily="18" charset="0"/>
                                  <a:ea typeface="Calibri"/>
                                  <a:cs typeface="Calibri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effectLst/>
                                  <a:latin typeface="Cambria Math" panose="02040503050406030204" pitchFamily="18" charset="0"/>
                                  <a:ea typeface="Calibri"/>
                                  <a:cs typeface="Calibri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2400" i="1">
                                  <a:effectLst/>
                                  <a:latin typeface="Cambria Math" panose="02040503050406030204" pitchFamily="18" charset="0"/>
                                  <a:ea typeface="Calibri"/>
                                  <a:cs typeface="Calibri"/>
                                </a:rPr>
                                <m:t>𝑛</m:t>
                              </m:r>
                              <m:r>
                                <a:rPr lang="en-US" sz="2400">
                                  <a:effectLst/>
                                  <a:latin typeface="Cambria Math" panose="02040503050406030204" pitchFamily="18" charset="0"/>
                                  <a:ea typeface="Calibri"/>
                                  <a:cs typeface="Calibri"/>
                                </a:rPr>
                                <m:t>,0</m:t>
                              </m:r>
                            </m:sub>
                          </m:sSub>
                          <m:r>
                            <a:rPr lang="en-US" sz="2400">
                              <a:effectLst/>
                              <a:latin typeface="Cambria Math" panose="02040503050406030204" pitchFamily="18" charset="0"/>
                              <a:ea typeface="Calibri"/>
                              <a:cs typeface="Calibri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2400" i="1">
                                  <a:effectLst/>
                                  <a:latin typeface="Cambria Math" panose="02040503050406030204" pitchFamily="18" charset="0"/>
                                  <a:ea typeface="Calibri"/>
                                  <a:cs typeface="Calibri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effectLst/>
                                  <a:latin typeface="Cambria Math" panose="02040503050406030204" pitchFamily="18" charset="0"/>
                                  <a:ea typeface="Calibri"/>
                                  <a:cs typeface="Calibri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2400" i="1">
                                  <a:effectLst/>
                                  <a:latin typeface="Cambria Math" panose="02040503050406030204" pitchFamily="18" charset="0"/>
                                  <a:ea typeface="Calibri"/>
                                  <a:cs typeface="Calibri"/>
                                </a:rPr>
                                <m:t>𝑛</m:t>
                              </m:r>
                              <m:r>
                                <a:rPr lang="en-US" sz="2400">
                                  <a:effectLst/>
                                  <a:latin typeface="Cambria Math" panose="02040503050406030204" pitchFamily="18" charset="0"/>
                                  <a:ea typeface="Calibri"/>
                                  <a:cs typeface="Calibri"/>
                                </a:rPr>
                                <m:t>,1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2400" dirty="0">
                  <a:effectLst/>
                  <a:latin typeface="Calibri"/>
                  <a:ea typeface="Calibri"/>
                  <a:cs typeface="Calibri"/>
                </a:endParaRPr>
              </a:p>
              <a:p>
                <a:pPr marL="0" marR="0">
                  <a:lnSpc>
                    <a:spcPct val="100000"/>
                  </a:lnSpc>
                  <a:spcBef>
                    <a:spcPts val="0"/>
                  </a:spcBef>
                  <a:spcAft>
                    <a:spcPts val="1100"/>
                  </a:spcAft>
                </a:pPr>
                <a:r>
                  <a:rPr lang="en-US" sz="2400" dirty="0" err="1">
                    <a:effectLst/>
                    <a:latin typeface="Calibri"/>
                    <a:ea typeface="Calibri"/>
                    <a:cs typeface="Calibri"/>
                  </a:rPr>
                  <a:t>Кожен</a:t>
                </a:r>
                <a:r>
                  <a:rPr lang="uk-UA" sz="2400" dirty="0">
                    <a:effectLst/>
                    <a:latin typeface="Calibri"/>
                    <a:ea typeface="Calibri"/>
                    <a:cs typeface="Calibri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smtClean="0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</m:ctrlPr>
                      </m:sSubPr>
                      <m:e>
                        <m:r>
                          <a:rPr lang="en-US" sz="2400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𝑥</m:t>
                        </m:r>
                      </m:e>
                      <m:sub>
                        <m:r>
                          <a:rPr lang="en-US" sz="2400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𝑖</m:t>
                        </m:r>
                        <m:r>
                          <a:rPr lang="en-US" sz="2400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,</m:t>
                        </m:r>
                        <m:r>
                          <a:rPr lang="en-US" sz="2400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𝑏</m:t>
                        </m:r>
                      </m:sub>
                    </m:sSub>
                  </m:oMath>
                </a14:m>
                <a:r>
                  <a:rPr lang="en-US" sz="2400" dirty="0">
                    <a:effectLst/>
                    <a:latin typeface="Calibri"/>
                    <a:ea typeface="Calibri"/>
                    <a:cs typeface="Calibri"/>
                  </a:rPr>
                  <a:t> є випадковим значенням (наприклад, 256 </a:t>
                </a:r>
                <a:r>
                  <a:rPr lang="en-US" sz="2400" dirty="0" err="1">
                    <a:effectLst/>
                    <a:latin typeface="Calibri"/>
                    <a:ea typeface="Calibri"/>
                    <a:cs typeface="Calibri"/>
                  </a:rPr>
                  <a:t>бітів</a:t>
                </a:r>
                <a:r>
                  <a:rPr lang="en-US" sz="2400" dirty="0">
                    <a:effectLst/>
                    <a:latin typeface="Calibri"/>
                    <a:ea typeface="Calibri"/>
                    <a:cs typeface="Calibri"/>
                  </a:rPr>
                  <a:t>).</a:t>
                </a:r>
                <a:endParaRPr lang="uk-UA" sz="2400" dirty="0">
                  <a:effectLst/>
                  <a:latin typeface="Calibri"/>
                  <a:ea typeface="Calibri"/>
                  <a:cs typeface="Calibri"/>
                </a:endParaRPr>
              </a:p>
              <a:p>
                <a:pPr marL="0" marR="0" indent="0">
                  <a:lnSpc>
                    <a:spcPct val="100000"/>
                  </a:lnSpc>
                  <a:spcBef>
                    <a:spcPts val="0"/>
                  </a:spcBef>
                  <a:spcAft>
                    <a:spcPts val="1100"/>
                  </a:spcAft>
                  <a:buNone/>
                </a:pPr>
                <a:br>
                  <a:rPr lang="en-US" sz="2400" dirty="0">
                    <a:effectLst/>
                    <a:latin typeface="Calibri"/>
                    <a:ea typeface="Calibri"/>
                    <a:cs typeface="Calibri"/>
                  </a:rPr>
                </a:br>
                <a:r>
                  <a:rPr lang="en-US" sz="2400" dirty="0">
                    <a:effectLst/>
                    <a:latin typeface="Calibri"/>
                    <a:ea typeface="Calibri"/>
                    <a:cs typeface="Calibri"/>
                  </a:rPr>
                  <a:t>2. Відкритий ключ (</a:t>
                </a:r>
                <a14:m>
                  <m:oMath xmlns:m="http://schemas.openxmlformats.org/officeDocument/2006/math">
                    <m:r>
                      <a:rPr lang="en-US" sz="2400" i="1" smtClean="0">
                        <a:effectLst/>
                        <a:latin typeface="Cambria Math" panose="02040503050406030204" pitchFamily="18" charset="0"/>
                        <a:ea typeface="Calibri"/>
                        <a:cs typeface="Calibri"/>
                      </a:rPr>
                      <m:t>𝑦</m:t>
                    </m:r>
                  </m:oMath>
                </a14:m>
                <a:r>
                  <a:rPr lang="en-US" sz="2400" dirty="0">
                    <a:effectLst/>
                    <a:latin typeface="Calibri"/>
                    <a:ea typeface="Calibri"/>
                    <a:cs typeface="Calibri"/>
                  </a:rPr>
                  <a:t>):</a:t>
                </a:r>
              </a:p>
              <a:p>
                <a:pPr marL="342900" marR="0" lvl="0" indent="-342900">
                  <a:lnSpc>
                    <a:spcPct val="100000"/>
                  </a:lnSpc>
                  <a:spcBef>
                    <a:spcPts val="0"/>
                  </a:spcBef>
                  <a:spcAft>
                    <a:spcPts val="600"/>
                  </a:spcAft>
                  <a:buFont typeface="Symbol" panose="05050102010706020507" pitchFamily="18" charset="2"/>
                  <a:buChar char=""/>
                  <a:tabLst>
                    <a:tab pos="685800" algn="l"/>
                  </a:tabLst>
                </a:pPr>
                <a:r>
                  <a:rPr lang="en-US" sz="2400" dirty="0">
                    <a:effectLst/>
                    <a:latin typeface="Calibri"/>
                    <a:ea typeface="Calibri"/>
                    <a:cs typeface="Calibri"/>
                  </a:rPr>
                  <a:t>Хешуйте кожен елемент приватного ключа:</a:t>
                </a:r>
              </a:p>
              <a:p>
                <a:pPr marL="0" marR="0" indent="0">
                  <a:lnSpc>
                    <a:spcPct val="100000"/>
                  </a:lnSpc>
                  <a:spcBef>
                    <a:spcPts val="0"/>
                  </a:spcBef>
                  <a:spcAft>
                    <a:spcPts val="11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>
                          <a:effectLst/>
                          <a:latin typeface="Cambria Math" panose="02040503050406030204" pitchFamily="18" charset="0"/>
                          <a:ea typeface="Calibri"/>
                          <a:cs typeface="Calibri"/>
                        </a:rPr>
                        <m:t>𝑦</m:t>
                      </m:r>
                      <m:r>
                        <a:rPr lang="en-US" sz="2400">
                          <a:effectLst/>
                          <a:latin typeface="Cambria Math" panose="02040503050406030204" pitchFamily="18" charset="0"/>
                          <a:ea typeface="Calibri"/>
                          <a:cs typeface="Calibri"/>
                        </a:rPr>
                        <m:t>=</m:t>
                      </m:r>
                      <m:d>
                        <m:dPr>
                          <m:ctrlPr>
                            <a:rPr lang="en-US" sz="2400" i="1">
                              <a:effectLst/>
                              <a:latin typeface="Cambria Math" panose="02040503050406030204" pitchFamily="18" charset="0"/>
                              <a:ea typeface="Calibri"/>
                              <a:cs typeface="Calibri"/>
                            </a:rPr>
                          </m:ctrlPr>
                        </m:dPr>
                        <m:e>
                          <m:r>
                            <a:rPr lang="en-US" sz="2400" i="1">
                              <a:effectLst/>
                              <a:latin typeface="Cambria Math" panose="02040503050406030204" pitchFamily="18" charset="0"/>
                              <a:ea typeface="Calibri"/>
                              <a:cs typeface="Calibri"/>
                            </a:rPr>
                            <m:t>𝐻</m:t>
                          </m:r>
                          <m:d>
                            <m:dPr>
                              <m:ctrlPr>
                                <a:rPr lang="en-US" sz="2400" i="1">
                                  <a:effectLst/>
                                  <a:latin typeface="Cambria Math" panose="02040503050406030204" pitchFamily="18" charset="0"/>
                                  <a:ea typeface="Calibri"/>
                                  <a:cs typeface="Calibri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400" i="1">
                                      <a:effectLst/>
                                      <a:latin typeface="Cambria Math" panose="02040503050406030204" pitchFamily="18" charset="0"/>
                                      <a:ea typeface="Calibri"/>
                                      <a:cs typeface="Calibri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>
                                      <a:effectLst/>
                                      <a:latin typeface="Cambria Math" panose="02040503050406030204" pitchFamily="18" charset="0"/>
                                      <a:ea typeface="Calibri"/>
                                      <a:cs typeface="Calibri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2400">
                                      <a:effectLst/>
                                      <a:latin typeface="Cambria Math" panose="02040503050406030204" pitchFamily="18" charset="0"/>
                                      <a:ea typeface="Calibri"/>
                                      <a:cs typeface="Calibri"/>
                                    </a:rPr>
                                    <m:t>1,0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2400">
                              <a:effectLst/>
                              <a:latin typeface="Cambria Math" panose="02040503050406030204" pitchFamily="18" charset="0"/>
                              <a:ea typeface="Calibri"/>
                              <a:cs typeface="Calibri"/>
                            </a:rPr>
                            <m:t>,</m:t>
                          </m:r>
                          <m:r>
                            <a:rPr lang="en-US" sz="2400" i="1">
                              <a:effectLst/>
                              <a:latin typeface="Cambria Math" panose="02040503050406030204" pitchFamily="18" charset="0"/>
                              <a:ea typeface="Calibri"/>
                              <a:cs typeface="Calibri"/>
                            </a:rPr>
                            <m:t>𝐻</m:t>
                          </m:r>
                          <m:d>
                            <m:dPr>
                              <m:ctrlPr>
                                <a:rPr lang="en-US" sz="2400" i="1">
                                  <a:effectLst/>
                                  <a:latin typeface="Cambria Math" panose="02040503050406030204" pitchFamily="18" charset="0"/>
                                  <a:ea typeface="Calibri"/>
                                  <a:cs typeface="Calibri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400" i="1">
                                      <a:effectLst/>
                                      <a:latin typeface="Cambria Math" panose="02040503050406030204" pitchFamily="18" charset="0"/>
                                      <a:ea typeface="Calibri"/>
                                      <a:cs typeface="Calibri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>
                                      <a:effectLst/>
                                      <a:latin typeface="Cambria Math" panose="02040503050406030204" pitchFamily="18" charset="0"/>
                                      <a:ea typeface="Calibri"/>
                                      <a:cs typeface="Calibri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2400">
                                      <a:effectLst/>
                                      <a:latin typeface="Cambria Math" panose="02040503050406030204" pitchFamily="18" charset="0"/>
                                      <a:ea typeface="Calibri"/>
                                      <a:cs typeface="Calibri"/>
                                    </a:rPr>
                                    <m:t>1,1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2400">
                              <a:effectLst/>
                              <a:latin typeface="Cambria Math" panose="02040503050406030204" pitchFamily="18" charset="0"/>
                              <a:ea typeface="Calibri"/>
                              <a:cs typeface="Calibri"/>
                            </a:rPr>
                            <m:t>,</m:t>
                          </m:r>
                          <m:r>
                            <a:rPr lang="en-US" sz="2400" i="1">
                              <a:effectLst/>
                              <a:latin typeface="Cambria Math" panose="02040503050406030204" pitchFamily="18" charset="0"/>
                              <a:ea typeface="Calibri"/>
                              <a:cs typeface="Calibri"/>
                            </a:rPr>
                            <m:t>𝐻</m:t>
                          </m:r>
                          <m:d>
                            <m:dPr>
                              <m:ctrlPr>
                                <a:rPr lang="en-US" sz="2400" i="1">
                                  <a:effectLst/>
                                  <a:latin typeface="Cambria Math" panose="02040503050406030204" pitchFamily="18" charset="0"/>
                                  <a:ea typeface="Calibri"/>
                                  <a:cs typeface="Calibri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400" i="1">
                                      <a:effectLst/>
                                      <a:latin typeface="Cambria Math" panose="02040503050406030204" pitchFamily="18" charset="0"/>
                                      <a:ea typeface="Calibri"/>
                                      <a:cs typeface="Calibri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>
                                      <a:effectLst/>
                                      <a:latin typeface="Cambria Math" panose="02040503050406030204" pitchFamily="18" charset="0"/>
                                      <a:ea typeface="Calibri"/>
                                      <a:cs typeface="Calibri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2400">
                                      <a:effectLst/>
                                      <a:latin typeface="Cambria Math" panose="02040503050406030204" pitchFamily="18" charset="0"/>
                                      <a:ea typeface="Calibri"/>
                                      <a:cs typeface="Calibri"/>
                                    </a:rPr>
                                    <m:t>2,0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2400">
                              <a:effectLst/>
                              <a:latin typeface="Cambria Math" panose="02040503050406030204" pitchFamily="18" charset="0"/>
                              <a:ea typeface="Calibri"/>
                              <a:cs typeface="Calibri"/>
                            </a:rPr>
                            <m:t>,</m:t>
                          </m:r>
                          <m:r>
                            <a:rPr lang="en-US" sz="2400" i="1">
                              <a:effectLst/>
                              <a:latin typeface="Cambria Math" panose="02040503050406030204" pitchFamily="18" charset="0"/>
                              <a:ea typeface="Calibri"/>
                              <a:cs typeface="Calibri"/>
                            </a:rPr>
                            <m:t>𝐻</m:t>
                          </m:r>
                          <m:d>
                            <m:dPr>
                              <m:ctrlPr>
                                <a:rPr lang="en-US" sz="2400" i="1">
                                  <a:effectLst/>
                                  <a:latin typeface="Cambria Math" panose="02040503050406030204" pitchFamily="18" charset="0"/>
                                  <a:ea typeface="Calibri"/>
                                  <a:cs typeface="Calibri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400" i="1">
                                      <a:effectLst/>
                                      <a:latin typeface="Cambria Math" panose="02040503050406030204" pitchFamily="18" charset="0"/>
                                      <a:ea typeface="Calibri"/>
                                      <a:cs typeface="Calibri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>
                                      <a:effectLst/>
                                      <a:latin typeface="Cambria Math" panose="02040503050406030204" pitchFamily="18" charset="0"/>
                                      <a:ea typeface="Calibri"/>
                                      <a:cs typeface="Calibri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2400">
                                      <a:effectLst/>
                                      <a:latin typeface="Cambria Math" panose="02040503050406030204" pitchFamily="18" charset="0"/>
                                      <a:ea typeface="Calibri"/>
                                      <a:cs typeface="Calibri"/>
                                    </a:rPr>
                                    <m:t>2,1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2400">
                              <a:effectLst/>
                              <a:latin typeface="Cambria Math" panose="02040503050406030204" pitchFamily="18" charset="0"/>
                              <a:ea typeface="Calibri"/>
                              <a:cs typeface="Calibri"/>
                            </a:rPr>
                            <m:t>,…,</m:t>
                          </m:r>
                          <m:r>
                            <a:rPr lang="en-US" sz="2400" i="1">
                              <a:effectLst/>
                              <a:latin typeface="Cambria Math" panose="02040503050406030204" pitchFamily="18" charset="0"/>
                              <a:ea typeface="Calibri"/>
                              <a:cs typeface="Calibri"/>
                            </a:rPr>
                            <m:t>𝐻</m:t>
                          </m:r>
                          <m:d>
                            <m:dPr>
                              <m:ctrlPr>
                                <a:rPr lang="en-US" sz="2400" i="1">
                                  <a:effectLst/>
                                  <a:latin typeface="Cambria Math" panose="02040503050406030204" pitchFamily="18" charset="0"/>
                                  <a:ea typeface="Calibri"/>
                                  <a:cs typeface="Calibri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400" i="1">
                                      <a:effectLst/>
                                      <a:latin typeface="Cambria Math" panose="02040503050406030204" pitchFamily="18" charset="0"/>
                                      <a:ea typeface="Calibri"/>
                                      <a:cs typeface="Calibri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>
                                      <a:effectLst/>
                                      <a:latin typeface="Cambria Math" panose="02040503050406030204" pitchFamily="18" charset="0"/>
                                      <a:ea typeface="Calibri"/>
                                      <a:cs typeface="Calibri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2400" i="1">
                                      <a:effectLst/>
                                      <a:latin typeface="Cambria Math" panose="02040503050406030204" pitchFamily="18" charset="0"/>
                                      <a:ea typeface="Calibri"/>
                                      <a:cs typeface="Calibri"/>
                                    </a:rPr>
                                    <m:t>𝑛</m:t>
                                  </m:r>
                                  <m:r>
                                    <a:rPr lang="en-US" sz="2400">
                                      <a:effectLst/>
                                      <a:latin typeface="Cambria Math" panose="02040503050406030204" pitchFamily="18" charset="0"/>
                                      <a:ea typeface="Calibri"/>
                                      <a:cs typeface="Calibri"/>
                                    </a:rPr>
                                    <m:t>,0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2400">
                              <a:effectLst/>
                              <a:latin typeface="Cambria Math" panose="02040503050406030204" pitchFamily="18" charset="0"/>
                              <a:ea typeface="Calibri"/>
                              <a:cs typeface="Calibri"/>
                            </a:rPr>
                            <m:t>,</m:t>
                          </m:r>
                          <m:r>
                            <a:rPr lang="en-US" sz="2400" i="1">
                              <a:effectLst/>
                              <a:latin typeface="Cambria Math" panose="02040503050406030204" pitchFamily="18" charset="0"/>
                              <a:ea typeface="Calibri"/>
                              <a:cs typeface="Calibri"/>
                            </a:rPr>
                            <m:t>𝐻</m:t>
                          </m:r>
                          <m:d>
                            <m:dPr>
                              <m:ctrlPr>
                                <a:rPr lang="en-US" sz="2400" i="1">
                                  <a:effectLst/>
                                  <a:latin typeface="Cambria Math" panose="02040503050406030204" pitchFamily="18" charset="0"/>
                                  <a:ea typeface="Calibri"/>
                                  <a:cs typeface="Calibri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400" i="1">
                                      <a:effectLst/>
                                      <a:latin typeface="Cambria Math" panose="02040503050406030204" pitchFamily="18" charset="0"/>
                                      <a:ea typeface="Calibri"/>
                                      <a:cs typeface="Calibri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>
                                      <a:effectLst/>
                                      <a:latin typeface="Cambria Math" panose="02040503050406030204" pitchFamily="18" charset="0"/>
                                      <a:ea typeface="Calibri"/>
                                      <a:cs typeface="Calibri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2400" i="1">
                                      <a:effectLst/>
                                      <a:latin typeface="Cambria Math" panose="02040503050406030204" pitchFamily="18" charset="0"/>
                                      <a:ea typeface="Calibri"/>
                                      <a:cs typeface="Calibri"/>
                                    </a:rPr>
                                    <m:t>𝑛</m:t>
                                  </m:r>
                                  <m:r>
                                    <a:rPr lang="en-US" sz="2400">
                                      <a:effectLst/>
                                      <a:latin typeface="Cambria Math" panose="02040503050406030204" pitchFamily="18" charset="0"/>
                                      <a:ea typeface="Calibri"/>
                                      <a:cs typeface="Calibri"/>
                                    </a:rPr>
                                    <m:t>,1</m:t>
                                  </m:r>
                                </m:sub>
                              </m:sSub>
                            </m:e>
                          </m:d>
                        </m:e>
                      </m:d>
                    </m:oMath>
                  </m:oMathPara>
                </a14:m>
                <a:endParaRPr lang="en-US" sz="2400" dirty="0">
                  <a:effectLst/>
                  <a:latin typeface="Calibri"/>
                  <a:ea typeface="Calibri"/>
                  <a:cs typeface="Calibri"/>
                </a:endParaRPr>
              </a:p>
              <a:p>
                <a:pPr marL="0" marR="0">
                  <a:lnSpc>
                    <a:spcPct val="100000"/>
                  </a:lnSpc>
                  <a:spcBef>
                    <a:spcPts val="0"/>
                  </a:spcBef>
                  <a:spcAft>
                    <a:spcPts val="1100"/>
                  </a:spcAft>
                </a:pPr>
                <a:r>
                  <a:rPr lang="en-US" sz="2400" dirty="0">
                    <a:effectLst/>
                    <a:latin typeface="Calibri"/>
                    <a:ea typeface="Calibri"/>
                    <a:cs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sz="2400" i="1" smtClean="0">
                        <a:effectLst/>
                        <a:latin typeface="Cambria Math" panose="02040503050406030204" pitchFamily="18" charset="0"/>
                        <a:ea typeface="Calibri"/>
                        <a:cs typeface="Calibri"/>
                      </a:rPr>
                      <m:t>𝐻</m:t>
                    </m:r>
                    <m:r>
                      <a:rPr lang="en-US" sz="2400" i="1" smtClean="0">
                        <a:effectLst/>
                        <a:latin typeface="Cambria Math" panose="02040503050406030204" pitchFamily="18" charset="0"/>
                        <a:ea typeface="Calibri"/>
                        <a:cs typeface="Calibri"/>
                      </a:rPr>
                      <m:t> </m:t>
                    </m:r>
                  </m:oMath>
                </a14:m>
                <a:r>
                  <a:rPr lang="en-US" sz="2400" dirty="0">
                    <a:effectLst/>
                    <a:latin typeface="Calibri"/>
                    <a:ea typeface="Calibri"/>
                    <a:cs typeface="Calibri"/>
                  </a:rPr>
                  <a:t>є криптографічною хеш-функцією (наприклад, SHA-256).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376B782-75E1-8FB0-250E-633C1C28B00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141411" y="1524000"/>
                <a:ext cx="9905999" cy="4774531"/>
              </a:xfrm>
              <a:blipFill>
                <a:blip r:embed="rId2"/>
                <a:stretch>
                  <a:fillRect l="-896" t="-1064" r="-896" b="-4787"/>
                </a:stretch>
              </a:blipFill>
            </p:spPr>
            <p:txBody>
              <a:bodyPr/>
              <a:lstStyle/>
              <a:p>
                <a:r>
                  <a:rPr lang="en-UA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1653825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D08EF1-A4C1-56E0-D78B-0326792F07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92281" y="97229"/>
            <a:ext cx="7607435" cy="767745"/>
          </a:xfrm>
        </p:spPr>
        <p:txBody>
          <a:bodyPr>
            <a:normAutofit/>
          </a:bodyPr>
          <a:lstStyle/>
          <a:p>
            <a:r>
              <a:rPr lang="uk-UA" b="1" dirty="0">
                <a:solidFill>
                  <a:schemeClr val="accent1">
                    <a:lumMod val="50000"/>
                  </a:schemeClr>
                </a:solidFill>
                <a:latin typeface="Calibri"/>
              </a:rPr>
              <a:t>Lamport: формування підпису</a:t>
            </a:r>
            <a:endParaRPr lang="en-US" b="1" dirty="0">
              <a:solidFill>
                <a:schemeClr val="accent1">
                  <a:lumMod val="50000"/>
                </a:schemeClr>
              </a:solidFill>
              <a:latin typeface="Calibri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707A7F3-182C-4E96-A112-3911D09514F4}"/>
                  </a:ext>
                </a:extLst>
              </p:cNvPr>
              <p:cNvSpPr txBox="1"/>
              <p:nvPr/>
            </p:nvSpPr>
            <p:spPr>
              <a:xfrm>
                <a:off x="902368" y="889688"/>
                <a:ext cx="10387263" cy="5620385"/>
              </a:xfrm>
              <a:prstGeom prst="rect">
                <a:avLst/>
              </a:prstGeom>
              <a:noFill/>
            </p:spPr>
            <p:txBody>
              <a:bodyPr wrap="square"/>
              <a:lstStyle/>
              <a:p>
                <a:pPr marL="342900" marR="0" lvl="0" indent="-342900">
                  <a:spcAft>
                    <a:spcPts val="600"/>
                  </a:spcAft>
                  <a:buFont typeface="+mj-lt"/>
                  <a:buAutoNum type="arabicPeriod"/>
                  <a:tabLst>
                    <a:tab pos="685800" algn="l"/>
                  </a:tabLst>
                </a:pPr>
                <a:r>
                  <a:rPr lang="en-US" sz="2400" dirty="0">
                    <a:effectLst/>
                    <a:latin typeface="Calibri"/>
                    <a:ea typeface="Calibri"/>
                    <a:cs typeface="Calibri"/>
                  </a:rPr>
                  <a:t>Хешування повідомлення:</a:t>
                </a:r>
              </a:p>
              <a:p>
                <a:pPr marL="342900" marR="0" lvl="0" indent="-342900">
                  <a:spcAft>
                    <a:spcPts val="600"/>
                  </a:spcAft>
                  <a:buFont typeface="Symbol" panose="05050102010706020507" pitchFamily="18" charset="2"/>
                  <a:buChar char=""/>
                  <a:tabLst>
                    <a:tab pos="685800" algn="l"/>
                  </a:tabLst>
                </a:pPr>
                <a:r>
                  <a:rPr lang="en-US" sz="2400" dirty="0">
                    <a:effectLst/>
                    <a:latin typeface="Calibri"/>
                    <a:ea typeface="Calibri"/>
                    <a:cs typeface="Calibri"/>
                  </a:rPr>
                  <a:t>Хешуйте повідомлення </a:t>
                </a:r>
                <a14:m>
                  <m:oMath xmlns:m="http://schemas.openxmlformats.org/officeDocument/2006/math">
                    <m:r>
                      <a:rPr lang="en-US" sz="2400" i="1" smtClean="0">
                        <a:effectLst/>
                        <a:latin typeface="Cambria Math" panose="02040503050406030204" pitchFamily="18" charset="0"/>
                        <a:ea typeface="Calibri"/>
                        <a:cs typeface="Calibri"/>
                      </a:rPr>
                      <m:t>𝑚</m:t>
                    </m:r>
                  </m:oMath>
                </a14:m>
                <a:r>
                  <a:rPr lang="en-US" sz="2400" dirty="0">
                    <a:effectLst/>
                    <a:latin typeface="Calibri"/>
                    <a:ea typeface="Calibri"/>
                    <a:cs typeface="Calibri"/>
                  </a:rPr>
                  <a:t>, щоб отримати дайджест фіксованої довжини: </a:t>
                </a:r>
                <a14:m>
                  <m:oMath xmlns:m="http://schemas.openxmlformats.org/officeDocument/2006/math">
                    <m:r>
                      <a:rPr lang="en-US" sz="2400" i="1">
                        <a:effectLst/>
                        <a:latin typeface="Cambria Math" panose="02040503050406030204" pitchFamily="18" charset="0"/>
                        <a:ea typeface="Calibri"/>
                        <a:cs typeface="Calibri"/>
                      </a:rPr>
                      <m:t>h</m:t>
                    </m:r>
                    <m:r>
                      <a:rPr lang="en-US" sz="2400">
                        <a:effectLst/>
                        <a:latin typeface="Cambria Math" panose="02040503050406030204" pitchFamily="18" charset="0"/>
                        <a:ea typeface="Calibri"/>
                        <a:cs typeface="Calibri"/>
                      </a:rPr>
                      <m:t>=</m:t>
                    </m:r>
                    <m:r>
                      <a:rPr lang="en-US" sz="2400" i="1">
                        <a:effectLst/>
                        <a:latin typeface="Cambria Math" panose="02040503050406030204" pitchFamily="18" charset="0"/>
                        <a:ea typeface="Calibri"/>
                        <a:cs typeface="Calibri"/>
                      </a:rPr>
                      <m:t>𝐻</m:t>
                    </m:r>
                    <m:r>
                      <a:rPr lang="en-US" sz="2400">
                        <a:effectLst/>
                        <a:latin typeface="Cambria Math" panose="02040503050406030204" pitchFamily="18" charset="0"/>
                        <a:ea typeface="Calibri"/>
                        <a:cs typeface="Calibri"/>
                      </a:rPr>
                      <m:t>(</m:t>
                    </m:r>
                    <m:r>
                      <a:rPr lang="en-US" sz="2400" i="1">
                        <a:effectLst/>
                        <a:latin typeface="Cambria Math" panose="02040503050406030204" pitchFamily="18" charset="0"/>
                        <a:ea typeface="Calibri"/>
                        <a:cs typeface="Calibri"/>
                      </a:rPr>
                      <m:t>𝑚</m:t>
                    </m:r>
                    <m:r>
                      <a:rPr lang="en-US" sz="2400">
                        <a:effectLst/>
                        <a:latin typeface="Cambria Math" panose="02040503050406030204" pitchFamily="18" charset="0"/>
                        <a:ea typeface="Calibri"/>
                        <a:cs typeface="Calibri"/>
                      </a:rPr>
                      <m:t>)</m:t>
                    </m:r>
                  </m:oMath>
                </a14:m>
                <a:endParaRPr lang="en-US" sz="2400" dirty="0">
                  <a:effectLst/>
                  <a:latin typeface="Calibri"/>
                  <a:ea typeface="Calibri"/>
                  <a:cs typeface="Calibri"/>
                </a:endParaRPr>
              </a:p>
              <a:p>
                <a:pPr marL="342900" indent="-342900">
                  <a:spcAft>
                    <a:spcPts val="600"/>
                  </a:spcAft>
                  <a:buFont typeface="Symbol" panose="05050102010706020507" pitchFamily="18" charset="2"/>
                  <a:buChar char=""/>
                  <a:tabLst>
                    <a:tab pos="685800" algn="l"/>
                  </a:tabLst>
                </a:pPr>
                <a:r>
                  <a:rPr lang="en-US" sz="2400" dirty="0">
                    <a:effectLst/>
                    <a:latin typeface="Calibri"/>
                    <a:ea typeface="Calibri"/>
                    <a:cs typeface="Calibri"/>
                  </a:rPr>
                  <a:t>Приклад: </a:t>
                </a:r>
                <a14:m>
                  <m:oMath xmlns:m="http://schemas.openxmlformats.org/officeDocument/2006/math">
                    <m:r>
                      <a:rPr lang="en-US" sz="2400" i="1" smtClean="0">
                        <a:effectLst/>
                        <a:latin typeface="Cambria Math" panose="02040503050406030204" pitchFamily="18" charset="0"/>
                        <a:ea typeface="Calibri"/>
                        <a:cs typeface="Calibri"/>
                      </a:rPr>
                      <m:t>h</m:t>
                    </m:r>
                    <m:r>
                      <a:rPr lang="en-US" sz="2400">
                        <a:effectLst/>
                        <a:latin typeface="Cambria Math" panose="02040503050406030204" pitchFamily="18" charset="0"/>
                        <a:ea typeface="Calibri"/>
                        <a:cs typeface="Calibri"/>
                      </a:rPr>
                      <m:t>=101101011100</m:t>
                    </m:r>
                  </m:oMath>
                </a14:m>
                <a:r>
                  <a:rPr lang="en-US" sz="2400" dirty="0">
                    <a:effectLst/>
                    <a:latin typeface="Calibri"/>
                    <a:ea typeface="Calibri"/>
                    <a:cs typeface="Calibri"/>
                  </a:rPr>
                  <a:t>.</a:t>
                </a:r>
                <a:endParaRPr lang="uk-UA" sz="2400" dirty="0">
                  <a:effectLst/>
                  <a:latin typeface="Calibri"/>
                  <a:ea typeface="Calibri"/>
                  <a:cs typeface="Calibri"/>
                </a:endParaRPr>
              </a:p>
              <a:p>
                <a:pPr>
                  <a:spcAft>
                    <a:spcPts val="600"/>
                  </a:spcAft>
                  <a:tabLst>
                    <a:tab pos="685800" algn="l"/>
                  </a:tabLst>
                </a:pPr>
                <a:endParaRPr lang="en-US" sz="2400" dirty="0">
                  <a:effectLst/>
                  <a:latin typeface="Calibri"/>
                  <a:ea typeface="Calibri"/>
                  <a:cs typeface="Calibri"/>
                </a:endParaRPr>
              </a:p>
              <a:p>
                <a:pPr marL="342900" marR="0" lvl="0" indent="-342900">
                  <a:spcAft>
                    <a:spcPts val="600"/>
                  </a:spcAft>
                  <a:buFont typeface="+mj-lt"/>
                  <a:buAutoNum type="arabicPeriod" startAt="2"/>
                  <a:tabLst>
                    <a:tab pos="685800" algn="l"/>
                  </a:tabLst>
                </a:pPr>
                <a:r>
                  <a:rPr lang="en-US" sz="2400" dirty="0">
                    <a:effectLst/>
                    <a:latin typeface="Calibri"/>
                    <a:ea typeface="Calibri"/>
                    <a:cs typeface="Calibri"/>
                  </a:rPr>
                  <a:t>Вибір </a:t>
                </a:r>
                <a:r>
                  <a:rPr lang="en-US" sz="2400" dirty="0" err="1">
                    <a:effectLst/>
                    <a:latin typeface="Calibri"/>
                    <a:ea typeface="Calibri"/>
                    <a:cs typeface="Calibri"/>
                  </a:rPr>
                  <a:t>елементів</a:t>
                </a:r>
                <a:r>
                  <a:rPr lang="en-US" sz="2400" dirty="0">
                    <a:effectLst/>
                    <a:latin typeface="Calibri"/>
                    <a:ea typeface="Calibri"/>
                    <a:cs typeface="Calibri"/>
                  </a:rPr>
                  <a:t> </a:t>
                </a:r>
                <a:r>
                  <a:rPr lang="en-US" sz="2400" dirty="0" err="1">
                    <a:effectLst/>
                    <a:latin typeface="Calibri"/>
                    <a:ea typeface="Calibri"/>
                    <a:cs typeface="Calibri"/>
                  </a:rPr>
                  <a:t>приватного</a:t>
                </a:r>
                <a:r>
                  <a:rPr lang="en-US" sz="2400" dirty="0">
                    <a:effectLst/>
                    <a:latin typeface="Calibri"/>
                    <a:ea typeface="Calibri"/>
                    <a:cs typeface="Calibri"/>
                  </a:rPr>
                  <a:t> </a:t>
                </a:r>
                <a:r>
                  <a:rPr lang="en-US" sz="2400" dirty="0" err="1">
                    <a:effectLst/>
                    <a:latin typeface="Calibri"/>
                    <a:ea typeface="Calibri"/>
                    <a:cs typeface="Calibri"/>
                  </a:rPr>
                  <a:t>ключа</a:t>
                </a:r>
                <a:r>
                  <a:rPr lang="en-US" sz="2400" dirty="0">
                    <a:effectLst/>
                    <a:latin typeface="Calibri"/>
                    <a:ea typeface="Calibri"/>
                    <a:cs typeface="Calibri"/>
                  </a:rPr>
                  <a:t>:</a:t>
                </a:r>
              </a:p>
              <a:p>
                <a:pPr marL="342900" marR="0" lvl="0" indent="-342900">
                  <a:spcAft>
                    <a:spcPts val="600"/>
                  </a:spcAft>
                  <a:buFont typeface="Symbol" panose="05050102010706020507" pitchFamily="18" charset="2"/>
                  <a:buChar char=""/>
                  <a:tabLst>
                    <a:tab pos="685800" algn="l"/>
                  </a:tabLst>
                </a:pPr>
                <a:r>
                  <a:rPr lang="en-US" sz="2400" dirty="0" err="1">
                    <a:effectLst/>
                    <a:latin typeface="Calibri"/>
                    <a:ea typeface="Calibri"/>
                    <a:cs typeface="Calibri"/>
                  </a:rPr>
                  <a:t>Для</a:t>
                </a:r>
                <a:r>
                  <a:rPr lang="en-US" sz="2400" dirty="0">
                    <a:effectLst/>
                    <a:latin typeface="Calibri"/>
                    <a:ea typeface="Calibri"/>
                    <a:cs typeface="Calibri"/>
                  </a:rPr>
                  <a:t> </a:t>
                </a:r>
                <a:r>
                  <a:rPr lang="en-US" sz="2400" dirty="0" err="1">
                    <a:effectLst/>
                    <a:latin typeface="Calibri"/>
                    <a:ea typeface="Calibri"/>
                    <a:cs typeface="Calibri"/>
                  </a:rPr>
                  <a:t>кожного</a:t>
                </a:r>
                <a:r>
                  <a:rPr lang="en-US" sz="2400" dirty="0">
                    <a:effectLst/>
                    <a:latin typeface="Calibri"/>
                    <a:ea typeface="Calibri"/>
                    <a:cs typeface="Calibri"/>
                  </a:rPr>
                  <a:t> </a:t>
                </a:r>
                <a:r>
                  <a:rPr lang="en-US" sz="2400" dirty="0" err="1">
                    <a:effectLst/>
                    <a:latin typeface="Calibri"/>
                    <a:ea typeface="Calibri"/>
                    <a:cs typeface="Calibri"/>
                  </a:rPr>
                  <a:t>біта</a:t>
                </a:r>
                <a:r>
                  <a:rPr lang="uk-UA" sz="2400" dirty="0">
                    <a:effectLst/>
                    <a:latin typeface="Calibri"/>
                    <a:ea typeface="Calibri"/>
                    <a:cs typeface="Calibri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smtClean="0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</m:ctrlPr>
                      </m:sSubPr>
                      <m:e>
                        <m:r>
                          <a:rPr lang="en-US" sz="2400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𝑏</m:t>
                        </m:r>
                      </m:e>
                      <m:sub>
                        <m:r>
                          <a:rPr lang="en-US" sz="2400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400" dirty="0">
                    <a:effectLst/>
                    <a:latin typeface="Calibri"/>
                    <a:ea typeface="Calibri"/>
                    <a:cs typeface="Calibri"/>
                  </a:rPr>
                  <a:t> з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h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𝑖</m:t>
                        </m:r>
                      </m:sub>
                    </m:sSub>
                    <m:r>
                      <a:rPr lang="en-US" sz="2400" i="1">
                        <a:latin typeface="Cambria Math" panose="02040503050406030204" pitchFamily="18" charset="0"/>
                        <a:ea typeface="Calibri"/>
                        <a:cs typeface="Calibri"/>
                      </a:rPr>
                      <m:t> </m:t>
                    </m:r>
                  </m:oMath>
                </a14:m>
                <a:r>
                  <a:rPr lang="uk-UA" sz="2400" dirty="0">
                    <a:effectLst/>
                    <a:latin typeface="Calibri"/>
                    <a:ea typeface="Calibri"/>
                    <a:cs typeface="Calibri"/>
                  </a:rPr>
                  <a:t> </a:t>
                </a:r>
                <a:r>
                  <a:rPr lang="en-US" sz="2400" dirty="0">
                    <a:effectLst/>
                    <a:latin typeface="Calibri"/>
                    <a:ea typeface="Calibri"/>
                    <a:cs typeface="Calibri"/>
                  </a:rPr>
                  <a:t>виберіть відповідний елемент приватного ключа: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</m:ctrlPr>
                      </m:sSubPr>
                      <m:e>
                        <m:r>
                          <a:rPr lang="en-US" sz="2400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𝜎</m:t>
                        </m:r>
                      </m:e>
                      <m:sub>
                        <m:r>
                          <a:rPr lang="en-US" sz="2400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𝑖</m:t>
                        </m:r>
                      </m:sub>
                    </m:sSub>
                    <m:r>
                      <a:rPr lang="en-US" sz="2400">
                        <a:effectLst/>
                        <a:latin typeface="Cambria Math" panose="02040503050406030204" pitchFamily="18" charset="0"/>
                        <a:ea typeface="Calibri"/>
                        <a:cs typeface="Calibri"/>
                      </a:rPr>
                      <m:t>=</m:t>
                    </m:r>
                    <m:sSub>
                      <m:sSubPr>
                        <m:ctrlPr>
                          <a:rPr lang="en-US" sz="2400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</m:ctrlPr>
                      </m:sSubPr>
                      <m:e>
                        <m:r>
                          <a:rPr lang="en-US" sz="2400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𝑥</m:t>
                        </m:r>
                      </m:e>
                      <m:sub>
                        <m:r>
                          <a:rPr lang="en-US" sz="2400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𝑖</m:t>
                        </m:r>
                        <m:r>
                          <a:rPr lang="en-US" sz="2400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,</m:t>
                        </m:r>
                        <m:sSub>
                          <m:sSubPr>
                            <m:ctrlPr>
                              <a:rPr lang="en-US" sz="2400" i="1">
                                <a:effectLst/>
                                <a:latin typeface="Cambria Math" panose="02040503050406030204" pitchFamily="18" charset="0"/>
                                <a:ea typeface="Calibri"/>
                                <a:cs typeface="Calibri"/>
                              </a:rPr>
                            </m:ctrlPr>
                          </m:sSubPr>
                          <m:e>
                            <m:r>
                              <a:rPr lang="en-US" sz="2400" i="1">
                                <a:effectLst/>
                                <a:latin typeface="Cambria Math" panose="02040503050406030204" pitchFamily="18" charset="0"/>
                                <a:ea typeface="Calibri"/>
                                <a:cs typeface="Calibri"/>
                              </a:rPr>
                              <m:t>𝑏</m:t>
                            </m:r>
                          </m:e>
                          <m:sub>
                            <m:r>
                              <a:rPr lang="en-US" sz="2400" i="1">
                                <a:effectLst/>
                                <a:latin typeface="Cambria Math" panose="02040503050406030204" pitchFamily="18" charset="0"/>
                                <a:ea typeface="Calibri"/>
                                <a:cs typeface="Calibri"/>
                              </a:rPr>
                              <m:t>𝑖</m:t>
                            </m:r>
                          </m:sub>
                        </m:sSub>
                      </m:sub>
                    </m:sSub>
                  </m:oMath>
                </a14:m>
                <a:endParaRPr lang="en-US" sz="2400" dirty="0">
                  <a:effectLst/>
                  <a:latin typeface="Calibri"/>
                  <a:ea typeface="Calibri"/>
                  <a:cs typeface="Calibri"/>
                </a:endParaRPr>
              </a:p>
              <a:p>
                <a:pPr marL="342900" marR="0" lvl="0" indent="-342900">
                  <a:spcAft>
                    <a:spcPts val="600"/>
                  </a:spcAft>
                  <a:buFont typeface="Symbol" panose="05050102010706020507" pitchFamily="18" charset="2"/>
                  <a:buChar char=""/>
                  <a:tabLst>
                    <a:tab pos="685800" algn="l"/>
                  </a:tabLst>
                </a:pPr>
                <a:r>
                  <a:rPr lang="en-US" sz="2400" dirty="0" err="1">
                    <a:effectLst/>
                    <a:latin typeface="Calibri"/>
                    <a:ea typeface="Calibri"/>
                    <a:cs typeface="Calibri"/>
                  </a:rPr>
                  <a:t>Приклад</a:t>
                </a:r>
                <a:r>
                  <a:rPr lang="en-US" sz="2400" dirty="0">
                    <a:effectLst/>
                    <a:latin typeface="Calibri"/>
                    <a:ea typeface="Calibri"/>
                    <a:cs typeface="Calibri"/>
                  </a:rPr>
                  <a:t>: </a:t>
                </a:r>
                <a:r>
                  <a:rPr lang="en-US" sz="2400" dirty="0" err="1">
                    <a:effectLst/>
                    <a:latin typeface="Calibri"/>
                    <a:ea typeface="Calibri"/>
                    <a:cs typeface="Calibri"/>
                  </a:rPr>
                  <a:t>Якщо</a:t>
                </a:r>
                <a:r>
                  <a:rPr lang="en-US" sz="2400" dirty="0">
                    <a:effectLst/>
                    <a:latin typeface="Calibri"/>
                    <a:ea typeface="Calibri"/>
                    <a:cs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sz="2400" i="1" smtClean="0">
                        <a:effectLst/>
                        <a:latin typeface="Cambria Math" panose="02040503050406030204" pitchFamily="18" charset="0"/>
                        <a:ea typeface="Calibri"/>
                        <a:cs typeface="Calibri"/>
                      </a:rPr>
                      <m:t>h</m:t>
                    </m:r>
                    <m:r>
                      <a:rPr lang="en-US" sz="2400">
                        <a:effectLst/>
                        <a:latin typeface="Cambria Math" panose="02040503050406030204" pitchFamily="18" charset="0"/>
                        <a:ea typeface="Calibri"/>
                        <a:cs typeface="Calibri"/>
                      </a:rPr>
                      <m:t>=101101011100</m:t>
                    </m:r>
                  </m:oMath>
                </a14:m>
                <a:r>
                  <a:rPr lang="en-US" sz="2400" dirty="0">
                    <a:effectLst/>
                    <a:latin typeface="Calibri"/>
                    <a:ea typeface="Calibri"/>
                    <a:cs typeface="Calibri"/>
                  </a:rPr>
                  <a:t>, то: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</m:ctrlPr>
                      </m:sSubPr>
                      <m:e>
                        <m:r>
                          <a:rPr lang="en-US" sz="2400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𝜎</m:t>
                        </m:r>
                      </m:e>
                      <m:sub>
                        <m:r>
                          <a:rPr lang="en-US" sz="2400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1</m:t>
                        </m:r>
                      </m:sub>
                    </m:sSub>
                    <m:r>
                      <a:rPr lang="en-US" sz="2400">
                        <a:effectLst/>
                        <a:latin typeface="Cambria Math" panose="02040503050406030204" pitchFamily="18" charset="0"/>
                        <a:ea typeface="Calibri"/>
                        <a:cs typeface="Calibri"/>
                      </a:rPr>
                      <m:t>=</m:t>
                    </m:r>
                    <m:sSub>
                      <m:sSubPr>
                        <m:ctrlPr>
                          <a:rPr lang="en-US" sz="2400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</m:ctrlPr>
                      </m:sSubPr>
                      <m:e>
                        <m:r>
                          <a:rPr lang="en-US" sz="2400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𝑥</m:t>
                        </m:r>
                      </m:e>
                      <m:sub>
                        <m:r>
                          <a:rPr lang="en-US" sz="2400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1,1</m:t>
                        </m:r>
                      </m:sub>
                    </m:sSub>
                    <m:r>
                      <a:rPr lang="en-US" sz="2400">
                        <a:effectLst/>
                        <a:latin typeface="Cambria Math" panose="02040503050406030204" pitchFamily="18" charset="0"/>
                        <a:ea typeface="Calibri"/>
                        <a:cs typeface="Calibri"/>
                      </a:rPr>
                      <m:t>, </m:t>
                    </m:r>
                    <m:sSub>
                      <m:sSubPr>
                        <m:ctrlPr>
                          <a:rPr lang="en-US" sz="2400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</m:ctrlPr>
                      </m:sSubPr>
                      <m:e>
                        <m:r>
                          <a:rPr lang="en-US" sz="2400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𝜎</m:t>
                        </m:r>
                      </m:e>
                      <m:sub>
                        <m:r>
                          <a:rPr lang="en-US" sz="2400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2</m:t>
                        </m:r>
                      </m:sub>
                    </m:sSub>
                    <m:r>
                      <a:rPr lang="en-US" sz="2400">
                        <a:effectLst/>
                        <a:latin typeface="Cambria Math" panose="02040503050406030204" pitchFamily="18" charset="0"/>
                        <a:ea typeface="Calibri"/>
                        <a:cs typeface="Calibri"/>
                      </a:rPr>
                      <m:t>=</m:t>
                    </m:r>
                    <m:sSub>
                      <m:sSubPr>
                        <m:ctrlPr>
                          <a:rPr lang="en-US" sz="2400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</m:ctrlPr>
                      </m:sSubPr>
                      <m:e>
                        <m:r>
                          <a:rPr lang="en-US" sz="2400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𝑥</m:t>
                        </m:r>
                      </m:e>
                      <m:sub>
                        <m:r>
                          <a:rPr lang="en-US" sz="2400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2,0</m:t>
                        </m:r>
                      </m:sub>
                    </m:sSub>
                    <m:r>
                      <a:rPr lang="en-US" sz="2400">
                        <a:effectLst/>
                        <a:latin typeface="Cambria Math" panose="02040503050406030204" pitchFamily="18" charset="0"/>
                        <a:ea typeface="Calibri"/>
                        <a:cs typeface="Calibri"/>
                      </a:rPr>
                      <m:t>, </m:t>
                    </m:r>
                    <m:sSub>
                      <m:sSubPr>
                        <m:ctrlPr>
                          <a:rPr lang="en-US" sz="2400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</m:ctrlPr>
                      </m:sSubPr>
                      <m:e>
                        <m:r>
                          <a:rPr lang="en-US" sz="2400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𝜎</m:t>
                        </m:r>
                      </m:e>
                      <m:sub>
                        <m:r>
                          <a:rPr lang="en-US" sz="2400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3</m:t>
                        </m:r>
                      </m:sub>
                    </m:sSub>
                    <m:r>
                      <a:rPr lang="en-US" sz="2400">
                        <a:effectLst/>
                        <a:latin typeface="Cambria Math" panose="02040503050406030204" pitchFamily="18" charset="0"/>
                        <a:ea typeface="Calibri"/>
                        <a:cs typeface="Calibri"/>
                      </a:rPr>
                      <m:t>=</m:t>
                    </m:r>
                    <m:sSub>
                      <m:sSubPr>
                        <m:ctrlPr>
                          <a:rPr lang="en-US" sz="2400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</m:ctrlPr>
                      </m:sSubPr>
                      <m:e>
                        <m:r>
                          <a:rPr lang="en-US" sz="2400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𝑥</m:t>
                        </m:r>
                      </m:e>
                      <m:sub>
                        <m:r>
                          <a:rPr lang="en-US" sz="2400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3,1</m:t>
                        </m:r>
                      </m:sub>
                    </m:sSub>
                    <m:r>
                      <a:rPr lang="en-US" sz="2400">
                        <a:effectLst/>
                        <a:latin typeface="Cambria Math" panose="02040503050406030204" pitchFamily="18" charset="0"/>
                        <a:ea typeface="Calibri"/>
                        <a:cs typeface="Calibri"/>
                      </a:rPr>
                      <m:t>, …</m:t>
                    </m:r>
                  </m:oMath>
                </a14:m>
                <a:endParaRPr lang="en-US" sz="2400" dirty="0">
                  <a:effectLst/>
                  <a:latin typeface="Calibri"/>
                  <a:ea typeface="Calibri"/>
                  <a:cs typeface="Calibri"/>
                </a:endParaRPr>
              </a:p>
              <a:p>
                <a:pPr marR="0" lvl="0">
                  <a:spcAft>
                    <a:spcPts val="600"/>
                  </a:spcAft>
                  <a:tabLst>
                    <a:tab pos="685800" algn="l"/>
                  </a:tabLst>
                </a:pPr>
                <a:endParaRPr lang="en-US" sz="2400" dirty="0">
                  <a:effectLst/>
                  <a:latin typeface="Calibri"/>
                  <a:ea typeface="Calibri"/>
                  <a:cs typeface="Calibri"/>
                </a:endParaRPr>
              </a:p>
              <a:p>
                <a:pPr marL="342900" marR="0" lvl="0" indent="-342900">
                  <a:spcAft>
                    <a:spcPts val="600"/>
                  </a:spcAft>
                  <a:buFont typeface="+mj-lt"/>
                  <a:buAutoNum type="arabicPeriod" startAt="3"/>
                  <a:tabLst>
                    <a:tab pos="685800" algn="l"/>
                  </a:tabLst>
                </a:pPr>
                <a:r>
                  <a:rPr lang="en-US" sz="2400" dirty="0" err="1">
                    <a:effectLst/>
                    <a:latin typeface="Calibri"/>
                    <a:ea typeface="Calibri"/>
                    <a:cs typeface="Calibri"/>
                  </a:rPr>
                  <a:t>Сформуйте</a:t>
                </a:r>
                <a:r>
                  <a:rPr lang="en-US" sz="2400" dirty="0">
                    <a:effectLst/>
                    <a:latin typeface="Calibri"/>
                    <a:ea typeface="Calibri"/>
                    <a:cs typeface="Calibri"/>
                  </a:rPr>
                  <a:t> підпис:</a:t>
                </a:r>
              </a:p>
              <a:p>
                <a:pPr marL="342900" marR="0" lvl="0" indent="-342900">
                  <a:spcAft>
                    <a:spcPts val="600"/>
                  </a:spcAft>
                  <a:buFont typeface="Symbol" panose="05050102010706020507" pitchFamily="18" charset="2"/>
                  <a:buChar char=""/>
                  <a:tabLst>
                    <a:tab pos="685800" algn="l"/>
                  </a:tabLst>
                </a:pPr>
                <a:r>
                  <a:rPr lang="en-US" sz="2400" dirty="0">
                    <a:effectLst/>
                    <a:latin typeface="Calibri"/>
                    <a:ea typeface="Calibri"/>
                    <a:cs typeface="Calibri"/>
                  </a:rPr>
                  <a:t>Підпис - це сукупність вибраних елементів приватного ключа: 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sz="2400">
                        <a:effectLst/>
                        <a:latin typeface="Calibri"/>
                        <a:ea typeface="Calibri"/>
                        <a:cs typeface="Calibri"/>
                      </a:rPr>
                      <m:t>Signature</m:t>
                    </m:r>
                    <m:r>
                      <m:rPr>
                        <m:nor/>
                      </m:rPr>
                      <a:rPr lang="en-US" sz="2400" i="1">
                        <a:effectLst/>
                        <a:latin typeface="Calibri"/>
                        <a:ea typeface="Calibri"/>
                        <a:cs typeface="Calibri"/>
                      </a:rPr>
                      <m:t> </m:t>
                    </m:r>
                    <m:r>
                      <a:rPr lang="en-US" sz="2400">
                        <a:effectLst/>
                        <a:latin typeface="Cambria Math" panose="02040503050406030204" pitchFamily="18" charset="0"/>
                        <a:ea typeface="Calibri"/>
                        <a:cs typeface="Calibri"/>
                      </a:rPr>
                      <m:t>=</m:t>
                    </m:r>
                    <m:d>
                      <m:dPr>
                        <m:ctrlPr>
                          <a:rPr lang="en-US" sz="2400" i="1">
                            <a:effectLst/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400" i="1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i="1">
                                <a:effectLst/>
                                <a:latin typeface="Cambria Math" panose="02040503050406030204" pitchFamily="18" charset="0"/>
                                <a:ea typeface="Calibri"/>
                                <a:cs typeface="Calibri"/>
                              </a:rPr>
                              <m:t>𝜎</m:t>
                            </m:r>
                          </m:e>
                          <m:sub>
                            <m:r>
                              <a:rPr lang="en-US" sz="2400">
                                <a:effectLst/>
                                <a:latin typeface="Cambria Math" panose="02040503050406030204" pitchFamily="18" charset="0"/>
                                <a:ea typeface="Calibri"/>
                                <a:cs typeface="Calibri"/>
                              </a:rPr>
                              <m:t>1</m:t>
                            </m:r>
                          </m:sub>
                        </m:sSub>
                        <m:r>
                          <a:rPr lang="en-US" sz="2400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,</m:t>
                        </m:r>
                        <m:sSub>
                          <m:sSubPr>
                            <m:ctrlPr>
                              <a:rPr lang="en-US" sz="2400" i="1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i="1">
                                <a:effectLst/>
                                <a:latin typeface="Cambria Math" panose="02040503050406030204" pitchFamily="18" charset="0"/>
                                <a:ea typeface="Calibri"/>
                                <a:cs typeface="Calibri"/>
                              </a:rPr>
                              <m:t>𝜎</m:t>
                            </m:r>
                          </m:e>
                          <m:sub>
                            <m:r>
                              <a:rPr lang="en-US" sz="2400">
                                <a:effectLst/>
                                <a:latin typeface="Cambria Math" panose="02040503050406030204" pitchFamily="18" charset="0"/>
                                <a:ea typeface="Calibri"/>
                                <a:cs typeface="Calibri"/>
                              </a:rPr>
                              <m:t>2</m:t>
                            </m:r>
                          </m:sub>
                        </m:sSub>
                        <m:r>
                          <a:rPr lang="en-US" sz="2400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,…,</m:t>
                        </m:r>
                        <m:sSub>
                          <m:sSubPr>
                            <m:ctrlPr>
                              <a:rPr lang="en-US" sz="2400" i="1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i="1">
                                <a:effectLst/>
                                <a:latin typeface="Cambria Math" panose="02040503050406030204" pitchFamily="18" charset="0"/>
                                <a:ea typeface="Calibri"/>
                                <a:cs typeface="Calibri"/>
                              </a:rPr>
                              <m:t>𝜎</m:t>
                            </m:r>
                          </m:e>
                          <m:sub>
                            <m:r>
                              <a:rPr lang="en-US" sz="2400" i="1">
                                <a:effectLst/>
                                <a:latin typeface="Cambria Math" panose="02040503050406030204" pitchFamily="18" charset="0"/>
                                <a:ea typeface="Calibri"/>
                                <a:cs typeface="Calibri"/>
                              </a:rPr>
                              <m:t>𝑛</m:t>
                            </m:r>
                          </m:sub>
                        </m:sSub>
                      </m:e>
                    </m:d>
                  </m:oMath>
                </a14:m>
                <a:endParaRPr lang="en-US" sz="2400" dirty="0"/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707A7F3-182C-4E96-A112-3911D09514F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2368" y="889688"/>
                <a:ext cx="10387263" cy="5620385"/>
              </a:xfrm>
              <a:prstGeom prst="rect">
                <a:avLst/>
              </a:prstGeom>
              <a:blipFill>
                <a:blip r:embed="rId2"/>
                <a:stretch>
                  <a:fillRect l="-978" t="-1129"/>
                </a:stretch>
              </a:blipFill>
            </p:spPr>
            <p:txBody>
              <a:bodyPr/>
              <a:lstStyle/>
              <a:p>
                <a:r>
                  <a:rPr lang="en-UA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4931034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173A67-72C6-3970-C465-D86E9FB813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b="1" dirty="0">
                <a:solidFill>
                  <a:srgbClr val="203864"/>
                </a:solidFill>
                <a:latin typeface="Calibri"/>
              </a:rPr>
              <a:t>Lamport: перевірка підпису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D306D9C9-D913-10DA-35EC-0737953D5EDF}"/>
                  </a:ext>
                </a:extLst>
              </p:cNvPr>
              <p:cNvSpPr txBox="1"/>
              <p:nvPr/>
            </p:nvSpPr>
            <p:spPr>
              <a:xfrm>
                <a:off x="2159376" y="1690688"/>
                <a:ext cx="7873248" cy="3806289"/>
              </a:xfrm>
              <a:prstGeom prst="rect">
                <a:avLst/>
              </a:prstGeom>
              <a:noFill/>
            </p:spPr>
            <p:txBody>
              <a:bodyPr wrap="square"/>
              <a:lstStyle/>
              <a:p>
                <a:pPr marL="342900" marR="0" lvl="0" indent="-342900">
                  <a:spcAft>
                    <a:spcPts val="600"/>
                  </a:spcAft>
                  <a:buFont typeface="+mj-lt"/>
                  <a:buAutoNum type="arabicPeriod"/>
                  <a:tabLst>
                    <a:tab pos="685800" algn="l"/>
                  </a:tabLst>
                </a:pPr>
                <a:r>
                  <a:rPr lang="en-US" sz="2400" dirty="0">
                    <a:effectLst/>
                    <a:latin typeface="Calibri"/>
                    <a:ea typeface="Calibri"/>
                    <a:cs typeface="Calibri"/>
                  </a:rPr>
                  <a:t>Перерахуйте відкритий ключ:</a:t>
                </a:r>
              </a:p>
              <a:p>
                <a:pPr marL="342900" marR="0" lvl="0" indent="-342900">
                  <a:spcAft>
                    <a:spcPts val="600"/>
                  </a:spcAft>
                  <a:buFont typeface="Symbol" panose="05050102010706020507" pitchFamily="18" charset="2"/>
                  <a:buChar char=""/>
                  <a:tabLst>
                    <a:tab pos="685800" algn="l"/>
                  </a:tabLst>
                </a:pPr>
                <a:r>
                  <a:rPr lang="en-US" sz="2400" dirty="0">
                    <a:effectLst/>
                    <a:latin typeface="Calibri"/>
                    <a:ea typeface="Calibri"/>
                    <a:cs typeface="Calibri"/>
                  </a:rPr>
                  <a:t>Виконайте хешування кожного елемента підпису:</a:t>
                </a:r>
              </a:p>
              <a:p>
                <a:pPr marL="0" marR="0">
                  <a:spcAft>
                    <a:spcPts val="11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2400" i="1">
                              <a:effectLst/>
                              <a:latin typeface="Cambria Math" panose="02040503050406030204" pitchFamily="18" charset="0"/>
                              <a:ea typeface="Calibri"/>
                              <a:cs typeface="Calibri"/>
                            </a:rPr>
                          </m:ctrlPr>
                        </m:sSubSupPr>
                        <m:e>
                          <m:r>
                            <a:rPr lang="en-US" sz="2400" i="1">
                              <a:effectLst/>
                              <a:latin typeface="Cambria Math" panose="02040503050406030204" pitchFamily="18" charset="0"/>
                              <a:ea typeface="Calibri"/>
                              <a:cs typeface="Calibri"/>
                            </a:rPr>
                            <m:t>𝑦</m:t>
                          </m:r>
                        </m:e>
                        <m:sub>
                          <m:r>
                            <a:rPr lang="en-US" sz="2400" i="1">
                              <a:effectLst/>
                              <a:latin typeface="Cambria Math" panose="02040503050406030204" pitchFamily="18" charset="0"/>
                              <a:ea typeface="Calibri"/>
                              <a:cs typeface="Calibri"/>
                            </a:rPr>
                            <m:t>𝑖</m:t>
                          </m:r>
                        </m:sub>
                        <m:sup>
                          <m:r>
                            <a:rPr lang="en-US" sz="2400" i="1">
                              <a:effectLst/>
                              <a:latin typeface="Cambria Math" panose="02040503050406030204" pitchFamily="18" charset="0"/>
                              <a:ea typeface="Calibri"/>
                              <a:cs typeface="Calibri"/>
                            </a:rPr>
                            <m:t>′</m:t>
                          </m:r>
                        </m:sup>
                      </m:sSubSup>
                      <m:r>
                        <a:rPr lang="en-US" sz="2400">
                          <a:effectLst/>
                          <a:latin typeface="Cambria Math" panose="02040503050406030204" pitchFamily="18" charset="0"/>
                          <a:ea typeface="Calibri"/>
                          <a:cs typeface="Calibri"/>
                        </a:rPr>
                        <m:t>=</m:t>
                      </m:r>
                      <m:r>
                        <a:rPr lang="en-US" sz="2400" i="1">
                          <a:effectLst/>
                          <a:latin typeface="Cambria Math" panose="02040503050406030204" pitchFamily="18" charset="0"/>
                          <a:ea typeface="Calibri"/>
                          <a:cs typeface="Calibri"/>
                        </a:rPr>
                        <m:t>𝐻</m:t>
                      </m:r>
                      <m:d>
                        <m:dPr>
                          <m:ctrlPr>
                            <a:rPr lang="en-US" sz="2400" i="1">
                              <a:effectLst/>
                              <a:latin typeface="Cambria Math" panose="02040503050406030204" pitchFamily="18" charset="0"/>
                              <a:ea typeface="Calibri"/>
                              <a:cs typeface="Calibri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i="1">
                                  <a:effectLst/>
                                  <a:latin typeface="Cambria Math" panose="02040503050406030204" pitchFamily="18" charset="0"/>
                                  <a:ea typeface="Calibri"/>
                                  <a:cs typeface="Calibri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effectLst/>
                                  <a:latin typeface="Cambria Math" panose="02040503050406030204" pitchFamily="18" charset="0"/>
                                  <a:ea typeface="Calibri"/>
                                  <a:cs typeface="Calibri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2400" i="1">
                                  <a:effectLst/>
                                  <a:latin typeface="Cambria Math" panose="02040503050406030204" pitchFamily="18" charset="0"/>
                                  <a:ea typeface="Calibri"/>
                                  <a:cs typeface="Calibri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2400" dirty="0">
                  <a:effectLst/>
                  <a:latin typeface="Calibri"/>
                  <a:ea typeface="Calibri"/>
                  <a:cs typeface="Calibri"/>
                </a:endParaRPr>
              </a:p>
              <a:p>
                <a:pPr marL="342900" indent="-342900">
                  <a:spcAft>
                    <a:spcPts val="600"/>
                  </a:spcAft>
                  <a:buFont typeface="Symbol" panose="05050102010706020507" pitchFamily="18" charset="2"/>
                  <a:buChar char=""/>
                  <a:tabLst>
                    <a:tab pos="685800" algn="l"/>
                  </a:tabLst>
                </a:pPr>
                <a:r>
                  <a:rPr lang="en-US" sz="2400" dirty="0">
                    <a:effectLst/>
                    <a:latin typeface="Calibri"/>
                    <a:ea typeface="Calibri"/>
                    <a:cs typeface="Calibri"/>
                  </a:rPr>
                  <a:t>Порівняйте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400" i="1"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</m:ctrlPr>
                      </m:sSubSupPr>
                      <m:e>
                        <m:r>
                          <a:rPr lang="en-US" sz="2400" i="1"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𝑦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𝑖</m:t>
                        </m:r>
                      </m:sub>
                      <m:sup>
                        <m:r>
                          <a:rPr lang="en-US" sz="2400" i="1"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′</m:t>
                        </m:r>
                      </m:sup>
                    </m:sSubSup>
                    <m:r>
                      <a:rPr lang="en-US" sz="2400" i="1">
                        <a:latin typeface="Cambria Math" panose="02040503050406030204" pitchFamily="18" charset="0"/>
                        <a:ea typeface="Calibri"/>
                        <a:cs typeface="Calibri"/>
                      </a:rPr>
                      <m:t> </m:t>
                    </m:r>
                  </m:oMath>
                </a14:m>
                <a:r>
                  <a:rPr lang="en-US" sz="2400" dirty="0">
                    <a:effectLst/>
                    <a:latin typeface="Calibri"/>
                    <a:ea typeface="Calibri"/>
                    <a:cs typeface="Calibri"/>
                  </a:rPr>
                  <a:t>з відповідним елементом відкритого </a:t>
                </a:r>
                <a:r>
                  <a:rPr lang="en-US" sz="2400" dirty="0" err="1">
                    <a:effectLst/>
                    <a:latin typeface="Calibri"/>
                    <a:ea typeface="Calibri"/>
                    <a:cs typeface="Calibri"/>
                  </a:rPr>
                  <a:t>ключа</a:t>
                </a:r>
                <a:r>
                  <a:rPr lang="en-US" sz="2400" dirty="0">
                    <a:effectLst/>
                    <a:latin typeface="Calibri"/>
                    <a:ea typeface="Calibri"/>
                    <a:cs typeface="Calibri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smtClean="0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</m:ctrlPr>
                      </m:sSubPr>
                      <m:e>
                        <m:r>
                          <a:rPr lang="en-US" sz="2400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𝑦</m:t>
                        </m:r>
                      </m:e>
                      <m:sub>
                        <m:r>
                          <a:rPr lang="en-US" sz="2400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𝑖</m:t>
                        </m:r>
                        <m:r>
                          <a:rPr lang="en-US" sz="2400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,</m:t>
                        </m:r>
                        <m:sSub>
                          <m:sSubPr>
                            <m:ctrlPr>
                              <a:rPr lang="en-US" sz="2400" i="1">
                                <a:effectLst/>
                                <a:latin typeface="Cambria Math" panose="02040503050406030204" pitchFamily="18" charset="0"/>
                                <a:ea typeface="Calibri"/>
                                <a:cs typeface="Calibri"/>
                              </a:rPr>
                            </m:ctrlPr>
                          </m:sSubPr>
                          <m:e>
                            <m:r>
                              <a:rPr lang="en-US" sz="2400" i="1">
                                <a:effectLst/>
                                <a:latin typeface="Cambria Math" panose="02040503050406030204" pitchFamily="18" charset="0"/>
                                <a:ea typeface="Calibri"/>
                                <a:cs typeface="Calibri"/>
                              </a:rPr>
                              <m:t>𝑏</m:t>
                            </m:r>
                          </m:e>
                          <m:sub>
                            <m:r>
                              <a:rPr lang="en-US" sz="2400" i="1">
                                <a:effectLst/>
                                <a:latin typeface="Cambria Math" panose="02040503050406030204" pitchFamily="18" charset="0"/>
                                <a:ea typeface="Calibri"/>
                                <a:cs typeface="Calibri"/>
                              </a:rPr>
                              <m:t>𝑖</m:t>
                            </m:r>
                          </m:sub>
                        </m:sSub>
                      </m:sub>
                    </m:sSub>
                  </m:oMath>
                </a14:m>
                <a:r>
                  <a:rPr lang="en-US" sz="2400" dirty="0">
                    <a:effectLst/>
                    <a:latin typeface="Calibri"/>
                    <a:ea typeface="Calibri"/>
                    <a:cs typeface="Calibri"/>
                  </a:rPr>
                  <a:t>.</a:t>
                </a:r>
              </a:p>
              <a:p>
                <a:pPr marR="0" lvl="0">
                  <a:spcAft>
                    <a:spcPts val="600"/>
                  </a:spcAft>
                  <a:tabLst>
                    <a:tab pos="685800" algn="l"/>
                  </a:tabLst>
                </a:pPr>
                <a:endParaRPr lang="en-US" sz="2400" dirty="0">
                  <a:effectLst/>
                  <a:latin typeface="Calibri"/>
                  <a:ea typeface="Calibri"/>
                  <a:cs typeface="Calibri"/>
                </a:endParaRPr>
              </a:p>
              <a:p>
                <a:pPr marL="342900" marR="0" lvl="0" indent="-342900">
                  <a:spcAft>
                    <a:spcPts val="600"/>
                  </a:spcAft>
                  <a:buFont typeface="+mj-lt"/>
                  <a:buAutoNum type="arabicPeriod" startAt="2"/>
                  <a:tabLst>
                    <a:tab pos="685800" algn="l"/>
                  </a:tabLst>
                </a:pPr>
                <a:r>
                  <a:rPr lang="en-US" sz="2400" dirty="0">
                    <a:effectLst/>
                    <a:latin typeface="Calibri"/>
                    <a:ea typeface="Calibri"/>
                    <a:cs typeface="Calibri"/>
                  </a:rPr>
                  <a:t>Перевірка підпису:</a:t>
                </a:r>
              </a:p>
              <a:p>
                <a:pPr marL="342900" marR="0" lvl="0" indent="-342900">
                  <a:spcAft>
                    <a:spcPts val="600"/>
                  </a:spcAft>
                  <a:buFont typeface="Symbol" panose="05050102010706020507" pitchFamily="18" charset="2"/>
                  <a:buChar char=""/>
                  <a:tabLst>
                    <a:tab pos="685800" algn="l"/>
                  </a:tabLst>
                </a:pPr>
                <a:r>
                  <a:rPr lang="en-US" sz="2400" dirty="0">
                    <a:effectLst/>
                    <a:latin typeface="Calibri"/>
                    <a:ea typeface="Calibri"/>
                    <a:cs typeface="Calibri"/>
                  </a:rPr>
                  <a:t>Якщо всі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400" i="1" smtClean="0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</m:ctrlPr>
                      </m:sSubSupPr>
                      <m:e>
                        <m:r>
                          <a:rPr lang="en-US" sz="2400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𝑦</m:t>
                        </m:r>
                      </m:e>
                      <m:sub>
                        <m:r>
                          <a:rPr lang="en-US" sz="2400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𝑖</m:t>
                        </m:r>
                      </m:sub>
                      <m:sup>
                        <m:r>
                          <a:rPr lang="en-US" sz="2400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′</m:t>
                        </m:r>
                      </m:sup>
                    </m:sSubSup>
                    <m:r>
                      <a:rPr lang="en-US" sz="2400">
                        <a:effectLst/>
                        <a:latin typeface="Cambria Math" panose="02040503050406030204" pitchFamily="18" charset="0"/>
                        <a:ea typeface="Calibri"/>
                        <a:cs typeface="Calibri"/>
                      </a:rPr>
                      <m:t>=</m:t>
                    </m:r>
                    <m:sSub>
                      <m:sSubPr>
                        <m:ctrlPr>
                          <a:rPr lang="en-US" sz="2400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</m:ctrlPr>
                      </m:sSubPr>
                      <m:e>
                        <m:r>
                          <a:rPr lang="en-US" sz="2400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𝑦</m:t>
                        </m:r>
                      </m:e>
                      <m:sub>
                        <m:r>
                          <a:rPr lang="en-US" sz="2400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𝑖</m:t>
                        </m:r>
                        <m:r>
                          <a:rPr lang="en-US" sz="2400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,</m:t>
                        </m:r>
                        <m:sSub>
                          <m:sSubPr>
                            <m:ctrlPr>
                              <a:rPr lang="en-US" sz="2400" i="1">
                                <a:effectLst/>
                                <a:latin typeface="Cambria Math" panose="02040503050406030204" pitchFamily="18" charset="0"/>
                                <a:ea typeface="Calibri"/>
                                <a:cs typeface="Calibri"/>
                              </a:rPr>
                            </m:ctrlPr>
                          </m:sSubPr>
                          <m:e>
                            <m:r>
                              <a:rPr lang="en-US" sz="2400" i="1">
                                <a:effectLst/>
                                <a:latin typeface="Cambria Math" panose="02040503050406030204" pitchFamily="18" charset="0"/>
                                <a:ea typeface="Calibri"/>
                                <a:cs typeface="Calibri"/>
                              </a:rPr>
                              <m:t>𝑏</m:t>
                            </m:r>
                          </m:e>
                          <m:sub>
                            <m:r>
                              <a:rPr lang="en-US" sz="2400" i="1">
                                <a:effectLst/>
                                <a:latin typeface="Cambria Math" panose="02040503050406030204" pitchFamily="18" charset="0"/>
                                <a:ea typeface="Calibri"/>
                                <a:cs typeface="Calibri"/>
                              </a:rPr>
                              <m:t>𝑖</m:t>
                            </m:r>
                          </m:sub>
                        </m:sSub>
                      </m:sub>
                    </m:sSub>
                  </m:oMath>
                </a14:m>
                <a:r>
                  <a:rPr lang="en-US" sz="2400" dirty="0">
                    <a:effectLst/>
                    <a:latin typeface="Calibri"/>
                    <a:ea typeface="Calibri"/>
                    <a:cs typeface="Calibri"/>
                  </a:rPr>
                  <a:t>, підпис є дійсним.</a:t>
                </a:r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D306D9C9-D913-10DA-35EC-0737953D5ED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59376" y="1690688"/>
                <a:ext cx="7873248" cy="3806289"/>
              </a:xfrm>
              <a:prstGeom prst="rect">
                <a:avLst/>
              </a:prstGeom>
              <a:blipFill>
                <a:blip r:embed="rId2"/>
                <a:stretch>
                  <a:fillRect l="-1125" t="-1329"/>
                </a:stretch>
              </a:blipFill>
            </p:spPr>
            <p:txBody>
              <a:bodyPr/>
              <a:lstStyle/>
              <a:p>
                <a:r>
                  <a:rPr lang="en-UA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7419430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CD1B4F-0AF6-517B-18F3-54F3F4B264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10242" y="283994"/>
            <a:ext cx="6571515" cy="733927"/>
          </a:xfrm>
        </p:spPr>
        <p:txBody>
          <a:bodyPr>
            <a:normAutofit/>
          </a:bodyPr>
          <a:lstStyle/>
          <a:p>
            <a:r>
              <a:rPr lang="en-US" b="1" dirty="0">
                <a:solidFill>
                  <a:srgbClr val="203864"/>
                </a:solidFill>
                <a:latin typeface="Calibri"/>
              </a:rPr>
              <a:t>Чому LOTS </a:t>
            </a:r>
            <a:r>
              <a:rPr lang="en-US" b="1" dirty="0" err="1">
                <a:solidFill>
                  <a:srgbClr val="203864"/>
                </a:solidFill>
                <a:latin typeface="Calibri"/>
              </a:rPr>
              <a:t>є</a:t>
            </a:r>
            <a:r>
              <a:rPr lang="en-US" b="1" dirty="0">
                <a:solidFill>
                  <a:srgbClr val="203864"/>
                </a:solidFill>
                <a:latin typeface="Calibri"/>
              </a:rPr>
              <a:t> </a:t>
            </a:r>
            <a:r>
              <a:rPr lang="uk-UA" b="1" dirty="0">
                <a:solidFill>
                  <a:srgbClr val="203864"/>
                </a:solidFill>
                <a:latin typeface="Calibri"/>
              </a:rPr>
              <a:t>одноразовим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A5ECB8-2ACD-CE54-11F6-CDDD67D702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457868"/>
            <a:ext cx="10515600" cy="4351338"/>
          </a:xfrm>
        </p:spPr>
        <p:txBody>
          <a:bodyPr>
            <a:normAutofit lnSpcReduction="10000"/>
          </a:bodyPr>
          <a:lstStyle/>
          <a:p>
            <a:pPr marL="0" marR="0" lvl="0" indent="0">
              <a:lnSpc>
                <a:spcPct val="150000"/>
              </a:lnSpc>
              <a:spcAft>
                <a:spcPts val="600"/>
              </a:spcAft>
              <a:buNone/>
              <a:tabLst>
                <a:tab pos="685800" algn="l"/>
              </a:tabLst>
            </a:pPr>
            <a:r>
              <a:rPr lang="en-US" sz="2400" dirty="0">
                <a:effectLst/>
                <a:latin typeface="Calibri"/>
                <a:ea typeface="Calibri"/>
                <a:cs typeface="Calibri"/>
              </a:rPr>
              <a:t>Часткове розкриття приватного ключа</a:t>
            </a:r>
          </a:p>
          <a:p>
            <a:pPr marL="342900" marR="0" lvl="0" indent="-342900">
              <a:lnSpc>
                <a:spcPct val="150000"/>
              </a:lnSpc>
              <a:spcAft>
                <a:spcPts val="600"/>
              </a:spcAft>
              <a:buFont typeface="Symbol" panose="05050102010706020507" pitchFamily="18" charset="2"/>
              <a:buChar char=""/>
              <a:tabLst>
                <a:tab pos="685800" algn="l"/>
              </a:tabLst>
            </a:pPr>
            <a:r>
              <a:rPr lang="en-US" sz="2400" dirty="0">
                <a:effectLst/>
                <a:latin typeface="Calibri"/>
                <a:ea typeface="Calibri"/>
                <a:cs typeface="Calibri"/>
              </a:rPr>
              <a:t>Кожен підпис розкриває половину елементів приватного ключа (по одному для кожного біта хешу повідомлення).</a:t>
            </a:r>
          </a:p>
          <a:p>
            <a:pPr marL="342900" marR="0" lvl="0" indent="-342900">
              <a:lnSpc>
                <a:spcPct val="150000"/>
              </a:lnSpc>
              <a:spcAft>
                <a:spcPts val="600"/>
              </a:spcAft>
              <a:buFont typeface="Symbol" panose="05050102010706020507" pitchFamily="18" charset="2"/>
              <a:buChar char=""/>
              <a:tabLst>
                <a:tab pos="685800" algn="l"/>
              </a:tabLst>
            </a:pPr>
            <a:r>
              <a:rPr lang="en-US" sz="2400" dirty="0">
                <a:effectLst/>
                <a:latin typeface="Calibri"/>
                <a:ea typeface="Calibri"/>
                <a:cs typeface="Calibri"/>
              </a:rPr>
              <a:t>Якщо ви підпишете друге повідомлення, новий підпис розкриє іншу половину елементів приватного ключа.</a:t>
            </a:r>
          </a:p>
          <a:p>
            <a:pPr marL="342900" marR="0" lvl="0" indent="-342900">
              <a:lnSpc>
                <a:spcPct val="150000"/>
              </a:lnSpc>
              <a:spcAft>
                <a:spcPts val="600"/>
              </a:spcAft>
              <a:buFont typeface="Symbol" panose="05050102010706020507" pitchFamily="18" charset="2"/>
              <a:buChar char=""/>
              <a:tabLst>
                <a:tab pos="685800" algn="l"/>
              </a:tabLst>
            </a:pPr>
            <a:r>
              <a:rPr lang="en-US" sz="2400" dirty="0">
                <a:effectLst/>
                <a:latin typeface="Calibri"/>
                <a:ea typeface="Calibri"/>
                <a:cs typeface="Calibri"/>
              </a:rPr>
              <a:t>Зловмисник може об'єднати два підписи, щоб відновити весь приватний </a:t>
            </a:r>
            <a:r>
              <a:rPr lang="en-US" sz="2400" dirty="0" err="1">
                <a:effectLst/>
                <a:latin typeface="Calibri"/>
                <a:ea typeface="Calibri"/>
                <a:cs typeface="Calibri"/>
              </a:rPr>
              <a:t>ключ</a:t>
            </a:r>
            <a:r>
              <a:rPr lang="en-US" sz="2400" dirty="0">
                <a:effectLst/>
                <a:latin typeface="Calibri"/>
                <a:ea typeface="Calibri"/>
                <a:cs typeface="Calibri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3741534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F27BF3-7B9C-E8AA-633A-FB410864BC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49379" y="365126"/>
            <a:ext cx="8093242" cy="812383"/>
          </a:xfrm>
        </p:spPr>
        <p:txBody>
          <a:bodyPr>
            <a:normAutofit/>
          </a:bodyPr>
          <a:lstStyle/>
          <a:p>
            <a:pPr algn="ctr"/>
            <a:r>
              <a:rPr lang="uk-UA" b="1" dirty="0">
                <a:solidFill>
                  <a:schemeClr val="accent1">
                    <a:lumMod val="50000"/>
                  </a:schemeClr>
                </a:solidFill>
                <a:latin typeface="Calibri"/>
              </a:rPr>
              <a:t>Одноразовий підпис </a:t>
            </a:r>
            <a:r>
              <a:rPr lang="uk-UA" b="1" dirty="0" err="1">
                <a:solidFill>
                  <a:schemeClr val="accent1">
                    <a:lumMod val="50000"/>
                  </a:schemeClr>
                </a:solidFill>
                <a:latin typeface="Calibri"/>
              </a:rPr>
              <a:t>Вінтерніца</a:t>
            </a:r>
            <a:endParaRPr lang="en-US" b="1" dirty="0">
              <a:solidFill>
                <a:schemeClr val="accent1">
                  <a:lumMod val="50000"/>
                </a:schemeClr>
              </a:solidFill>
              <a:latin typeface="Calibri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2B1040F-FAFD-26A3-8AD3-EEBC7A2822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5800" y="1248113"/>
            <a:ext cx="10820400" cy="4948555"/>
          </a:xfrm>
        </p:spPr>
        <p:txBody>
          <a:bodyPr>
            <a:normAutofit fontScale="92500" lnSpcReduction="10000"/>
          </a:bodyPr>
          <a:lstStyle/>
          <a:p>
            <a:pPr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200" b="1" i="0" dirty="0">
                <a:effectLst/>
                <a:latin typeface="Calibri"/>
              </a:rPr>
              <a:t>Схема цифрового підпису на </a:t>
            </a:r>
            <a:r>
              <a:rPr lang="en-US" sz="2200" b="1" i="0" dirty="0" err="1">
                <a:effectLst/>
                <a:latin typeface="Calibri"/>
              </a:rPr>
              <a:t>основі</a:t>
            </a:r>
            <a:r>
              <a:rPr lang="en-US" sz="2200" b="1" i="0" dirty="0">
                <a:effectLst/>
                <a:latin typeface="Calibri"/>
              </a:rPr>
              <a:t> </a:t>
            </a:r>
            <a:r>
              <a:rPr lang="en-US" sz="2200" b="1" i="0" dirty="0" err="1">
                <a:effectLst/>
                <a:latin typeface="Calibri"/>
              </a:rPr>
              <a:t>хеш-функції</a:t>
            </a:r>
            <a:endParaRPr lang="en-US" sz="2200" b="0" i="0" dirty="0">
              <a:effectLst/>
              <a:latin typeface="Calibri"/>
            </a:endParaRPr>
          </a:p>
          <a:p>
            <a:pPr algn="l">
              <a:lnSpc>
                <a:spcPct val="150000"/>
              </a:lnSpc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2200" b="0" i="0" dirty="0">
                <a:effectLst/>
                <a:latin typeface="Calibri"/>
              </a:rPr>
              <a:t>Призначена для </a:t>
            </a:r>
            <a:r>
              <a:rPr lang="en-US" sz="2200" b="1" i="0" dirty="0">
                <a:effectLst/>
                <a:latin typeface="Calibri"/>
              </a:rPr>
              <a:t>одноразового використання </a:t>
            </a:r>
            <a:r>
              <a:rPr lang="en-US" sz="2200" b="0" i="0" dirty="0">
                <a:effectLst/>
                <a:latin typeface="Calibri"/>
              </a:rPr>
              <a:t>(кожна пара ключів підписує тільки одне повідомлення).</a:t>
            </a:r>
          </a:p>
          <a:p>
            <a:pPr algn="l">
              <a:lnSpc>
                <a:spcPct val="150000"/>
              </a:lnSpc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2200" b="0" i="0" dirty="0">
                <a:effectLst/>
                <a:latin typeface="Calibri"/>
              </a:rPr>
              <a:t>Базується на безпеці криптографічних хеш-функцій</a:t>
            </a:r>
          </a:p>
          <a:p>
            <a:pPr algn="l">
              <a:lnSpc>
                <a:spcPct val="150000"/>
              </a:lnSpc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US" sz="2200" b="1" i="0" dirty="0">
                <a:effectLst/>
                <a:latin typeface="Calibri"/>
              </a:rPr>
              <a:t>Постквантова </a:t>
            </a:r>
            <a:r>
              <a:rPr lang="en-US" sz="2200" b="1" i="0" dirty="0" err="1">
                <a:effectLst/>
                <a:latin typeface="Calibri"/>
              </a:rPr>
              <a:t>безпека</a:t>
            </a:r>
            <a:r>
              <a:rPr lang="en-US" sz="2200" b="0" i="0" dirty="0">
                <a:effectLst/>
                <a:latin typeface="Calibri"/>
              </a:rPr>
              <a:t>: </a:t>
            </a:r>
            <a:r>
              <a:rPr lang="en-US" sz="2200" b="0" i="0" dirty="0" err="1">
                <a:effectLst/>
                <a:latin typeface="Calibri"/>
              </a:rPr>
              <a:t>Стійка</a:t>
            </a:r>
            <a:r>
              <a:rPr lang="en-US" sz="2200" b="0" i="0" dirty="0">
                <a:effectLst/>
                <a:latin typeface="Calibri"/>
              </a:rPr>
              <a:t> до квантових атак (базується на хеш-функціях, не вразлива до алгоритму Шора).</a:t>
            </a:r>
          </a:p>
          <a:p>
            <a:pPr algn="l">
              <a:lnSpc>
                <a:spcPct val="150000"/>
              </a:lnSpc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US" sz="2200" b="1" i="0" dirty="0" err="1">
                <a:effectLst/>
                <a:latin typeface="Calibri"/>
              </a:rPr>
              <a:t>Простота</a:t>
            </a:r>
            <a:r>
              <a:rPr lang="en-US" sz="2200" b="0" i="0" dirty="0">
                <a:effectLst/>
                <a:latin typeface="Calibri"/>
              </a:rPr>
              <a:t>:</a:t>
            </a:r>
            <a:r>
              <a:rPr lang="uk-UA" sz="2200" b="0" i="0" dirty="0">
                <a:effectLst/>
                <a:latin typeface="Calibri"/>
              </a:rPr>
              <a:t> </a:t>
            </a:r>
            <a:r>
              <a:rPr lang="en-US" sz="2200" b="0" i="0" dirty="0" err="1">
                <a:effectLst/>
                <a:latin typeface="Calibri"/>
              </a:rPr>
              <a:t>Використовує</a:t>
            </a:r>
            <a:r>
              <a:rPr lang="en-US" sz="2200" b="0" i="0" dirty="0">
                <a:effectLst/>
                <a:latin typeface="Calibri"/>
              </a:rPr>
              <a:t> тільки хеш-функції, уникаючи складних математичних операцій, </a:t>
            </a:r>
            <a:r>
              <a:rPr lang="en-US" sz="2200" b="0" i="0" dirty="0" err="1">
                <a:effectLst/>
                <a:latin typeface="Calibri"/>
              </a:rPr>
              <a:t>таких</a:t>
            </a:r>
            <a:r>
              <a:rPr lang="en-US" sz="2200" b="0" i="0" dirty="0">
                <a:effectLst/>
                <a:latin typeface="Calibri"/>
              </a:rPr>
              <a:t> як модульне піднесення до степеня.</a:t>
            </a:r>
          </a:p>
          <a:p>
            <a:pPr algn="l">
              <a:lnSpc>
                <a:spcPct val="150000"/>
              </a:lnSpc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US" sz="2200" b="1" i="0" dirty="0">
                <a:effectLst/>
                <a:latin typeface="Calibri"/>
              </a:rPr>
              <a:t>Одноразове </a:t>
            </a:r>
            <a:r>
              <a:rPr lang="en-US" sz="2200" b="1" i="0" dirty="0" err="1">
                <a:effectLst/>
                <a:latin typeface="Calibri"/>
              </a:rPr>
              <a:t>використання</a:t>
            </a:r>
            <a:r>
              <a:rPr lang="en-US" sz="2200" b="0" i="0" dirty="0">
                <a:effectLst/>
                <a:latin typeface="Calibri"/>
              </a:rPr>
              <a:t>: </a:t>
            </a:r>
            <a:r>
              <a:rPr lang="en-US" sz="2200" b="0" i="0" dirty="0" err="1">
                <a:effectLst/>
                <a:latin typeface="Calibri"/>
              </a:rPr>
              <a:t>Забезпечує</a:t>
            </a:r>
            <a:r>
              <a:rPr lang="en-US" sz="2200" b="0" i="0" dirty="0">
                <a:effectLst/>
                <a:latin typeface="Calibri"/>
              </a:rPr>
              <a:t> безпеку для окремих транзакцій або комунікацій.</a:t>
            </a:r>
          </a:p>
          <a:p>
            <a:pPr algn="l">
              <a:lnSpc>
                <a:spcPct val="150000"/>
              </a:lnSpc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US" sz="2200" b="1" i="0" dirty="0">
                <a:effectLst/>
                <a:latin typeface="Calibri"/>
              </a:rPr>
              <a:t>Компактні </a:t>
            </a:r>
            <a:r>
              <a:rPr lang="en-US" sz="2200" b="1" i="0" dirty="0" err="1">
                <a:effectLst/>
                <a:latin typeface="Calibri"/>
              </a:rPr>
              <a:t>підписи</a:t>
            </a:r>
            <a:r>
              <a:rPr lang="en-US" sz="2200" b="0" i="0" dirty="0">
                <a:effectLst/>
                <a:latin typeface="Calibri"/>
              </a:rPr>
              <a:t>:</a:t>
            </a:r>
            <a:r>
              <a:rPr lang="uk-UA" sz="2200" b="0" i="0" dirty="0">
                <a:effectLst/>
                <a:latin typeface="Calibri"/>
              </a:rPr>
              <a:t> </a:t>
            </a:r>
            <a:r>
              <a:rPr lang="en-US" sz="2200" b="0" i="0" dirty="0" err="1">
                <a:effectLst/>
                <a:latin typeface="Calibri"/>
              </a:rPr>
              <a:t>Менші</a:t>
            </a:r>
            <a:r>
              <a:rPr lang="en-US" sz="2200" b="0" i="0" dirty="0">
                <a:effectLst/>
                <a:latin typeface="Calibri"/>
              </a:rPr>
              <a:t> за інші схеми на основі хеш-функцій (наприклад, підписи </a:t>
            </a:r>
            <a:r>
              <a:rPr lang="en-US" sz="2200" b="0" i="0" dirty="0" err="1">
                <a:effectLst/>
                <a:latin typeface="Calibri"/>
              </a:rPr>
              <a:t>Меркла</a:t>
            </a:r>
            <a:r>
              <a:rPr lang="en-US" sz="2200" b="0" i="0" dirty="0">
                <a:effectLst/>
                <a:latin typeface="Calibri"/>
              </a:rPr>
              <a:t>).</a:t>
            </a:r>
            <a:endParaRPr lang="en-US" sz="2200" dirty="0"/>
          </a:p>
        </p:txBody>
      </p:sp>
    </p:spTree>
    <p:extLst>
      <p:ext uri="{BB962C8B-B14F-4D97-AF65-F5344CB8AC3E}">
        <p14:creationId xmlns:p14="http://schemas.microsoft.com/office/powerpoint/2010/main" val="83116066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1A706C-8A51-C366-F59D-C8D08DDF3D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37973" y="500062"/>
            <a:ext cx="6116053" cy="477086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>
                <a:solidFill>
                  <a:srgbClr val="203864"/>
                </a:solidFill>
                <a:latin typeface="Calibri"/>
              </a:rPr>
              <a:t>WOTS: генерація ключів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36B7EE6-B544-03BD-0F62-90C00428CD7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943099" y="1389898"/>
                <a:ext cx="8305800" cy="5171540"/>
              </a:xfrm>
            </p:spPr>
            <p:txBody>
              <a:bodyPr>
                <a:normAutofit fontScale="92500" lnSpcReduction="10000"/>
              </a:bodyPr>
              <a:lstStyle/>
              <a:p>
                <a:pPr marL="0" marR="0" lvl="0" indent="0">
                  <a:lnSpc>
                    <a:spcPct val="150000"/>
                  </a:lnSpc>
                  <a:spcAft>
                    <a:spcPts val="600"/>
                  </a:spcAft>
                  <a:buNone/>
                  <a:tabLst>
                    <a:tab pos="685800" algn="l"/>
                  </a:tabLst>
                </a:pPr>
                <a:r>
                  <a:rPr lang="en-US" sz="2400" dirty="0">
                    <a:effectLst/>
                    <a:latin typeface="Calibri"/>
                    <a:ea typeface="Calibri"/>
                    <a:cs typeface="Calibri"/>
                  </a:rPr>
                  <a:t>Приватний ключ (</a:t>
                </a:r>
                <a14:m>
                  <m:oMath xmlns:m="http://schemas.openxmlformats.org/officeDocument/2006/math">
                    <m:r>
                      <a:rPr lang="en-US" sz="2400" i="1" smtClean="0">
                        <a:effectLst/>
                        <a:latin typeface="Cambria Math" panose="02040503050406030204" pitchFamily="18" charset="0"/>
                        <a:ea typeface="Calibri"/>
                        <a:cs typeface="Calibri"/>
                      </a:rPr>
                      <m:t>𝑥</m:t>
                    </m:r>
                  </m:oMath>
                </a14:m>
                <a:r>
                  <a:rPr lang="en-US" sz="2400" dirty="0">
                    <a:effectLst/>
                    <a:latin typeface="Calibri"/>
                    <a:ea typeface="Calibri"/>
                    <a:cs typeface="Calibri"/>
                  </a:rPr>
                  <a:t>):</a:t>
                </a:r>
              </a:p>
              <a:p>
                <a:pPr marL="36000" marR="0" lvl="0" indent="-342900">
                  <a:lnSpc>
                    <a:spcPct val="150000"/>
                  </a:lnSpc>
                  <a:spcAft>
                    <a:spcPts val="600"/>
                  </a:spcAft>
                  <a:buFont typeface="Symbol" panose="05050102010706020507" pitchFamily="18" charset="2"/>
                  <a:buChar char=""/>
                  <a:tabLst>
                    <a:tab pos="685800" algn="l"/>
                  </a:tabLst>
                </a:pPr>
                <a:r>
                  <a:rPr lang="en-US" sz="2400" dirty="0">
                    <a:effectLst/>
                    <a:latin typeface="Calibri"/>
                    <a:ea typeface="Calibri"/>
                    <a:cs typeface="Calibri"/>
                  </a:rPr>
                  <a:t>Набір випадкових значень: </a:t>
                </a:r>
                <a14:m>
                  <m:oMath xmlns:m="http://schemas.openxmlformats.org/officeDocument/2006/math">
                    <m:r>
                      <a:rPr lang="en-US" sz="2400" i="1" smtClean="0">
                        <a:effectLst/>
                        <a:latin typeface="Cambria Math" panose="02040503050406030204" pitchFamily="18" charset="0"/>
                        <a:ea typeface="Calibri"/>
                        <a:cs typeface="Calibri"/>
                      </a:rPr>
                      <m:t>𝑥</m:t>
                    </m:r>
                    <m:r>
                      <a:rPr lang="en-US" sz="2400">
                        <a:effectLst/>
                        <a:latin typeface="Cambria Math" panose="02040503050406030204" pitchFamily="18" charset="0"/>
                        <a:ea typeface="Calibri"/>
                        <a:cs typeface="Calibri"/>
                      </a:rPr>
                      <m:t>=</m:t>
                    </m:r>
                    <m:d>
                      <m:dPr>
                        <m:ctrlPr>
                          <a:rPr lang="en-US" sz="2400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400" i="1">
                                <a:effectLst/>
                                <a:latin typeface="Cambria Math" panose="02040503050406030204" pitchFamily="18" charset="0"/>
                                <a:ea typeface="Calibri"/>
                                <a:cs typeface="Calibri"/>
                              </a:rPr>
                            </m:ctrlPr>
                          </m:sSubPr>
                          <m:e>
                            <m:r>
                              <a:rPr lang="en-US" sz="2400" i="1">
                                <a:effectLst/>
                                <a:latin typeface="Cambria Math" panose="02040503050406030204" pitchFamily="18" charset="0"/>
                                <a:ea typeface="Calibri"/>
                                <a:cs typeface="Calibri"/>
                              </a:rPr>
                              <m:t>𝑥</m:t>
                            </m:r>
                          </m:e>
                          <m:sub>
                            <m:r>
                              <a:rPr lang="en-US" sz="2400">
                                <a:effectLst/>
                                <a:latin typeface="Cambria Math" panose="02040503050406030204" pitchFamily="18" charset="0"/>
                                <a:ea typeface="Calibri"/>
                                <a:cs typeface="Calibri"/>
                              </a:rPr>
                              <m:t>1</m:t>
                            </m:r>
                          </m:sub>
                        </m:sSub>
                        <m:r>
                          <a:rPr lang="en-US" sz="2400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,</m:t>
                        </m:r>
                        <m:sSub>
                          <m:sSubPr>
                            <m:ctrlPr>
                              <a:rPr lang="en-US" sz="2400" i="1">
                                <a:effectLst/>
                                <a:latin typeface="Cambria Math" panose="02040503050406030204" pitchFamily="18" charset="0"/>
                                <a:ea typeface="Calibri"/>
                                <a:cs typeface="Calibri"/>
                              </a:rPr>
                            </m:ctrlPr>
                          </m:sSubPr>
                          <m:e>
                            <m:r>
                              <a:rPr lang="en-US" sz="2400" i="1">
                                <a:effectLst/>
                                <a:latin typeface="Cambria Math" panose="02040503050406030204" pitchFamily="18" charset="0"/>
                                <a:ea typeface="Calibri"/>
                                <a:cs typeface="Calibri"/>
                              </a:rPr>
                              <m:t>𝑥</m:t>
                            </m:r>
                          </m:e>
                          <m:sub>
                            <m:r>
                              <a:rPr lang="en-US" sz="2400">
                                <a:effectLst/>
                                <a:latin typeface="Cambria Math" panose="02040503050406030204" pitchFamily="18" charset="0"/>
                                <a:ea typeface="Calibri"/>
                                <a:cs typeface="Calibri"/>
                              </a:rPr>
                              <m:t>2</m:t>
                            </m:r>
                          </m:sub>
                        </m:sSub>
                        <m:r>
                          <a:rPr lang="en-US" sz="2400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,…,</m:t>
                        </m:r>
                        <m:sSub>
                          <m:sSubPr>
                            <m:ctrlPr>
                              <a:rPr lang="en-US" sz="2400" i="1">
                                <a:effectLst/>
                                <a:latin typeface="Cambria Math" panose="02040503050406030204" pitchFamily="18" charset="0"/>
                                <a:ea typeface="Calibri"/>
                                <a:cs typeface="Calibri"/>
                              </a:rPr>
                            </m:ctrlPr>
                          </m:sSubPr>
                          <m:e>
                            <m:r>
                              <a:rPr lang="en-US" sz="2400" i="1">
                                <a:effectLst/>
                                <a:latin typeface="Cambria Math" panose="02040503050406030204" pitchFamily="18" charset="0"/>
                                <a:ea typeface="Calibri"/>
                                <a:cs typeface="Calibri"/>
                              </a:rPr>
                              <m:t>𝑥</m:t>
                            </m:r>
                          </m:e>
                          <m:sub>
                            <m:r>
                              <a:rPr lang="en-US" sz="2400" i="1">
                                <a:effectLst/>
                                <a:latin typeface="Cambria Math" panose="02040503050406030204" pitchFamily="18" charset="0"/>
                                <a:ea typeface="Calibri"/>
                                <a:cs typeface="Calibri"/>
                              </a:rPr>
                              <m:t>𝑛</m:t>
                            </m:r>
                          </m:sub>
                        </m:sSub>
                      </m:e>
                    </m:d>
                  </m:oMath>
                </a14:m>
                <a:endParaRPr lang="en-US" sz="2400" dirty="0">
                  <a:effectLst/>
                  <a:latin typeface="Calibri"/>
                  <a:ea typeface="Calibri"/>
                  <a:cs typeface="Calibri"/>
                </a:endParaRPr>
              </a:p>
              <a:p>
                <a:pPr marL="36000" marR="0" lvl="0" indent="-342900">
                  <a:lnSpc>
                    <a:spcPct val="150000"/>
                  </a:lnSpc>
                  <a:spcAft>
                    <a:spcPts val="600"/>
                  </a:spcAft>
                  <a:buFont typeface="Symbol" panose="05050102010706020507" pitchFamily="18" charset="2"/>
                  <a:buChar char=""/>
                  <a:tabLst>
                    <a:tab pos="685800" algn="l"/>
                  </a:tabLst>
                </a:pPr>
                <a:r>
                  <a:rPr lang="en-US" sz="2400" dirty="0">
                    <a:effectLst/>
                    <a:latin typeface="Calibri"/>
                    <a:ea typeface="Calibri"/>
                    <a:cs typeface="Calibri"/>
                  </a:rPr>
                  <a:t>Кожен є випадковим числом (наприклад, 256 </a:t>
                </a:r>
                <a:r>
                  <a:rPr lang="en-US" sz="2400" dirty="0" err="1">
                    <a:effectLst/>
                    <a:latin typeface="Calibri"/>
                    <a:ea typeface="Calibri"/>
                    <a:cs typeface="Calibri"/>
                  </a:rPr>
                  <a:t>бітів</a:t>
                </a:r>
                <a:r>
                  <a:rPr lang="en-US" sz="2400" dirty="0">
                    <a:effectLst/>
                    <a:latin typeface="Calibri"/>
                    <a:ea typeface="Calibri"/>
                    <a:cs typeface="Calibri"/>
                  </a:rPr>
                  <a:t>).</a:t>
                </a:r>
                <a:endParaRPr lang="uk-UA" sz="2400" dirty="0">
                  <a:effectLst/>
                  <a:latin typeface="Calibri"/>
                  <a:ea typeface="Calibri"/>
                  <a:cs typeface="Calibri"/>
                </a:endParaRPr>
              </a:p>
              <a:p>
                <a:pPr marL="0" marR="0" lvl="0" indent="0">
                  <a:lnSpc>
                    <a:spcPct val="150000"/>
                  </a:lnSpc>
                  <a:spcAft>
                    <a:spcPts val="600"/>
                  </a:spcAft>
                  <a:buNone/>
                  <a:tabLst>
                    <a:tab pos="685800" algn="l"/>
                  </a:tabLst>
                </a:pPr>
                <a:r>
                  <a:rPr lang="en-US" sz="2400" dirty="0" err="1">
                    <a:effectLst/>
                    <a:latin typeface="Calibri"/>
                    <a:ea typeface="Calibri"/>
                    <a:cs typeface="Calibri"/>
                  </a:rPr>
                  <a:t>Відкритий</a:t>
                </a:r>
                <a:r>
                  <a:rPr lang="en-US" sz="2400" dirty="0">
                    <a:effectLst/>
                    <a:latin typeface="Calibri"/>
                    <a:ea typeface="Calibri"/>
                    <a:cs typeface="Calibri"/>
                  </a:rPr>
                  <a:t> ключ (y):</a:t>
                </a:r>
              </a:p>
              <a:p>
                <a:pPr marL="36000" marR="0" lvl="0" indent="-342900">
                  <a:lnSpc>
                    <a:spcPct val="150000"/>
                  </a:lnSpc>
                  <a:spcAft>
                    <a:spcPts val="1200"/>
                  </a:spcAft>
                  <a:buFont typeface="Symbol" panose="05050102010706020507" pitchFamily="18" charset="2"/>
                  <a:buChar char=""/>
                  <a:tabLst>
                    <a:tab pos="685800" algn="l"/>
                  </a:tabLst>
                </a:pPr>
                <a:r>
                  <a:rPr lang="en-US" sz="2400" dirty="0">
                    <a:effectLst/>
                    <a:latin typeface="Calibri"/>
                    <a:ea typeface="Calibri"/>
                    <a:cs typeface="Calibri"/>
                  </a:rPr>
                  <a:t>Отримується шляхом застосування хеш-функції </a:t>
                </a:r>
                <a14:m>
                  <m:oMath xmlns:m="http://schemas.openxmlformats.org/officeDocument/2006/math">
                    <m:r>
                      <a:rPr lang="en-US" sz="2400" i="1" smtClean="0">
                        <a:effectLst/>
                        <a:latin typeface="Cambria Math" panose="02040503050406030204" pitchFamily="18" charset="0"/>
                        <a:ea typeface="Calibri"/>
                        <a:cs typeface="Calibri"/>
                      </a:rPr>
                      <m:t>𝑤</m:t>
                    </m:r>
                    <m:r>
                      <a:rPr lang="en-US" sz="2400" i="1" smtClean="0">
                        <a:effectLst/>
                        <a:latin typeface="Cambria Math" panose="02040503050406030204" pitchFamily="18" charset="0"/>
                        <a:ea typeface="Calibri"/>
                        <a:cs typeface="Calibri"/>
                      </a:rPr>
                      <m:t> </m:t>
                    </m:r>
                  </m:oMath>
                </a14:m>
                <a:r>
                  <a:rPr lang="en-US" sz="2400" dirty="0">
                    <a:effectLst/>
                    <a:latin typeface="Calibri"/>
                    <a:ea typeface="Calibri"/>
                    <a:cs typeface="Calibri"/>
                  </a:rPr>
                  <a:t>разів до кожного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𝑥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𝑖</m:t>
                        </m:r>
                      </m:sub>
                    </m:sSub>
                    <m:r>
                      <a:rPr lang="en-US" sz="2400" i="1">
                        <a:latin typeface="Cambria Math" panose="02040503050406030204" pitchFamily="18" charset="0"/>
                        <a:ea typeface="Calibri"/>
                        <a:cs typeface="Calibri"/>
                      </a:rPr>
                      <m:t> </m:t>
                    </m:r>
                  </m:oMath>
                </a14:m>
                <a:r>
                  <a:rPr lang="en-US" sz="2400" dirty="0">
                    <a:effectLst/>
                    <a:latin typeface="Calibri"/>
                    <a:ea typeface="Calibri"/>
                    <a:cs typeface="Calibri"/>
                  </a:rPr>
                  <a:t>:</a:t>
                </a:r>
                <a14:m>
                  <m:oMath xmlns:m="http://schemas.openxmlformats.org/officeDocument/2006/math">
                    <m:r>
                      <a:rPr lang="en-US" sz="2400" i="1">
                        <a:effectLst/>
                        <a:latin typeface="Cambria Math" panose="02040503050406030204" pitchFamily="18" charset="0"/>
                        <a:ea typeface="Calibri"/>
                        <a:cs typeface="Calibri"/>
                      </a:rPr>
                      <m:t>𝑦</m:t>
                    </m:r>
                    <m:r>
                      <a:rPr lang="en-US" sz="2400">
                        <a:effectLst/>
                        <a:latin typeface="Cambria Math" panose="02040503050406030204" pitchFamily="18" charset="0"/>
                        <a:ea typeface="Calibri"/>
                        <a:cs typeface="Calibri"/>
                      </a:rPr>
                      <m:t>=</m:t>
                    </m:r>
                    <m:d>
                      <m:dPr>
                        <m:ctrlPr>
                          <a:rPr lang="en-US" sz="2400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2400" i="1">
                                <a:effectLst/>
                                <a:latin typeface="Cambria Math" panose="02040503050406030204" pitchFamily="18" charset="0"/>
                                <a:ea typeface="Calibri"/>
                                <a:cs typeface="Calibri"/>
                              </a:rPr>
                            </m:ctrlPr>
                          </m:sSupPr>
                          <m:e>
                            <m:r>
                              <a:rPr lang="en-US" sz="2400" i="1">
                                <a:effectLst/>
                                <a:latin typeface="Cambria Math" panose="02040503050406030204" pitchFamily="18" charset="0"/>
                                <a:ea typeface="Calibri"/>
                                <a:cs typeface="Calibri"/>
                              </a:rPr>
                              <m:t>𝐻</m:t>
                            </m:r>
                          </m:e>
                          <m:sup>
                            <m:r>
                              <a:rPr lang="en-US" sz="2400" i="1">
                                <a:effectLst/>
                                <a:latin typeface="Cambria Math" panose="02040503050406030204" pitchFamily="18" charset="0"/>
                                <a:ea typeface="Calibri"/>
                                <a:cs typeface="Calibri"/>
                              </a:rPr>
                              <m:t>𝑤</m:t>
                            </m:r>
                          </m:sup>
                        </m:sSup>
                        <m:d>
                          <m:dPr>
                            <m:ctrlPr>
                              <a:rPr lang="en-US" sz="2400" i="1">
                                <a:effectLst/>
                                <a:latin typeface="Cambria Math" panose="02040503050406030204" pitchFamily="18" charset="0"/>
                                <a:ea typeface="Calibri"/>
                                <a:cs typeface="Calibri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2400" i="1">
                                    <a:effectLst/>
                                    <a:latin typeface="Cambria Math" panose="02040503050406030204" pitchFamily="18" charset="0"/>
                                    <a:ea typeface="Calibri"/>
                                    <a:cs typeface="Calibri"/>
                                  </a:rPr>
                                </m:ctrlPr>
                              </m:sSubPr>
                              <m:e>
                                <m:r>
                                  <a:rPr lang="en-US" sz="2400" i="1">
                                    <a:effectLst/>
                                    <a:latin typeface="Cambria Math" panose="02040503050406030204" pitchFamily="18" charset="0"/>
                                    <a:ea typeface="Calibri"/>
                                    <a:cs typeface="Calibri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sz="2400">
                                    <a:effectLst/>
                                    <a:latin typeface="Cambria Math" panose="02040503050406030204" pitchFamily="18" charset="0"/>
                                    <a:ea typeface="Calibri"/>
                                    <a:cs typeface="Calibri"/>
                                  </a:rPr>
                                  <m:t>1</m:t>
                                </m:r>
                              </m:sub>
                            </m:sSub>
                          </m:e>
                        </m:d>
                        <m:r>
                          <a:rPr lang="en-US" sz="2400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,</m:t>
                        </m:r>
                        <m:sSup>
                          <m:sSupPr>
                            <m:ctrlPr>
                              <a:rPr lang="en-US" sz="2400" i="1">
                                <a:effectLst/>
                                <a:latin typeface="Cambria Math" panose="02040503050406030204" pitchFamily="18" charset="0"/>
                                <a:ea typeface="Calibri"/>
                                <a:cs typeface="Calibri"/>
                              </a:rPr>
                            </m:ctrlPr>
                          </m:sSupPr>
                          <m:e>
                            <m:r>
                              <a:rPr lang="en-US" sz="2400" i="1">
                                <a:effectLst/>
                                <a:latin typeface="Cambria Math" panose="02040503050406030204" pitchFamily="18" charset="0"/>
                                <a:ea typeface="Calibri"/>
                                <a:cs typeface="Calibri"/>
                              </a:rPr>
                              <m:t>𝐻</m:t>
                            </m:r>
                          </m:e>
                          <m:sup>
                            <m:r>
                              <a:rPr lang="en-US" sz="2400" i="1">
                                <a:effectLst/>
                                <a:latin typeface="Cambria Math" panose="02040503050406030204" pitchFamily="18" charset="0"/>
                                <a:ea typeface="Calibri"/>
                                <a:cs typeface="Calibri"/>
                              </a:rPr>
                              <m:t>𝑤</m:t>
                            </m:r>
                          </m:sup>
                        </m:sSup>
                        <m:d>
                          <m:dPr>
                            <m:ctrlPr>
                              <a:rPr lang="en-US" sz="2400" i="1">
                                <a:effectLst/>
                                <a:latin typeface="Cambria Math" panose="02040503050406030204" pitchFamily="18" charset="0"/>
                                <a:ea typeface="Calibri"/>
                                <a:cs typeface="Calibri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2400" i="1">
                                    <a:effectLst/>
                                    <a:latin typeface="Cambria Math" panose="02040503050406030204" pitchFamily="18" charset="0"/>
                                    <a:ea typeface="Calibri"/>
                                    <a:cs typeface="Calibri"/>
                                  </a:rPr>
                                </m:ctrlPr>
                              </m:sSubPr>
                              <m:e>
                                <m:r>
                                  <a:rPr lang="en-US" sz="2400" i="1">
                                    <a:effectLst/>
                                    <a:latin typeface="Cambria Math" panose="02040503050406030204" pitchFamily="18" charset="0"/>
                                    <a:ea typeface="Calibri"/>
                                    <a:cs typeface="Calibri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sz="2400">
                                    <a:effectLst/>
                                    <a:latin typeface="Cambria Math" panose="02040503050406030204" pitchFamily="18" charset="0"/>
                                    <a:ea typeface="Calibri"/>
                                    <a:cs typeface="Calibri"/>
                                  </a:rPr>
                                  <m:t>2</m:t>
                                </m:r>
                              </m:sub>
                            </m:sSub>
                          </m:e>
                        </m:d>
                        <m:r>
                          <a:rPr lang="en-US" sz="2400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,…,</m:t>
                        </m:r>
                        <m:sSup>
                          <m:sSupPr>
                            <m:ctrlPr>
                              <a:rPr lang="en-US" sz="2400" i="1">
                                <a:effectLst/>
                                <a:latin typeface="Cambria Math" panose="02040503050406030204" pitchFamily="18" charset="0"/>
                                <a:ea typeface="Calibri"/>
                                <a:cs typeface="Calibri"/>
                              </a:rPr>
                            </m:ctrlPr>
                          </m:sSupPr>
                          <m:e>
                            <m:r>
                              <a:rPr lang="en-US" sz="2400" i="1">
                                <a:effectLst/>
                                <a:latin typeface="Cambria Math" panose="02040503050406030204" pitchFamily="18" charset="0"/>
                                <a:ea typeface="Calibri"/>
                                <a:cs typeface="Calibri"/>
                              </a:rPr>
                              <m:t>𝐻</m:t>
                            </m:r>
                          </m:e>
                          <m:sup>
                            <m:r>
                              <a:rPr lang="en-US" sz="2400" i="1">
                                <a:effectLst/>
                                <a:latin typeface="Cambria Math" panose="02040503050406030204" pitchFamily="18" charset="0"/>
                                <a:ea typeface="Calibri"/>
                                <a:cs typeface="Calibri"/>
                              </a:rPr>
                              <m:t>𝑤</m:t>
                            </m:r>
                          </m:sup>
                        </m:sSup>
                        <m:d>
                          <m:dPr>
                            <m:ctrlPr>
                              <a:rPr lang="en-US" sz="2400" i="1">
                                <a:effectLst/>
                                <a:latin typeface="Cambria Math" panose="02040503050406030204" pitchFamily="18" charset="0"/>
                                <a:ea typeface="Calibri"/>
                                <a:cs typeface="Calibri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2400" i="1">
                                    <a:effectLst/>
                                    <a:latin typeface="Cambria Math" panose="02040503050406030204" pitchFamily="18" charset="0"/>
                                    <a:ea typeface="Calibri"/>
                                    <a:cs typeface="Calibri"/>
                                  </a:rPr>
                                </m:ctrlPr>
                              </m:sSubPr>
                              <m:e>
                                <m:r>
                                  <a:rPr lang="en-US" sz="2400" i="1">
                                    <a:effectLst/>
                                    <a:latin typeface="Cambria Math" panose="02040503050406030204" pitchFamily="18" charset="0"/>
                                    <a:ea typeface="Calibri"/>
                                    <a:cs typeface="Calibri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sz="2400" i="1">
                                    <a:effectLst/>
                                    <a:latin typeface="Cambria Math" panose="02040503050406030204" pitchFamily="18" charset="0"/>
                                    <a:ea typeface="Calibri"/>
                                    <a:cs typeface="Calibri"/>
                                  </a:rPr>
                                  <m:t>𝑛</m:t>
                                </m:r>
                              </m:sub>
                            </m:sSub>
                          </m:e>
                        </m:d>
                      </m:e>
                    </m:d>
                  </m:oMath>
                </a14:m>
                <a:endParaRPr lang="en-US" sz="2400" dirty="0">
                  <a:effectLst/>
                  <a:latin typeface="Calibri"/>
                  <a:ea typeface="Calibri"/>
                  <a:cs typeface="Calibri"/>
                </a:endParaRPr>
              </a:p>
              <a:p>
                <a:pPr marL="36000" marR="0" lvl="0" indent="-342900">
                  <a:lnSpc>
                    <a:spcPct val="150000"/>
                  </a:lnSpc>
                  <a:spcAft>
                    <a:spcPts val="600"/>
                  </a:spcAft>
                  <a:buFont typeface="Symbol" panose="05050102010706020507" pitchFamily="18" charset="2"/>
                  <a:buChar char=""/>
                  <a:tabLst>
                    <a:tab pos="685800" algn="l"/>
                  </a:tabLst>
                </a:pPr>
                <a14:m>
                  <m:oMath xmlns:m="http://schemas.openxmlformats.org/officeDocument/2006/math">
                    <m:r>
                      <a:rPr lang="en-US" sz="2400" i="1" smtClean="0">
                        <a:effectLst/>
                        <a:latin typeface="Cambria Math" panose="02040503050406030204" pitchFamily="18" charset="0"/>
                        <a:ea typeface="Calibri"/>
                        <a:cs typeface="Calibri"/>
                      </a:rPr>
                      <m:t>𝐻</m:t>
                    </m:r>
                  </m:oMath>
                </a14:m>
                <a:r>
                  <a:rPr lang="en-US" sz="2400" dirty="0">
                    <a:effectLst/>
                    <a:latin typeface="Calibri"/>
                    <a:ea typeface="Calibri"/>
                    <a:cs typeface="Calibri"/>
                  </a:rPr>
                  <a:t> є криптографічною хеш-функцією (наприклад, SHA-256).</a:t>
                </a:r>
              </a:p>
              <a:p>
                <a:pPr marL="36000" marR="0" lvl="0" indent="-342900">
                  <a:lnSpc>
                    <a:spcPct val="150000"/>
                  </a:lnSpc>
                  <a:spcAft>
                    <a:spcPts val="600"/>
                  </a:spcAft>
                  <a:buFont typeface="Symbol" panose="05050102010706020507" pitchFamily="18" charset="2"/>
                  <a:buChar char=""/>
                  <a:tabLst>
                    <a:tab pos="685800" algn="l"/>
                  </a:tabLst>
                </a:pPr>
                <a14:m>
                  <m:oMath xmlns:m="http://schemas.openxmlformats.org/officeDocument/2006/math">
                    <m:r>
                      <a:rPr lang="en-US" sz="2400" i="1" smtClean="0">
                        <a:effectLst/>
                        <a:latin typeface="Cambria Math" panose="02040503050406030204" pitchFamily="18" charset="0"/>
                        <a:ea typeface="Calibri"/>
                        <a:cs typeface="Calibri"/>
                      </a:rPr>
                      <m:t>𝑤</m:t>
                    </m:r>
                    <m:r>
                      <a:rPr lang="en-US" sz="2400" i="1" smtClean="0">
                        <a:effectLst/>
                        <a:latin typeface="Cambria Math" panose="02040503050406030204" pitchFamily="18" charset="0"/>
                        <a:ea typeface="Calibri"/>
                        <a:cs typeface="Calibri"/>
                      </a:rPr>
                      <m:t> </m:t>
                    </m:r>
                  </m:oMath>
                </a14:m>
                <a:r>
                  <a:rPr lang="en-US" sz="2400" dirty="0">
                    <a:effectLst/>
                    <a:latin typeface="Calibri"/>
                    <a:ea typeface="Calibri"/>
                    <a:cs typeface="Calibri"/>
                  </a:rPr>
                  <a:t>є параметром (</a:t>
                </a:r>
                <a:r>
                  <a:rPr lang="en-US" sz="2400" dirty="0" err="1">
                    <a:effectLst/>
                    <a:latin typeface="Calibri"/>
                    <a:ea typeface="Calibri"/>
                    <a:cs typeface="Calibri"/>
                  </a:rPr>
                  <a:t>наприклад</a:t>
                </a:r>
                <a:r>
                  <a:rPr lang="en-US" sz="2400" dirty="0">
                    <a:effectLst/>
                    <a:latin typeface="Calibri"/>
                    <a:ea typeface="Calibri"/>
                    <a:cs typeface="Calibri"/>
                  </a:rPr>
                  <a:t>,</a:t>
                </a:r>
                <a:r>
                  <a:rPr lang="uk-UA" sz="2400" dirty="0">
                    <a:effectLst/>
                    <a:latin typeface="Calibri"/>
                    <a:ea typeface="Calibri"/>
                    <a:cs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  <a:ea typeface="Calibri"/>
                        <a:cs typeface="Calibri"/>
                      </a:rPr>
                      <m:t>𝑤</m:t>
                    </m:r>
                    <m:r>
                      <a:rPr lang="en-US" sz="2400">
                        <a:latin typeface="Cambria Math" panose="02040503050406030204" pitchFamily="18" charset="0"/>
                        <a:ea typeface="Calibri"/>
                        <a:cs typeface="Calibri"/>
                      </a:rPr>
                      <m:t>=16</m:t>
                    </m:r>
                  </m:oMath>
                </a14:m>
                <a:r>
                  <a:rPr lang="en-US" sz="2400" dirty="0">
                    <a:effectLst/>
                    <a:latin typeface="Calibri"/>
                    <a:ea typeface="Calibri"/>
                    <a:cs typeface="Calibri"/>
                  </a:rPr>
                  <a:t> ).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36B7EE6-B544-03BD-0F62-90C00428CD7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943099" y="1389898"/>
                <a:ext cx="8305800" cy="5171540"/>
              </a:xfrm>
              <a:blipFill>
                <a:blip r:embed="rId2"/>
                <a:stretch>
                  <a:fillRect l="-1070" b="-2206"/>
                </a:stretch>
              </a:blipFill>
            </p:spPr>
            <p:txBody>
              <a:bodyPr/>
              <a:lstStyle/>
              <a:p>
                <a:r>
                  <a:rPr lang="en-UA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909508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E12A03-4CF5-71CA-4C7A-ABB86C0D20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21405" y="214122"/>
            <a:ext cx="6549189" cy="749078"/>
          </a:xfrm>
        </p:spPr>
        <p:txBody>
          <a:bodyPr/>
          <a:lstStyle/>
          <a:p>
            <a:pPr algn="ctr"/>
            <a:r>
              <a:rPr lang="en-US" b="1" dirty="0">
                <a:solidFill>
                  <a:srgbClr val="203864"/>
                </a:solidFill>
                <a:latin typeface="Calibri"/>
              </a:rPr>
              <a:t>WOTS: генерація підпису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7641280-27B9-498F-665A-8173B37EB923}"/>
                  </a:ext>
                </a:extLst>
              </p:cNvPr>
              <p:cNvSpPr txBox="1"/>
              <p:nvPr/>
            </p:nvSpPr>
            <p:spPr>
              <a:xfrm>
                <a:off x="457200" y="963200"/>
                <a:ext cx="11277600" cy="5783589"/>
              </a:xfrm>
              <a:prstGeom prst="rect">
                <a:avLst/>
              </a:prstGeom>
              <a:noFill/>
            </p:spPr>
            <p:txBody>
              <a:bodyPr wrap="square"/>
              <a:lstStyle/>
              <a:p>
                <a:pPr marL="360000" marR="0">
                  <a:spcAft>
                    <a:spcPts val="1100"/>
                  </a:spcAft>
                </a:pPr>
                <a:r>
                  <a:rPr lang="en-US" b="1" dirty="0">
                    <a:effectLst/>
                    <a:latin typeface="Calibri"/>
                    <a:ea typeface="Calibri"/>
                    <a:cs typeface="Calibri"/>
                  </a:rPr>
                  <a:t>Крок 1</a:t>
                </a:r>
                <a:r>
                  <a:rPr lang="en-US" dirty="0">
                    <a:effectLst/>
                    <a:latin typeface="Calibri"/>
                    <a:ea typeface="Calibri"/>
                    <a:cs typeface="Calibri"/>
                  </a:rPr>
                  <a:t>: Хешування повідомлення</a:t>
                </a:r>
              </a:p>
              <a:p>
                <a:pPr marL="360000" marR="0" lvl="0" indent="-342900">
                  <a:spcAft>
                    <a:spcPts val="600"/>
                  </a:spcAft>
                  <a:buFont typeface="Symbol" panose="05050102010706020507" pitchFamily="18" charset="2"/>
                  <a:buChar char=""/>
                  <a:tabLst>
                    <a:tab pos="685800" algn="l"/>
                  </a:tabLst>
                </a:pPr>
                <a:r>
                  <a:rPr lang="en-US" dirty="0">
                    <a:effectLst/>
                    <a:latin typeface="Calibri"/>
                    <a:ea typeface="Calibri"/>
                    <a:cs typeface="Calibri"/>
                  </a:rPr>
                  <a:t>Хешуйте повідомлення </a:t>
                </a:r>
                <a14:m>
                  <m:oMath xmlns:m="http://schemas.openxmlformats.org/officeDocument/2006/math">
                    <m:r>
                      <a:rPr lang="en-US" i="1" smtClean="0">
                        <a:effectLst/>
                        <a:latin typeface="Cambria Math" panose="02040503050406030204" pitchFamily="18" charset="0"/>
                        <a:ea typeface="Calibri"/>
                        <a:cs typeface="Calibri"/>
                      </a:rPr>
                      <m:t>𝑚</m:t>
                    </m:r>
                  </m:oMath>
                </a14:m>
                <a:r>
                  <a:rPr lang="en-US" dirty="0">
                    <a:effectLst/>
                    <a:latin typeface="Calibri"/>
                    <a:ea typeface="Calibri"/>
                    <a:cs typeface="Calibri"/>
                  </a:rPr>
                  <a:t>, щоб отримати дайджест фіксованої довжини: </a:t>
                </a:r>
                <a14:m>
                  <m:oMath xmlns:m="http://schemas.openxmlformats.org/officeDocument/2006/math">
                    <m:r>
                      <a:rPr lang="en-US" i="1">
                        <a:effectLst/>
                        <a:latin typeface="Cambria Math" panose="02040503050406030204" pitchFamily="18" charset="0"/>
                        <a:ea typeface="Calibri"/>
                        <a:cs typeface="Calibri"/>
                      </a:rPr>
                      <m:t>h</m:t>
                    </m:r>
                    <m:r>
                      <a:rPr lang="en-US">
                        <a:effectLst/>
                        <a:latin typeface="Cambria Math" panose="02040503050406030204" pitchFamily="18" charset="0"/>
                        <a:ea typeface="Calibri"/>
                        <a:cs typeface="Calibri"/>
                      </a:rPr>
                      <m:t>=</m:t>
                    </m:r>
                    <m:r>
                      <a:rPr lang="en-US" i="1">
                        <a:effectLst/>
                        <a:latin typeface="Cambria Math" panose="02040503050406030204" pitchFamily="18" charset="0"/>
                        <a:ea typeface="Calibri"/>
                        <a:cs typeface="Calibri"/>
                      </a:rPr>
                      <m:t>𝐻</m:t>
                    </m:r>
                    <m:r>
                      <a:rPr lang="en-US">
                        <a:effectLst/>
                        <a:latin typeface="Cambria Math" panose="02040503050406030204" pitchFamily="18" charset="0"/>
                        <a:ea typeface="Calibri"/>
                        <a:cs typeface="Calibri"/>
                      </a:rPr>
                      <m:t>(</m:t>
                    </m:r>
                    <m:r>
                      <a:rPr lang="en-US" i="1">
                        <a:effectLst/>
                        <a:latin typeface="Cambria Math" panose="02040503050406030204" pitchFamily="18" charset="0"/>
                        <a:ea typeface="Calibri"/>
                        <a:cs typeface="Calibri"/>
                      </a:rPr>
                      <m:t>𝑚</m:t>
                    </m:r>
                    <m:r>
                      <a:rPr lang="en-US">
                        <a:effectLst/>
                        <a:latin typeface="Cambria Math" panose="02040503050406030204" pitchFamily="18" charset="0"/>
                        <a:ea typeface="Calibri"/>
                        <a:cs typeface="Calibri"/>
                      </a:rPr>
                      <m:t>)</m:t>
                    </m:r>
                  </m:oMath>
                </a14:m>
                <a:endParaRPr lang="en-US" dirty="0">
                  <a:effectLst/>
                  <a:latin typeface="Calibri"/>
                  <a:ea typeface="Calibri"/>
                  <a:cs typeface="Calibri"/>
                </a:endParaRPr>
              </a:p>
              <a:p>
                <a:pPr marL="360000" marR="0" lvl="0">
                  <a:spcAft>
                    <a:spcPts val="600"/>
                  </a:spcAft>
                  <a:tabLst>
                    <a:tab pos="685800" algn="l"/>
                  </a:tabLst>
                </a:pPr>
                <a:r>
                  <a:rPr lang="en-US" dirty="0">
                    <a:effectLst/>
                    <a:latin typeface="Calibri"/>
                    <a:ea typeface="Calibri"/>
                    <a:cs typeface="Calibri"/>
                  </a:rPr>
                  <a:t>Приклад: </a:t>
                </a:r>
                <a:r>
                  <a:rPr lang="en-US" dirty="0" err="1">
                    <a:effectLst/>
                    <a:latin typeface="Calibri"/>
                    <a:ea typeface="Calibri"/>
                    <a:cs typeface="Calibri"/>
                  </a:rPr>
                  <a:t>Якщо</a:t>
                </a:r>
                <a:r>
                  <a:rPr lang="uk-UA" dirty="0">
                    <a:effectLst/>
                    <a:latin typeface="Calibri"/>
                    <a:ea typeface="Calibri"/>
                    <a:cs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i="1" smtClean="0">
                        <a:effectLst/>
                        <a:latin typeface="Cambria Math" panose="02040503050406030204" pitchFamily="18" charset="0"/>
                        <a:ea typeface="Calibri"/>
                        <a:cs typeface="Calibri"/>
                      </a:rPr>
                      <m:t>𝐻</m:t>
                    </m:r>
                    <m:r>
                      <a:rPr lang="en-US">
                        <a:effectLst/>
                        <a:latin typeface="Cambria Math" panose="02040503050406030204" pitchFamily="18" charset="0"/>
                        <a:ea typeface="Calibri"/>
                        <a:cs typeface="Calibri"/>
                      </a:rPr>
                      <m:t>(</m:t>
                    </m:r>
                    <m:r>
                      <a:rPr lang="en-US" i="1">
                        <a:effectLst/>
                        <a:latin typeface="Cambria Math" panose="02040503050406030204" pitchFamily="18" charset="0"/>
                        <a:ea typeface="Calibri"/>
                        <a:cs typeface="Calibri"/>
                      </a:rPr>
                      <m:t>𝑚</m:t>
                    </m:r>
                    <m:r>
                      <a:rPr lang="en-US">
                        <a:effectLst/>
                        <a:latin typeface="Cambria Math" panose="02040503050406030204" pitchFamily="18" charset="0"/>
                        <a:ea typeface="Calibri"/>
                        <a:cs typeface="Calibri"/>
                      </a:rPr>
                      <m:t>)=101101011100</m:t>
                    </m:r>
                  </m:oMath>
                </a14:m>
                <a:r>
                  <a:rPr lang="en-US" dirty="0">
                    <a:effectLst/>
                    <a:latin typeface="Calibri"/>
                    <a:ea typeface="Calibri"/>
                    <a:cs typeface="Calibri"/>
                  </a:rPr>
                  <a:t> , то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libri"/>
                        <a:cs typeface="Calibri"/>
                      </a:rPr>
                      <m:t>h</m:t>
                    </m:r>
                    <m:r>
                      <a:rPr lang="en-US">
                        <a:latin typeface="Cambria Math" panose="02040503050406030204" pitchFamily="18" charset="0"/>
                        <a:ea typeface="Calibri"/>
                        <a:cs typeface="Calibri"/>
                      </a:rPr>
                      <m:t>=101101011100</m:t>
                    </m:r>
                  </m:oMath>
                </a14:m>
                <a:r>
                  <a:rPr lang="en-US" dirty="0">
                    <a:effectLst/>
                    <a:latin typeface="Calibri"/>
                    <a:ea typeface="Calibri"/>
                    <a:cs typeface="Calibri"/>
                  </a:rPr>
                  <a:t>.</a:t>
                </a:r>
                <a:endParaRPr lang="uk-UA" b="1" dirty="0">
                  <a:effectLst/>
                  <a:latin typeface="Calibri"/>
                  <a:ea typeface="Calibri"/>
                  <a:cs typeface="Calibri"/>
                </a:endParaRPr>
              </a:p>
              <a:p>
                <a:pPr marL="360000" marR="0">
                  <a:spcAft>
                    <a:spcPts val="1100"/>
                  </a:spcAft>
                </a:pPr>
                <a:r>
                  <a:rPr lang="en-US" b="1" dirty="0" err="1">
                    <a:effectLst/>
                    <a:latin typeface="Calibri"/>
                    <a:ea typeface="Calibri"/>
                    <a:cs typeface="Calibri"/>
                  </a:rPr>
                  <a:t>Крок</a:t>
                </a:r>
                <a:r>
                  <a:rPr lang="en-US" b="1" dirty="0">
                    <a:effectLst/>
                    <a:latin typeface="Calibri"/>
                    <a:ea typeface="Calibri"/>
                    <a:cs typeface="Calibri"/>
                  </a:rPr>
                  <a:t> 2: </a:t>
                </a:r>
                <a:r>
                  <a:rPr lang="en-US" dirty="0">
                    <a:effectLst/>
                    <a:latin typeface="Calibri"/>
                    <a:ea typeface="Calibri"/>
                    <a:cs typeface="Calibri"/>
                  </a:rPr>
                  <a:t>Розділіть дайджест</a:t>
                </a:r>
              </a:p>
              <a:p>
                <a:pPr marL="360000" marR="0" lvl="0" indent="-342900">
                  <a:spcAft>
                    <a:spcPts val="600"/>
                  </a:spcAft>
                  <a:buFont typeface="Symbol" panose="05050102010706020507" pitchFamily="18" charset="2"/>
                  <a:buChar char=""/>
                  <a:tabLst>
                    <a:tab pos="685800" algn="l"/>
                  </a:tabLst>
                </a:pPr>
                <a:r>
                  <a:rPr lang="en-US" dirty="0" err="1">
                    <a:effectLst/>
                    <a:latin typeface="Calibri"/>
                    <a:ea typeface="Calibri"/>
                    <a:cs typeface="Calibri"/>
                  </a:rPr>
                  <a:t>Розділіть</a:t>
                </a:r>
                <a:r>
                  <a:rPr lang="uk-UA" dirty="0">
                    <a:effectLst/>
                    <a:latin typeface="Calibri"/>
                    <a:ea typeface="Calibri"/>
                    <a:cs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uk-UA" b="0" i="0" smtClean="0">
                        <a:effectLst/>
                        <a:latin typeface="Cambria Math" panose="02040503050406030204" pitchFamily="18" charset="0"/>
                        <a:ea typeface="Calibri"/>
                        <a:cs typeface="Calibri"/>
                      </a:rPr>
                      <m:t> </m:t>
                    </m:r>
                    <m:r>
                      <a:rPr lang="en-US" i="1" smtClean="0">
                        <a:effectLst/>
                        <a:latin typeface="Cambria Math" panose="02040503050406030204" pitchFamily="18" charset="0"/>
                        <a:ea typeface="Calibri"/>
                        <a:cs typeface="Calibri"/>
                      </a:rPr>
                      <m:t>h</m:t>
                    </m:r>
                  </m:oMath>
                </a14:m>
                <a:r>
                  <a:rPr lang="en-US" dirty="0">
                    <a:effectLst/>
                    <a:latin typeface="Calibri"/>
                    <a:ea typeface="Calibri"/>
                    <a:cs typeface="Calibri"/>
                  </a:rPr>
                  <a:t> на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libri"/>
                        <a:cs typeface="Calibri"/>
                      </a:rPr>
                      <m:t>𝑛</m:t>
                    </m:r>
                    <m:r>
                      <a:rPr lang="en-US" i="1">
                        <a:latin typeface="Cambria Math" panose="02040503050406030204" pitchFamily="18" charset="0"/>
                        <a:ea typeface="Calibri"/>
                        <a:cs typeface="Calibri"/>
                      </a:rPr>
                      <m:t> </m:t>
                    </m:r>
                  </m:oMath>
                </a14:m>
                <a:r>
                  <a:rPr lang="uk-UA" dirty="0">
                    <a:effectLst/>
                    <a:latin typeface="Calibri"/>
                    <a:ea typeface="Calibri"/>
                    <a:cs typeface="Calibri"/>
                  </a:rPr>
                  <a:t> </a:t>
                </a:r>
                <a:r>
                  <a:rPr lang="en-US" dirty="0">
                    <a:effectLst/>
                    <a:latin typeface="Calibri"/>
                    <a:ea typeface="Calibri"/>
                    <a:cs typeface="Calibri"/>
                  </a:rPr>
                  <a:t>частин, кожна з яких має розмір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log</m:t>
                        </m:r>
                      </m:e>
                      <m:sub>
                        <m:r>
                          <a:rPr lang="en-US"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2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  <a:ea typeface="Calibri"/>
                        <a:cs typeface="Calibri"/>
                      </a:rPr>
                      <m:t>⁡(</m:t>
                    </m:r>
                    <m:r>
                      <a:rPr lang="en-US" i="1">
                        <a:latin typeface="Cambria Math" panose="02040503050406030204" pitchFamily="18" charset="0"/>
                        <a:ea typeface="Calibri"/>
                        <a:cs typeface="Calibri"/>
                      </a:rPr>
                      <m:t>𝑤</m:t>
                    </m:r>
                    <m:r>
                      <a:rPr lang="en-US">
                        <a:latin typeface="Cambria Math" panose="02040503050406030204" pitchFamily="18" charset="0"/>
                        <a:ea typeface="Calibri"/>
                        <a:cs typeface="Calibri"/>
                      </a:rPr>
                      <m:t>)</m:t>
                    </m:r>
                  </m:oMath>
                </a14:m>
                <a:r>
                  <a:rPr lang="en-US" dirty="0">
                    <a:latin typeface="Calibri"/>
                    <a:ea typeface="Calibri"/>
                    <a:cs typeface="Calibri"/>
                  </a:rPr>
                  <a:t> </a:t>
                </a:r>
                <a:r>
                  <a:rPr lang="uk-UA" dirty="0">
                    <a:latin typeface="Calibri"/>
                    <a:ea typeface="Calibri"/>
                    <a:cs typeface="Calibri"/>
                  </a:rPr>
                  <a:t> </a:t>
                </a:r>
                <a:r>
                  <a:rPr lang="en-US" dirty="0">
                    <a:latin typeface="Calibri"/>
                    <a:ea typeface="Calibri"/>
                    <a:cs typeface="Calibri"/>
                  </a:rPr>
                  <a:t>бітів.</a:t>
                </a:r>
              </a:p>
              <a:p>
                <a:pPr marL="360000" marR="0" lvl="0">
                  <a:spcAft>
                    <a:spcPts val="600"/>
                  </a:spcAft>
                  <a:tabLst>
                    <a:tab pos="685800" algn="l"/>
                  </a:tabLst>
                </a:pPr>
                <a:r>
                  <a:rPr lang="en-US" dirty="0">
                    <a:effectLst/>
                    <a:latin typeface="Calibri"/>
                    <a:ea typeface="Calibri"/>
                    <a:cs typeface="Calibri"/>
                  </a:rPr>
                  <a:t>Приклад: </a:t>
                </a:r>
                <a:r>
                  <a:rPr lang="en-US" dirty="0" err="1">
                    <a:effectLst/>
                    <a:latin typeface="Calibri"/>
                    <a:ea typeface="Calibri"/>
                    <a:cs typeface="Calibri"/>
                  </a:rPr>
                  <a:t>Якщо</a:t>
                </a:r>
                <a:r>
                  <a:rPr lang="uk-UA" dirty="0">
                    <a:effectLst/>
                    <a:latin typeface="Calibri"/>
                    <a:ea typeface="Calibri"/>
                    <a:cs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i="1" smtClean="0">
                        <a:effectLst/>
                        <a:latin typeface="Cambria Math" panose="02040503050406030204" pitchFamily="18" charset="0"/>
                        <a:ea typeface="Calibri"/>
                        <a:cs typeface="Calibri"/>
                      </a:rPr>
                      <m:t>𝑤</m:t>
                    </m:r>
                    <m:r>
                      <a:rPr lang="en-US">
                        <a:effectLst/>
                        <a:latin typeface="Cambria Math" panose="02040503050406030204" pitchFamily="18" charset="0"/>
                        <a:ea typeface="Calibri"/>
                        <a:cs typeface="Calibri"/>
                      </a:rPr>
                      <m:t>=16</m:t>
                    </m:r>
                  </m:oMath>
                </a14:m>
                <a:r>
                  <a:rPr lang="en-US" dirty="0">
                    <a:effectLst/>
                    <a:latin typeface="Calibri"/>
                    <a:ea typeface="Calibri"/>
                    <a:cs typeface="Calibri"/>
                  </a:rPr>
                  <a:t> , то кожен фрагмент має розмір 4 біти: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</m:ctrlPr>
                      </m:sSubPr>
                      <m:e>
                        <m:r>
                          <a:rPr lang="en-US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𝑐</m:t>
                        </m:r>
                      </m:e>
                      <m:sub>
                        <m:r>
                          <a:rPr lang="en-US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1</m:t>
                        </m:r>
                      </m:sub>
                    </m:sSub>
                    <m:r>
                      <a:rPr lang="en-US">
                        <a:effectLst/>
                        <a:latin typeface="Cambria Math" panose="02040503050406030204" pitchFamily="18" charset="0"/>
                        <a:ea typeface="Calibri"/>
                        <a:cs typeface="Calibri"/>
                      </a:rPr>
                      <m:t>=1011=11, </m:t>
                    </m:r>
                    <m:sSub>
                      <m:sSubPr>
                        <m:ctrlPr>
                          <a:rPr lang="en-US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</m:ctrlPr>
                      </m:sSubPr>
                      <m:e>
                        <m:r>
                          <a:rPr lang="en-US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𝑐</m:t>
                        </m:r>
                      </m:e>
                      <m:sub>
                        <m:r>
                          <a:rPr lang="en-US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2</m:t>
                        </m:r>
                      </m:sub>
                    </m:sSub>
                    <m:r>
                      <a:rPr lang="en-US">
                        <a:effectLst/>
                        <a:latin typeface="Cambria Math" panose="02040503050406030204" pitchFamily="18" charset="0"/>
                        <a:ea typeface="Calibri"/>
                        <a:cs typeface="Calibri"/>
                      </a:rPr>
                      <m:t>=0101=5, </m:t>
                    </m:r>
                    <m:sSub>
                      <m:sSubPr>
                        <m:ctrlPr>
                          <a:rPr lang="en-US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</m:ctrlPr>
                      </m:sSubPr>
                      <m:e>
                        <m:r>
                          <a:rPr lang="en-US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𝑐</m:t>
                        </m:r>
                      </m:e>
                      <m:sub>
                        <m:r>
                          <a:rPr lang="en-US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3</m:t>
                        </m:r>
                      </m:sub>
                    </m:sSub>
                    <m:r>
                      <a:rPr lang="en-US">
                        <a:effectLst/>
                        <a:latin typeface="Cambria Math" panose="02040503050406030204" pitchFamily="18" charset="0"/>
                        <a:ea typeface="Calibri"/>
                        <a:cs typeface="Calibri"/>
                      </a:rPr>
                      <m:t>=1100=12</m:t>
                    </m:r>
                  </m:oMath>
                </a14:m>
                <a:endParaRPr lang="en-US" dirty="0">
                  <a:effectLst/>
                  <a:latin typeface="Calibri"/>
                  <a:ea typeface="Calibri"/>
                  <a:cs typeface="Calibri"/>
                </a:endParaRPr>
              </a:p>
              <a:p>
                <a:pPr marL="360000" marR="0">
                  <a:spcAft>
                    <a:spcPts val="1100"/>
                  </a:spcAft>
                </a:pPr>
                <a:r>
                  <a:rPr lang="en-US" b="1" dirty="0">
                    <a:effectLst/>
                    <a:latin typeface="Calibri"/>
                    <a:ea typeface="Calibri"/>
                    <a:cs typeface="Calibri"/>
                  </a:rPr>
                  <a:t>Крок 3</a:t>
                </a:r>
                <a:r>
                  <a:rPr lang="en-US" dirty="0">
                    <a:effectLst/>
                    <a:latin typeface="Calibri"/>
                    <a:ea typeface="Calibri"/>
                    <a:cs typeface="Calibri"/>
                  </a:rPr>
                  <a:t>: Застосування хеш-ланцюгів</a:t>
                </a:r>
              </a:p>
              <a:p>
                <a:pPr marL="360000" marR="0" lvl="0" indent="-342900">
                  <a:spcAft>
                    <a:spcPts val="600"/>
                  </a:spcAft>
                  <a:buFont typeface="Symbol" panose="05050102010706020507" pitchFamily="18" charset="2"/>
                  <a:buChar char=""/>
                  <a:tabLst>
                    <a:tab pos="685800" algn="l"/>
                  </a:tabLst>
                </a:pPr>
                <a:r>
                  <a:rPr lang="en-US" dirty="0">
                    <a:effectLst/>
                    <a:latin typeface="Calibri"/>
                    <a:ea typeface="Calibri"/>
                    <a:cs typeface="Calibri"/>
                  </a:rPr>
                  <a:t>Для </a:t>
                </a:r>
                <a:r>
                  <a:rPr lang="en-US" dirty="0" err="1">
                    <a:effectLst/>
                    <a:latin typeface="Calibri"/>
                    <a:ea typeface="Calibri"/>
                    <a:cs typeface="Calibri"/>
                  </a:rPr>
                  <a:t>кожного</a:t>
                </a:r>
                <a:r>
                  <a:rPr lang="en-US" dirty="0">
                    <a:effectLst/>
                    <a:latin typeface="Calibri"/>
                    <a:ea typeface="Calibri"/>
                    <a:cs typeface="Calibri"/>
                  </a:rPr>
                  <a:t> </a:t>
                </a:r>
                <a:r>
                  <a:rPr lang="en-US" dirty="0" err="1">
                    <a:effectLst/>
                    <a:latin typeface="Calibri"/>
                    <a:ea typeface="Calibri"/>
                    <a:cs typeface="Calibri"/>
                  </a:rPr>
                  <a:t>фрагмента</a:t>
                </a:r>
                <a:r>
                  <a:rPr lang="uk-UA" dirty="0">
                    <a:effectLst/>
                    <a:latin typeface="Calibri"/>
                    <a:ea typeface="Calibri"/>
                    <a:cs typeface="Calibri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</m:ctrlPr>
                      </m:sSubPr>
                      <m:e>
                        <m:r>
                          <a:rPr lang="en-US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𝑐</m:t>
                        </m:r>
                      </m:e>
                      <m:sub>
                        <m:r>
                          <a:rPr lang="en-US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>
                    <a:effectLst/>
                    <a:latin typeface="Calibri"/>
                    <a:ea typeface="Calibri"/>
                    <a:cs typeface="Calibri"/>
                  </a:rPr>
                  <a:t> застосуйте хеш-функцію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𝑐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>
                    <a:latin typeface="Calibri"/>
                    <a:ea typeface="Calibri"/>
                    <a:cs typeface="Calibri"/>
                  </a:rPr>
                  <a:t> </a:t>
                </a:r>
                <a:r>
                  <a:rPr lang="en-US" dirty="0" err="1">
                    <a:latin typeface="Calibri"/>
                    <a:ea typeface="Calibri"/>
                    <a:cs typeface="Calibri"/>
                  </a:rPr>
                  <a:t>разів</a:t>
                </a:r>
                <a:r>
                  <a:rPr lang="en-US" dirty="0">
                    <a:latin typeface="Calibri"/>
                    <a:ea typeface="Calibri"/>
                    <a:cs typeface="Calibri"/>
                  </a:rPr>
                  <a:t> </a:t>
                </a:r>
                <a:r>
                  <a:rPr lang="uk-UA" dirty="0">
                    <a:latin typeface="Calibri"/>
                    <a:ea typeface="Calibri"/>
                    <a:cs typeface="Calibri"/>
                  </a:rPr>
                  <a:t> </a:t>
                </a:r>
                <a:r>
                  <a:rPr lang="en-US" dirty="0" err="1">
                    <a:latin typeface="Calibri"/>
                    <a:ea typeface="Calibri"/>
                    <a:cs typeface="Calibri"/>
                  </a:rPr>
                  <a:t>до</a:t>
                </a:r>
                <a:r>
                  <a:rPr lang="uk-UA" dirty="0">
                    <a:latin typeface="Calibri"/>
                    <a:ea typeface="Calibri"/>
                    <a:cs typeface="Calibri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>
                    <a:latin typeface="Calibri"/>
                    <a:ea typeface="Calibri"/>
                    <a:cs typeface="Calibri"/>
                  </a:rPr>
                  <a:t> 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</m:ctrlPr>
                      </m:sSubPr>
                      <m:e>
                        <m:r>
                          <a:rPr lang="en-US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𝜎</m:t>
                        </m:r>
                      </m:e>
                      <m:sub>
                        <m:r>
                          <a:rPr lang="en-US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𝑖</m:t>
                        </m:r>
                      </m:sub>
                    </m:sSub>
                    <m:r>
                      <a:rPr lang="en-US">
                        <a:effectLst/>
                        <a:latin typeface="Cambria Math" panose="02040503050406030204" pitchFamily="18" charset="0"/>
                        <a:ea typeface="Calibri"/>
                        <a:cs typeface="Calibri"/>
                      </a:rPr>
                      <m:t>=</m:t>
                    </m:r>
                    <m:sSup>
                      <m:sSupPr>
                        <m:ctrlPr>
                          <a:rPr lang="en-US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</m:ctrlPr>
                      </m:sSupPr>
                      <m:e>
                        <m:r>
                          <a:rPr lang="en-US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𝐻</m:t>
                        </m:r>
                      </m:e>
                      <m:sup>
                        <m:sSub>
                          <m:sSubPr>
                            <m:ctrlPr>
                              <a:rPr lang="en-US" i="1">
                                <a:effectLst/>
                                <a:latin typeface="Cambria Math" panose="02040503050406030204" pitchFamily="18" charset="0"/>
                                <a:ea typeface="Calibri"/>
                                <a:cs typeface="Calibri"/>
                              </a:rPr>
                            </m:ctrlPr>
                          </m:sSubPr>
                          <m:e>
                            <m:r>
                              <a:rPr lang="en-US" i="1">
                                <a:effectLst/>
                                <a:latin typeface="Cambria Math" panose="02040503050406030204" pitchFamily="18" charset="0"/>
                                <a:ea typeface="Calibri"/>
                                <a:cs typeface="Calibri"/>
                              </a:rPr>
                              <m:t>𝑐</m:t>
                            </m:r>
                          </m:e>
                          <m:sub>
                            <m:r>
                              <a:rPr lang="en-US" i="1">
                                <a:effectLst/>
                                <a:latin typeface="Cambria Math" panose="02040503050406030204" pitchFamily="18" charset="0"/>
                                <a:ea typeface="Calibri"/>
                                <a:cs typeface="Calibri"/>
                              </a:rPr>
                              <m:t>𝑖</m:t>
                            </m:r>
                          </m:sub>
                        </m:sSub>
                      </m:sup>
                    </m:sSup>
                    <m:d>
                      <m:dPr>
                        <m:ctrlPr>
                          <a:rPr lang="en-US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effectLst/>
                                <a:latin typeface="Cambria Math" panose="02040503050406030204" pitchFamily="18" charset="0"/>
                                <a:ea typeface="Calibri"/>
                                <a:cs typeface="Calibri"/>
                              </a:rPr>
                            </m:ctrlPr>
                          </m:sSubPr>
                          <m:e>
                            <m:r>
                              <a:rPr lang="en-US" i="1">
                                <a:effectLst/>
                                <a:latin typeface="Cambria Math" panose="02040503050406030204" pitchFamily="18" charset="0"/>
                                <a:ea typeface="Calibri"/>
                                <a:cs typeface="Calibri"/>
                              </a:rPr>
                              <m:t>𝑥</m:t>
                            </m:r>
                          </m:e>
                          <m:sub>
                            <m:r>
                              <a:rPr lang="en-US" i="1">
                                <a:effectLst/>
                                <a:latin typeface="Cambria Math" panose="02040503050406030204" pitchFamily="18" charset="0"/>
                                <a:ea typeface="Calibri"/>
                                <a:cs typeface="Calibri"/>
                              </a:rPr>
                              <m:t>𝑖</m:t>
                            </m:r>
                          </m:sub>
                        </m:sSub>
                      </m:e>
                    </m:d>
                  </m:oMath>
                </a14:m>
                <a:endParaRPr lang="en-US" dirty="0">
                  <a:effectLst/>
                  <a:latin typeface="Calibri"/>
                  <a:ea typeface="Calibri"/>
                  <a:cs typeface="Calibri"/>
                </a:endParaRPr>
              </a:p>
              <a:p>
                <a:pPr marL="360000" marR="0" lvl="0">
                  <a:spcAft>
                    <a:spcPts val="600"/>
                  </a:spcAft>
                  <a:tabLst>
                    <a:tab pos="685800" algn="l"/>
                  </a:tabLst>
                </a:pPr>
                <a:r>
                  <a:rPr lang="en-US" dirty="0" err="1">
                    <a:effectLst/>
                    <a:latin typeface="Calibri"/>
                    <a:ea typeface="Calibri"/>
                    <a:cs typeface="Calibri"/>
                  </a:rPr>
                  <a:t>Приклад</a:t>
                </a:r>
                <a:r>
                  <a:rPr lang="en-US" dirty="0">
                    <a:effectLst/>
                    <a:latin typeface="Calibri"/>
                    <a:ea typeface="Calibri"/>
                    <a:cs typeface="Calibri"/>
                  </a:rPr>
                  <a:t>:</a:t>
                </a:r>
              </a:p>
              <a:p>
                <a:pPr marL="342900" marR="0" lvl="0" indent="-342900">
                  <a:spcAft>
                    <a:spcPts val="600"/>
                  </a:spcAft>
                  <a:buFont typeface="Symbol" panose="05050102010706020507" pitchFamily="18" charset="2"/>
                  <a:buChar char=""/>
                  <a:tabLst>
                    <a:tab pos="685800" algn="l"/>
                  </a:tabLst>
                </a:pPr>
                <a:r>
                  <a:rPr lang="uk-UA" dirty="0">
                    <a:effectLst/>
                    <a:latin typeface="Calibri"/>
                    <a:ea typeface="Calibri"/>
                    <a:cs typeface="Calibri"/>
                  </a:rPr>
                  <a:t>Для</a:t>
                </a:r>
                <a:r>
                  <a:rPr lang="en-US" dirty="0">
                    <a:effectLst/>
                    <a:latin typeface="Calibri"/>
                    <a:ea typeface="Calibri"/>
                    <a:cs typeface="Calibri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</m:ctrlPr>
                      </m:sSubPr>
                      <m:e>
                        <m:r>
                          <a:rPr lang="en-US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𝑥</m:t>
                        </m:r>
                      </m:e>
                      <m:sub>
                        <m:r>
                          <a:rPr lang="en-US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dirty="0">
                    <a:effectLst/>
                    <a:latin typeface="Calibri"/>
                    <a:ea typeface="Calibri"/>
                    <a:cs typeface="Calibri"/>
                  </a:rPr>
                  <a:t>, </a:t>
                </a:r>
                <a:r>
                  <a:rPr lang="uk-UA" dirty="0">
                    <a:effectLst/>
                    <a:latin typeface="Calibri"/>
                    <a:ea typeface="Calibri"/>
                    <a:cs typeface="Calibri"/>
                  </a:rPr>
                  <a:t>застосуйте</a:t>
                </a:r>
                <a:r>
                  <a:rPr lang="en-US" dirty="0">
                    <a:effectLst/>
                    <a:latin typeface="Calibri"/>
                    <a:ea typeface="Calibri"/>
                    <a:cs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i="1">
                        <a:effectLst/>
                        <a:latin typeface="Cambria Math" panose="02040503050406030204" pitchFamily="18" charset="0"/>
                        <a:ea typeface="Calibri"/>
                        <a:cs typeface="Calibri"/>
                      </a:rPr>
                      <m:t>𝐻</m:t>
                    </m:r>
                    <m:r>
                      <a:rPr lang="en-US">
                        <a:effectLst/>
                        <a:latin typeface="Cambria Math" panose="02040503050406030204" pitchFamily="18" charset="0"/>
                        <a:ea typeface="Calibri"/>
                        <a:cs typeface="Calibri"/>
                      </a:rPr>
                      <m:t>11</m:t>
                    </m:r>
                  </m:oMath>
                </a14:m>
                <a:r>
                  <a:rPr lang="en-US" dirty="0">
                    <a:effectLst/>
                    <a:latin typeface="Calibri"/>
                    <a:ea typeface="Calibri"/>
                    <a:cs typeface="Calibri"/>
                  </a:rPr>
                  <a:t> </a:t>
                </a:r>
                <a:r>
                  <a:rPr lang="uk-UA" dirty="0">
                    <a:effectLst/>
                    <a:latin typeface="Calibri"/>
                    <a:ea typeface="Calibri"/>
                    <a:cs typeface="Calibri"/>
                  </a:rPr>
                  <a:t>разів</a:t>
                </a:r>
                <a:r>
                  <a:rPr lang="en-US" dirty="0">
                    <a:effectLst/>
                    <a:latin typeface="Calibri"/>
                    <a:ea typeface="Calibri"/>
                    <a:cs typeface="Calibri"/>
                  </a:rPr>
                  <a:t>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</m:ctrlPr>
                      </m:sSubPr>
                      <m:e>
                        <m:r>
                          <a:rPr lang="en-US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𝜎</m:t>
                        </m:r>
                      </m:e>
                      <m:sub>
                        <m:r>
                          <a:rPr lang="en-US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1</m:t>
                        </m:r>
                      </m:sub>
                    </m:sSub>
                    <m:r>
                      <a:rPr lang="en-US">
                        <a:effectLst/>
                        <a:latin typeface="Cambria Math" panose="02040503050406030204" pitchFamily="18" charset="0"/>
                        <a:ea typeface="Calibri"/>
                        <a:cs typeface="Calibri"/>
                      </a:rPr>
                      <m:t>=</m:t>
                    </m:r>
                    <m:sSup>
                      <m:sSupPr>
                        <m:ctrlPr>
                          <a:rPr lang="en-US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</m:ctrlPr>
                      </m:sSupPr>
                      <m:e>
                        <m:r>
                          <a:rPr lang="en-US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𝐻</m:t>
                        </m:r>
                      </m:e>
                      <m:sup>
                        <m:r>
                          <a:rPr lang="en-US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11</m:t>
                        </m:r>
                      </m:sup>
                    </m:sSup>
                    <m:d>
                      <m:dPr>
                        <m:ctrlPr>
                          <a:rPr lang="en-US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effectLst/>
                                <a:latin typeface="Cambria Math" panose="02040503050406030204" pitchFamily="18" charset="0"/>
                                <a:ea typeface="Calibri"/>
                                <a:cs typeface="Calibri"/>
                              </a:rPr>
                            </m:ctrlPr>
                          </m:sSubPr>
                          <m:e>
                            <m:r>
                              <a:rPr lang="en-US" i="1">
                                <a:effectLst/>
                                <a:latin typeface="Cambria Math" panose="02040503050406030204" pitchFamily="18" charset="0"/>
                                <a:ea typeface="Calibri"/>
                                <a:cs typeface="Calibri"/>
                              </a:rPr>
                              <m:t>𝑥</m:t>
                            </m:r>
                          </m:e>
                          <m:sub>
                            <m:r>
                              <a:rPr lang="en-US">
                                <a:effectLst/>
                                <a:latin typeface="Cambria Math" panose="02040503050406030204" pitchFamily="18" charset="0"/>
                                <a:ea typeface="Calibri"/>
                                <a:cs typeface="Calibri"/>
                              </a:rPr>
                              <m:t>1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>
                    <a:effectLst/>
                    <a:latin typeface="Calibri"/>
                    <a:ea typeface="Calibri"/>
                    <a:cs typeface="Calibri"/>
                  </a:rPr>
                  <a:t>.</a:t>
                </a:r>
              </a:p>
              <a:p>
                <a:pPr marL="342900" marR="0" lvl="0" indent="-342900">
                  <a:spcAft>
                    <a:spcPts val="600"/>
                  </a:spcAft>
                  <a:buFont typeface="Symbol" panose="05050102010706020507" pitchFamily="18" charset="2"/>
                  <a:buChar char=""/>
                  <a:tabLst>
                    <a:tab pos="685800" algn="l"/>
                  </a:tabLst>
                </a:pPr>
                <a:r>
                  <a:rPr lang="uk-UA" dirty="0">
                    <a:effectLst/>
                    <a:latin typeface="Calibri"/>
                    <a:ea typeface="Calibri"/>
                    <a:cs typeface="Calibri"/>
                  </a:rPr>
                  <a:t>Для</a:t>
                </a:r>
                <a:r>
                  <a:rPr lang="en-US" dirty="0">
                    <a:effectLst/>
                    <a:latin typeface="Calibri"/>
                    <a:ea typeface="Calibri"/>
                    <a:cs typeface="Calibri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</m:ctrlPr>
                      </m:sSubPr>
                      <m:e>
                        <m:r>
                          <a:rPr lang="en-US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𝑥</m:t>
                        </m:r>
                      </m:e>
                      <m:sub>
                        <m:r>
                          <a:rPr lang="en-US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dirty="0">
                    <a:effectLst/>
                    <a:latin typeface="Calibri"/>
                    <a:ea typeface="Calibri"/>
                    <a:cs typeface="Calibri"/>
                  </a:rPr>
                  <a:t>, </a:t>
                </a:r>
                <a:r>
                  <a:rPr lang="uk-UA" dirty="0">
                    <a:effectLst/>
                    <a:latin typeface="Calibri"/>
                    <a:ea typeface="Calibri"/>
                    <a:cs typeface="Calibri"/>
                  </a:rPr>
                  <a:t>застосуйте</a:t>
                </a:r>
                <a:r>
                  <a:rPr lang="en-US" dirty="0">
                    <a:effectLst/>
                    <a:latin typeface="Calibri"/>
                    <a:ea typeface="Calibri"/>
                    <a:cs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i="1">
                        <a:effectLst/>
                        <a:latin typeface="Cambria Math" panose="02040503050406030204" pitchFamily="18" charset="0"/>
                        <a:ea typeface="Calibri"/>
                        <a:cs typeface="Calibri"/>
                      </a:rPr>
                      <m:t>𝐻</m:t>
                    </m:r>
                    <m:r>
                      <a:rPr lang="en-US">
                        <a:effectLst/>
                        <a:latin typeface="Cambria Math" panose="02040503050406030204" pitchFamily="18" charset="0"/>
                        <a:ea typeface="Calibri"/>
                        <a:cs typeface="Calibri"/>
                      </a:rPr>
                      <m:t>5</m:t>
                    </m:r>
                  </m:oMath>
                </a14:m>
                <a:r>
                  <a:rPr lang="en-US" dirty="0">
                    <a:effectLst/>
                    <a:latin typeface="Calibri"/>
                    <a:ea typeface="Calibri"/>
                    <a:cs typeface="Calibri"/>
                  </a:rPr>
                  <a:t> </a:t>
                </a:r>
                <a:r>
                  <a:rPr lang="uk-UA" dirty="0">
                    <a:effectLst/>
                    <a:latin typeface="Calibri"/>
                    <a:ea typeface="Calibri"/>
                    <a:cs typeface="Calibri"/>
                  </a:rPr>
                  <a:t>разів</a:t>
                </a:r>
                <a:r>
                  <a:rPr lang="en-US" dirty="0">
                    <a:effectLst/>
                    <a:latin typeface="Calibri"/>
                    <a:ea typeface="Calibri"/>
                    <a:cs typeface="Calibri"/>
                  </a:rPr>
                  <a:t>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</m:ctrlPr>
                      </m:sSubPr>
                      <m:e>
                        <m:r>
                          <a:rPr lang="en-US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𝜎</m:t>
                        </m:r>
                      </m:e>
                      <m:sub>
                        <m:r>
                          <a:rPr lang="en-US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2</m:t>
                        </m:r>
                      </m:sub>
                    </m:sSub>
                    <m:r>
                      <a:rPr lang="en-US">
                        <a:effectLst/>
                        <a:latin typeface="Cambria Math" panose="02040503050406030204" pitchFamily="18" charset="0"/>
                        <a:ea typeface="Calibri"/>
                        <a:cs typeface="Calibri"/>
                      </a:rPr>
                      <m:t>=</m:t>
                    </m:r>
                    <m:sSup>
                      <m:sSupPr>
                        <m:ctrlPr>
                          <a:rPr lang="en-US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</m:ctrlPr>
                      </m:sSupPr>
                      <m:e>
                        <m:r>
                          <a:rPr lang="en-US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𝐻</m:t>
                        </m:r>
                      </m:e>
                      <m:sup>
                        <m:r>
                          <a:rPr lang="en-US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5</m:t>
                        </m:r>
                      </m:sup>
                    </m:sSup>
                    <m:d>
                      <m:dPr>
                        <m:ctrlPr>
                          <a:rPr lang="en-US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effectLst/>
                                <a:latin typeface="Cambria Math" panose="02040503050406030204" pitchFamily="18" charset="0"/>
                                <a:ea typeface="Calibri"/>
                                <a:cs typeface="Calibri"/>
                              </a:rPr>
                            </m:ctrlPr>
                          </m:sSubPr>
                          <m:e>
                            <m:r>
                              <a:rPr lang="en-US" i="1">
                                <a:effectLst/>
                                <a:latin typeface="Cambria Math" panose="02040503050406030204" pitchFamily="18" charset="0"/>
                                <a:ea typeface="Calibri"/>
                                <a:cs typeface="Calibri"/>
                              </a:rPr>
                              <m:t>𝑥</m:t>
                            </m:r>
                          </m:e>
                          <m:sub>
                            <m:r>
                              <a:rPr lang="en-US">
                                <a:effectLst/>
                                <a:latin typeface="Cambria Math" panose="02040503050406030204" pitchFamily="18" charset="0"/>
                                <a:ea typeface="Calibri"/>
                                <a:cs typeface="Calibri"/>
                              </a:rPr>
                              <m:t>2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>
                    <a:effectLst/>
                    <a:latin typeface="Calibri"/>
                    <a:ea typeface="Calibri"/>
                    <a:cs typeface="Calibri"/>
                  </a:rPr>
                  <a:t>.</a:t>
                </a:r>
              </a:p>
              <a:p>
                <a:pPr marL="342900" marR="0" lvl="0" indent="-342900">
                  <a:spcAft>
                    <a:spcPts val="600"/>
                  </a:spcAft>
                  <a:buFont typeface="Symbol" panose="05050102010706020507" pitchFamily="18" charset="2"/>
                  <a:buChar char=""/>
                  <a:tabLst>
                    <a:tab pos="685800" algn="l"/>
                  </a:tabLst>
                </a:pPr>
                <a:r>
                  <a:rPr lang="uk-UA" dirty="0">
                    <a:effectLst/>
                    <a:latin typeface="Calibri"/>
                    <a:ea typeface="Calibri"/>
                    <a:cs typeface="Calibri"/>
                  </a:rPr>
                  <a:t>Для</a:t>
                </a:r>
                <a:r>
                  <a:rPr lang="en-US" dirty="0">
                    <a:effectLst/>
                    <a:latin typeface="Calibri"/>
                    <a:ea typeface="Calibri"/>
                    <a:cs typeface="Calibri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</m:ctrlPr>
                      </m:sSubPr>
                      <m:e>
                        <m:r>
                          <a:rPr lang="en-US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𝑥</m:t>
                        </m:r>
                      </m:e>
                      <m:sub>
                        <m:r>
                          <a:rPr lang="en-US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3</m:t>
                        </m:r>
                      </m:sub>
                    </m:sSub>
                  </m:oMath>
                </a14:m>
                <a:r>
                  <a:rPr lang="en-US" dirty="0">
                    <a:effectLst/>
                    <a:latin typeface="Calibri"/>
                    <a:ea typeface="Calibri"/>
                    <a:cs typeface="Calibri"/>
                  </a:rPr>
                  <a:t> </a:t>
                </a:r>
                <a:r>
                  <a:rPr lang="uk-UA" dirty="0">
                    <a:effectLst/>
                    <a:latin typeface="Calibri"/>
                    <a:ea typeface="Calibri"/>
                    <a:cs typeface="Calibri"/>
                  </a:rPr>
                  <a:t>застосуйте</a:t>
                </a:r>
                <a:r>
                  <a:rPr lang="en-US" dirty="0">
                    <a:effectLst/>
                    <a:latin typeface="Calibri"/>
                    <a:ea typeface="Calibri"/>
                    <a:cs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i="1">
                        <a:effectLst/>
                        <a:latin typeface="Cambria Math" panose="02040503050406030204" pitchFamily="18" charset="0"/>
                        <a:ea typeface="Calibri"/>
                        <a:cs typeface="Calibri"/>
                      </a:rPr>
                      <m:t>𝐻</m:t>
                    </m:r>
                    <m:r>
                      <a:rPr lang="en-US">
                        <a:effectLst/>
                        <a:latin typeface="Cambria Math" panose="02040503050406030204" pitchFamily="18" charset="0"/>
                        <a:ea typeface="Calibri"/>
                        <a:cs typeface="Calibri"/>
                      </a:rPr>
                      <m:t>12</m:t>
                    </m:r>
                  </m:oMath>
                </a14:m>
                <a:r>
                  <a:rPr lang="en-US" dirty="0">
                    <a:effectLst/>
                    <a:latin typeface="Calibri"/>
                    <a:ea typeface="Calibri"/>
                    <a:cs typeface="Calibri"/>
                  </a:rPr>
                  <a:t> </a:t>
                </a:r>
                <a:r>
                  <a:rPr lang="uk-UA" dirty="0">
                    <a:effectLst/>
                    <a:latin typeface="Calibri"/>
                    <a:ea typeface="Calibri"/>
                    <a:cs typeface="Calibri"/>
                  </a:rPr>
                  <a:t>разів</a:t>
                </a:r>
                <a:r>
                  <a:rPr lang="en-US" dirty="0">
                    <a:effectLst/>
                    <a:latin typeface="Calibri"/>
                    <a:ea typeface="Calibri"/>
                    <a:cs typeface="Calibri"/>
                  </a:rPr>
                  <a:t>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</m:ctrlPr>
                      </m:sSubPr>
                      <m:e>
                        <m:r>
                          <a:rPr lang="en-US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𝜎</m:t>
                        </m:r>
                      </m:e>
                      <m:sub>
                        <m:r>
                          <a:rPr lang="en-US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3</m:t>
                        </m:r>
                      </m:sub>
                    </m:sSub>
                    <m:r>
                      <a:rPr lang="en-US">
                        <a:effectLst/>
                        <a:latin typeface="Cambria Math" panose="02040503050406030204" pitchFamily="18" charset="0"/>
                        <a:ea typeface="Calibri"/>
                        <a:cs typeface="Calibri"/>
                      </a:rPr>
                      <m:t>=</m:t>
                    </m:r>
                    <m:sSup>
                      <m:sSupPr>
                        <m:ctrlPr>
                          <a:rPr lang="en-US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</m:ctrlPr>
                      </m:sSupPr>
                      <m:e>
                        <m:r>
                          <a:rPr lang="en-US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𝐻</m:t>
                        </m:r>
                      </m:e>
                      <m:sup>
                        <m:r>
                          <a:rPr lang="en-US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12</m:t>
                        </m:r>
                      </m:sup>
                    </m:sSup>
                    <m:d>
                      <m:dPr>
                        <m:ctrlPr>
                          <a:rPr lang="en-US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effectLst/>
                                <a:latin typeface="Cambria Math" panose="02040503050406030204" pitchFamily="18" charset="0"/>
                                <a:ea typeface="Calibri"/>
                                <a:cs typeface="Calibri"/>
                              </a:rPr>
                            </m:ctrlPr>
                          </m:sSubPr>
                          <m:e>
                            <m:r>
                              <a:rPr lang="en-US" i="1">
                                <a:effectLst/>
                                <a:latin typeface="Cambria Math" panose="02040503050406030204" pitchFamily="18" charset="0"/>
                                <a:ea typeface="Calibri"/>
                                <a:cs typeface="Calibri"/>
                              </a:rPr>
                              <m:t>𝑥</m:t>
                            </m:r>
                          </m:e>
                          <m:sub>
                            <m:r>
                              <a:rPr lang="en-US">
                                <a:effectLst/>
                                <a:latin typeface="Cambria Math" panose="02040503050406030204" pitchFamily="18" charset="0"/>
                                <a:ea typeface="Calibri"/>
                                <a:cs typeface="Calibri"/>
                              </a:rPr>
                              <m:t>3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>
                    <a:effectLst/>
                    <a:latin typeface="Calibri"/>
                    <a:ea typeface="Calibri"/>
                    <a:cs typeface="Calibri"/>
                  </a:rPr>
                  <a:t>.</a:t>
                </a:r>
                <a:endParaRPr lang="uk-UA" b="1" dirty="0">
                  <a:latin typeface="Calibri"/>
                  <a:ea typeface="Calibri"/>
                  <a:cs typeface="Calibri"/>
                </a:endParaRPr>
              </a:p>
              <a:p>
                <a:pPr marL="360000" marR="0" lvl="0">
                  <a:spcAft>
                    <a:spcPts val="600"/>
                  </a:spcAft>
                  <a:tabLst>
                    <a:tab pos="685800" algn="l"/>
                  </a:tabLst>
                </a:pPr>
                <a:r>
                  <a:rPr lang="en-US" b="1" dirty="0" err="1">
                    <a:effectLst/>
                    <a:latin typeface="Calibri"/>
                    <a:ea typeface="Calibri"/>
                    <a:cs typeface="Calibri"/>
                  </a:rPr>
                  <a:t>Крок</a:t>
                </a:r>
                <a:r>
                  <a:rPr lang="en-US" b="1" dirty="0">
                    <a:effectLst/>
                    <a:latin typeface="Calibri"/>
                    <a:ea typeface="Calibri"/>
                    <a:cs typeface="Calibri"/>
                  </a:rPr>
                  <a:t> 4: </a:t>
                </a:r>
                <a:r>
                  <a:rPr lang="en-US" dirty="0">
                    <a:effectLst/>
                    <a:latin typeface="Calibri"/>
                    <a:ea typeface="Calibri"/>
                    <a:cs typeface="Calibri"/>
                  </a:rPr>
                  <a:t>Сформуйте підпис</a:t>
                </a:r>
              </a:p>
              <a:p>
                <a:pPr marL="360000" marR="0" lvl="0" indent="-342900">
                  <a:spcAft>
                    <a:spcPts val="600"/>
                  </a:spcAft>
                  <a:buFont typeface="Symbol" panose="05050102010706020507" pitchFamily="18" charset="2"/>
                  <a:buChar char=""/>
                  <a:tabLst>
                    <a:tab pos="685800" algn="l"/>
                  </a:tabLst>
                </a:pPr>
                <a:r>
                  <a:rPr lang="en-US" dirty="0">
                    <a:effectLst/>
                    <a:latin typeface="Calibri"/>
                    <a:ea typeface="Calibri"/>
                    <a:cs typeface="Calibri"/>
                  </a:rPr>
                  <a:t>Підпис - </a:t>
                </a:r>
                <a:r>
                  <a:rPr lang="en-US" dirty="0" err="1">
                    <a:effectLst/>
                    <a:latin typeface="Calibri"/>
                    <a:ea typeface="Calibri"/>
                    <a:cs typeface="Calibri"/>
                  </a:rPr>
                  <a:t>це</a:t>
                </a:r>
                <a:r>
                  <a:rPr lang="en-US" dirty="0">
                    <a:effectLst/>
                    <a:latin typeface="Calibri"/>
                    <a:ea typeface="Calibri"/>
                    <a:cs typeface="Calibri"/>
                  </a:rPr>
                  <a:t> </a:t>
                </a:r>
                <a:r>
                  <a:rPr lang="en-US" dirty="0" err="1">
                    <a:effectLst/>
                    <a:latin typeface="Calibri"/>
                    <a:ea typeface="Calibri"/>
                    <a:cs typeface="Calibri"/>
                  </a:rPr>
                  <a:t>сукупність</a:t>
                </a:r>
                <a:r>
                  <a:rPr lang="uk-UA" dirty="0">
                    <a:effectLst/>
                    <a:latin typeface="Calibri"/>
                    <a:ea typeface="Calibri"/>
                    <a:cs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libri"/>
                        <a:cs typeface="Calibri"/>
                      </a:rPr>
                      <m:t>𝜎</m:t>
                    </m:r>
                  </m:oMath>
                </a14:m>
                <a:r>
                  <a:rPr lang="en-US" dirty="0">
                    <a:effectLst/>
                    <a:latin typeface="Calibri"/>
                    <a:ea typeface="Calibri"/>
                    <a:cs typeface="Calibri"/>
                  </a:rPr>
                  <a:t> :</a:t>
                </a:r>
                <a:r>
                  <a:rPr lang="uk-UA" dirty="0">
                    <a:effectLst/>
                    <a:latin typeface="Calibri"/>
                    <a:ea typeface="Calibri"/>
                    <a:cs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uk-UA" b="0" i="0" smtClean="0">
                        <a:effectLst/>
                        <a:latin typeface="Cambria Math" panose="02040503050406030204" pitchFamily="18" charset="0"/>
                        <a:ea typeface="Calibri"/>
                        <a:cs typeface="Calibri"/>
                      </a:rPr>
                      <m:t> </m:t>
                    </m:r>
                    <m:r>
                      <m:rPr>
                        <m:nor/>
                      </m:rPr>
                      <a:rPr lang="en-US">
                        <a:effectLst/>
                        <a:latin typeface="Calibri"/>
                        <a:ea typeface="Calibri"/>
                        <a:cs typeface="Calibri"/>
                      </a:rPr>
                      <m:t>Signature</m:t>
                    </m:r>
                    <m:r>
                      <m:rPr>
                        <m:nor/>
                      </m:rPr>
                      <a:rPr lang="en-US" i="1">
                        <a:effectLst/>
                        <a:latin typeface="Calibri"/>
                        <a:ea typeface="Calibri"/>
                        <a:cs typeface="Calibri"/>
                      </a:rPr>
                      <m:t> </m:t>
                    </m:r>
                    <m:r>
                      <a:rPr lang="en-US">
                        <a:effectLst/>
                        <a:latin typeface="Cambria Math" panose="02040503050406030204" pitchFamily="18" charset="0"/>
                        <a:ea typeface="Calibri"/>
                        <a:cs typeface="Calibri"/>
                      </a:rPr>
                      <m:t>=</m:t>
                    </m:r>
                    <m:d>
                      <m:dPr>
                        <m:ctrlPr>
                          <a:rPr lang="en-US" i="1">
                            <a:effectLst/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effectLst/>
                                <a:latin typeface="Cambria Math" panose="02040503050406030204" pitchFamily="18" charset="0"/>
                                <a:ea typeface="Calibri"/>
                                <a:cs typeface="Calibri"/>
                              </a:rPr>
                              <m:t>𝜎</m:t>
                            </m:r>
                          </m:e>
                          <m:sub>
                            <m:r>
                              <a:rPr lang="en-US">
                                <a:effectLst/>
                                <a:latin typeface="Cambria Math" panose="02040503050406030204" pitchFamily="18" charset="0"/>
                                <a:ea typeface="Calibri"/>
                                <a:cs typeface="Calibri"/>
                              </a:rPr>
                              <m:t>1</m:t>
                            </m:r>
                          </m:sub>
                        </m:sSub>
                        <m:r>
                          <a:rPr lang="en-US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effectLst/>
                                <a:latin typeface="Cambria Math" panose="02040503050406030204" pitchFamily="18" charset="0"/>
                                <a:ea typeface="Calibri"/>
                                <a:cs typeface="Calibri"/>
                              </a:rPr>
                              <m:t>𝜎</m:t>
                            </m:r>
                          </m:e>
                          <m:sub>
                            <m:r>
                              <a:rPr lang="en-US">
                                <a:effectLst/>
                                <a:latin typeface="Cambria Math" panose="02040503050406030204" pitchFamily="18" charset="0"/>
                                <a:ea typeface="Calibri"/>
                                <a:cs typeface="Calibri"/>
                              </a:rPr>
                              <m:t>2</m:t>
                            </m:r>
                          </m:sub>
                        </m:sSub>
                        <m:r>
                          <a:rPr lang="en-US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effectLst/>
                                <a:latin typeface="Cambria Math" panose="02040503050406030204" pitchFamily="18" charset="0"/>
                                <a:ea typeface="Calibri"/>
                                <a:cs typeface="Calibri"/>
                              </a:rPr>
                              <m:t>𝜎</m:t>
                            </m:r>
                          </m:e>
                          <m:sub>
                            <m:r>
                              <a:rPr lang="en-US">
                                <a:effectLst/>
                                <a:latin typeface="Cambria Math" panose="02040503050406030204" pitchFamily="18" charset="0"/>
                                <a:ea typeface="Calibri"/>
                                <a:cs typeface="Calibri"/>
                              </a:rPr>
                              <m:t>3</m:t>
                            </m:r>
                          </m:sub>
                        </m:sSub>
                      </m:e>
                    </m:d>
                  </m:oMath>
                </a14:m>
                <a:endParaRPr lang="en-US" dirty="0"/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7641280-27B9-498F-665A-8173B37EB92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963200"/>
                <a:ext cx="11277600" cy="5783589"/>
              </a:xfrm>
              <a:prstGeom prst="rect">
                <a:avLst/>
              </a:prstGeom>
              <a:blipFill>
                <a:blip r:embed="rId2"/>
                <a:stretch>
                  <a:fillRect l="-450" t="-438"/>
                </a:stretch>
              </a:blipFill>
            </p:spPr>
            <p:txBody>
              <a:bodyPr/>
              <a:lstStyle/>
              <a:p>
                <a:r>
                  <a:rPr lang="en-UA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8863226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479144-E1A8-0663-C7D1-FAA5E19D44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23673" y="239508"/>
            <a:ext cx="6344653" cy="537243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>
                <a:solidFill>
                  <a:srgbClr val="203864"/>
                </a:solidFill>
                <a:latin typeface="Calibri"/>
              </a:rPr>
              <a:t>WOTS: перевірка підпису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615F1DE-220D-80BC-E6B6-CEB880082FD9}"/>
                  </a:ext>
                </a:extLst>
              </p:cNvPr>
              <p:cNvSpPr txBox="1"/>
              <p:nvPr/>
            </p:nvSpPr>
            <p:spPr>
              <a:xfrm>
                <a:off x="1089660" y="1153445"/>
                <a:ext cx="10012680" cy="5034965"/>
              </a:xfrm>
              <a:prstGeom prst="rect">
                <a:avLst/>
              </a:prstGeom>
              <a:noFill/>
            </p:spPr>
            <p:txBody>
              <a:bodyPr wrap="square"/>
              <a:lstStyle/>
              <a:p>
                <a:pPr marL="0" marR="0">
                  <a:spcAft>
                    <a:spcPts val="1100"/>
                  </a:spcAft>
                </a:pPr>
                <a:r>
                  <a:rPr lang="en-US" sz="2400" b="1" dirty="0">
                    <a:effectLst/>
                    <a:latin typeface="Calibri"/>
                    <a:ea typeface="Calibri"/>
                    <a:cs typeface="Calibri"/>
                  </a:rPr>
                  <a:t>Крок 1</a:t>
                </a:r>
                <a:r>
                  <a:rPr lang="en-US" sz="2400" dirty="0">
                    <a:effectLst/>
                    <a:latin typeface="Calibri"/>
                    <a:ea typeface="Calibri"/>
                    <a:cs typeface="Calibri"/>
                  </a:rPr>
                  <a:t>: Перерахуйте відкритий ключ</a:t>
                </a:r>
              </a:p>
              <a:p>
                <a:pPr marL="342900" marR="0" lvl="0" indent="-342900">
                  <a:spcAft>
                    <a:spcPts val="600"/>
                  </a:spcAft>
                  <a:buFont typeface="Symbol" panose="05050102010706020507" pitchFamily="18" charset="2"/>
                  <a:buChar char=""/>
                  <a:tabLst>
                    <a:tab pos="685800" algn="l"/>
                  </a:tabLst>
                </a:pPr>
                <a:r>
                  <a:rPr lang="en-US" sz="2400" dirty="0">
                    <a:effectLst/>
                    <a:latin typeface="Calibri"/>
                    <a:ea typeface="Calibri"/>
                    <a:cs typeface="Calibri"/>
                  </a:rPr>
                  <a:t>Для кожного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smtClean="0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</m:ctrlPr>
                      </m:sSubPr>
                      <m:e>
                        <m:r>
                          <a:rPr lang="en-US" sz="2400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𝜎</m:t>
                        </m:r>
                      </m:e>
                      <m:sub>
                        <m:r>
                          <a:rPr lang="en-US" sz="2400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𝑖</m:t>
                        </m:r>
                        <m:r>
                          <a:rPr lang="en-US" sz="2400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,</m:t>
                        </m:r>
                      </m:sub>
                    </m:sSub>
                    <m:r>
                      <a:rPr lang="en-US" sz="2400" i="1">
                        <a:effectLst/>
                        <a:latin typeface="Cambria Math" panose="02040503050406030204" pitchFamily="18" charset="0"/>
                        <a:ea typeface="Calibri"/>
                        <a:cs typeface="Calibri"/>
                      </a:rPr>
                      <m:t> </m:t>
                    </m:r>
                  </m:oMath>
                </a14:m>
                <a:r>
                  <a:rPr lang="uk-UA" sz="2400" dirty="0">
                    <a:effectLst/>
                    <a:latin typeface="Calibri"/>
                    <a:ea typeface="Calibri"/>
                    <a:cs typeface="Calibri"/>
                  </a:rPr>
                  <a:t> </a:t>
                </a:r>
                <a:r>
                  <a:rPr lang="en-US" sz="2400" dirty="0" err="1">
                    <a:effectLst/>
                    <a:latin typeface="Calibri"/>
                    <a:ea typeface="Calibri"/>
                    <a:cs typeface="Calibri"/>
                  </a:rPr>
                  <a:t>застосуйте</a:t>
                </a:r>
                <a:r>
                  <a:rPr lang="en-US" sz="2400" dirty="0">
                    <a:effectLst/>
                    <a:latin typeface="Calibri"/>
                    <a:ea typeface="Calibri"/>
                    <a:cs typeface="Calibri"/>
                  </a:rPr>
                  <a:t> </a:t>
                </a:r>
                <a:r>
                  <a:rPr lang="en-US" sz="2400" dirty="0" err="1">
                    <a:effectLst/>
                    <a:latin typeface="Calibri"/>
                    <a:ea typeface="Calibri"/>
                    <a:cs typeface="Calibri"/>
                  </a:rPr>
                  <a:t>хеш-функцію</a:t>
                </a:r>
                <a:r>
                  <a:rPr lang="uk-UA" sz="2400" dirty="0">
                    <a:effectLst/>
                    <a:latin typeface="Calibri"/>
                    <a:ea typeface="Calibri"/>
                    <a:cs typeface="Calibri"/>
                  </a:rPr>
                  <a:t>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2400" i="1"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</m:ctrlPr>
                      </m:dPr>
                      <m:e>
                        <m:r>
                          <a:rPr lang="en-US" sz="2400" i="1"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𝑤</m:t>
                        </m:r>
                        <m:r>
                          <a:rPr lang="en-US" sz="2400" i="1"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−</m:t>
                        </m:r>
                        <m:sSub>
                          <m:sSubPr>
                            <m:ctrlPr>
                              <a:rPr lang="en-US" sz="2400" i="1">
                                <a:latin typeface="Cambria Math" panose="02040503050406030204" pitchFamily="18" charset="0"/>
                                <a:ea typeface="Calibri"/>
                                <a:cs typeface="Calibri"/>
                              </a:rPr>
                            </m:ctrlPr>
                          </m:sSub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  <a:ea typeface="Calibri"/>
                                <a:cs typeface="Calibri"/>
                              </a:rPr>
                              <m:t>𝑐</m:t>
                            </m:r>
                          </m:e>
                          <m:sub>
                            <m:r>
                              <a:rPr lang="en-US" sz="2400" i="1">
                                <a:latin typeface="Cambria Math" panose="02040503050406030204" pitchFamily="18" charset="0"/>
                                <a:ea typeface="Calibri"/>
                                <a:cs typeface="Calibri"/>
                              </a:rPr>
                              <m:t>𝑖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sz="2400" dirty="0">
                    <a:effectLst/>
                    <a:latin typeface="Calibri"/>
                    <a:ea typeface="Calibri"/>
                    <a:cs typeface="Calibri"/>
                  </a:rPr>
                  <a:t> разів: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400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</m:ctrlPr>
                      </m:sSubSupPr>
                      <m:e>
                        <m:r>
                          <a:rPr lang="en-US" sz="2400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𝑦</m:t>
                        </m:r>
                      </m:e>
                      <m:sub>
                        <m:r>
                          <a:rPr lang="en-US" sz="2400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𝑖</m:t>
                        </m:r>
                      </m:sub>
                      <m:sup>
                        <m:r>
                          <a:rPr lang="en-US" sz="2400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′</m:t>
                        </m:r>
                      </m:sup>
                    </m:sSubSup>
                    <m:r>
                      <a:rPr lang="en-US" sz="2400">
                        <a:effectLst/>
                        <a:latin typeface="Cambria Math" panose="02040503050406030204" pitchFamily="18" charset="0"/>
                        <a:ea typeface="Calibri"/>
                        <a:cs typeface="Calibri"/>
                      </a:rPr>
                      <m:t>=</m:t>
                    </m:r>
                    <m:sSup>
                      <m:sSupPr>
                        <m:ctrlPr>
                          <a:rPr lang="en-US" sz="2400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</m:ctrlPr>
                      </m:sSupPr>
                      <m:e>
                        <m:r>
                          <a:rPr lang="en-US" sz="2400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𝐻</m:t>
                        </m:r>
                      </m:e>
                      <m:sup>
                        <m:r>
                          <a:rPr lang="en-US" sz="2400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𝑤</m:t>
                        </m:r>
                        <m:r>
                          <a:rPr lang="en-US" sz="2400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−</m:t>
                        </m:r>
                        <m:sSub>
                          <m:sSubPr>
                            <m:ctrlPr>
                              <a:rPr lang="en-US" sz="2400" i="1">
                                <a:effectLst/>
                                <a:latin typeface="Cambria Math" panose="02040503050406030204" pitchFamily="18" charset="0"/>
                                <a:ea typeface="Calibri"/>
                                <a:cs typeface="Calibri"/>
                              </a:rPr>
                            </m:ctrlPr>
                          </m:sSubPr>
                          <m:e>
                            <m:r>
                              <a:rPr lang="en-US" sz="2400" i="1">
                                <a:effectLst/>
                                <a:latin typeface="Cambria Math" panose="02040503050406030204" pitchFamily="18" charset="0"/>
                                <a:ea typeface="Calibri"/>
                                <a:cs typeface="Calibri"/>
                              </a:rPr>
                              <m:t>𝑐</m:t>
                            </m:r>
                          </m:e>
                          <m:sub>
                            <m:r>
                              <a:rPr lang="en-US" sz="2400" i="1">
                                <a:effectLst/>
                                <a:latin typeface="Cambria Math" panose="02040503050406030204" pitchFamily="18" charset="0"/>
                                <a:ea typeface="Calibri"/>
                                <a:cs typeface="Calibri"/>
                              </a:rPr>
                              <m:t>𝑖</m:t>
                            </m:r>
                          </m:sub>
                        </m:sSub>
                      </m:sup>
                    </m:sSup>
                    <m:d>
                      <m:dPr>
                        <m:ctrlPr>
                          <a:rPr lang="en-US" sz="2400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400" i="1">
                                <a:effectLst/>
                                <a:latin typeface="Cambria Math" panose="02040503050406030204" pitchFamily="18" charset="0"/>
                                <a:ea typeface="Calibri"/>
                                <a:cs typeface="Calibri"/>
                              </a:rPr>
                            </m:ctrlPr>
                          </m:sSubPr>
                          <m:e>
                            <m:r>
                              <a:rPr lang="en-US" sz="2400" i="1">
                                <a:effectLst/>
                                <a:latin typeface="Cambria Math" panose="02040503050406030204" pitchFamily="18" charset="0"/>
                                <a:ea typeface="Calibri"/>
                                <a:cs typeface="Calibri"/>
                              </a:rPr>
                              <m:t>𝜎</m:t>
                            </m:r>
                          </m:e>
                          <m:sub>
                            <m:r>
                              <a:rPr lang="en-US" sz="2400" i="1">
                                <a:effectLst/>
                                <a:latin typeface="Cambria Math" panose="02040503050406030204" pitchFamily="18" charset="0"/>
                                <a:ea typeface="Calibri"/>
                                <a:cs typeface="Calibri"/>
                              </a:rPr>
                              <m:t>𝑖</m:t>
                            </m:r>
                          </m:sub>
                        </m:sSub>
                      </m:e>
                    </m:d>
                  </m:oMath>
                </a14:m>
                <a:endParaRPr lang="en-US" sz="2400" dirty="0">
                  <a:effectLst/>
                  <a:latin typeface="Calibri"/>
                  <a:ea typeface="Calibri"/>
                  <a:cs typeface="Calibri"/>
                </a:endParaRPr>
              </a:p>
              <a:p>
                <a:pPr marR="0" lvl="0">
                  <a:spcAft>
                    <a:spcPts val="600"/>
                  </a:spcAft>
                  <a:tabLst>
                    <a:tab pos="685800" algn="l"/>
                  </a:tabLst>
                </a:pPr>
                <a:r>
                  <a:rPr lang="en-US" sz="2400" dirty="0">
                    <a:effectLst/>
                    <a:latin typeface="Calibri"/>
                    <a:ea typeface="Calibri"/>
                    <a:cs typeface="Calibri"/>
                  </a:rPr>
                  <a:t>Приклад:</a:t>
                </a:r>
              </a:p>
              <a:p>
                <a:pPr marL="342900" marR="0" lvl="0" indent="-342900">
                  <a:spcAft>
                    <a:spcPts val="600"/>
                  </a:spcAft>
                  <a:buFont typeface="Symbol" panose="05050102010706020507" pitchFamily="18" charset="2"/>
                  <a:buChar char=""/>
                  <a:tabLst>
                    <a:tab pos="685800" algn="l"/>
                  </a:tabLst>
                </a:pPr>
                <a:r>
                  <a:rPr lang="uk-UA" sz="2400" dirty="0">
                    <a:effectLst/>
                    <a:latin typeface="Calibri"/>
                    <a:ea typeface="Calibri"/>
                    <a:cs typeface="Calibri"/>
                  </a:rPr>
                  <a:t>Для</a:t>
                </a:r>
                <a:r>
                  <a:rPr lang="en-US" sz="2400" dirty="0">
                    <a:effectLst/>
                    <a:latin typeface="Calibri"/>
                    <a:ea typeface="Calibri"/>
                    <a:cs typeface="Calibri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</m:ctrlPr>
                      </m:sSubPr>
                      <m:e>
                        <m:r>
                          <a:rPr lang="en-US" sz="2400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𝜎</m:t>
                        </m:r>
                      </m:e>
                      <m:sub>
                        <m:r>
                          <a:rPr lang="en-US" sz="2400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sz="2400" dirty="0">
                    <a:effectLst/>
                    <a:latin typeface="Calibri"/>
                    <a:ea typeface="Calibri"/>
                    <a:cs typeface="Calibri"/>
                  </a:rPr>
                  <a:t>, </a:t>
                </a:r>
                <a:r>
                  <a:rPr lang="uk-UA" sz="2400" dirty="0">
                    <a:effectLst/>
                    <a:latin typeface="Calibri"/>
                    <a:ea typeface="Calibri"/>
                    <a:cs typeface="Calibri"/>
                  </a:rPr>
                  <a:t>застосуйте</a:t>
                </a:r>
                <a:r>
                  <a:rPr lang="en-US" sz="2400" dirty="0">
                    <a:effectLst/>
                    <a:latin typeface="Calibri"/>
                    <a:ea typeface="Calibri"/>
                    <a:cs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sz="2400" i="1">
                        <a:effectLst/>
                        <a:latin typeface="Cambria Math" panose="02040503050406030204" pitchFamily="18" charset="0"/>
                        <a:ea typeface="Calibri"/>
                        <a:cs typeface="Calibri"/>
                      </a:rPr>
                      <m:t>𝐻</m:t>
                    </m:r>
                    <m:r>
                      <a:rPr lang="en-US" sz="2400">
                        <a:effectLst/>
                        <a:latin typeface="Cambria Math" panose="02040503050406030204" pitchFamily="18" charset="0"/>
                        <a:ea typeface="Calibri"/>
                        <a:cs typeface="Calibri"/>
                      </a:rPr>
                      <m:t>(16</m:t>
                    </m:r>
                    <m:r>
                      <a:rPr lang="en-US" sz="2400" i="1">
                        <a:effectLst/>
                        <a:latin typeface="Cambria Math" panose="02040503050406030204" pitchFamily="18" charset="0"/>
                        <a:ea typeface="Calibri"/>
                        <a:cs typeface="Calibri"/>
                      </a:rPr>
                      <m:t>−</m:t>
                    </m:r>
                    <m:r>
                      <a:rPr lang="en-US" sz="2400">
                        <a:effectLst/>
                        <a:latin typeface="Cambria Math" panose="02040503050406030204" pitchFamily="18" charset="0"/>
                        <a:ea typeface="Calibri"/>
                        <a:cs typeface="Calibri"/>
                      </a:rPr>
                      <m:t>11)=5</m:t>
                    </m:r>
                  </m:oMath>
                </a14:m>
                <a:r>
                  <a:rPr lang="en-US" sz="2400" dirty="0">
                    <a:effectLst/>
                    <a:latin typeface="Calibri"/>
                    <a:ea typeface="Calibri"/>
                    <a:cs typeface="Calibri"/>
                  </a:rPr>
                  <a:t> </a:t>
                </a:r>
                <a:r>
                  <a:rPr lang="uk-UA" sz="2400" dirty="0">
                    <a:effectLst/>
                    <a:latin typeface="Calibri"/>
                    <a:ea typeface="Calibri"/>
                    <a:cs typeface="Calibri"/>
                  </a:rPr>
                  <a:t>разів</a:t>
                </a:r>
                <a:r>
                  <a:rPr lang="en-US" sz="2400" dirty="0">
                    <a:effectLst/>
                    <a:latin typeface="Calibri"/>
                    <a:ea typeface="Calibri"/>
                    <a:cs typeface="Calibri"/>
                  </a:rPr>
                  <a:t>: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400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</m:ctrlPr>
                      </m:sSubSupPr>
                      <m:e>
                        <m:r>
                          <a:rPr lang="en-US" sz="2400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𝑦</m:t>
                        </m:r>
                      </m:e>
                      <m:sub>
                        <m:r>
                          <a:rPr lang="en-US" sz="2400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1</m:t>
                        </m:r>
                      </m:sub>
                      <m:sup>
                        <m:r>
                          <a:rPr lang="en-US" sz="2400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′</m:t>
                        </m:r>
                      </m:sup>
                    </m:sSubSup>
                    <m:r>
                      <a:rPr lang="en-US" sz="2400">
                        <a:effectLst/>
                        <a:latin typeface="Cambria Math" panose="02040503050406030204" pitchFamily="18" charset="0"/>
                        <a:ea typeface="Calibri"/>
                        <a:cs typeface="Calibri"/>
                      </a:rPr>
                      <m:t>=</m:t>
                    </m:r>
                    <m:sSup>
                      <m:sSupPr>
                        <m:ctrlPr>
                          <a:rPr lang="en-US" sz="2400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</m:ctrlPr>
                      </m:sSupPr>
                      <m:e>
                        <m:r>
                          <a:rPr lang="en-US" sz="2400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𝐻</m:t>
                        </m:r>
                      </m:e>
                      <m:sup>
                        <m:r>
                          <a:rPr lang="en-US" sz="2400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5</m:t>
                        </m:r>
                      </m:sup>
                    </m:sSup>
                    <m:d>
                      <m:dPr>
                        <m:ctrlPr>
                          <a:rPr lang="en-US" sz="2400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400" i="1">
                                <a:effectLst/>
                                <a:latin typeface="Cambria Math" panose="02040503050406030204" pitchFamily="18" charset="0"/>
                                <a:ea typeface="Calibri"/>
                                <a:cs typeface="Calibri"/>
                              </a:rPr>
                            </m:ctrlPr>
                          </m:sSubPr>
                          <m:e>
                            <m:r>
                              <a:rPr lang="en-US" sz="2400" i="1">
                                <a:effectLst/>
                                <a:latin typeface="Cambria Math" panose="02040503050406030204" pitchFamily="18" charset="0"/>
                                <a:ea typeface="Calibri"/>
                                <a:cs typeface="Calibri"/>
                              </a:rPr>
                              <m:t>𝜎</m:t>
                            </m:r>
                          </m:e>
                          <m:sub>
                            <m:r>
                              <a:rPr lang="en-US" sz="2400">
                                <a:effectLst/>
                                <a:latin typeface="Cambria Math" panose="02040503050406030204" pitchFamily="18" charset="0"/>
                                <a:ea typeface="Calibri"/>
                                <a:cs typeface="Calibri"/>
                              </a:rPr>
                              <m:t>1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sz="2400" dirty="0">
                    <a:effectLst/>
                    <a:latin typeface="Calibri"/>
                    <a:ea typeface="Calibri"/>
                    <a:cs typeface="Calibri"/>
                  </a:rPr>
                  <a:t>.</a:t>
                </a:r>
              </a:p>
              <a:p>
                <a:pPr marL="342900" marR="0" lvl="0" indent="-342900">
                  <a:spcAft>
                    <a:spcPts val="600"/>
                  </a:spcAft>
                  <a:buFont typeface="Symbol" panose="05050102010706020507" pitchFamily="18" charset="2"/>
                  <a:buChar char=""/>
                  <a:tabLst>
                    <a:tab pos="685800" algn="l"/>
                  </a:tabLst>
                </a:pPr>
                <a:r>
                  <a:rPr lang="uk-UA" sz="2400" dirty="0">
                    <a:latin typeface="Calibri"/>
                    <a:ea typeface="Calibri"/>
                    <a:cs typeface="Calibri"/>
                  </a:rPr>
                  <a:t>Для</a:t>
                </a:r>
                <a:r>
                  <a:rPr lang="uk-UA" sz="2400" dirty="0">
                    <a:effectLst/>
                    <a:ea typeface="Calibri"/>
                    <a:cs typeface="Calibri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smtClean="0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</m:ctrlPr>
                      </m:sSubPr>
                      <m:e>
                        <m:r>
                          <a:rPr lang="en-US" sz="2400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𝜎</m:t>
                        </m:r>
                      </m:e>
                      <m:sub>
                        <m:r>
                          <a:rPr lang="en-US" sz="2400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sz="2400" dirty="0">
                    <a:effectLst/>
                    <a:latin typeface="Calibri"/>
                    <a:ea typeface="Calibri"/>
                    <a:cs typeface="Calibri"/>
                  </a:rPr>
                  <a:t> </a:t>
                </a:r>
                <a:r>
                  <a:rPr lang="uk-UA" sz="2400" dirty="0">
                    <a:effectLst/>
                    <a:latin typeface="Calibri"/>
                    <a:ea typeface="Calibri"/>
                    <a:cs typeface="Calibri"/>
                  </a:rPr>
                  <a:t>застосуйте</a:t>
                </a:r>
                <a:r>
                  <a:rPr lang="en-US" sz="2400" dirty="0">
                    <a:effectLst/>
                    <a:latin typeface="Calibri"/>
                    <a:ea typeface="Calibri"/>
                    <a:cs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sz="2400" i="1">
                        <a:effectLst/>
                        <a:latin typeface="Cambria Math" panose="02040503050406030204" pitchFamily="18" charset="0"/>
                        <a:ea typeface="Calibri"/>
                        <a:cs typeface="Calibri"/>
                      </a:rPr>
                      <m:t>𝐻</m:t>
                    </m:r>
                    <m:r>
                      <a:rPr lang="en-US" sz="2400">
                        <a:effectLst/>
                        <a:latin typeface="Cambria Math" panose="02040503050406030204" pitchFamily="18" charset="0"/>
                        <a:ea typeface="Calibri"/>
                        <a:cs typeface="Calibri"/>
                      </a:rPr>
                      <m:t>(16</m:t>
                    </m:r>
                    <m:r>
                      <a:rPr lang="en-US" sz="2400" i="1">
                        <a:effectLst/>
                        <a:latin typeface="Cambria Math" panose="02040503050406030204" pitchFamily="18" charset="0"/>
                        <a:ea typeface="Calibri"/>
                        <a:cs typeface="Calibri"/>
                      </a:rPr>
                      <m:t>−</m:t>
                    </m:r>
                    <m:r>
                      <a:rPr lang="en-US" sz="2400">
                        <a:effectLst/>
                        <a:latin typeface="Cambria Math" panose="02040503050406030204" pitchFamily="18" charset="0"/>
                        <a:ea typeface="Calibri"/>
                        <a:cs typeface="Calibri"/>
                      </a:rPr>
                      <m:t>5)=11</m:t>
                    </m:r>
                  </m:oMath>
                </a14:m>
                <a:r>
                  <a:rPr lang="en-US" sz="2400" dirty="0">
                    <a:effectLst/>
                    <a:latin typeface="Calibri"/>
                    <a:ea typeface="Calibri"/>
                    <a:cs typeface="Calibri"/>
                  </a:rPr>
                  <a:t> </a:t>
                </a:r>
                <a:r>
                  <a:rPr lang="uk-UA" sz="2400" dirty="0">
                    <a:effectLst/>
                    <a:latin typeface="Calibri"/>
                    <a:ea typeface="Calibri"/>
                    <a:cs typeface="Calibri"/>
                  </a:rPr>
                  <a:t>разів</a:t>
                </a:r>
                <a:r>
                  <a:rPr lang="en-US" sz="2400" dirty="0">
                    <a:effectLst/>
                    <a:latin typeface="Calibri"/>
                    <a:ea typeface="Calibri"/>
                    <a:cs typeface="Calibri"/>
                  </a:rPr>
                  <a:t>: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400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</m:ctrlPr>
                      </m:sSubSupPr>
                      <m:e>
                        <m:r>
                          <a:rPr lang="en-US" sz="2400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𝑦</m:t>
                        </m:r>
                      </m:e>
                      <m:sub>
                        <m:r>
                          <a:rPr lang="en-US" sz="2400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2</m:t>
                        </m:r>
                      </m:sub>
                      <m:sup>
                        <m:r>
                          <a:rPr lang="en-US" sz="2400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′</m:t>
                        </m:r>
                      </m:sup>
                    </m:sSubSup>
                    <m:r>
                      <a:rPr lang="en-US" sz="2400">
                        <a:effectLst/>
                        <a:latin typeface="Cambria Math" panose="02040503050406030204" pitchFamily="18" charset="0"/>
                        <a:ea typeface="Calibri"/>
                        <a:cs typeface="Calibri"/>
                      </a:rPr>
                      <m:t>=</m:t>
                    </m:r>
                    <m:sSup>
                      <m:sSupPr>
                        <m:ctrlPr>
                          <a:rPr lang="en-US" sz="2400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</m:ctrlPr>
                      </m:sSupPr>
                      <m:e>
                        <m:r>
                          <a:rPr lang="en-US" sz="2400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𝐻</m:t>
                        </m:r>
                      </m:e>
                      <m:sup>
                        <m:r>
                          <a:rPr lang="en-US" sz="2400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11</m:t>
                        </m:r>
                      </m:sup>
                    </m:sSup>
                    <m:d>
                      <m:dPr>
                        <m:ctrlPr>
                          <a:rPr lang="en-US" sz="2400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400" i="1">
                                <a:effectLst/>
                                <a:latin typeface="Cambria Math" panose="02040503050406030204" pitchFamily="18" charset="0"/>
                                <a:ea typeface="Calibri"/>
                                <a:cs typeface="Calibri"/>
                              </a:rPr>
                            </m:ctrlPr>
                          </m:sSubPr>
                          <m:e>
                            <m:r>
                              <a:rPr lang="en-US" sz="2400" i="1">
                                <a:effectLst/>
                                <a:latin typeface="Cambria Math" panose="02040503050406030204" pitchFamily="18" charset="0"/>
                                <a:ea typeface="Calibri"/>
                                <a:cs typeface="Calibri"/>
                              </a:rPr>
                              <m:t>𝜎</m:t>
                            </m:r>
                          </m:e>
                          <m:sub>
                            <m:r>
                              <a:rPr lang="en-US" sz="2400">
                                <a:effectLst/>
                                <a:latin typeface="Cambria Math" panose="02040503050406030204" pitchFamily="18" charset="0"/>
                                <a:ea typeface="Calibri"/>
                                <a:cs typeface="Calibri"/>
                              </a:rPr>
                              <m:t>2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sz="2400" dirty="0">
                    <a:effectLst/>
                    <a:latin typeface="Calibri"/>
                    <a:ea typeface="Calibri"/>
                    <a:cs typeface="Calibri"/>
                  </a:rPr>
                  <a:t>.</a:t>
                </a:r>
              </a:p>
              <a:p>
                <a:pPr marL="342900" marR="0" lvl="0" indent="-342900">
                  <a:spcAft>
                    <a:spcPts val="600"/>
                  </a:spcAft>
                  <a:buFont typeface="Symbol" panose="05050102010706020507" pitchFamily="18" charset="2"/>
                  <a:buChar char=""/>
                  <a:tabLst>
                    <a:tab pos="685800" algn="l"/>
                  </a:tabLst>
                </a:pPr>
                <a:r>
                  <a:rPr lang="uk-UA" sz="2400" dirty="0">
                    <a:effectLst/>
                    <a:latin typeface="Calibri"/>
                    <a:ea typeface="Calibri"/>
                    <a:cs typeface="Calibri"/>
                  </a:rPr>
                  <a:t>Для</a:t>
                </a:r>
                <a:r>
                  <a:rPr lang="en-US" sz="2400" dirty="0">
                    <a:effectLst/>
                    <a:latin typeface="Calibri"/>
                    <a:ea typeface="Calibri"/>
                    <a:cs typeface="Calibri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</m:ctrlPr>
                      </m:sSubPr>
                      <m:e>
                        <m:r>
                          <a:rPr lang="en-US" sz="2400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𝜎</m:t>
                        </m:r>
                      </m:e>
                      <m:sub>
                        <m:r>
                          <a:rPr lang="en-US" sz="2400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3</m:t>
                        </m:r>
                      </m:sub>
                    </m:sSub>
                  </m:oMath>
                </a14:m>
                <a:r>
                  <a:rPr lang="en-US" sz="2400" dirty="0">
                    <a:effectLst/>
                    <a:latin typeface="Calibri"/>
                    <a:ea typeface="Calibri"/>
                    <a:cs typeface="Calibri"/>
                  </a:rPr>
                  <a:t> </a:t>
                </a:r>
                <a:r>
                  <a:rPr lang="uk-UA" sz="2400" dirty="0">
                    <a:effectLst/>
                    <a:latin typeface="Calibri"/>
                    <a:ea typeface="Calibri"/>
                    <a:cs typeface="Calibri"/>
                  </a:rPr>
                  <a:t>застосуйте</a:t>
                </a:r>
                <a:r>
                  <a:rPr lang="en-US" sz="2400" dirty="0">
                    <a:effectLst/>
                    <a:latin typeface="Calibri"/>
                    <a:ea typeface="Calibri"/>
                    <a:cs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sz="2400" i="1">
                        <a:effectLst/>
                        <a:latin typeface="Cambria Math" panose="02040503050406030204" pitchFamily="18" charset="0"/>
                        <a:ea typeface="Calibri"/>
                        <a:cs typeface="Calibri"/>
                      </a:rPr>
                      <m:t>𝐻</m:t>
                    </m:r>
                    <m:r>
                      <a:rPr lang="en-US" sz="2400">
                        <a:effectLst/>
                        <a:latin typeface="Cambria Math" panose="02040503050406030204" pitchFamily="18" charset="0"/>
                        <a:ea typeface="Calibri"/>
                        <a:cs typeface="Calibri"/>
                      </a:rPr>
                      <m:t>(16</m:t>
                    </m:r>
                    <m:r>
                      <a:rPr lang="en-US" sz="2400" i="1">
                        <a:effectLst/>
                        <a:latin typeface="Cambria Math" panose="02040503050406030204" pitchFamily="18" charset="0"/>
                        <a:ea typeface="Calibri"/>
                        <a:cs typeface="Calibri"/>
                      </a:rPr>
                      <m:t>−</m:t>
                    </m:r>
                    <m:r>
                      <a:rPr lang="en-US" sz="2400">
                        <a:effectLst/>
                        <a:latin typeface="Cambria Math" panose="02040503050406030204" pitchFamily="18" charset="0"/>
                        <a:ea typeface="Calibri"/>
                        <a:cs typeface="Calibri"/>
                      </a:rPr>
                      <m:t>12)=4</m:t>
                    </m:r>
                  </m:oMath>
                </a14:m>
                <a:r>
                  <a:rPr lang="en-US" sz="2400" dirty="0">
                    <a:effectLst/>
                    <a:latin typeface="Calibri"/>
                    <a:ea typeface="Calibri"/>
                    <a:cs typeface="Calibri"/>
                  </a:rPr>
                  <a:t> </a:t>
                </a:r>
                <a:r>
                  <a:rPr lang="uk-UA" sz="2400" dirty="0">
                    <a:effectLst/>
                    <a:latin typeface="Calibri"/>
                    <a:ea typeface="Calibri"/>
                    <a:cs typeface="Calibri"/>
                  </a:rPr>
                  <a:t>разів</a:t>
                </a:r>
                <a:r>
                  <a:rPr lang="en-US" sz="2400" dirty="0">
                    <a:effectLst/>
                    <a:latin typeface="Calibri"/>
                    <a:ea typeface="Calibri"/>
                    <a:cs typeface="Calibri"/>
                  </a:rPr>
                  <a:t>: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400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</m:ctrlPr>
                      </m:sSubSupPr>
                      <m:e>
                        <m:r>
                          <a:rPr lang="en-US" sz="2400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𝑦</m:t>
                        </m:r>
                      </m:e>
                      <m:sub>
                        <m:r>
                          <a:rPr lang="en-US" sz="2400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3</m:t>
                        </m:r>
                      </m:sub>
                      <m:sup>
                        <m:r>
                          <a:rPr lang="en-US" sz="2400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′</m:t>
                        </m:r>
                      </m:sup>
                    </m:sSubSup>
                    <m:r>
                      <a:rPr lang="en-US" sz="2400">
                        <a:effectLst/>
                        <a:latin typeface="Cambria Math" panose="02040503050406030204" pitchFamily="18" charset="0"/>
                        <a:ea typeface="Calibri"/>
                        <a:cs typeface="Calibri"/>
                      </a:rPr>
                      <m:t>=</m:t>
                    </m:r>
                    <m:sSup>
                      <m:sSupPr>
                        <m:ctrlPr>
                          <a:rPr lang="en-US" sz="2400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</m:ctrlPr>
                      </m:sSupPr>
                      <m:e>
                        <m:r>
                          <a:rPr lang="en-US" sz="2400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𝐻</m:t>
                        </m:r>
                      </m:e>
                      <m:sup>
                        <m:r>
                          <a:rPr lang="en-US" sz="2400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4</m:t>
                        </m:r>
                      </m:sup>
                    </m:sSup>
                    <m:d>
                      <m:dPr>
                        <m:ctrlPr>
                          <a:rPr lang="en-US" sz="2400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400" i="1">
                                <a:effectLst/>
                                <a:latin typeface="Cambria Math" panose="02040503050406030204" pitchFamily="18" charset="0"/>
                                <a:ea typeface="Calibri"/>
                                <a:cs typeface="Calibri"/>
                              </a:rPr>
                            </m:ctrlPr>
                          </m:sSubPr>
                          <m:e>
                            <m:r>
                              <a:rPr lang="en-US" sz="2400" i="1">
                                <a:effectLst/>
                                <a:latin typeface="Cambria Math" panose="02040503050406030204" pitchFamily="18" charset="0"/>
                                <a:ea typeface="Calibri"/>
                                <a:cs typeface="Calibri"/>
                              </a:rPr>
                              <m:t>𝜎</m:t>
                            </m:r>
                          </m:e>
                          <m:sub>
                            <m:r>
                              <a:rPr lang="en-US" sz="2400">
                                <a:effectLst/>
                                <a:latin typeface="Cambria Math" panose="02040503050406030204" pitchFamily="18" charset="0"/>
                                <a:ea typeface="Calibri"/>
                                <a:cs typeface="Calibri"/>
                              </a:rPr>
                              <m:t>3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sz="2400" dirty="0">
                    <a:effectLst/>
                    <a:latin typeface="Calibri"/>
                    <a:ea typeface="Calibri"/>
                    <a:cs typeface="Calibri"/>
                  </a:rPr>
                  <a:t>.</a:t>
                </a:r>
              </a:p>
              <a:p>
                <a:pPr marL="0" marR="0">
                  <a:spcAft>
                    <a:spcPts val="1100"/>
                  </a:spcAft>
                </a:pPr>
                <a:endParaRPr lang="en-US" sz="2400" b="1" dirty="0">
                  <a:effectLst/>
                  <a:latin typeface="Calibri"/>
                  <a:ea typeface="Calibri"/>
                  <a:cs typeface="Calibri"/>
                </a:endParaRPr>
              </a:p>
              <a:p>
                <a:pPr marL="0" marR="0">
                  <a:spcAft>
                    <a:spcPts val="1100"/>
                  </a:spcAft>
                </a:pPr>
                <a:r>
                  <a:rPr lang="en-US" sz="2400" b="1" dirty="0" err="1">
                    <a:effectLst/>
                    <a:latin typeface="Calibri"/>
                    <a:ea typeface="Calibri"/>
                    <a:cs typeface="Calibri"/>
                  </a:rPr>
                  <a:t>Крок</a:t>
                </a:r>
                <a:r>
                  <a:rPr lang="en-US" sz="2400" b="1" dirty="0">
                    <a:effectLst/>
                    <a:latin typeface="Calibri"/>
                    <a:ea typeface="Calibri"/>
                    <a:cs typeface="Calibri"/>
                  </a:rPr>
                  <a:t> 2: </a:t>
                </a:r>
                <a:r>
                  <a:rPr lang="en-US" sz="2400" dirty="0">
                    <a:effectLst/>
                    <a:latin typeface="Calibri"/>
                    <a:ea typeface="Calibri"/>
                    <a:cs typeface="Calibri"/>
                  </a:rPr>
                  <a:t>Порівняйте відкриті ключі</a:t>
                </a:r>
              </a:p>
              <a:p>
                <a:pPr marL="342900" marR="0" lvl="0" indent="-342900">
                  <a:spcAft>
                    <a:spcPts val="600"/>
                  </a:spcAft>
                  <a:buFont typeface="Symbol" panose="05050102010706020507" pitchFamily="18" charset="2"/>
                  <a:buChar char=""/>
                  <a:tabLst>
                    <a:tab pos="685800" algn="l"/>
                  </a:tabLst>
                </a:pPr>
                <a:r>
                  <a:rPr lang="en-US" sz="2400" dirty="0">
                    <a:effectLst/>
                    <a:latin typeface="Calibri"/>
                    <a:ea typeface="Calibri"/>
                    <a:cs typeface="Calibri"/>
                  </a:rPr>
                  <a:t>Порівняйте перерахований </a:t>
                </a:r>
                <a:r>
                  <a:rPr lang="en-US" sz="2400" dirty="0" err="1">
                    <a:effectLst/>
                    <a:latin typeface="Calibri"/>
                    <a:ea typeface="Calibri"/>
                    <a:cs typeface="Calibri"/>
                  </a:rPr>
                  <a:t>відкритий</a:t>
                </a:r>
                <a:r>
                  <a:rPr lang="en-US" sz="2400" dirty="0">
                    <a:effectLst/>
                    <a:latin typeface="Calibri"/>
                    <a:ea typeface="Calibri"/>
                    <a:cs typeface="Calibri"/>
                  </a:rPr>
                  <a:t> </a:t>
                </a:r>
                <a:r>
                  <a:rPr lang="en-US" sz="2400" dirty="0" err="1">
                    <a:effectLst/>
                    <a:latin typeface="Calibri"/>
                    <a:ea typeface="Calibri"/>
                    <a:cs typeface="Calibri"/>
                  </a:rPr>
                  <a:t>ключ</a:t>
                </a:r>
                <a:r>
                  <a:rPr lang="uk-UA" sz="2400" dirty="0">
                    <a:effectLst/>
                    <a:latin typeface="Calibri"/>
                    <a:ea typeface="Calibri"/>
                    <a:cs typeface="Calibri"/>
                  </a:rPr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 smtClean="0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</m:ctrlPr>
                      </m:sSupPr>
                      <m:e>
                        <m:r>
                          <a:rPr lang="en-US" sz="2400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𝑦</m:t>
                        </m:r>
                      </m:e>
                      <m:sup>
                        <m:r>
                          <a:rPr lang="en-US" sz="2400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′</m:t>
                        </m:r>
                      </m:sup>
                    </m:sSup>
                    <m:r>
                      <a:rPr lang="en-US" sz="2400">
                        <a:effectLst/>
                        <a:latin typeface="Cambria Math" panose="02040503050406030204" pitchFamily="18" charset="0"/>
                        <a:ea typeface="Calibri"/>
                        <a:cs typeface="Calibri"/>
                      </a:rPr>
                      <m:t>=</m:t>
                    </m:r>
                    <m:d>
                      <m:dPr>
                        <m:ctrlPr>
                          <a:rPr lang="en-US" sz="2400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en-US" sz="2400" i="1">
                                <a:effectLst/>
                                <a:latin typeface="Cambria Math" panose="02040503050406030204" pitchFamily="18" charset="0"/>
                                <a:ea typeface="Calibri"/>
                                <a:cs typeface="Calibri"/>
                              </a:rPr>
                            </m:ctrlPr>
                          </m:sSubSupPr>
                          <m:e>
                            <m:r>
                              <a:rPr lang="en-US" sz="2400" i="1">
                                <a:effectLst/>
                                <a:latin typeface="Cambria Math" panose="02040503050406030204" pitchFamily="18" charset="0"/>
                                <a:ea typeface="Calibri"/>
                                <a:cs typeface="Calibri"/>
                              </a:rPr>
                              <m:t>𝑦</m:t>
                            </m:r>
                          </m:e>
                          <m:sub>
                            <m:r>
                              <a:rPr lang="en-US" sz="2400">
                                <a:effectLst/>
                                <a:latin typeface="Cambria Math" panose="02040503050406030204" pitchFamily="18" charset="0"/>
                                <a:ea typeface="Calibri"/>
                                <a:cs typeface="Calibri"/>
                              </a:rPr>
                              <m:t>1</m:t>
                            </m:r>
                          </m:sub>
                          <m:sup>
                            <m:r>
                              <a:rPr lang="en-US" sz="2400" i="1">
                                <a:effectLst/>
                                <a:latin typeface="Cambria Math" panose="02040503050406030204" pitchFamily="18" charset="0"/>
                                <a:ea typeface="Calibri"/>
                                <a:cs typeface="Calibri"/>
                              </a:rPr>
                              <m:t>′</m:t>
                            </m:r>
                          </m:sup>
                        </m:sSubSup>
                        <m:r>
                          <a:rPr lang="en-US" sz="2400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,</m:t>
                        </m:r>
                        <m:sSubSup>
                          <m:sSubSupPr>
                            <m:ctrlPr>
                              <a:rPr lang="en-US" sz="2400" i="1">
                                <a:effectLst/>
                                <a:latin typeface="Cambria Math" panose="02040503050406030204" pitchFamily="18" charset="0"/>
                                <a:ea typeface="Calibri"/>
                                <a:cs typeface="Calibri"/>
                              </a:rPr>
                            </m:ctrlPr>
                          </m:sSubSupPr>
                          <m:e>
                            <m:r>
                              <a:rPr lang="en-US" sz="2400" i="1">
                                <a:effectLst/>
                                <a:latin typeface="Cambria Math" panose="02040503050406030204" pitchFamily="18" charset="0"/>
                                <a:ea typeface="Calibri"/>
                                <a:cs typeface="Calibri"/>
                              </a:rPr>
                              <m:t>𝑦</m:t>
                            </m:r>
                          </m:e>
                          <m:sub>
                            <m:r>
                              <a:rPr lang="en-US" sz="2400">
                                <a:effectLst/>
                                <a:latin typeface="Cambria Math" panose="02040503050406030204" pitchFamily="18" charset="0"/>
                                <a:ea typeface="Calibri"/>
                                <a:cs typeface="Calibri"/>
                              </a:rPr>
                              <m:t>2</m:t>
                            </m:r>
                          </m:sub>
                          <m:sup>
                            <m:r>
                              <a:rPr lang="en-US" sz="2400" i="1">
                                <a:effectLst/>
                                <a:latin typeface="Cambria Math" panose="02040503050406030204" pitchFamily="18" charset="0"/>
                                <a:ea typeface="Calibri"/>
                                <a:cs typeface="Calibri"/>
                              </a:rPr>
                              <m:t>′</m:t>
                            </m:r>
                          </m:sup>
                        </m:sSubSup>
                        <m:r>
                          <a:rPr lang="en-US" sz="2400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,</m:t>
                        </m:r>
                        <m:sSubSup>
                          <m:sSubSupPr>
                            <m:ctrlPr>
                              <a:rPr lang="en-US" sz="2400" i="1">
                                <a:effectLst/>
                                <a:latin typeface="Cambria Math" panose="02040503050406030204" pitchFamily="18" charset="0"/>
                                <a:ea typeface="Calibri"/>
                                <a:cs typeface="Calibri"/>
                              </a:rPr>
                            </m:ctrlPr>
                          </m:sSubSupPr>
                          <m:e>
                            <m:r>
                              <a:rPr lang="en-US" sz="2400" i="1">
                                <a:effectLst/>
                                <a:latin typeface="Cambria Math" panose="02040503050406030204" pitchFamily="18" charset="0"/>
                                <a:ea typeface="Calibri"/>
                                <a:cs typeface="Calibri"/>
                              </a:rPr>
                              <m:t>𝑦</m:t>
                            </m:r>
                          </m:e>
                          <m:sub>
                            <m:r>
                              <a:rPr lang="en-US" sz="2400">
                                <a:effectLst/>
                                <a:latin typeface="Cambria Math" panose="02040503050406030204" pitchFamily="18" charset="0"/>
                                <a:ea typeface="Calibri"/>
                                <a:cs typeface="Calibri"/>
                              </a:rPr>
                              <m:t>3</m:t>
                            </m:r>
                          </m:sub>
                          <m:sup>
                            <m:r>
                              <a:rPr lang="en-US" sz="2400" i="1">
                                <a:effectLst/>
                                <a:latin typeface="Cambria Math" panose="02040503050406030204" pitchFamily="18" charset="0"/>
                                <a:ea typeface="Calibri"/>
                                <a:cs typeface="Calibri"/>
                              </a:rPr>
                              <m:t>′</m:t>
                            </m:r>
                          </m:sup>
                        </m:sSubSup>
                      </m:e>
                    </m:d>
                  </m:oMath>
                </a14:m>
                <a:r>
                  <a:rPr lang="en-US" sz="2400" dirty="0">
                    <a:effectLst/>
                    <a:latin typeface="Calibri"/>
                    <a:ea typeface="Calibri"/>
                    <a:cs typeface="Calibri"/>
                  </a:rPr>
                  <a:t> з оригінальним відкритим ключем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  <a:ea typeface="Calibri"/>
                        <a:cs typeface="Calibri"/>
                      </a:rPr>
                      <m:t>𝑦</m:t>
                    </m:r>
                  </m:oMath>
                </a14:m>
                <a:r>
                  <a:rPr lang="en-US" sz="2400" dirty="0">
                    <a:effectLst/>
                    <a:latin typeface="Calibri"/>
                    <a:ea typeface="Calibri"/>
                    <a:cs typeface="Calibri"/>
                  </a:rPr>
                  <a:t>.</a:t>
                </a:r>
              </a:p>
              <a:p>
                <a:pPr marL="342900" marR="0" lvl="0" indent="-342900">
                  <a:spcAft>
                    <a:spcPts val="600"/>
                  </a:spcAft>
                  <a:buFont typeface="Symbol" panose="05050102010706020507" pitchFamily="18" charset="2"/>
                  <a:buChar char=""/>
                  <a:tabLst>
                    <a:tab pos="685800" algn="l"/>
                  </a:tabLst>
                </a:pPr>
                <a:r>
                  <a:rPr lang="en-US" sz="2400" dirty="0" err="1">
                    <a:effectLst/>
                    <a:latin typeface="Calibri"/>
                    <a:ea typeface="Calibri"/>
                    <a:cs typeface="Calibri"/>
                  </a:rPr>
                  <a:t>Якщо</a:t>
                </a:r>
                <a:r>
                  <a:rPr lang="en-US" sz="2400" dirty="0">
                    <a:effectLst/>
                    <a:latin typeface="Calibri"/>
                    <a:ea typeface="Calibri"/>
                    <a:cs typeface="Calibri"/>
                  </a:rPr>
                  <a:t> 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</m:ctrlPr>
                      </m:sSupPr>
                      <m:e>
                        <m:r>
                          <a:rPr lang="en-US" sz="2400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𝑦</m:t>
                        </m:r>
                      </m:e>
                      <m:sup>
                        <m:r>
                          <a:rPr lang="en-US" sz="2400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′</m:t>
                        </m:r>
                      </m:sup>
                    </m:sSup>
                    <m:r>
                      <a:rPr lang="en-US" sz="2400">
                        <a:effectLst/>
                        <a:latin typeface="Cambria Math" panose="02040503050406030204" pitchFamily="18" charset="0"/>
                        <a:ea typeface="Calibri"/>
                        <a:cs typeface="Calibri"/>
                      </a:rPr>
                      <m:t>=</m:t>
                    </m:r>
                    <m:r>
                      <a:rPr lang="en-US" sz="2400" i="1">
                        <a:effectLst/>
                        <a:latin typeface="Cambria Math" panose="02040503050406030204" pitchFamily="18" charset="0"/>
                        <a:ea typeface="Calibri"/>
                        <a:cs typeface="Calibri"/>
                      </a:rPr>
                      <m:t>𝑦</m:t>
                    </m:r>
                  </m:oMath>
                </a14:m>
                <a:r>
                  <a:rPr lang="en-US" sz="2400" dirty="0">
                    <a:effectLst/>
                    <a:latin typeface="Calibri"/>
                    <a:ea typeface="Calibri"/>
                    <a:cs typeface="Calibri"/>
                  </a:rPr>
                  <a:t>,</a:t>
                </a:r>
                <a:r>
                  <a:rPr lang="uk-UA" sz="2400" dirty="0">
                    <a:effectLst/>
                    <a:latin typeface="Calibri"/>
                    <a:ea typeface="Calibri"/>
                    <a:cs typeface="Calibri"/>
                  </a:rPr>
                  <a:t> </a:t>
                </a:r>
                <a:r>
                  <a:rPr lang="en-US" sz="2400" dirty="0">
                    <a:effectLst/>
                    <a:latin typeface="Calibri"/>
                    <a:ea typeface="Calibri"/>
                    <a:cs typeface="Calibri"/>
                  </a:rPr>
                  <a:t> підпис є дійсним.</a:t>
                </a:r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615F1DE-220D-80BC-E6B6-CEB880082F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9660" y="1153445"/>
                <a:ext cx="10012680" cy="5034965"/>
              </a:xfrm>
              <a:prstGeom prst="rect">
                <a:avLst/>
              </a:prstGeom>
              <a:blipFill>
                <a:blip r:embed="rId2"/>
                <a:stretch>
                  <a:fillRect l="-886" t="-1005" b="-2261"/>
                </a:stretch>
              </a:blipFill>
            </p:spPr>
            <p:txBody>
              <a:bodyPr/>
              <a:lstStyle/>
              <a:p>
                <a:r>
                  <a:rPr lang="en-UA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6137503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0C11EE-480B-3261-C319-0BB2C14245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12854" y="355314"/>
            <a:ext cx="6366292" cy="416198"/>
          </a:xfrm>
        </p:spPr>
        <p:txBody>
          <a:bodyPr>
            <a:noAutofit/>
          </a:bodyPr>
          <a:lstStyle/>
          <a:p>
            <a:pPr algn="ctr"/>
            <a:r>
              <a:rPr lang="en-US" sz="3200" b="1" dirty="0">
                <a:solidFill>
                  <a:srgbClr val="203864"/>
                </a:solidFill>
                <a:latin typeface="Calibri"/>
              </a:rPr>
              <a:t>Чому WOTS </a:t>
            </a:r>
            <a:r>
              <a:rPr lang="en-US" sz="3200" b="1" dirty="0" err="1">
                <a:solidFill>
                  <a:srgbClr val="203864"/>
                </a:solidFill>
                <a:latin typeface="Calibri"/>
              </a:rPr>
              <a:t>є</a:t>
            </a:r>
            <a:r>
              <a:rPr lang="en-US" sz="3200" b="1" dirty="0">
                <a:solidFill>
                  <a:srgbClr val="203864"/>
                </a:solidFill>
                <a:latin typeface="Calibri"/>
              </a:rPr>
              <a:t> </a:t>
            </a:r>
            <a:r>
              <a:rPr lang="en-US" sz="3200" b="1" dirty="0" err="1">
                <a:solidFill>
                  <a:srgbClr val="203864"/>
                </a:solidFill>
                <a:latin typeface="Calibri"/>
              </a:rPr>
              <a:t>одноразовим</a:t>
            </a:r>
            <a:endParaRPr lang="en-US" sz="3200" b="1" dirty="0">
              <a:solidFill>
                <a:srgbClr val="203864"/>
              </a:solidFill>
              <a:latin typeface="Calibri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3B01482-E607-1956-2BCA-70382895B56C}"/>
                  </a:ext>
                </a:extLst>
              </p:cNvPr>
              <p:cNvSpPr txBox="1"/>
              <p:nvPr/>
            </p:nvSpPr>
            <p:spPr>
              <a:xfrm>
                <a:off x="223520" y="831670"/>
                <a:ext cx="11968480" cy="5937202"/>
              </a:xfrm>
              <a:prstGeom prst="rect">
                <a:avLst/>
              </a:prstGeom>
              <a:noFill/>
            </p:spPr>
            <p:txBody>
              <a:bodyPr wrap="square"/>
              <a:lstStyle/>
              <a:p>
                <a:pPr marL="342900" marR="0" lvl="0" indent="-342900">
                  <a:spcAft>
                    <a:spcPts val="600"/>
                  </a:spcAft>
                  <a:buFont typeface="+mj-lt"/>
                  <a:buAutoNum type="arabicPeriod"/>
                  <a:tabLst>
                    <a:tab pos="685800" algn="l"/>
                  </a:tabLst>
                </a:pPr>
                <a:r>
                  <a:rPr lang="en-US" dirty="0">
                    <a:effectLst/>
                    <a:latin typeface="Calibri"/>
                    <a:ea typeface="Calibri"/>
                    <a:cs typeface="Calibri"/>
                  </a:rPr>
                  <a:t>Хеш-ланцюги витоку інформації</a:t>
                </a:r>
              </a:p>
              <a:p>
                <a:pPr marL="342900" marR="0" lvl="0" indent="-342900">
                  <a:spcAft>
                    <a:spcPts val="600"/>
                  </a:spcAft>
                  <a:buFont typeface="Symbol" panose="05050102010706020507" pitchFamily="18" charset="2"/>
                  <a:buChar char=""/>
                  <a:tabLst>
                    <a:tab pos="685800" algn="l"/>
                  </a:tabLst>
                </a:pPr>
                <a:r>
                  <a:rPr lang="en-US" dirty="0">
                    <a:effectLst/>
                    <a:latin typeface="Calibri"/>
                    <a:ea typeface="Calibri"/>
                    <a:cs typeface="Calibri"/>
                  </a:rPr>
                  <a:t>У WOTS </a:t>
                </a:r>
                <a:r>
                  <a:rPr lang="en-US" dirty="0" err="1">
                    <a:effectLst/>
                    <a:latin typeface="Calibri"/>
                    <a:ea typeface="Calibri"/>
                    <a:cs typeface="Calibri"/>
                  </a:rPr>
                  <a:t>підпис</a:t>
                </a:r>
                <a:r>
                  <a:rPr lang="uk-UA" dirty="0">
                    <a:effectLst/>
                    <a:latin typeface="Calibri"/>
                    <a:ea typeface="Calibri"/>
                    <a:cs typeface="Calibri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𝜎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>
                    <a:effectLst/>
                    <a:latin typeface="Calibri"/>
                    <a:ea typeface="Calibri"/>
                    <a:cs typeface="Calibri"/>
                  </a:rPr>
                  <a:t> для повідомлення генерується шляхом застосування хеш-функції </a:t>
                </a:r>
                <a14:m>
                  <m:oMath xmlns:m="http://schemas.openxmlformats.org/officeDocument/2006/math">
                    <m:r>
                      <a:rPr lang="en-US" i="1" smtClean="0">
                        <a:effectLst/>
                        <a:latin typeface="Cambria Math" panose="02040503050406030204" pitchFamily="18" charset="0"/>
                        <a:ea typeface="Calibri"/>
                        <a:cs typeface="Calibri"/>
                      </a:rPr>
                      <m:t>𝑐</m:t>
                    </m:r>
                    <m:r>
                      <a:rPr lang="en-US" i="1">
                        <a:latin typeface="Cambria Math" panose="02040503050406030204" pitchFamily="18" charset="0"/>
                        <a:ea typeface="Calibri"/>
                        <a:cs typeface="Calibri"/>
                      </a:rPr>
                      <m:t>𝑖</m:t>
                    </m:r>
                    <m:r>
                      <a:rPr lang="en-US" i="1">
                        <a:latin typeface="Cambria Math" panose="02040503050406030204" pitchFamily="18" charset="0"/>
                        <a:ea typeface="Calibri"/>
                        <a:cs typeface="Calibri"/>
                      </a:rPr>
                      <m:t> </m:t>
                    </m:r>
                  </m:oMath>
                </a14:m>
                <a:r>
                  <a:rPr lang="en-US" dirty="0">
                    <a:effectLst/>
                    <a:latin typeface="Calibri"/>
                    <a:ea typeface="Calibri"/>
                    <a:cs typeface="Calibri"/>
                  </a:rPr>
                  <a:t>разів до елемента </a:t>
                </a:r>
                <a:r>
                  <a:rPr lang="en-US" dirty="0" err="1">
                    <a:effectLst/>
                    <a:latin typeface="Calibri"/>
                    <a:ea typeface="Calibri"/>
                    <a:cs typeface="Calibri"/>
                  </a:rPr>
                  <a:t>приватного</a:t>
                </a:r>
                <a:r>
                  <a:rPr lang="en-US" dirty="0">
                    <a:effectLst/>
                    <a:latin typeface="Calibri"/>
                    <a:ea typeface="Calibri"/>
                    <a:cs typeface="Calibri"/>
                  </a:rPr>
                  <a:t> </a:t>
                </a:r>
                <a:r>
                  <a:rPr lang="en-US" dirty="0" err="1">
                    <a:effectLst/>
                    <a:latin typeface="Calibri"/>
                    <a:ea typeface="Calibri"/>
                    <a:cs typeface="Calibri"/>
                  </a:rPr>
                  <a:t>ключа</a:t>
                </a:r>
                <a:r>
                  <a:rPr lang="uk-UA" dirty="0">
                    <a:effectLst/>
                    <a:latin typeface="Calibri"/>
                    <a:ea typeface="Calibri"/>
                    <a:cs typeface="Calibri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>
                    <a:effectLst/>
                    <a:latin typeface="Calibri"/>
                    <a:ea typeface="Calibri"/>
                    <a:cs typeface="Calibri"/>
                  </a:rPr>
                  <a:t> :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</m:ctrlPr>
                      </m:sSubPr>
                      <m:e>
                        <m:r>
                          <a:rPr lang="en-US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𝜎</m:t>
                        </m:r>
                      </m:e>
                      <m:sub>
                        <m:r>
                          <a:rPr lang="en-US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𝑖</m:t>
                        </m:r>
                      </m:sub>
                    </m:sSub>
                    <m:r>
                      <a:rPr lang="en-US">
                        <a:effectLst/>
                        <a:latin typeface="Cambria Math" panose="02040503050406030204" pitchFamily="18" charset="0"/>
                        <a:ea typeface="Calibri"/>
                        <a:cs typeface="Calibri"/>
                      </a:rPr>
                      <m:t>=</m:t>
                    </m:r>
                    <m:sSup>
                      <m:sSupPr>
                        <m:ctrlPr>
                          <a:rPr lang="en-US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</m:ctrlPr>
                      </m:sSupPr>
                      <m:e>
                        <m:r>
                          <a:rPr lang="en-US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𝐻</m:t>
                        </m:r>
                      </m:e>
                      <m:sup>
                        <m:sSub>
                          <m:sSubPr>
                            <m:ctrlPr>
                              <a:rPr lang="en-US" i="1">
                                <a:effectLst/>
                                <a:latin typeface="Cambria Math" panose="02040503050406030204" pitchFamily="18" charset="0"/>
                                <a:ea typeface="Calibri"/>
                                <a:cs typeface="Calibri"/>
                              </a:rPr>
                            </m:ctrlPr>
                          </m:sSubPr>
                          <m:e>
                            <m:r>
                              <a:rPr lang="en-US" i="1">
                                <a:effectLst/>
                                <a:latin typeface="Cambria Math" panose="02040503050406030204" pitchFamily="18" charset="0"/>
                                <a:ea typeface="Calibri"/>
                                <a:cs typeface="Calibri"/>
                              </a:rPr>
                              <m:t>𝑐</m:t>
                            </m:r>
                          </m:e>
                          <m:sub>
                            <m:r>
                              <a:rPr lang="en-US" i="1">
                                <a:effectLst/>
                                <a:latin typeface="Cambria Math" panose="02040503050406030204" pitchFamily="18" charset="0"/>
                                <a:ea typeface="Calibri"/>
                                <a:cs typeface="Calibri"/>
                              </a:rPr>
                              <m:t>𝑖</m:t>
                            </m:r>
                          </m:sub>
                        </m:sSub>
                      </m:sup>
                    </m:sSup>
                    <m:d>
                      <m:dPr>
                        <m:ctrlPr>
                          <a:rPr lang="en-US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effectLst/>
                                <a:latin typeface="Cambria Math" panose="02040503050406030204" pitchFamily="18" charset="0"/>
                                <a:ea typeface="Calibri"/>
                                <a:cs typeface="Calibri"/>
                              </a:rPr>
                            </m:ctrlPr>
                          </m:sSubPr>
                          <m:e>
                            <m:r>
                              <a:rPr lang="en-US" i="1">
                                <a:effectLst/>
                                <a:latin typeface="Cambria Math" panose="02040503050406030204" pitchFamily="18" charset="0"/>
                                <a:ea typeface="Calibri"/>
                                <a:cs typeface="Calibri"/>
                              </a:rPr>
                              <m:t>𝑥</m:t>
                            </m:r>
                          </m:e>
                          <m:sub>
                            <m:r>
                              <a:rPr lang="en-US" i="1">
                                <a:effectLst/>
                                <a:latin typeface="Cambria Math" panose="02040503050406030204" pitchFamily="18" charset="0"/>
                                <a:ea typeface="Calibri"/>
                                <a:cs typeface="Calibri"/>
                              </a:rPr>
                              <m:t>𝑖</m:t>
                            </m:r>
                          </m:sub>
                        </m:sSub>
                      </m:e>
                    </m:d>
                  </m:oMath>
                </a14:m>
                <a:endParaRPr lang="en-US" dirty="0">
                  <a:effectLst/>
                  <a:latin typeface="Calibri"/>
                  <a:ea typeface="Calibri"/>
                  <a:cs typeface="Calibri"/>
                </a:endParaRPr>
              </a:p>
              <a:p>
                <a:pPr marL="342900" marR="0" lvl="0" indent="-342900">
                  <a:spcAft>
                    <a:spcPts val="600"/>
                  </a:spcAft>
                  <a:buFont typeface="Symbol" panose="05050102010706020507" pitchFamily="18" charset="2"/>
                  <a:buChar char=""/>
                  <a:tabLst>
                    <a:tab pos="685800" algn="l"/>
                  </a:tabLst>
                </a:pPr>
                <a:r>
                  <a:rPr lang="en-US" dirty="0">
                    <a:effectLst/>
                    <a:latin typeface="Calibri"/>
                    <a:ea typeface="Calibri"/>
                    <a:cs typeface="Calibri"/>
                  </a:rPr>
                  <a:t>Якщо ви підпишете два різних повідомлення, ви розкриєте дві різні точки в хеш-ланцюжку </a:t>
                </a:r>
                <a:r>
                  <a:rPr lang="en-US" dirty="0" err="1">
                    <a:effectLst/>
                    <a:latin typeface="Calibri"/>
                    <a:ea typeface="Calibri"/>
                    <a:cs typeface="Calibri"/>
                  </a:rPr>
                  <a:t>для</a:t>
                </a:r>
                <a:r>
                  <a:rPr lang="en-US" dirty="0">
                    <a:effectLst/>
                    <a:latin typeface="Calibri"/>
                    <a:ea typeface="Calibri"/>
                    <a:cs typeface="Calibri"/>
                  </a:rPr>
                  <a:t> </a:t>
                </a:r>
                <a:r>
                  <a:rPr lang="en-US" dirty="0" err="1">
                    <a:effectLst/>
                    <a:latin typeface="Calibri"/>
                    <a:ea typeface="Calibri"/>
                    <a:cs typeface="Calibri"/>
                  </a:rPr>
                  <a:t>кожного</a:t>
                </a:r>
                <a:r>
                  <a:rPr lang="uk-UA" dirty="0">
                    <a:effectLst/>
                    <a:latin typeface="Calibri"/>
                    <a:ea typeface="Calibri"/>
                    <a:cs typeface="Calibri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</m:ctrlPr>
                      </m:sSubPr>
                      <m:e>
                        <m:r>
                          <a:rPr lang="en-US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uk-UA" dirty="0">
                    <a:latin typeface="Calibri"/>
                    <a:ea typeface="Calibri"/>
                    <a:cs typeface="Calibri"/>
                  </a:rPr>
                  <a:t>.</a:t>
                </a:r>
              </a:p>
              <a:p>
                <a:pPr marR="0" lvl="0">
                  <a:spcAft>
                    <a:spcPts val="600"/>
                  </a:spcAft>
                  <a:tabLst>
                    <a:tab pos="685800" algn="l"/>
                  </a:tabLst>
                </a:pPr>
                <a:r>
                  <a:rPr lang="en-US" dirty="0" err="1">
                    <a:effectLst/>
                    <a:latin typeface="Calibri"/>
                    <a:ea typeface="Calibri"/>
                    <a:cs typeface="Calibri"/>
                  </a:rPr>
                  <a:t>Наприклад</a:t>
                </a:r>
                <a:r>
                  <a:rPr lang="en-US" dirty="0">
                    <a:effectLst/>
                    <a:latin typeface="Calibri"/>
                    <a:ea typeface="Calibri"/>
                    <a:cs typeface="Calibri"/>
                  </a:rPr>
                  <a:t>:</a:t>
                </a:r>
              </a:p>
              <a:p>
                <a:pPr marL="342900" marR="0" lvl="0" indent="-342900">
                  <a:spcAft>
                    <a:spcPts val="600"/>
                  </a:spcAft>
                  <a:buFont typeface="Symbol" panose="05050102010706020507" pitchFamily="18" charset="2"/>
                  <a:buChar char=""/>
                  <a:tabLst>
                    <a:tab pos="685800" algn="l"/>
                  </a:tabLst>
                </a:pPr>
                <a:r>
                  <a:rPr lang="en-US" dirty="0">
                    <a:effectLst/>
                    <a:latin typeface="Calibri"/>
                    <a:ea typeface="Calibri"/>
                    <a:cs typeface="Calibri"/>
                  </a:rPr>
                  <a:t>Для повідомлення 1: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i="1" smtClean="0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</m:ctrlPr>
                      </m:sSubSupPr>
                      <m:e>
                        <m:r>
                          <a:rPr lang="en-US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𝜎</m:t>
                        </m:r>
                      </m:e>
                      <m:sub>
                        <m:r>
                          <a:rPr lang="en-US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𝑖</m:t>
                        </m:r>
                      </m:sub>
                      <m:sup>
                        <m:r>
                          <a:rPr lang="en-US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(1)</m:t>
                        </m:r>
                      </m:sup>
                    </m:sSubSup>
                    <m:r>
                      <a:rPr lang="en-US">
                        <a:effectLst/>
                        <a:latin typeface="Cambria Math" panose="02040503050406030204" pitchFamily="18" charset="0"/>
                        <a:ea typeface="Calibri"/>
                        <a:cs typeface="Calibri"/>
                      </a:rPr>
                      <m:t>=</m:t>
                    </m:r>
                    <m:sSup>
                      <m:sSupPr>
                        <m:ctrlPr>
                          <a:rPr lang="en-US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</m:ctrlPr>
                      </m:sSupPr>
                      <m:e>
                        <m:r>
                          <a:rPr lang="en-US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𝐻</m:t>
                        </m:r>
                      </m:e>
                      <m:sup>
                        <m:sSubSup>
                          <m:sSubSupPr>
                            <m:ctrlPr>
                              <a:rPr lang="en-US" i="1">
                                <a:effectLst/>
                                <a:latin typeface="Cambria Math" panose="02040503050406030204" pitchFamily="18" charset="0"/>
                                <a:ea typeface="Calibri"/>
                                <a:cs typeface="Calibri"/>
                              </a:rPr>
                            </m:ctrlPr>
                          </m:sSubSupPr>
                          <m:e>
                            <m:r>
                              <a:rPr lang="en-US" i="1">
                                <a:effectLst/>
                                <a:latin typeface="Cambria Math" panose="02040503050406030204" pitchFamily="18" charset="0"/>
                                <a:ea typeface="Calibri"/>
                                <a:cs typeface="Calibri"/>
                              </a:rPr>
                              <m:t>𝑐</m:t>
                            </m:r>
                          </m:e>
                          <m:sub>
                            <m:r>
                              <a:rPr lang="en-US" i="1">
                                <a:effectLst/>
                                <a:latin typeface="Cambria Math" panose="02040503050406030204" pitchFamily="18" charset="0"/>
                                <a:ea typeface="Calibri"/>
                                <a:cs typeface="Calibri"/>
                              </a:rPr>
                              <m:t>𝑖</m:t>
                            </m:r>
                          </m:sub>
                          <m:sup>
                            <m:r>
                              <a:rPr lang="en-US">
                                <a:effectLst/>
                                <a:latin typeface="Cambria Math" panose="02040503050406030204" pitchFamily="18" charset="0"/>
                                <a:ea typeface="Calibri"/>
                                <a:cs typeface="Calibri"/>
                              </a:rPr>
                              <m:t>(1)</m:t>
                            </m:r>
                          </m:sup>
                        </m:sSubSup>
                      </m:sup>
                    </m:sSup>
                    <m:d>
                      <m:dPr>
                        <m:ctrlPr>
                          <a:rPr lang="en-US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effectLst/>
                                <a:latin typeface="Cambria Math" panose="02040503050406030204" pitchFamily="18" charset="0"/>
                                <a:ea typeface="Calibri"/>
                                <a:cs typeface="Calibri"/>
                              </a:rPr>
                            </m:ctrlPr>
                          </m:sSubPr>
                          <m:e>
                            <m:r>
                              <a:rPr lang="en-US" i="1">
                                <a:effectLst/>
                                <a:latin typeface="Cambria Math" panose="02040503050406030204" pitchFamily="18" charset="0"/>
                                <a:ea typeface="Calibri"/>
                                <a:cs typeface="Calibri"/>
                              </a:rPr>
                              <m:t>𝑥</m:t>
                            </m:r>
                          </m:e>
                          <m:sub>
                            <m:r>
                              <a:rPr lang="en-US" i="1">
                                <a:effectLst/>
                                <a:latin typeface="Cambria Math" panose="02040503050406030204" pitchFamily="18" charset="0"/>
                                <a:ea typeface="Calibri"/>
                                <a:cs typeface="Calibri"/>
                              </a:rPr>
                              <m:t>𝑖</m:t>
                            </m:r>
                          </m:sub>
                        </m:sSub>
                      </m:e>
                    </m:d>
                  </m:oMath>
                </a14:m>
                <a:endParaRPr lang="en-US" dirty="0">
                  <a:effectLst/>
                  <a:latin typeface="Calibri"/>
                  <a:ea typeface="Calibri"/>
                  <a:cs typeface="Calibri"/>
                </a:endParaRPr>
              </a:p>
              <a:p>
                <a:pPr marL="342900" marR="0" lvl="0" indent="-342900">
                  <a:spcAft>
                    <a:spcPts val="600"/>
                  </a:spcAft>
                  <a:buFont typeface="Symbol" panose="05050102010706020507" pitchFamily="18" charset="2"/>
                  <a:buChar char=""/>
                  <a:tabLst>
                    <a:tab pos="685800" algn="l"/>
                  </a:tabLst>
                </a:pPr>
                <a:r>
                  <a:rPr lang="en-US" dirty="0">
                    <a:effectLst/>
                    <a:latin typeface="Calibri"/>
                    <a:ea typeface="Calibri"/>
                    <a:cs typeface="Calibri"/>
                  </a:rPr>
                  <a:t>Для повідомлення 2: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i="1" smtClean="0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</m:ctrlPr>
                      </m:sSubSupPr>
                      <m:e>
                        <m:r>
                          <a:rPr lang="en-US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𝜎</m:t>
                        </m:r>
                      </m:e>
                      <m:sub>
                        <m:r>
                          <a:rPr lang="en-US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𝑖</m:t>
                        </m:r>
                      </m:sub>
                      <m:sup>
                        <m:r>
                          <a:rPr lang="en-US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(2)</m:t>
                        </m:r>
                      </m:sup>
                    </m:sSubSup>
                    <m:r>
                      <a:rPr lang="en-US">
                        <a:effectLst/>
                        <a:latin typeface="Cambria Math" panose="02040503050406030204" pitchFamily="18" charset="0"/>
                        <a:ea typeface="Calibri"/>
                        <a:cs typeface="Calibri"/>
                      </a:rPr>
                      <m:t>=</m:t>
                    </m:r>
                    <m:sSup>
                      <m:sSupPr>
                        <m:ctrlPr>
                          <a:rPr lang="en-US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</m:ctrlPr>
                      </m:sSupPr>
                      <m:e>
                        <m:r>
                          <a:rPr lang="en-US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𝐻</m:t>
                        </m:r>
                      </m:e>
                      <m:sup>
                        <m:sSubSup>
                          <m:sSubSupPr>
                            <m:ctrlPr>
                              <a:rPr lang="en-US" i="1">
                                <a:effectLst/>
                                <a:latin typeface="Cambria Math" panose="02040503050406030204" pitchFamily="18" charset="0"/>
                                <a:ea typeface="Calibri"/>
                                <a:cs typeface="Calibri"/>
                              </a:rPr>
                            </m:ctrlPr>
                          </m:sSubSupPr>
                          <m:e>
                            <m:r>
                              <a:rPr lang="en-US" i="1">
                                <a:effectLst/>
                                <a:latin typeface="Cambria Math" panose="02040503050406030204" pitchFamily="18" charset="0"/>
                                <a:ea typeface="Calibri"/>
                                <a:cs typeface="Calibri"/>
                              </a:rPr>
                              <m:t>𝑐</m:t>
                            </m:r>
                          </m:e>
                          <m:sub>
                            <m:r>
                              <a:rPr lang="en-US" i="1">
                                <a:effectLst/>
                                <a:latin typeface="Cambria Math" panose="02040503050406030204" pitchFamily="18" charset="0"/>
                                <a:ea typeface="Calibri"/>
                                <a:cs typeface="Calibri"/>
                              </a:rPr>
                              <m:t>𝑖</m:t>
                            </m:r>
                          </m:sub>
                          <m:sup>
                            <m:r>
                              <a:rPr lang="en-US">
                                <a:effectLst/>
                                <a:latin typeface="Cambria Math" panose="02040503050406030204" pitchFamily="18" charset="0"/>
                                <a:ea typeface="Calibri"/>
                                <a:cs typeface="Calibri"/>
                              </a:rPr>
                              <m:t>(2)</m:t>
                            </m:r>
                          </m:sup>
                        </m:sSubSup>
                      </m:sup>
                    </m:sSup>
                    <m:d>
                      <m:dPr>
                        <m:ctrlPr>
                          <a:rPr lang="en-US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effectLst/>
                                <a:latin typeface="Cambria Math" panose="02040503050406030204" pitchFamily="18" charset="0"/>
                                <a:ea typeface="Calibri"/>
                                <a:cs typeface="Calibri"/>
                              </a:rPr>
                            </m:ctrlPr>
                          </m:sSubPr>
                          <m:e>
                            <m:r>
                              <a:rPr lang="en-US" i="1">
                                <a:effectLst/>
                                <a:latin typeface="Cambria Math" panose="02040503050406030204" pitchFamily="18" charset="0"/>
                                <a:ea typeface="Calibri"/>
                                <a:cs typeface="Calibri"/>
                              </a:rPr>
                              <m:t>𝑥</m:t>
                            </m:r>
                          </m:e>
                          <m:sub>
                            <m:r>
                              <a:rPr lang="en-US" i="1">
                                <a:effectLst/>
                                <a:latin typeface="Cambria Math" panose="02040503050406030204" pitchFamily="18" charset="0"/>
                                <a:ea typeface="Calibri"/>
                                <a:cs typeface="Calibri"/>
                              </a:rPr>
                              <m:t>𝑖</m:t>
                            </m:r>
                          </m:sub>
                        </m:sSub>
                      </m:e>
                    </m:d>
                  </m:oMath>
                </a14:m>
                <a:endParaRPr lang="en-US" dirty="0">
                  <a:effectLst/>
                  <a:latin typeface="Calibri"/>
                  <a:ea typeface="Calibri"/>
                  <a:cs typeface="Calibri"/>
                </a:endParaRPr>
              </a:p>
              <a:p>
                <a:pPr marL="342900" marR="0" lvl="0" indent="-342900">
                  <a:spcAft>
                    <a:spcPts val="600"/>
                  </a:spcAft>
                  <a:buFont typeface="Symbol" panose="05050102010706020507" pitchFamily="18" charset="2"/>
                  <a:buChar char=""/>
                  <a:tabLst>
                    <a:tab pos="685800" algn="l"/>
                  </a:tabLst>
                </a:pPr>
                <a:r>
                  <a:rPr lang="en-US" dirty="0">
                    <a:effectLst/>
                    <a:latin typeface="Calibri"/>
                    <a:ea typeface="Calibri"/>
                    <a:cs typeface="Calibri"/>
                  </a:rPr>
                  <a:t>Якщо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i="1" smtClean="0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</m:ctrlPr>
                      </m:sSubSupPr>
                      <m:e>
                        <m:r>
                          <a:rPr lang="en-US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𝑐</m:t>
                        </m:r>
                      </m:e>
                      <m:sub>
                        <m:r>
                          <a:rPr lang="en-US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𝑖</m:t>
                        </m:r>
                      </m:sub>
                      <m:sup>
                        <m:r>
                          <a:rPr lang="en-US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(1)</m:t>
                        </m:r>
                      </m:sup>
                    </m:sSubSup>
                    <m:r>
                      <a:rPr lang="en-US">
                        <a:effectLst/>
                        <a:latin typeface="Cambria Math" panose="02040503050406030204" pitchFamily="18" charset="0"/>
                        <a:ea typeface="Calibri"/>
                        <a:cs typeface="Calibri"/>
                      </a:rPr>
                      <m:t>&lt;</m:t>
                    </m:r>
                    <m:sSubSup>
                      <m:sSubSupPr>
                        <m:ctrlPr>
                          <a:rPr lang="en-US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</m:ctrlPr>
                      </m:sSubSupPr>
                      <m:e>
                        <m:r>
                          <a:rPr lang="en-US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𝑐</m:t>
                        </m:r>
                      </m:e>
                      <m:sub>
                        <m:r>
                          <a:rPr lang="en-US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𝑖</m:t>
                        </m:r>
                      </m:sub>
                      <m:sup>
                        <m:r>
                          <a:rPr lang="en-US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(2)</m:t>
                        </m:r>
                      </m:sup>
                    </m:sSubSup>
                  </m:oMath>
                </a14:m>
                <a:r>
                  <a:rPr lang="en-US" dirty="0">
                    <a:effectLst/>
                    <a:latin typeface="Calibri"/>
                    <a:ea typeface="Calibri"/>
                    <a:cs typeface="Calibri"/>
                  </a:rPr>
                  <a:t>, зловмисник може обчислити: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</m:ctrlPr>
                      </m:sSupPr>
                      <m:e>
                        <m:r>
                          <a:rPr lang="en-US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𝐻</m:t>
                        </m:r>
                      </m:e>
                      <m:sup>
                        <m:sSubSup>
                          <m:sSubSupPr>
                            <m:ctrlPr>
                              <a:rPr lang="en-US" i="1">
                                <a:effectLst/>
                                <a:latin typeface="Cambria Math" panose="02040503050406030204" pitchFamily="18" charset="0"/>
                                <a:ea typeface="Calibri"/>
                                <a:cs typeface="Calibri"/>
                              </a:rPr>
                            </m:ctrlPr>
                          </m:sSubSupPr>
                          <m:e>
                            <m:r>
                              <a:rPr lang="en-US" i="1">
                                <a:effectLst/>
                                <a:latin typeface="Cambria Math" panose="02040503050406030204" pitchFamily="18" charset="0"/>
                                <a:ea typeface="Calibri"/>
                                <a:cs typeface="Calibri"/>
                              </a:rPr>
                              <m:t>𝑐</m:t>
                            </m:r>
                          </m:e>
                          <m:sub>
                            <m:r>
                              <a:rPr lang="en-US" i="1">
                                <a:effectLst/>
                                <a:latin typeface="Cambria Math" panose="02040503050406030204" pitchFamily="18" charset="0"/>
                                <a:ea typeface="Calibri"/>
                                <a:cs typeface="Calibri"/>
                              </a:rPr>
                              <m:t>𝑖</m:t>
                            </m:r>
                          </m:sub>
                          <m:sup>
                            <m:r>
                              <a:rPr lang="en-US">
                                <a:effectLst/>
                                <a:latin typeface="Cambria Math" panose="02040503050406030204" pitchFamily="18" charset="0"/>
                                <a:ea typeface="Calibri"/>
                                <a:cs typeface="Calibri"/>
                              </a:rPr>
                              <m:t>(2)</m:t>
                            </m:r>
                          </m:sup>
                        </m:sSubSup>
                        <m:r>
                          <a:rPr lang="en-US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−</m:t>
                        </m:r>
                        <m:sSubSup>
                          <m:sSubSupPr>
                            <m:ctrlPr>
                              <a:rPr lang="en-US" i="1">
                                <a:effectLst/>
                                <a:latin typeface="Cambria Math" panose="02040503050406030204" pitchFamily="18" charset="0"/>
                                <a:ea typeface="Calibri"/>
                                <a:cs typeface="Calibri"/>
                              </a:rPr>
                            </m:ctrlPr>
                          </m:sSubSupPr>
                          <m:e>
                            <m:r>
                              <a:rPr lang="en-US" i="1">
                                <a:effectLst/>
                                <a:latin typeface="Cambria Math" panose="02040503050406030204" pitchFamily="18" charset="0"/>
                                <a:ea typeface="Calibri"/>
                                <a:cs typeface="Calibri"/>
                              </a:rPr>
                              <m:t>𝑐</m:t>
                            </m:r>
                          </m:e>
                          <m:sub>
                            <m:r>
                              <a:rPr lang="en-US" i="1">
                                <a:effectLst/>
                                <a:latin typeface="Cambria Math" panose="02040503050406030204" pitchFamily="18" charset="0"/>
                                <a:ea typeface="Calibri"/>
                                <a:cs typeface="Calibri"/>
                              </a:rPr>
                              <m:t>𝑖</m:t>
                            </m:r>
                          </m:sub>
                          <m:sup>
                            <m:r>
                              <a:rPr lang="en-US">
                                <a:effectLst/>
                                <a:latin typeface="Cambria Math" panose="02040503050406030204" pitchFamily="18" charset="0"/>
                                <a:ea typeface="Calibri"/>
                                <a:cs typeface="Calibri"/>
                              </a:rPr>
                              <m:t>(1)</m:t>
                            </m:r>
                          </m:sup>
                        </m:sSubSup>
                      </m:sup>
                    </m:sSup>
                    <m:d>
                      <m:dPr>
                        <m:ctrlPr>
                          <a:rPr lang="en-US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en-US" i="1">
                                <a:effectLst/>
                                <a:latin typeface="Cambria Math" panose="02040503050406030204" pitchFamily="18" charset="0"/>
                                <a:ea typeface="Calibri"/>
                                <a:cs typeface="Calibri"/>
                              </a:rPr>
                            </m:ctrlPr>
                          </m:sSubSupPr>
                          <m:e>
                            <m:r>
                              <a:rPr lang="en-US" i="1">
                                <a:effectLst/>
                                <a:latin typeface="Cambria Math" panose="02040503050406030204" pitchFamily="18" charset="0"/>
                                <a:ea typeface="Calibri"/>
                                <a:cs typeface="Calibri"/>
                              </a:rPr>
                              <m:t>𝜎</m:t>
                            </m:r>
                          </m:e>
                          <m:sub>
                            <m:r>
                              <a:rPr lang="en-US" i="1">
                                <a:effectLst/>
                                <a:latin typeface="Cambria Math" panose="02040503050406030204" pitchFamily="18" charset="0"/>
                                <a:ea typeface="Calibri"/>
                                <a:cs typeface="Calibri"/>
                              </a:rPr>
                              <m:t>𝑖</m:t>
                            </m:r>
                          </m:sub>
                          <m:sup>
                            <m:r>
                              <a:rPr lang="en-US">
                                <a:effectLst/>
                                <a:latin typeface="Cambria Math" panose="02040503050406030204" pitchFamily="18" charset="0"/>
                                <a:ea typeface="Calibri"/>
                                <a:cs typeface="Calibri"/>
                              </a:rPr>
                              <m:t>(1)</m:t>
                            </m:r>
                          </m:sup>
                        </m:sSubSup>
                      </m:e>
                    </m:d>
                    <m:r>
                      <a:rPr lang="en-US">
                        <a:effectLst/>
                        <a:latin typeface="Cambria Math" panose="02040503050406030204" pitchFamily="18" charset="0"/>
                        <a:ea typeface="Calibri"/>
                        <a:cs typeface="Calibri"/>
                      </a:rPr>
                      <m:t>=</m:t>
                    </m:r>
                    <m:sSup>
                      <m:sSupPr>
                        <m:ctrlPr>
                          <a:rPr lang="en-US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</m:ctrlPr>
                      </m:sSupPr>
                      <m:e>
                        <m:r>
                          <a:rPr lang="en-US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𝐻</m:t>
                        </m:r>
                      </m:e>
                      <m:sup>
                        <m:sSubSup>
                          <m:sSubSupPr>
                            <m:ctrlPr>
                              <a:rPr lang="en-US" i="1">
                                <a:effectLst/>
                                <a:latin typeface="Cambria Math" panose="02040503050406030204" pitchFamily="18" charset="0"/>
                                <a:ea typeface="Calibri"/>
                                <a:cs typeface="Calibri"/>
                              </a:rPr>
                            </m:ctrlPr>
                          </m:sSubSupPr>
                          <m:e>
                            <m:r>
                              <a:rPr lang="en-US" i="1">
                                <a:effectLst/>
                                <a:latin typeface="Cambria Math" panose="02040503050406030204" pitchFamily="18" charset="0"/>
                                <a:ea typeface="Calibri"/>
                                <a:cs typeface="Calibri"/>
                              </a:rPr>
                              <m:t>𝑐</m:t>
                            </m:r>
                          </m:e>
                          <m:sub>
                            <m:r>
                              <a:rPr lang="en-US" i="1">
                                <a:effectLst/>
                                <a:latin typeface="Cambria Math" panose="02040503050406030204" pitchFamily="18" charset="0"/>
                                <a:ea typeface="Calibri"/>
                                <a:cs typeface="Calibri"/>
                              </a:rPr>
                              <m:t>𝑖</m:t>
                            </m:r>
                          </m:sub>
                          <m:sup>
                            <m:r>
                              <a:rPr lang="en-US">
                                <a:effectLst/>
                                <a:latin typeface="Cambria Math" panose="02040503050406030204" pitchFamily="18" charset="0"/>
                                <a:ea typeface="Calibri"/>
                                <a:cs typeface="Calibri"/>
                              </a:rPr>
                              <m:t>(2)</m:t>
                            </m:r>
                          </m:sup>
                        </m:sSubSup>
                      </m:sup>
                    </m:sSup>
                    <m:d>
                      <m:dPr>
                        <m:ctrlPr>
                          <a:rPr lang="en-US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effectLst/>
                                <a:latin typeface="Cambria Math" panose="02040503050406030204" pitchFamily="18" charset="0"/>
                                <a:ea typeface="Calibri"/>
                                <a:cs typeface="Calibri"/>
                              </a:rPr>
                            </m:ctrlPr>
                          </m:sSubPr>
                          <m:e>
                            <m:r>
                              <a:rPr lang="en-US" i="1">
                                <a:effectLst/>
                                <a:latin typeface="Cambria Math" panose="02040503050406030204" pitchFamily="18" charset="0"/>
                                <a:ea typeface="Calibri"/>
                                <a:cs typeface="Calibri"/>
                              </a:rPr>
                              <m:t>𝑥</m:t>
                            </m:r>
                          </m:e>
                          <m:sub>
                            <m:r>
                              <a:rPr lang="en-US" i="1">
                                <a:effectLst/>
                                <a:latin typeface="Cambria Math" panose="02040503050406030204" pitchFamily="18" charset="0"/>
                                <a:ea typeface="Calibri"/>
                                <a:cs typeface="Calibri"/>
                              </a:rPr>
                              <m:t>𝑖</m:t>
                            </m:r>
                          </m:sub>
                        </m:sSub>
                      </m:e>
                    </m:d>
                    <m:r>
                      <a:rPr lang="en-US">
                        <a:effectLst/>
                        <a:latin typeface="Cambria Math" panose="02040503050406030204" pitchFamily="18" charset="0"/>
                        <a:ea typeface="Calibri"/>
                        <a:cs typeface="Calibri"/>
                      </a:rPr>
                      <m:t>=</m:t>
                    </m:r>
                    <m:sSubSup>
                      <m:sSubSupPr>
                        <m:ctrlPr>
                          <a:rPr lang="en-US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</m:ctrlPr>
                      </m:sSubSupPr>
                      <m:e>
                        <m:r>
                          <a:rPr lang="en-US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𝜎</m:t>
                        </m:r>
                      </m:e>
                      <m:sub>
                        <m:r>
                          <a:rPr lang="en-US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𝑖</m:t>
                        </m:r>
                      </m:sub>
                      <m:sup>
                        <m:r>
                          <a:rPr lang="en-US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(2)</m:t>
                        </m:r>
                      </m:sup>
                    </m:sSubSup>
                  </m:oMath>
                </a14:m>
                <a:endParaRPr lang="en-US" dirty="0">
                  <a:effectLst/>
                  <a:latin typeface="Calibri"/>
                  <a:ea typeface="Calibri"/>
                  <a:cs typeface="Calibri"/>
                </a:endParaRPr>
              </a:p>
              <a:p>
                <a:pPr marL="0" marR="0">
                  <a:spcAft>
                    <a:spcPts val="1100"/>
                  </a:spcAft>
                </a:pPr>
                <a:r>
                  <a:rPr lang="en-US" dirty="0">
                    <a:effectLst/>
                    <a:latin typeface="Calibri"/>
                    <a:ea typeface="Calibri"/>
                    <a:cs typeface="Calibri"/>
                  </a:rPr>
                  <a:t>Це розкриває підпис для другого повідомлення без знання приватного ключа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</m:ctrlPr>
                      </m:sSubPr>
                      <m:e>
                        <m:r>
                          <a:rPr lang="en-US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>
                    <a:effectLst/>
                    <a:latin typeface="Calibri"/>
                    <a:ea typeface="Calibri"/>
                    <a:cs typeface="Calibri"/>
                  </a:rPr>
                  <a:t>.</a:t>
                </a:r>
              </a:p>
              <a:p>
                <a:pPr marL="0" marR="0">
                  <a:spcAft>
                    <a:spcPts val="1100"/>
                  </a:spcAft>
                </a:pPr>
                <a:r>
                  <a:rPr lang="en-US" dirty="0">
                    <a:effectLst/>
                    <a:latin typeface="Calibri"/>
                    <a:ea typeface="Calibri"/>
                    <a:cs typeface="Calibri"/>
                  </a:rPr>
                  <a:t>2. Часткове розкриття хеш-ланцюга</a:t>
                </a:r>
              </a:p>
              <a:p>
                <a:pPr marL="342900" marR="0" lvl="0" indent="-342900">
                  <a:spcAft>
                    <a:spcPts val="600"/>
                  </a:spcAft>
                  <a:buFont typeface="Symbol" panose="05050102010706020507" pitchFamily="18" charset="2"/>
                  <a:buChar char=""/>
                  <a:tabLst>
                    <a:tab pos="685800" algn="l"/>
                  </a:tabLst>
                </a:pPr>
                <a:r>
                  <a:rPr lang="en-US" dirty="0">
                    <a:effectLst/>
                    <a:latin typeface="Calibri"/>
                    <a:ea typeface="Calibri"/>
                    <a:cs typeface="Calibri"/>
                  </a:rPr>
                  <a:t>Кожен підпис розкриває частину хеш-ланцюга </a:t>
                </a:r>
                <a:r>
                  <a:rPr lang="en-US" dirty="0" err="1">
                    <a:effectLst/>
                    <a:latin typeface="Calibri"/>
                    <a:ea typeface="Calibri"/>
                    <a:cs typeface="Calibri"/>
                  </a:rPr>
                  <a:t>для</a:t>
                </a:r>
                <a:r>
                  <a:rPr lang="en-US" dirty="0">
                    <a:effectLst/>
                    <a:latin typeface="Calibri"/>
                    <a:ea typeface="Calibri"/>
                    <a:cs typeface="Calibri"/>
                  </a:rPr>
                  <a:t> </a:t>
                </a:r>
                <a:r>
                  <a:rPr lang="en-US" dirty="0" err="1">
                    <a:effectLst/>
                    <a:latin typeface="Calibri"/>
                    <a:ea typeface="Calibri"/>
                    <a:cs typeface="Calibri"/>
                  </a:rPr>
                  <a:t>кожного</a:t>
                </a:r>
                <a:r>
                  <a:rPr lang="uk-UA" dirty="0">
                    <a:effectLst/>
                    <a:latin typeface="Calibri"/>
                    <a:ea typeface="Calibri"/>
                    <a:cs typeface="Calibri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</m:ctrlPr>
                      </m:sSubPr>
                      <m:e>
                        <m:r>
                          <a:rPr lang="en-US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>
                    <a:effectLst/>
                    <a:latin typeface="Calibri"/>
                    <a:ea typeface="Calibri"/>
                    <a:cs typeface="Calibri"/>
                  </a:rPr>
                  <a:t> . З часом підписання декількох повідомлень розкриває все більше і більше хеш-ланцюга, що полегшує зловмиснику відновлення </a:t>
                </a:r>
                <a:r>
                  <a:rPr lang="en-US" dirty="0" err="1">
                    <a:effectLst/>
                    <a:latin typeface="Calibri"/>
                    <a:ea typeface="Calibri"/>
                    <a:cs typeface="Calibri"/>
                  </a:rPr>
                  <a:t>приватного</a:t>
                </a:r>
                <a:r>
                  <a:rPr lang="en-US" dirty="0">
                    <a:effectLst/>
                    <a:latin typeface="Calibri"/>
                    <a:ea typeface="Calibri"/>
                    <a:cs typeface="Calibri"/>
                  </a:rPr>
                  <a:t> </a:t>
                </a:r>
                <a:r>
                  <a:rPr lang="en-US" dirty="0" err="1">
                    <a:effectLst/>
                    <a:latin typeface="Calibri"/>
                    <a:ea typeface="Calibri"/>
                    <a:cs typeface="Calibri"/>
                  </a:rPr>
                  <a:t>ключа</a:t>
                </a:r>
                <a:r>
                  <a:rPr lang="uk-UA" dirty="0">
                    <a:effectLst/>
                    <a:latin typeface="Calibri"/>
                    <a:ea typeface="Calibri"/>
                    <a:cs typeface="Calibri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>
                    <a:effectLst/>
                    <a:latin typeface="Calibri"/>
                    <a:ea typeface="Calibri"/>
                    <a:cs typeface="Calibri"/>
                  </a:rPr>
                  <a:t> .</a:t>
                </a:r>
              </a:p>
              <a:p>
                <a:pPr marR="0" lvl="0">
                  <a:spcAft>
                    <a:spcPts val="600"/>
                  </a:spcAft>
                  <a:tabLst>
                    <a:tab pos="685800" algn="l"/>
                  </a:tabLst>
                </a:pPr>
                <a:r>
                  <a:rPr lang="en-US" dirty="0" err="1">
                    <a:effectLst/>
                    <a:latin typeface="Calibri"/>
                    <a:ea typeface="Calibri"/>
                    <a:cs typeface="Calibri"/>
                  </a:rPr>
                  <a:t>Наприклад</a:t>
                </a:r>
                <a:r>
                  <a:rPr lang="en-US" dirty="0">
                    <a:effectLst/>
                    <a:latin typeface="Calibri"/>
                    <a:ea typeface="Calibri"/>
                    <a:cs typeface="Calibri"/>
                  </a:rPr>
                  <a:t>:</a:t>
                </a:r>
              </a:p>
              <a:p>
                <a:pPr marL="342900" marR="0" lvl="0" indent="-342900">
                  <a:spcAft>
                    <a:spcPts val="600"/>
                  </a:spcAft>
                  <a:buFont typeface="Symbol" panose="05050102010706020507" pitchFamily="18" charset="2"/>
                  <a:buChar char=""/>
                  <a:tabLst>
                    <a:tab pos="685800" algn="l"/>
                  </a:tabLst>
                </a:pPr>
                <a:r>
                  <a:rPr lang="en-US" dirty="0" err="1">
                    <a:effectLst/>
                    <a:latin typeface="Calibri"/>
                    <a:ea typeface="Calibri"/>
                    <a:cs typeface="Calibri"/>
                  </a:rPr>
                  <a:t>Якщо</a:t>
                </a:r>
                <a:r>
                  <a:rPr lang="uk-UA" dirty="0">
                    <a:effectLst/>
                    <a:latin typeface="Calibri"/>
                    <a:ea typeface="Calibri"/>
                    <a:cs typeface="Calibri"/>
                  </a:rPr>
                  <a:t>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i="1" smtClean="0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</m:ctrlPr>
                      </m:sSubSupPr>
                      <m:e>
                        <m:r>
                          <a:rPr lang="en-US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𝑐</m:t>
                        </m:r>
                      </m:e>
                      <m:sub>
                        <m:r>
                          <a:rPr lang="en-US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𝑖</m:t>
                        </m:r>
                      </m:sub>
                      <m:sup>
                        <m:r>
                          <a:rPr lang="en-US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(1)</m:t>
                        </m:r>
                      </m:sup>
                    </m:sSubSup>
                    <m:r>
                      <a:rPr lang="en-US">
                        <a:effectLst/>
                        <a:latin typeface="Cambria Math" panose="02040503050406030204" pitchFamily="18" charset="0"/>
                        <a:ea typeface="Calibri"/>
                        <a:cs typeface="Calibri"/>
                      </a:rPr>
                      <m:t>=5</m:t>
                    </m:r>
                  </m:oMath>
                </a14:m>
                <a:r>
                  <a:rPr lang="en-US" dirty="0">
                    <a:effectLst/>
                    <a:latin typeface="Calibri"/>
                    <a:ea typeface="Calibri"/>
                    <a:cs typeface="Calibri"/>
                  </a:rPr>
                  <a:t> і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</m:ctrlPr>
                      </m:sSubSup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𝑐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𝑖</m:t>
                        </m:r>
                      </m:sub>
                      <m:sup>
                        <m:r>
                          <a:rPr lang="en-US"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(2)</m:t>
                        </m:r>
                      </m:sup>
                    </m:sSubSup>
                    <m:r>
                      <a:rPr lang="en-US">
                        <a:latin typeface="Cambria Math" panose="02040503050406030204" pitchFamily="18" charset="0"/>
                        <a:ea typeface="Calibri"/>
                        <a:cs typeface="Calibri"/>
                      </a:rPr>
                      <m:t>=10</m:t>
                    </m:r>
                  </m:oMath>
                </a14:m>
                <a:r>
                  <a:rPr lang="en-US" dirty="0">
                    <a:effectLst/>
                    <a:latin typeface="Calibri"/>
                    <a:ea typeface="Calibri"/>
                    <a:cs typeface="Calibri"/>
                  </a:rPr>
                  <a:t>, зловмисник дізнається: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</m:ctrlPr>
                      </m:sSupPr>
                      <m:e>
                        <m:r>
                          <a:rPr lang="en-US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𝐻</m:t>
                        </m:r>
                      </m:e>
                      <m:sup>
                        <m:r>
                          <a:rPr lang="en-US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5</m:t>
                        </m:r>
                      </m:sup>
                    </m:sSup>
                    <m:d>
                      <m:dPr>
                        <m:ctrlPr>
                          <a:rPr lang="en-US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effectLst/>
                                <a:latin typeface="Cambria Math" panose="02040503050406030204" pitchFamily="18" charset="0"/>
                                <a:ea typeface="Calibri"/>
                                <a:cs typeface="Calibri"/>
                              </a:rPr>
                            </m:ctrlPr>
                          </m:sSubPr>
                          <m:e>
                            <m:r>
                              <a:rPr lang="en-US" i="1">
                                <a:effectLst/>
                                <a:latin typeface="Cambria Math" panose="02040503050406030204" pitchFamily="18" charset="0"/>
                                <a:ea typeface="Calibri"/>
                                <a:cs typeface="Calibri"/>
                              </a:rPr>
                              <m:t>𝑥</m:t>
                            </m:r>
                          </m:e>
                          <m:sub>
                            <m:r>
                              <a:rPr lang="en-US" i="1">
                                <a:effectLst/>
                                <a:latin typeface="Cambria Math" panose="02040503050406030204" pitchFamily="18" charset="0"/>
                                <a:ea typeface="Calibri"/>
                                <a:cs typeface="Calibri"/>
                              </a:rPr>
                              <m:t>𝑖</m:t>
                            </m:r>
                          </m:sub>
                        </m:sSub>
                      </m:e>
                    </m:d>
                    <m:r>
                      <a:rPr lang="en-US">
                        <a:effectLst/>
                        <a:latin typeface="Cambria Math" panose="02040503050406030204" pitchFamily="18" charset="0"/>
                        <a:ea typeface="Calibri"/>
                        <a:cs typeface="Calibri"/>
                      </a:rPr>
                      <m:t> </m:t>
                    </m:r>
                    <m:r>
                      <m:rPr>
                        <m:nor/>
                      </m:rPr>
                      <a:rPr lang="en-US" i="1">
                        <a:effectLst/>
                        <a:latin typeface="Calibri"/>
                        <a:ea typeface="Calibri"/>
                        <a:cs typeface="Calibri"/>
                      </a:rPr>
                      <m:t> </m:t>
                    </m:r>
                    <m:r>
                      <m:rPr>
                        <m:nor/>
                      </m:rPr>
                      <a:rPr lang="en-US">
                        <a:effectLst/>
                        <a:latin typeface="Calibri"/>
                        <a:ea typeface="Calibri"/>
                        <a:cs typeface="Calibri"/>
                      </a:rPr>
                      <m:t>and</m:t>
                    </m:r>
                    <m:r>
                      <m:rPr>
                        <m:nor/>
                      </m:rPr>
                      <a:rPr lang="en-US" i="1">
                        <a:effectLst/>
                        <a:latin typeface="Calibri"/>
                        <a:ea typeface="Calibri"/>
                        <a:cs typeface="Calibri"/>
                      </a:rPr>
                      <m:t> </m:t>
                    </m:r>
                    <m:r>
                      <a:rPr lang="en-US">
                        <a:effectLst/>
                        <a:latin typeface="Cambria Math" panose="02040503050406030204" pitchFamily="18" charset="0"/>
                        <a:ea typeface="Calibri"/>
                        <a:cs typeface="Calibri"/>
                      </a:rPr>
                      <m:t> </m:t>
                    </m:r>
                    <m:sSup>
                      <m:sSupPr>
                        <m:ctrlPr>
                          <a:rPr lang="en-US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</m:ctrlPr>
                      </m:sSupPr>
                      <m:e>
                        <m:r>
                          <a:rPr lang="en-US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𝐻</m:t>
                        </m:r>
                      </m:e>
                      <m:sup>
                        <m:r>
                          <a:rPr lang="en-US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10</m:t>
                        </m:r>
                      </m:sup>
                    </m:sSup>
                    <m:d>
                      <m:dPr>
                        <m:ctrlPr>
                          <a:rPr lang="en-US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effectLst/>
                                <a:latin typeface="Cambria Math" panose="02040503050406030204" pitchFamily="18" charset="0"/>
                                <a:ea typeface="Calibri"/>
                                <a:cs typeface="Calibri"/>
                              </a:rPr>
                            </m:ctrlPr>
                          </m:sSubPr>
                          <m:e>
                            <m:r>
                              <a:rPr lang="en-US" i="1">
                                <a:effectLst/>
                                <a:latin typeface="Cambria Math" panose="02040503050406030204" pitchFamily="18" charset="0"/>
                                <a:ea typeface="Calibri"/>
                                <a:cs typeface="Calibri"/>
                              </a:rPr>
                              <m:t>𝑥</m:t>
                            </m:r>
                          </m:e>
                          <m:sub>
                            <m:r>
                              <a:rPr lang="en-US" i="1">
                                <a:effectLst/>
                                <a:latin typeface="Cambria Math" panose="02040503050406030204" pitchFamily="18" charset="0"/>
                                <a:ea typeface="Calibri"/>
                                <a:cs typeface="Calibri"/>
                              </a:rPr>
                              <m:t>𝑖</m:t>
                            </m:r>
                          </m:sub>
                        </m:sSub>
                      </m:e>
                    </m:d>
                  </m:oMath>
                </a14:m>
                <a:endParaRPr lang="en-US" dirty="0">
                  <a:effectLst/>
                  <a:latin typeface="Calibri"/>
                  <a:ea typeface="Calibri"/>
                  <a:cs typeface="Calibri"/>
                </a:endParaRPr>
              </a:p>
              <a:p>
                <a:pPr marL="342900" marR="0" lvl="0" indent="-342900">
                  <a:spcAft>
                    <a:spcPts val="600"/>
                  </a:spcAft>
                  <a:buFont typeface="Symbol" panose="05050102010706020507" pitchFamily="18" charset="2"/>
                  <a:buChar char=""/>
                  <a:tabLst>
                    <a:tab pos="685800" algn="l"/>
                  </a:tabLst>
                </a:pPr>
                <a:r>
                  <a:rPr lang="en-US" dirty="0">
                    <a:effectLst/>
                    <a:latin typeface="Calibri"/>
                    <a:ea typeface="Calibri"/>
                    <a:cs typeface="Calibri"/>
                  </a:rPr>
                  <a:t>На основі цього він може обчислити проміжні значення, такі як like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</m:ctrlPr>
                      </m:sSupPr>
                      <m:e>
                        <m:r>
                          <a:rPr lang="en-US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𝐻</m:t>
                        </m:r>
                      </m:e>
                      <m:sup>
                        <m:r>
                          <a:rPr lang="en-US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6</m:t>
                        </m:r>
                      </m:sup>
                    </m:sSup>
                    <m:d>
                      <m:dPr>
                        <m:ctrlPr>
                          <a:rPr lang="en-US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effectLst/>
                                <a:latin typeface="Cambria Math" panose="02040503050406030204" pitchFamily="18" charset="0"/>
                                <a:ea typeface="Calibri"/>
                                <a:cs typeface="Calibri"/>
                              </a:rPr>
                            </m:ctrlPr>
                          </m:sSubPr>
                          <m:e>
                            <m:r>
                              <a:rPr lang="en-US" i="1">
                                <a:effectLst/>
                                <a:latin typeface="Cambria Math" panose="02040503050406030204" pitchFamily="18" charset="0"/>
                                <a:ea typeface="Calibri"/>
                                <a:cs typeface="Calibri"/>
                              </a:rPr>
                              <m:t>𝑥</m:t>
                            </m:r>
                          </m:e>
                          <m:sub>
                            <m:r>
                              <a:rPr lang="en-US" i="1">
                                <a:effectLst/>
                                <a:latin typeface="Cambria Math" panose="02040503050406030204" pitchFamily="18" charset="0"/>
                                <a:ea typeface="Calibri"/>
                                <a:cs typeface="Calibri"/>
                              </a:rPr>
                              <m:t>𝑖</m:t>
                            </m:r>
                          </m:sub>
                        </m:sSub>
                      </m:e>
                    </m:d>
                    <m:r>
                      <a:rPr lang="en-US">
                        <a:effectLst/>
                        <a:latin typeface="Cambria Math" panose="02040503050406030204" pitchFamily="18" charset="0"/>
                        <a:ea typeface="Calibri"/>
                        <a:cs typeface="Calibri"/>
                      </a:rPr>
                      <m:t>,</m:t>
                    </m:r>
                    <m:sSup>
                      <m:sSupPr>
                        <m:ctrlPr>
                          <a:rPr lang="en-US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</m:ctrlPr>
                      </m:sSupPr>
                      <m:e>
                        <m:r>
                          <a:rPr lang="en-US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𝐻</m:t>
                        </m:r>
                      </m:e>
                      <m:sup>
                        <m:r>
                          <a:rPr lang="en-US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7</m:t>
                        </m:r>
                      </m:sup>
                    </m:sSup>
                    <m:d>
                      <m:dPr>
                        <m:ctrlPr>
                          <a:rPr lang="en-US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effectLst/>
                                <a:latin typeface="Cambria Math" panose="02040503050406030204" pitchFamily="18" charset="0"/>
                                <a:ea typeface="Calibri"/>
                                <a:cs typeface="Calibri"/>
                              </a:rPr>
                            </m:ctrlPr>
                          </m:sSubPr>
                          <m:e>
                            <m:r>
                              <a:rPr lang="en-US" i="1">
                                <a:effectLst/>
                                <a:latin typeface="Cambria Math" panose="02040503050406030204" pitchFamily="18" charset="0"/>
                                <a:ea typeface="Calibri"/>
                                <a:cs typeface="Calibri"/>
                              </a:rPr>
                              <m:t>𝑥</m:t>
                            </m:r>
                          </m:e>
                          <m:sub>
                            <m:r>
                              <a:rPr lang="en-US" i="1">
                                <a:effectLst/>
                                <a:latin typeface="Cambria Math" panose="02040503050406030204" pitchFamily="18" charset="0"/>
                                <a:ea typeface="Calibri"/>
                                <a:cs typeface="Calibri"/>
                              </a:rPr>
                              <m:t>𝑖</m:t>
                            </m:r>
                          </m:sub>
                        </m:sSub>
                      </m:e>
                    </m:d>
                    <m:r>
                      <a:rPr lang="en-US">
                        <a:effectLst/>
                        <a:latin typeface="Cambria Math" panose="02040503050406030204" pitchFamily="18" charset="0"/>
                        <a:ea typeface="Calibri"/>
                        <a:cs typeface="Calibri"/>
                      </a:rPr>
                      <m:t>,…</m:t>
                    </m:r>
                  </m:oMath>
                </a14:m>
                <a:r>
                  <a:rPr lang="en-US" dirty="0">
                    <a:effectLst/>
                    <a:latin typeface="Calibri"/>
                    <a:ea typeface="Calibri"/>
                    <a:cs typeface="Calibri"/>
                  </a:rPr>
                  <a:t>, , і зрештою розкрити весь хеш-ланцюжок.</a:t>
                </a:r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3B01482-E607-1956-2BCA-70382895B5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3520" y="831670"/>
                <a:ext cx="11968480" cy="5937202"/>
              </a:xfrm>
              <a:prstGeom prst="rect">
                <a:avLst/>
              </a:prstGeom>
              <a:blipFill>
                <a:blip r:embed="rId2"/>
                <a:stretch>
                  <a:fillRect l="-424" t="-427" b="-2778"/>
                </a:stretch>
              </a:blipFill>
            </p:spPr>
            <p:txBody>
              <a:bodyPr/>
              <a:lstStyle/>
              <a:p>
                <a:r>
                  <a:rPr lang="en-UA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2344094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9" name="Title 1">
            <a:extLst>
              <a:ext uri="{FF2B5EF4-FFF2-40B4-BE49-F238E27FC236}">
                <a16:creationId xmlns:a16="http://schemas.microsoft.com/office/drawing/2014/main" id="{DB35051B-F397-768C-04C8-682CD290A7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9443720" cy="1325563"/>
          </a:xfrm>
        </p:spPr>
        <p:txBody>
          <a:bodyPr/>
          <a:lstStyle/>
          <a:p>
            <a:pPr algn="ctr"/>
            <a:r>
              <a:rPr lang="en-US" b="1" dirty="0">
                <a:solidFill>
                  <a:srgbClr val="203864"/>
                </a:solidFill>
                <a:latin typeface="Calibri"/>
              </a:rPr>
              <a:t>Постквантова безпека WOTS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43BE9B-58CC-92E9-D286-C42B04B883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351338"/>
          </a:xfrm>
        </p:spPr>
        <p:txBody>
          <a:bodyPr>
            <a:normAutofit/>
          </a:bodyPr>
          <a:lstStyle/>
          <a:p>
            <a:pPr algn="just">
              <a:lnSpc>
                <a:spcPct val="150000"/>
              </a:lnSpc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US" sz="2400" b="1" i="0" dirty="0">
                <a:effectLst/>
                <a:latin typeface="Calibri"/>
              </a:rPr>
              <a:t>Постквантова безпека</a:t>
            </a:r>
            <a:r>
              <a:rPr lang="en-US" sz="2400" b="0" i="0" dirty="0">
                <a:effectLst/>
                <a:latin typeface="Calibri"/>
              </a:rPr>
              <a:t>:</a:t>
            </a:r>
          </a:p>
          <a:p>
            <a:pPr marL="742950" lvl="1" indent="-285750" algn="just">
              <a:lnSpc>
                <a:spcPct val="150000"/>
              </a:lnSpc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b="0" i="0" dirty="0">
                <a:effectLst/>
                <a:latin typeface="Calibri"/>
              </a:rPr>
              <a:t>Стійка до квантових атак (базується на хеш-функціях, не вразлива до алгоритму Шора).</a:t>
            </a:r>
          </a:p>
          <a:p>
            <a:pPr algn="just">
              <a:lnSpc>
                <a:spcPct val="150000"/>
              </a:lnSpc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US" sz="2400" b="1" i="0" dirty="0">
                <a:effectLst/>
                <a:latin typeface="Calibri"/>
              </a:rPr>
              <a:t>Менші підписи</a:t>
            </a:r>
            <a:r>
              <a:rPr lang="en-US" sz="2400" b="0" i="0" dirty="0">
                <a:effectLst/>
                <a:latin typeface="Calibri"/>
              </a:rPr>
              <a:t>:</a:t>
            </a:r>
          </a:p>
          <a:p>
            <a:pPr marL="742950" lvl="1" indent="-285750" algn="just">
              <a:lnSpc>
                <a:spcPct val="150000"/>
              </a:lnSpc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b="0" i="0" dirty="0">
                <a:effectLst/>
                <a:latin typeface="Calibri"/>
              </a:rPr>
              <a:t>Підписи менші за LOTS, що робить їх більш ефективними.</a:t>
            </a:r>
          </a:p>
          <a:p>
            <a:pPr algn="just">
              <a:lnSpc>
                <a:spcPct val="150000"/>
              </a:lnSpc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US" sz="2400" b="1" i="0" dirty="0">
                <a:effectLst/>
                <a:latin typeface="Calibri"/>
              </a:rPr>
              <a:t>Нечасте використання</a:t>
            </a:r>
            <a:r>
              <a:rPr lang="en-US" sz="2400" b="0" i="0" dirty="0">
                <a:effectLst/>
                <a:latin typeface="Calibri"/>
              </a:rPr>
              <a:t>:</a:t>
            </a:r>
          </a:p>
          <a:p>
            <a:pPr marL="742950" lvl="1" indent="-285750" algn="just">
              <a:lnSpc>
                <a:spcPct val="150000"/>
              </a:lnSpc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b="0" i="0" dirty="0">
                <a:effectLst/>
                <a:latin typeface="Calibri"/>
              </a:rPr>
              <a:t>Забезпечує безпеку для невеликої кількості транзакцій або комунікацій.</a:t>
            </a:r>
          </a:p>
          <a:p>
            <a:pPr>
              <a:lnSpc>
                <a:spcPct val="150000"/>
              </a:lnSpc>
            </a:pP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12415331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AA0156-80AB-ED03-AFA2-BEDD94D46A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06416" y="300972"/>
            <a:ext cx="5779168" cy="553086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>
                <a:solidFill>
                  <a:srgbClr val="203864"/>
                </a:solidFill>
                <a:latin typeface="Calibri"/>
              </a:rPr>
              <a:t>MSS: генерація ключів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159A9CAE-11FD-F95F-8EDB-1F18A44EB4A2}"/>
                  </a:ext>
                </a:extLst>
              </p:cNvPr>
              <p:cNvSpPr txBox="1"/>
              <p:nvPr/>
            </p:nvSpPr>
            <p:spPr>
              <a:xfrm>
                <a:off x="941479" y="998780"/>
                <a:ext cx="10309042" cy="5221364"/>
              </a:xfrm>
              <a:prstGeom prst="rect">
                <a:avLst/>
              </a:prstGeom>
              <a:noFill/>
            </p:spPr>
            <p:txBody>
              <a:bodyPr wrap="square"/>
              <a:lstStyle/>
              <a:p>
                <a:pPr marL="342900" marR="0" lvl="0" indent="-342900">
                  <a:lnSpc>
                    <a:spcPct val="150000"/>
                  </a:lnSpc>
                  <a:spcAft>
                    <a:spcPts val="600"/>
                  </a:spcAft>
                  <a:buFont typeface="+mj-lt"/>
                  <a:buAutoNum type="arabicPeriod"/>
                  <a:tabLst>
                    <a:tab pos="685800" algn="l"/>
                  </a:tabLst>
                </a:pPr>
                <a:r>
                  <a:rPr lang="en-US" sz="2000" dirty="0">
                    <a:effectLst/>
                    <a:latin typeface="Calibri"/>
                    <a:ea typeface="Calibri"/>
                    <a:cs typeface="Calibri"/>
                  </a:rPr>
                  <a:t>Хешування повідомлення:</a:t>
                </a:r>
              </a:p>
              <a:p>
                <a:pPr marL="342900" marR="0" lvl="0" indent="-342900">
                  <a:lnSpc>
                    <a:spcPct val="150000"/>
                  </a:lnSpc>
                  <a:spcAft>
                    <a:spcPts val="600"/>
                  </a:spcAft>
                  <a:buFont typeface="Symbol" panose="05050102010706020507" pitchFamily="18" charset="2"/>
                  <a:buChar char=""/>
                  <a:tabLst>
                    <a:tab pos="685800" algn="l"/>
                  </a:tabLst>
                </a:pPr>
                <a:r>
                  <a:rPr lang="en-US" sz="2000" dirty="0">
                    <a:effectLst/>
                    <a:latin typeface="Calibri"/>
                    <a:ea typeface="Calibri"/>
                    <a:cs typeface="Calibri"/>
                  </a:rPr>
                  <a:t>Хешуйте повідомлення </a:t>
                </a:r>
                <a14:m>
                  <m:oMath xmlns:m="http://schemas.openxmlformats.org/officeDocument/2006/math">
                    <m:r>
                      <a:rPr lang="en-US" sz="2000" i="1" smtClean="0">
                        <a:effectLst/>
                        <a:latin typeface="Cambria Math" panose="02040503050406030204" pitchFamily="18" charset="0"/>
                        <a:ea typeface="Calibri"/>
                        <a:cs typeface="Calibri"/>
                      </a:rPr>
                      <m:t>𝑚</m:t>
                    </m:r>
                  </m:oMath>
                </a14:m>
                <a:r>
                  <a:rPr lang="en-US" sz="2000" dirty="0">
                    <a:effectLst/>
                    <a:latin typeface="Calibri"/>
                    <a:ea typeface="Calibri"/>
                    <a:cs typeface="Calibri"/>
                  </a:rPr>
                  <a:t>, щоб отримати дайджест фіксованої довжини: </a:t>
                </a:r>
                <a14:m>
                  <m:oMath xmlns:m="http://schemas.openxmlformats.org/officeDocument/2006/math">
                    <m:r>
                      <a:rPr lang="en-US" sz="2000" i="1">
                        <a:effectLst/>
                        <a:latin typeface="Cambria Math" panose="02040503050406030204" pitchFamily="18" charset="0"/>
                        <a:ea typeface="Calibri"/>
                        <a:cs typeface="Calibri"/>
                      </a:rPr>
                      <m:t>h</m:t>
                    </m:r>
                    <m:r>
                      <a:rPr lang="en-US" sz="2000">
                        <a:effectLst/>
                        <a:latin typeface="Cambria Math" panose="02040503050406030204" pitchFamily="18" charset="0"/>
                        <a:ea typeface="Calibri"/>
                        <a:cs typeface="Calibri"/>
                      </a:rPr>
                      <m:t>=</m:t>
                    </m:r>
                    <m:r>
                      <a:rPr lang="en-US" sz="2000" i="1">
                        <a:effectLst/>
                        <a:latin typeface="Cambria Math" panose="02040503050406030204" pitchFamily="18" charset="0"/>
                        <a:ea typeface="Calibri"/>
                        <a:cs typeface="Calibri"/>
                      </a:rPr>
                      <m:t>𝐻</m:t>
                    </m:r>
                    <m:r>
                      <a:rPr lang="en-US" sz="2000">
                        <a:effectLst/>
                        <a:latin typeface="Cambria Math" panose="02040503050406030204" pitchFamily="18" charset="0"/>
                        <a:ea typeface="Calibri"/>
                        <a:cs typeface="Calibri"/>
                      </a:rPr>
                      <m:t>(</m:t>
                    </m:r>
                    <m:r>
                      <a:rPr lang="en-US" sz="2000" i="1">
                        <a:effectLst/>
                        <a:latin typeface="Cambria Math" panose="02040503050406030204" pitchFamily="18" charset="0"/>
                        <a:ea typeface="Calibri"/>
                        <a:cs typeface="Calibri"/>
                      </a:rPr>
                      <m:t>𝑚</m:t>
                    </m:r>
                    <m:r>
                      <a:rPr lang="en-US" sz="2000">
                        <a:effectLst/>
                        <a:latin typeface="Cambria Math" panose="02040503050406030204" pitchFamily="18" charset="0"/>
                        <a:ea typeface="Calibri"/>
                        <a:cs typeface="Calibri"/>
                      </a:rPr>
                      <m:t>)</m:t>
                    </m:r>
                  </m:oMath>
                </a14:m>
                <a:endParaRPr lang="en-US" sz="2000" dirty="0">
                  <a:effectLst/>
                  <a:latin typeface="Calibri"/>
                  <a:ea typeface="Calibri"/>
                  <a:cs typeface="Calibri"/>
                </a:endParaRPr>
              </a:p>
              <a:p>
                <a:pPr>
                  <a:lnSpc>
                    <a:spcPct val="150000"/>
                  </a:lnSpc>
                  <a:spcAft>
                    <a:spcPts val="600"/>
                  </a:spcAft>
                  <a:tabLst>
                    <a:tab pos="685800" algn="l"/>
                  </a:tabLst>
                </a:pPr>
                <a:r>
                  <a:rPr lang="en-US" sz="2000" dirty="0">
                    <a:effectLst/>
                    <a:latin typeface="Calibri"/>
                    <a:ea typeface="Calibri"/>
                    <a:cs typeface="Calibri"/>
                  </a:rPr>
                  <a:t>Приклад: </a:t>
                </a:r>
                <a14:m>
                  <m:oMath xmlns:m="http://schemas.openxmlformats.org/officeDocument/2006/math">
                    <m:r>
                      <a:rPr lang="en-US" sz="2000" i="1" smtClean="0">
                        <a:effectLst/>
                        <a:latin typeface="Cambria Math" panose="02040503050406030204" pitchFamily="18" charset="0"/>
                        <a:ea typeface="Calibri"/>
                        <a:cs typeface="Calibri"/>
                      </a:rPr>
                      <m:t>h</m:t>
                    </m:r>
                    <m:r>
                      <a:rPr lang="en-US" sz="2000">
                        <a:effectLst/>
                        <a:latin typeface="Cambria Math" panose="02040503050406030204" pitchFamily="18" charset="0"/>
                        <a:ea typeface="Calibri"/>
                        <a:cs typeface="Calibri"/>
                      </a:rPr>
                      <m:t>=101101011100</m:t>
                    </m:r>
                  </m:oMath>
                </a14:m>
                <a:r>
                  <a:rPr lang="en-US" sz="2000" dirty="0">
                    <a:effectLst/>
                    <a:latin typeface="Calibri"/>
                    <a:ea typeface="Calibri"/>
                    <a:cs typeface="Calibri"/>
                  </a:rPr>
                  <a:t>.</a:t>
                </a:r>
                <a:endParaRPr lang="uk-UA" sz="2000" dirty="0">
                  <a:effectLst/>
                  <a:latin typeface="Calibri"/>
                  <a:ea typeface="Calibri"/>
                  <a:cs typeface="Calibri"/>
                </a:endParaRPr>
              </a:p>
              <a:p>
                <a:pPr marL="342900" marR="0" lvl="0" indent="-342900">
                  <a:lnSpc>
                    <a:spcPct val="150000"/>
                  </a:lnSpc>
                  <a:spcAft>
                    <a:spcPts val="600"/>
                  </a:spcAft>
                  <a:buFont typeface="+mj-lt"/>
                  <a:buAutoNum type="arabicPeriod" startAt="2"/>
                  <a:tabLst>
                    <a:tab pos="685800" algn="l"/>
                  </a:tabLst>
                </a:pPr>
                <a:r>
                  <a:rPr lang="en-US" sz="2000" dirty="0" err="1">
                    <a:effectLst/>
                    <a:latin typeface="Calibri"/>
                    <a:ea typeface="Calibri"/>
                    <a:cs typeface="Calibri"/>
                  </a:rPr>
                  <a:t>Розділіть</a:t>
                </a:r>
                <a:r>
                  <a:rPr lang="en-US" sz="2000" dirty="0">
                    <a:effectLst/>
                    <a:latin typeface="Calibri"/>
                    <a:ea typeface="Calibri"/>
                    <a:cs typeface="Calibri"/>
                  </a:rPr>
                  <a:t> дайджест:</a:t>
                </a:r>
              </a:p>
              <a:p>
                <a:pPr marL="342900" marR="0" lvl="0" indent="-342900">
                  <a:lnSpc>
                    <a:spcPct val="150000"/>
                  </a:lnSpc>
                  <a:spcAft>
                    <a:spcPts val="600"/>
                  </a:spcAft>
                  <a:buFont typeface="Symbol" panose="05050102010706020507" pitchFamily="18" charset="2"/>
                  <a:buChar char=""/>
                  <a:tabLst>
                    <a:tab pos="685800" algn="l"/>
                  </a:tabLst>
                </a:pPr>
                <a:r>
                  <a:rPr lang="en-US" sz="2000" dirty="0" err="1">
                    <a:effectLst/>
                    <a:latin typeface="Calibri"/>
                    <a:ea typeface="Calibri"/>
                    <a:cs typeface="Calibri"/>
                  </a:rPr>
                  <a:t>Розділіть</a:t>
                </a:r>
                <a:r>
                  <a:rPr lang="uk-UA" sz="2000" dirty="0">
                    <a:effectLst/>
                    <a:latin typeface="Calibri"/>
                    <a:ea typeface="Calibri"/>
                    <a:cs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uk-UA" sz="2000" b="0" i="0" smtClean="0">
                        <a:latin typeface="Cambria Math" panose="02040503050406030204" pitchFamily="18" charset="0"/>
                        <a:ea typeface="Calibri"/>
                        <a:cs typeface="Calibri"/>
                      </a:rPr>
                      <m:t> </m:t>
                    </m:r>
                    <m:r>
                      <a:rPr lang="en-US" sz="2000" i="1">
                        <a:latin typeface="Cambria Math" panose="02040503050406030204" pitchFamily="18" charset="0"/>
                        <a:ea typeface="Calibri"/>
                        <a:cs typeface="Calibri"/>
                      </a:rPr>
                      <m:t>h</m:t>
                    </m:r>
                    <m:r>
                      <a:rPr lang="uk-UA" sz="2000" b="0" i="1" smtClean="0">
                        <a:latin typeface="Cambria Math" panose="02040503050406030204" pitchFamily="18" charset="0"/>
                        <a:ea typeface="Calibri"/>
                        <a:cs typeface="Calibri"/>
                      </a:rPr>
                      <m:t> </m:t>
                    </m:r>
                  </m:oMath>
                </a14:m>
                <a:r>
                  <a:rPr lang="en-US" sz="2000" dirty="0">
                    <a:effectLst/>
                    <a:latin typeface="Calibri"/>
                    <a:ea typeface="Calibri"/>
                    <a:cs typeface="Calibri"/>
                  </a:rPr>
                  <a:t> на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  <a:ea typeface="Calibri"/>
                        <a:cs typeface="Calibri"/>
                      </a:rPr>
                      <m:t>𝑘</m:t>
                    </m:r>
                    <m:r>
                      <a:rPr lang="en-US" sz="2000" i="1">
                        <a:latin typeface="Cambria Math" panose="02040503050406030204" pitchFamily="18" charset="0"/>
                        <a:ea typeface="Calibri"/>
                        <a:cs typeface="Calibri"/>
                      </a:rPr>
                      <m:t> </m:t>
                    </m:r>
                  </m:oMath>
                </a14:m>
                <a:r>
                  <a:rPr lang="uk-UA" sz="2000" dirty="0">
                    <a:effectLst/>
                    <a:latin typeface="Calibri"/>
                    <a:ea typeface="Calibri"/>
                    <a:cs typeface="Calibri"/>
                  </a:rPr>
                  <a:t> </a:t>
                </a:r>
                <a:r>
                  <a:rPr lang="en-US" sz="2000" dirty="0">
                    <a:effectLst/>
                    <a:latin typeface="Calibri"/>
                    <a:ea typeface="Calibri"/>
                    <a:cs typeface="Calibri"/>
                  </a:rPr>
                  <a:t>частин, кожна з яких </a:t>
                </a:r>
                <a:r>
                  <a:rPr lang="en-US" sz="2000" dirty="0" err="1">
                    <a:effectLst/>
                    <a:latin typeface="Calibri"/>
                    <a:ea typeface="Calibri"/>
                    <a:cs typeface="Calibri"/>
                  </a:rPr>
                  <a:t>має</a:t>
                </a:r>
                <a:r>
                  <a:rPr lang="en-US" sz="2000" dirty="0">
                    <a:effectLst/>
                    <a:latin typeface="Calibri"/>
                    <a:ea typeface="Calibri"/>
                    <a:cs typeface="Calibri"/>
                  </a:rPr>
                  <a:t> </a:t>
                </a:r>
                <a:r>
                  <a:rPr lang="en-US" sz="2000" dirty="0" err="1">
                    <a:effectLst/>
                    <a:latin typeface="Calibri"/>
                    <a:ea typeface="Calibri"/>
                    <a:cs typeface="Calibri"/>
                  </a:rPr>
                  <a:t>розмір</a:t>
                </a:r>
                <a:r>
                  <a:rPr lang="uk-UA" sz="2000" dirty="0">
                    <a:effectLst/>
                    <a:latin typeface="Calibri"/>
                    <a:ea typeface="Calibri"/>
                    <a:cs typeface="Calibri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 smtClean="0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000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log</m:t>
                        </m:r>
                      </m:e>
                      <m:sub>
                        <m:r>
                          <a:rPr lang="en-US" sz="2000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2</m:t>
                        </m:r>
                      </m:sub>
                    </m:sSub>
                    <m:r>
                      <a:rPr lang="en-US" sz="2000">
                        <a:effectLst/>
                        <a:latin typeface="Cambria Math" panose="02040503050406030204" pitchFamily="18" charset="0"/>
                        <a:ea typeface="Calibri"/>
                        <a:cs typeface="Calibri"/>
                      </a:rPr>
                      <m:t>⁡(</m:t>
                    </m:r>
                    <m:r>
                      <a:rPr lang="en-US" sz="2000" i="1">
                        <a:effectLst/>
                        <a:latin typeface="Cambria Math" panose="02040503050406030204" pitchFamily="18" charset="0"/>
                        <a:ea typeface="Calibri"/>
                        <a:cs typeface="Calibri"/>
                      </a:rPr>
                      <m:t>𝑡</m:t>
                    </m:r>
                  </m:oMath>
                </a14:m>
                <a:r>
                  <a:rPr lang="en-US" sz="2000" dirty="0">
                    <a:effectLst/>
                    <a:latin typeface="Calibri"/>
                    <a:ea typeface="Calibri"/>
                    <a:cs typeface="Calibri"/>
                  </a:rPr>
                  <a:t> </a:t>
                </a:r>
                <a:r>
                  <a:rPr lang="uk-UA" sz="2000" dirty="0">
                    <a:effectLst/>
                    <a:latin typeface="Calibri"/>
                    <a:ea typeface="Calibri"/>
                    <a:cs typeface="Calibri"/>
                  </a:rPr>
                  <a:t>) </a:t>
                </a:r>
                <a:r>
                  <a:rPr lang="en-US" sz="2000" dirty="0">
                    <a:effectLst/>
                    <a:latin typeface="Calibri"/>
                    <a:ea typeface="Calibri"/>
                    <a:cs typeface="Calibri"/>
                  </a:rPr>
                  <a:t>бітів.</a:t>
                </a:r>
              </a:p>
              <a:p>
                <a:pPr marR="0" lvl="0">
                  <a:lnSpc>
                    <a:spcPct val="150000"/>
                  </a:lnSpc>
                  <a:spcAft>
                    <a:spcPts val="600"/>
                  </a:spcAft>
                  <a:tabLst>
                    <a:tab pos="685800" algn="l"/>
                  </a:tabLst>
                </a:pPr>
                <a:r>
                  <a:rPr lang="en-US" sz="2000" dirty="0">
                    <a:effectLst/>
                    <a:latin typeface="Calibri"/>
                    <a:ea typeface="Calibri"/>
                    <a:cs typeface="Calibri"/>
                  </a:rPr>
                  <a:t>Приклад: Якщо </a:t>
                </a:r>
                <a14:m>
                  <m:oMath xmlns:m="http://schemas.openxmlformats.org/officeDocument/2006/math">
                    <m:r>
                      <a:rPr lang="en-US" sz="2000" i="1" smtClean="0">
                        <a:effectLst/>
                        <a:latin typeface="Cambria Math" panose="02040503050406030204" pitchFamily="18" charset="0"/>
                        <a:ea typeface="Calibri"/>
                        <a:cs typeface="Calibri"/>
                      </a:rPr>
                      <m:t>𝑡</m:t>
                    </m:r>
                    <m:r>
                      <a:rPr lang="en-US" sz="2000">
                        <a:effectLst/>
                        <a:latin typeface="Cambria Math" panose="02040503050406030204" pitchFamily="18" charset="0"/>
                        <a:ea typeface="Calibri"/>
                        <a:cs typeface="Calibri"/>
                      </a:rPr>
                      <m:t>=16</m:t>
                    </m:r>
                  </m:oMath>
                </a14:m>
                <a:r>
                  <a:rPr lang="en-US" sz="2000" dirty="0">
                    <a:effectLst/>
                    <a:latin typeface="Calibri"/>
                    <a:ea typeface="Calibri"/>
                    <a:cs typeface="Calibri"/>
                  </a:rPr>
                  <a:t>, кожен фрагмент має розмір 4 біти: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</m:ctrlPr>
                      </m:sSubPr>
                      <m:e>
                        <m:r>
                          <a:rPr lang="en-US" sz="2000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𝑐</m:t>
                        </m:r>
                      </m:e>
                      <m:sub>
                        <m:r>
                          <a:rPr lang="en-US" sz="2000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1</m:t>
                        </m:r>
                      </m:sub>
                    </m:sSub>
                    <m:r>
                      <a:rPr lang="en-US" sz="2000">
                        <a:effectLst/>
                        <a:latin typeface="Cambria Math" panose="02040503050406030204" pitchFamily="18" charset="0"/>
                        <a:ea typeface="Calibri"/>
                        <a:cs typeface="Calibri"/>
                      </a:rPr>
                      <m:t>=1011=11, </m:t>
                    </m:r>
                    <m:sSub>
                      <m:sSubPr>
                        <m:ctrlPr>
                          <a:rPr lang="en-US" sz="2000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</m:ctrlPr>
                      </m:sSubPr>
                      <m:e>
                        <m:r>
                          <a:rPr lang="en-US" sz="2000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𝑐</m:t>
                        </m:r>
                      </m:e>
                      <m:sub>
                        <m:r>
                          <a:rPr lang="en-US" sz="2000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2</m:t>
                        </m:r>
                      </m:sub>
                    </m:sSub>
                    <m:r>
                      <a:rPr lang="en-US" sz="2000">
                        <a:effectLst/>
                        <a:latin typeface="Cambria Math" panose="02040503050406030204" pitchFamily="18" charset="0"/>
                        <a:ea typeface="Calibri"/>
                        <a:cs typeface="Calibri"/>
                      </a:rPr>
                      <m:t>=0101=5, </m:t>
                    </m:r>
                    <m:sSub>
                      <m:sSubPr>
                        <m:ctrlPr>
                          <a:rPr lang="en-US" sz="2000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</m:ctrlPr>
                      </m:sSubPr>
                      <m:e>
                        <m:r>
                          <a:rPr lang="en-US" sz="2000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𝑐</m:t>
                        </m:r>
                      </m:e>
                      <m:sub>
                        <m:r>
                          <a:rPr lang="en-US" sz="2000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3</m:t>
                        </m:r>
                      </m:sub>
                    </m:sSub>
                    <m:r>
                      <a:rPr lang="en-US" sz="2000">
                        <a:effectLst/>
                        <a:latin typeface="Cambria Math" panose="02040503050406030204" pitchFamily="18" charset="0"/>
                        <a:ea typeface="Calibri"/>
                        <a:cs typeface="Calibri"/>
                      </a:rPr>
                      <m:t>=1100=12</m:t>
                    </m:r>
                  </m:oMath>
                </a14:m>
                <a:endParaRPr lang="en-US" sz="2000" dirty="0">
                  <a:effectLst/>
                  <a:latin typeface="Calibri"/>
                  <a:ea typeface="Calibri"/>
                  <a:cs typeface="Calibri"/>
                </a:endParaRPr>
              </a:p>
              <a:p>
                <a:pPr marL="342900" marR="0" lvl="0" indent="-342900">
                  <a:lnSpc>
                    <a:spcPct val="150000"/>
                  </a:lnSpc>
                  <a:spcAft>
                    <a:spcPts val="600"/>
                  </a:spcAft>
                  <a:buFont typeface="+mj-lt"/>
                  <a:buAutoNum type="arabicPeriod" startAt="3"/>
                  <a:tabLst>
                    <a:tab pos="685800" algn="l"/>
                  </a:tabLst>
                </a:pPr>
                <a:r>
                  <a:rPr lang="en-US" sz="2000" dirty="0">
                    <a:effectLst/>
                    <a:latin typeface="Calibri"/>
                    <a:ea typeface="Calibri"/>
                    <a:cs typeface="Calibri"/>
                  </a:rPr>
                  <a:t>Виберіть елементи приватного ключа:</a:t>
                </a:r>
              </a:p>
              <a:p>
                <a:pPr marL="342900" marR="0" lvl="0" indent="-342900">
                  <a:lnSpc>
                    <a:spcPct val="150000"/>
                  </a:lnSpc>
                  <a:spcAft>
                    <a:spcPts val="600"/>
                  </a:spcAft>
                  <a:buFont typeface="Symbol" panose="05050102010706020507" pitchFamily="18" charset="2"/>
                  <a:buChar char=""/>
                  <a:tabLst>
                    <a:tab pos="685800" algn="l"/>
                  </a:tabLst>
                </a:pPr>
                <a:r>
                  <a:rPr lang="en-US" sz="2000" dirty="0">
                    <a:effectLst/>
                    <a:latin typeface="Calibri"/>
                    <a:ea typeface="Calibri"/>
                    <a:cs typeface="Calibri"/>
                  </a:rPr>
                  <a:t>Для кожного фрагмента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 smtClean="0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</m:ctrlPr>
                      </m:sSubPr>
                      <m:e>
                        <m:r>
                          <a:rPr lang="en-US" sz="2000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𝑐</m:t>
                        </m:r>
                      </m:e>
                      <m:sub>
                        <m:r>
                          <a:rPr lang="en-US" sz="2000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𝑖</m:t>
                        </m:r>
                      </m:sub>
                    </m:sSub>
                    <m:r>
                      <a:rPr lang="en-US" sz="2000" i="1">
                        <a:effectLst/>
                        <a:latin typeface="Cambria Math" panose="02040503050406030204" pitchFamily="18" charset="0"/>
                        <a:ea typeface="Calibri"/>
                        <a:cs typeface="Calibri"/>
                      </a:rPr>
                      <m:t> </m:t>
                    </m:r>
                  </m:oMath>
                </a14:m>
                <a:r>
                  <a:rPr lang="uk-UA" sz="2000" dirty="0">
                    <a:effectLst/>
                    <a:latin typeface="Calibri"/>
                    <a:ea typeface="Calibri"/>
                    <a:cs typeface="Calibri"/>
                  </a:rPr>
                  <a:t> </a:t>
                </a:r>
                <a:r>
                  <a:rPr lang="en-US" sz="2000" dirty="0">
                    <a:effectLst/>
                    <a:latin typeface="Calibri"/>
                    <a:ea typeface="Calibri"/>
                    <a:cs typeface="Calibri"/>
                  </a:rPr>
                  <a:t>виберіть відповідний елемент приватного ключа: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</m:ctrlPr>
                      </m:sSubPr>
                      <m:e>
                        <m:r>
                          <a:rPr lang="en-US" sz="2000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𝜎</m:t>
                        </m:r>
                      </m:e>
                      <m:sub>
                        <m:r>
                          <a:rPr lang="en-US" sz="2000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𝑖</m:t>
                        </m:r>
                      </m:sub>
                    </m:sSub>
                    <m:r>
                      <a:rPr lang="en-US" sz="2000">
                        <a:effectLst/>
                        <a:latin typeface="Cambria Math" panose="02040503050406030204" pitchFamily="18" charset="0"/>
                        <a:ea typeface="Calibri"/>
                        <a:cs typeface="Calibri"/>
                      </a:rPr>
                      <m:t>=</m:t>
                    </m:r>
                    <m:sSub>
                      <m:sSubPr>
                        <m:ctrlPr>
                          <a:rPr lang="en-US" sz="2000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</m:ctrlPr>
                      </m:sSubPr>
                      <m:e>
                        <m:r>
                          <a:rPr lang="en-US" sz="2000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𝑥</m:t>
                        </m:r>
                      </m:e>
                      <m:sub>
                        <m:sSub>
                          <m:sSubPr>
                            <m:ctrlPr>
                              <a:rPr lang="en-US" sz="2000" i="1">
                                <a:effectLst/>
                                <a:latin typeface="Cambria Math" panose="02040503050406030204" pitchFamily="18" charset="0"/>
                                <a:ea typeface="Calibri"/>
                                <a:cs typeface="Calibri"/>
                              </a:rPr>
                            </m:ctrlPr>
                          </m:sSubPr>
                          <m:e>
                            <m:r>
                              <a:rPr lang="en-US" sz="2000" i="1">
                                <a:effectLst/>
                                <a:latin typeface="Cambria Math" panose="02040503050406030204" pitchFamily="18" charset="0"/>
                                <a:ea typeface="Calibri"/>
                                <a:cs typeface="Calibri"/>
                              </a:rPr>
                              <m:t>𝑐</m:t>
                            </m:r>
                          </m:e>
                          <m:sub>
                            <m:r>
                              <a:rPr lang="en-US" sz="2000" i="1">
                                <a:effectLst/>
                                <a:latin typeface="Cambria Math" panose="02040503050406030204" pitchFamily="18" charset="0"/>
                                <a:ea typeface="Calibri"/>
                                <a:cs typeface="Calibri"/>
                              </a:rPr>
                              <m:t>𝑖</m:t>
                            </m:r>
                          </m:sub>
                        </m:sSub>
                      </m:sub>
                    </m:sSub>
                  </m:oMath>
                </a14:m>
                <a:endParaRPr lang="en-US" sz="2000" dirty="0">
                  <a:effectLst/>
                  <a:latin typeface="Calibri"/>
                  <a:ea typeface="Calibri"/>
                  <a:cs typeface="Calibri"/>
                </a:endParaRPr>
              </a:p>
              <a:p>
                <a:pPr marR="0" lvl="0">
                  <a:lnSpc>
                    <a:spcPct val="150000"/>
                  </a:lnSpc>
                  <a:spcAft>
                    <a:spcPts val="600"/>
                  </a:spcAft>
                  <a:tabLst>
                    <a:tab pos="685800" algn="l"/>
                  </a:tabLst>
                </a:pPr>
                <a:r>
                  <a:rPr lang="en-US" sz="2000" dirty="0" err="1">
                    <a:effectLst/>
                    <a:latin typeface="Calibri"/>
                    <a:ea typeface="Calibri"/>
                    <a:cs typeface="Calibri"/>
                  </a:rPr>
                  <a:t>Приклад</a:t>
                </a:r>
                <a:r>
                  <a:rPr lang="en-US" sz="2000" dirty="0">
                    <a:effectLst/>
                    <a:latin typeface="Calibri"/>
                    <a:ea typeface="Calibri"/>
                    <a:cs typeface="Calibri"/>
                  </a:rPr>
                  <a:t>:</a:t>
                </a:r>
                <a:r>
                  <a:rPr lang="uk-UA" sz="2000" dirty="0">
                    <a:effectLst/>
                    <a:latin typeface="Calibri"/>
                    <a:ea typeface="Calibri"/>
                    <a:cs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uk-UA" sz="2000" b="0" i="0" smtClean="0">
                        <a:effectLst/>
                        <a:latin typeface="Cambria Math" panose="02040503050406030204" pitchFamily="18" charset="0"/>
                        <a:ea typeface="Calibri"/>
                        <a:cs typeface="Calibri"/>
                      </a:rPr>
                      <m:t> </m:t>
                    </m:r>
                    <m:sSub>
                      <m:sSubPr>
                        <m:ctrlPr>
                          <a:rPr lang="en-US" sz="2000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</m:ctrlPr>
                      </m:sSubPr>
                      <m:e>
                        <m:r>
                          <a:rPr lang="en-US" sz="2000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𝜎</m:t>
                        </m:r>
                      </m:e>
                      <m:sub>
                        <m:r>
                          <a:rPr lang="en-US" sz="2000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1</m:t>
                        </m:r>
                      </m:sub>
                    </m:sSub>
                    <m:r>
                      <a:rPr lang="en-US" sz="2000">
                        <a:effectLst/>
                        <a:latin typeface="Cambria Math" panose="02040503050406030204" pitchFamily="18" charset="0"/>
                        <a:ea typeface="Calibri"/>
                        <a:cs typeface="Calibri"/>
                      </a:rPr>
                      <m:t>=</m:t>
                    </m:r>
                    <m:sSub>
                      <m:sSubPr>
                        <m:ctrlPr>
                          <a:rPr lang="en-US" sz="2000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</m:ctrlPr>
                      </m:sSubPr>
                      <m:e>
                        <m:r>
                          <a:rPr lang="en-US" sz="2000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𝑥</m:t>
                        </m:r>
                      </m:e>
                      <m:sub>
                        <m:r>
                          <a:rPr lang="en-US" sz="2000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11</m:t>
                        </m:r>
                      </m:sub>
                    </m:sSub>
                    <m:r>
                      <a:rPr lang="en-US" sz="2000">
                        <a:effectLst/>
                        <a:latin typeface="Cambria Math" panose="02040503050406030204" pitchFamily="18" charset="0"/>
                        <a:ea typeface="Calibri"/>
                        <a:cs typeface="Calibri"/>
                      </a:rPr>
                      <m:t>, </m:t>
                    </m:r>
                    <m:sSub>
                      <m:sSubPr>
                        <m:ctrlPr>
                          <a:rPr lang="en-US" sz="2000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</m:ctrlPr>
                      </m:sSubPr>
                      <m:e>
                        <m:r>
                          <a:rPr lang="en-US" sz="2000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𝜎</m:t>
                        </m:r>
                      </m:e>
                      <m:sub>
                        <m:r>
                          <a:rPr lang="en-US" sz="2000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2</m:t>
                        </m:r>
                      </m:sub>
                    </m:sSub>
                    <m:r>
                      <a:rPr lang="en-US" sz="2000">
                        <a:effectLst/>
                        <a:latin typeface="Cambria Math" panose="02040503050406030204" pitchFamily="18" charset="0"/>
                        <a:ea typeface="Calibri"/>
                        <a:cs typeface="Calibri"/>
                      </a:rPr>
                      <m:t>=</m:t>
                    </m:r>
                    <m:sSub>
                      <m:sSubPr>
                        <m:ctrlPr>
                          <a:rPr lang="en-US" sz="2000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</m:ctrlPr>
                      </m:sSubPr>
                      <m:e>
                        <m:r>
                          <a:rPr lang="en-US" sz="2000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𝑥</m:t>
                        </m:r>
                      </m:e>
                      <m:sub>
                        <m:r>
                          <a:rPr lang="en-US" sz="2000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5</m:t>
                        </m:r>
                      </m:sub>
                    </m:sSub>
                    <m:r>
                      <a:rPr lang="en-US" sz="2000">
                        <a:effectLst/>
                        <a:latin typeface="Cambria Math" panose="02040503050406030204" pitchFamily="18" charset="0"/>
                        <a:ea typeface="Calibri"/>
                        <a:cs typeface="Calibri"/>
                      </a:rPr>
                      <m:t>, </m:t>
                    </m:r>
                    <m:sSub>
                      <m:sSubPr>
                        <m:ctrlPr>
                          <a:rPr lang="en-US" sz="2000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</m:ctrlPr>
                      </m:sSubPr>
                      <m:e>
                        <m:r>
                          <a:rPr lang="en-US" sz="2000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𝜎</m:t>
                        </m:r>
                      </m:e>
                      <m:sub>
                        <m:r>
                          <a:rPr lang="en-US" sz="2000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3</m:t>
                        </m:r>
                      </m:sub>
                    </m:sSub>
                    <m:r>
                      <a:rPr lang="en-US" sz="2000">
                        <a:effectLst/>
                        <a:latin typeface="Cambria Math" panose="02040503050406030204" pitchFamily="18" charset="0"/>
                        <a:ea typeface="Calibri"/>
                        <a:cs typeface="Calibri"/>
                      </a:rPr>
                      <m:t>=</m:t>
                    </m:r>
                    <m:sSub>
                      <m:sSubPr>
                        <m:ctrlPr>
                          <a:rPr lang="en-US" sz="2000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</m:ctrlPr>
                      </m:sSubPr>
                      <m:e>
                        <m:r>
                          <a:rPr lang="en-US" sz="2000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𝑥</m:t>
                        </m:r>
                      </m:e>
                      <m:sub>
                        <m:r>
                          <a:rPr lang="en-US" sz="2000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12</m:t>
                        </m:r>
                      </m:sub>
                    </m:sSub>
                  </m:oMath>
                </a14:m>
                <a:endParaRPr lang="en-US" sz="2000" dirty="0">
                  <a:effectLst/>
                  <a:latin typeface="Calibri"/>
                  <a:ea typeface="Calibri"/>
                  <a:cs typeface="Calibri"/>
                </a:endParaRPr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159A9CAE-11FD-F95F-8EDB-1F18A44EB4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1479" y="998780"/>
                <a:ext cx="10309042" cy="5221364"/>
              </a:xfrm>
              <a:prstGeom prst="rect">
                <a:avLst/>
              </a:prstGeom>
              <a:blipFill>
                <a:blip r:embed="rId2"/>
                <a:stretch>
                  <a:fillRect l="-614" b="-2913"/>
                </a:stretch>
              </a:blipFill>
            </p:spPr>
            <p:txBody>
              <a:bodyPr/>
              <a:lstStyle/>
              <a:p>
                <a:r>
                  <a:rPr lang="en-UA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2647129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28A9ED-14F9-5C07-A480-3A0A3CD60E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>
                <a:solidFill>
                  <a:srgbClr val="203864"/>
                </a:solidFill>
                <a:latin typeface="Calibri"/>
              </a:rPr>
              <a:t>MSS: створення та перевірка підпису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39466A9-DBCA-2D07-3CD1-90B07101DFB0}"/>
                  </a:ext>
                </a:extLst>
              </p:cNvPr>
              <p:cNvSpPr txBox="1"/>
              <p:nvPr/>
            </p:nvSpPr>
            <p:spPr>
              <a:xfrm>
                <a:off x="838200" y="1690688"/>
                <a:ext cx="11353800" cy="4128566"/>
              </a:xfrm>
              <a:prstGeom prst="rect">
                <a:avLst/>
              </a:prstGeom>
              <a:noFill/>
            </p:spPr>
            <p:txBody>
              <a:bodyPr wrap="square"/>
              <a:lstStyle/>
              <a:p>
                <a:pPr marR="0" lvl="0">
                  <a:spcAft>
                    <a:spcPts val="600"/>
                  </a:spcAft>
                  <a:tabLst>
                    <a:tab pos="685800" algn="l"/>
                  </a:tabLst>
                </a:pPr>
                <a:r>
                  <a:rPr lang="en-US" sz="2400" dirty="0">
                    <a:effectLst/>
                    <a:latin typeface="Calibri"/>
                    <a:ea typeface="Calibri"/>
                    <a:cs typeface="Calibri"/>
                  </a:rPr>
                  <a:t>Формування підпису:</a:t>
                </a:r>
              </a:p>
              <a:p>
                <a:pPr marL="342900" marR="0" lvl="0" indent="-342900">
                  <a:spcAft>
                    <a:spcPts val="600"/>
                  </a:spcAft>
                  <a:buFont typeface="Symbol" panose="05050102010706020507" pitchFamily="18" charset="2"/>
                  <a:buChar char=""/>
                  <a:tabLst>
                    <a:tab pos="685800" algn="l"/>
                  </a:tabLst>
                </a:pPr>
                <a:r>
                  <a:rPr lang="en-US" sz="2400" dirty="0">
                    <a:effectLst/>
                    <a:latin typeface="Calibri"/>
                    <a:ea typeface="Calibri"/>
                    <a:cs typeface="Calibri"/>
                  </a:rPr>
                  <a:t>Підпис - це сукупність вибраних елементів приватного ключа: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sz="2400" i="1">
                        <a:effectLst/>
                        <a:latin typeface="Calibri"/>
                        <a:ea typeface="Calibri"/>
                        <a:cs typeface="Calibri"/>
                      </a:rPr>
                      <m:t> </m:t>
                    </m:r>
                    <m:r>
                      <m:rPr>
                        <m:nor/>
                      </m:rPr>
                      <a:rPr lang="en-US" sz="2400">
                        <a:effectLst/>
                        <a:latin typeface="Calibri"/>
                        <a:ea typeface="Calibri"/>
                        <a:cs typeface="Calibri"/>
                      </a:rPr>
                      <m:t>Signature</m:t>
                    </m:r>
                    <m:r>
                      <m:rPr>
                        <m:nor/>
                      </m:rPr>
                      <a:rPr lang="en-US" sz="2400" i="1">
                        <a:effectLst/>
                        <a:latin typeface="Calibri"/>
                        <a:ea typeface="Calibri"/>
                        <a:cs typeface="Calibri"/>
                      </a:rPr>
                      <m:t> </m:t>
                    </m:r>
                    <m:r>
                      <a:rPr lang="en-US" sz="2400">
                        <a:effectLst/>
                        <a:latin typeface="Cambria Math" panose="02040503050406030204" pitchFamily="18" charset="0"/>
                        <a:ea typeface="Calibri"/>
                        <a:cs typeface="Calibri"/>
                      </a:rPr>
                      <m:t>=</m:t>
                    </m:r>
                    <m:d>
                      <m:dPr>
                        <m:ctrlPr>
                          <a:rPr lang="en-US" sz="2400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400" i="1">
                                <a:effectLst/>
                                <a:latin typeface="Cambria Math" panose="02040503050406030204" pitchFamily="18" charset="0"/>
                                <a:ea typeface="Calibri"/>
                                <a:cs typeface="Calibri"/>
                              </a:rPr>
                            </m:ctrlPr>
                          </m:sSubPr>
                          <m:e>
                            <m:r>
                              <a:rPr lang="en-US" sz="2400" i="1">
                                <a:effectLst/>
                                <a:latin typeface="Cambria Math" panose="02040503050406030204" pitchFamily="18" charset="0"/>
                                <a:ea typeface="Calibri"/>
                                <a:cs typeface="Calibri"/>
                              </a:rPr>
                              <m:t>𝜎</m:t>
                            </m:r>
                          </m:e>
                          <m:sub>
                            <m:r>
                              <a:rPr lang="en-US" sz="2400">
                                <a:effectLst/>
                                <a:latin typeface="Cambria Math" panose="02040503050406030204" pitchFamily="18" charset="0"/>
                                <a:ea typeface="Calibri"/>
                                <a:cs typeface="Calibri"/>
                              </a:rPr>
                              <m:t>1</m:t>
                            </m:r>
                          </m:sub>
                        </m:sSub>
                        <m:r>
                          <a:rPr lang="en-US" sz="2400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,</m:t>
                        </m:r>
                        <m:sSub>
                          <m:sSubPr>
                            <m:ctrlPr>
                              <a:rPr lang="en-US" sz="2400" i="1">
                                <a:effectLst/>
                                <a:latin typeface="Cambria Math" panose="02040503050406030204" pitchFamily="18" charset="0"/>
                                <a:ea typeface="Calibri"/>
                                <a:cs typeface="Calibri"/>
                              </a:rPr>
                            </m:ctrlPr>
                          </m:sSubPr>
                          <m:e>
                            <m:r>
                              <a:rPr lang="en-US" sz="2400" i="1">
                                <a:effectLst/>
                                <a:latin typeface="Cambria Math" panose="02040503050406030204" pitchFamily="18" charset="0"/>
                                <a:ea typeface="Calibri"/>
                                <a:cs typeface="Calibri"/>
                              </a:rPr>
                              <m:t>𝜎</m:t>
                            </m:r>
                          </m:e>
                          <m:sub>
                            <m:r>
                              <a:rPr lang="en-US" sz="2400">
                                <a:effectLst/>
                                <a:latin typeface="Cambria Math" panose="02040503050406030204" pitchFamily="18" charset="0"/>
                                <a:ea typeface="Calibri"/>
                                <a:cs typeface="Calibri"/>
                              </a:rPr>
                              <m:t>2</m:t>
                            </m:r>
                          </m:sub>
                        </m:sSub>
                        <m:r>
                          <a:rPr lang="en-US" sz="2400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,…,</m:t>
                        </m:r>
                        <m:sSub>
                          <m:sSubPr>
                            <m:ctrlPr>
                              <a:rPr lang="en-US" sz="2400" i="1">
                                <a:effectLst/>
                                <a:latin typeface="Cambria Math" panose="02040503050406030204" pitchFamily="18" charset="0"/>
                                <a:ea typeface="Calibri"/>
                                <a:cs typeface="Calibri"/>
                              </a:rPr>
                            </m:ctrlPr>
                          </m:sSubPr>
                          <m:e>
                            <m:r>
                              <a:rPr lang="en-US" sz="2400" i="1">
                                <a:effectLst/>
                                <a:latin typeface="Cambria Math" panose="02040503050406030204" pitchFamily="18" charset="0"/>
                                <a:ea typeface="Calibri"/>
                                <a:cs typeface="Calibri"/>
                              </a:rPr>
                              <m:t>𝜎</m:t>
                            </m:r>
                          </m:e>
                          <m:sub>
                            <m:r>
                              <a:rPr lang="en-US" sz="2400" i="1">
                                <a:effectLst/>
                                <a:latin typeface="Cambria Math" panose="02040503050406030204" pitchFamily="18" charset="0"/>
                                <a:ea typeface="Calibri"/>
                                <a:cs typeface="Calibri"/>
                              </a:rPr>
                              <m:t>𝑘</m:t>
                            </m:r>
                          </m:sub>
                        </m:sSub>
                      </m:e>
                    </m:d>
                  </m:oMath>
                </a14:m>
                <a:endParaRPr lang="en-US" sz="2400" dirty="0">
                  <a:effectLst/>
                  <a:latin typeface="Calibri"/>
                  <a:ea typeface="Calibri"/>
                  <a:cs typeface="Calibri"/>
                </a:endParaRPr>
              </a:p>
              <a:p>
                <a:pPr marL="0" marR="0">
                  <a:spcAft>
                    <a:spcPts val="1100"/>
                  </a:spcAft>
                </a:pPr>
                <a:r>
                  <a:rPr lang="en-US" sz="2400" dirty="0">
                    <a:effectLst/>
                    <a:latin typeface="Calibri"/>
                    <a:ea typeface="Calibri"/>
                    <a:cs typeface="Calibri"/>
                  </a:rPr>
                  <a:t>Перевірка підпису</a:t>
                </a:r>
              </a:p>
              <a:p>
                <a:pPr marL="342900" marR="0" lvl="0" indent="-342900">
                  <a:spcAft>
                    <a:spcPts val="600"/>
                  </a:spcAft>
                  <a:buFont typeface="+mj-lt"/>
                  <a:buAutoNum type="arabicPeriod"/>
                  <a:tabLst>
                    <a:tab pos="685800" algn="l"/>
                  </a:tabLst>
                </a:pPr>
                <a:r>
                  <a:rPr lang="en-US" sz="2400" dirty="0">
                    <a:effectLst/>
                    <a:latin typeface="Calibri"/>
                    <a:ea typeface="Calibri"/>
                    <a:cs typeface="Calibri"/>
                  </a:rPr>
                  <a:t>Перерахунок відкритого ключа:</a:t>
                </a:r>
              </a:p>
              <a:p>
                <a:pPr marL="342900" marR="0" lvl="0" indent="-342900">
                  <a:spcAft>
                    <a:spcPts val="600"/>
                  </a:spcAft>
                  <a:buFont typeface="Symbol" panose="05050102010706020507" pitchFamily="18" charset="2"/>
                  <a:buChar char=""/>
                  <a:tabLst>
                    <a:tab pos="685800" algn="l"/>
                  </a:tabLst>
                </a:pPr>
                <a:r>
                  <a:rPr lang="en-US" sz="2400" dirty="0">
                    <a:effectLst/>
                    <a:latin typeface="Calibri"/>
                    <a:ea typeface="Calibri"/>
                    <a:cs typeface="Calibri"/>
                  </a:rPr>
                  <a:t>Виконайте хешування кожного елемента підпису: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400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</m:ctrlPr>
                      </m:sSubSupPr>
                      <m:e>
                        <m:r>
                          <a:rPr lang="en-US" sz="2400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𝑦</m:t>
                        </m:r>
                      </m:e>
                      <m:sub>
                        <m:r>
                          <a:rPr lang="en-US" sz="2400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𝑖</m:t>
                        </m:r>
                      </m:sub>
                      <m:sup>
                        <m:r>
                          <a:rPr lang="en-US" sz="2400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′</m:t>
                        </m:r>
                      </m:sup>
                    </m:sSubSup>
                    <m:r>
                      <a:rPr lang="en-US" sz="2400">
                        <a:effectLst/>
                        <a:latin typeface="Cambria Math" panose="02040503050406030204" pitchFamily="18" charset="0"/>
                        <a:ea typeface="Calibri"/>
                        <a:cs typeface="Calibri"/>
                      </a:rPr>
                      <m:t>=</m:t>
                    </m:r>
                    <m:r>
                      <a:rPr lang="en-US" sz="2400" i="1">
                        <a:effectLst/>
                        <a:latin typeface="Cambria Math" panose="02040503050406030204" pitchFamily="18" charset="0"/>
                        <a:ea typeface="Calibri"/>
                        <a:cs typeface="Calibri"/>
                      </a:rPr>
                      <m:t>𝐻</m:t>
                    </m:r>
                    <m:d>
                      <m:dPr>
                        <m:ctrlPr>
                          <a:rPr lang="en-US" sz="2400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400" i="1">
                                <a:effectLst/>
                                <a:latin typeface="Cambria Math" panose="02040503050406030204" pitchFamily="18" charset="0"/>
                                <a:ea typeface="Calibri"/>
                                <a:cs typeface="Calibri"/>
                              </a:rPr>
                            </m:ctrlPr>
                          </m:sSubPr>
                          <m:e>
                            <m:r>
                              <a:rPr lang="en-US" sz="2400" i="1">
                                <a:effectLst/>
                                <a:latin typeface="Cambria Math" panose="02040503050406030204" pitchFamily="18" charset="0"/>
                                <a:ea typeface="Calibri"/>
                                <a:cs typeface="Calibri"/>
                              </a:rPr>
                              <m:t>𝜎</m:t>
                            </m:r>
                          </m:e>
                          <m:sub>
                            <m:r>
                              <a:rPr lang="en-US" sz="2400" i="1">
                                <a:effectLst/>
                                <a:latin typeface="Cambria Math" panose="02040503050406030204" pitchFamily="18" charset="0"/>
                                <a:ea typeface="Calibri"/>
                                <a:cs typeface="Calibri"/>
                              </a:rPr>
                              <m:t>𝑖</m:t>
                            </m:r>
                          </m:sub>
                        </m:sSub>
                      </m:e>
                    </m:d>
                  </m:oMath>
                </a14:m>
                <a:endParaRPr lang="en-US" sz="2400" dirty="0">
                  <a:effectLst/>
                  <a:latin typeface="Calibri"/>
                  <a:ea typeface="Calibri"/>
                  <a:cs typeface="Calibri"/>
                </a:endParaRPr>
              </a:p>
              <a:p>
                <a:pPr marL="342900" marR="0" lvl="0" indent="-342900">
                  <a:spcAft>
                    <a:spcPts val="600"/>
                  </a:spcAft>
                  <a:buFont typeface="Symbol" panose="05050102010706020507" pitchFamily="18" charset="2"/>
                  <a:buChar char=""/>
                  <a:tabLst>
                    <a:tab pos="685800" algn="l"/>
                  </a:tabLst>
                </a:pPr>
                <a:r>
                  <a:rPr lang="en-US" sz="2400" dirty="0" err="1">
                    <a:effectLst/>
                    <a:latin typeface="Calibri"/>
                    <a:ea typeface="Calibri"/>
                    <a:cs typeface="Calibri"/>
                  </a:rPr>
                  <a:t>Порівняйте</a:t>
                </a:r>
                <a:r>
                  <a:rPr lang="en-US" sz="2400" dirty="0">
                    <a:effectLst/>
                    <a:latin typeface="Calibri"/>
                    <a:ea typeface="Calibri"/>
                    <a:cs typeface="Calibri"/>
                  </a:rPr>
                  <a:t>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400" i="1" smtClean="0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</m:ctrlPr>
                      </m:sSubSupPr>
                      <m:e>
                        <m:r>
                          <a:rPr lang="en-US" sz="2400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𝑦</m:t>
                        </m:r>
                      </m:e>
                      <m:sub>
                        <m:r>
                          <a:rPr lang="en-US" sz="2400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𝑖</m:t>
                        </m:r>
                      </m:sub>
                      <m:sup>
                        <m:r>
                          <a:rPr lang="en-US" sz="2400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′</m:t>
                        </m:r>
                      </m:sup>
                    </m:sSubSup>
                    <m:r>
                      <a:rPr lang="en-US" sz="2400" i="1">
                        <a:effectLst/>
                        <a:latin typeface="Cambria Math" panose="02040503050406030204" pitchFamily="18" charset="0"/>
                        <a:ea typeface="Calibri"/>
                        <a:cs typeface="Calibri"/>
                      </a:rPr>
                      <m:t> </m:t>
                    </m:r>
                  </m:oMath>
                </a14:m>
                <a:r>
                  <a:rPr lang="uk-UA" sz="2400" dirty="0">
                    <a:effectLst/>
                    <a:latin typeface="Calibri"/>
                    <a:ea typeface="Calibri"/>
                    <a:cs typeface="Calibri"/>
                  </a:rPr>
                  <a:t> </a:t>
                </a:r>
                <a:r>
                  <a:rPr lang="en-US" sz="2400" dirty="0">
                    <a:effectLst/>
                    <a:latin typeface="Calibri"/>
                    <a:ea typeface="Calibri"/>
                    <a:cs typeface="Calibri"/>
                  </a:rPr>
                  <a:t>з </a:t>
                </a:r>
                <a:r>
                  <a:rPr lang="en-US" sz="2400" dirty="0" err="1">
                    <a:effectLst/>
                    <a:latin typeface="Calibri"/>
                    <a:ea typeface="Calibri"/>
                    <a:cs typeface="Calibri"/>
                  </a:rPr>
                  <a:t>відповідним</a:t>
                </a:r>
                <a:r>
                  <a:rPr lang="en-US" sz="2400" dirty="0">
                    <a:effectLst/>
                    <a:latin typeface="Calibri"/>
                    <a:ea typeface="Calibri"/>
                    <a:cs typeface="Calibri"/>
                  </a:rPr>
                  <a:t> </a:t>
                </a:r>
                <a:r>
                  <a:rPr lang="en-US" sz="2400" dirty="0" err="1">
                    <a:effectLst/>
                    <a:latin typeface="Calibri"/>
                    <a:ea typeface="Calibri"/>
                    <a:cs typeface="Calibri"/>
                  </a:rPr>
                  <a:t>елементом</a:t>
                </a:r>
                <a:r>
                  <a:rPr lang="en-US" sz="2400" dirty="0">
                    <a:effectLst/>
                    <a:latin typeface="Calibri"/>
                    <a:ea typeface="Calibri"/>
                    <a:cs typeface="Calibri"/>
                  </a:rPr>
                  <a:t> </a:t>
                </a:r>
                <a:r>
                  <a:rPr lang="en-US" sz="2400" dirty="0" err="1">
                    <a:effectLst/>
                    <a:latin typeface="Calibri"/>
                    <a:ea typeface="Calibri"/>
                    <a:cs typeface="Calibri"/>
                  </a:rPr>
                  <a:t>відкритого</a:t>
                </a:r>
                <a:r>
                  <a:rPr lang="en-US" sz="2400" dirty="0">
                    <a:effectLst/>
                    <a:latin typeface="Calibri"/>
                    <a:ea typeface="Calibri"/>
                    <a:cs typeface="Calibri"/>
                  </a:rPr>
                  <a:t> </a:t>
                </a:r>
                <a:r>
                  <a:rPr lang="en-US" sz="2400" dirty="0" err="1">
                    <a:effectLst/>
                    <a:latin typeface="Calibri"/>
                    <a:ea typeface="Calibri"/>
                    <a:cs typeface="Calibri"/>
                  </a:rPr>
                  <a:t>ключа</a:t>
                </a:r>
                <a:r>
                  <a:rPr lang="en-US" sz="2400" dirty="0">
                    <a:effectLst/>
                    <a:latin typeface="Calibri"/>
                    <a:ea typeface="Calibri"/>
                    <a:cs typeface="Calibri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𝑦</m:t>
                        </m:r>
                      </m:e>
                      <m:sub>
                        <m:sSub>
                          <m:sSubPr>
                            <m:ctrlPr>
                              <a:rPr lang="en-US" sz="2400" i="1">
                                <a:latin typeface="Cambria Math" panose="02040503050406030204" pitchFamily="18" charset="0"/>
                                <a:ea typeface="Calibri"/>
                                <a:cs typeface="Calibri"/>
                              </a:rPr>
                            </m:ctrlPr>
                          </m:sSub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  <a:ea typeface="Calibri"/>
                                <a:cs typeface="Calibri"/>
                              </a:rPr>
                              <m:t>𝑐</m:t>
                            </m:r>
                          </m:e>
                          <m:sub>
                            <m:r>
                              <a:rPr lang="en-US" sz="2400" i="1">
                                <a:latin typeface="Cambria Math" panose="02040503050406030204" pitchFamily="18" charset="0"/>
                                <a:ea typeface="Calibri"/>
                                <a:cs typeface="Calibri"/>
                              </a:rPr>
                              <m:t>𝑖</m:t>
                            </m:r>
                          </m:sub>
                        </m:sSub>
                      </m:sub>
                    </m:sSub>
                  </m:oMath>
                </a14:m>
                <a:r>
                  <a:rPr lang="en-US" sz="2400" dirty="0">
                    <a:effectLst/>
                    <a:latin typeface="Calibri"/>
                    <a:ea typeface="Calibri"/>
                    <a:cs typeface="Calibri"/>
                  </a:rPr>
                  <a:t>.</a:t>
                </a:r>
              </a:p>
              <a:p>
                <a:pPr marL="342900" marR="0" lvl="0" indent="-342900">
                  <a:spcAft>
                    <a:spcPts val="600"/>
                  </a:spcAft>
                  <a:buFont typeface="+mj-lt"/>
                  <a:buAutoNum type="arabicPeriod" startAt="2"/>
                  <a:tabLst>
                    <a:tab pos="685800" algn="l"/>
                  </a:tabLst>
                </a:pPr>
                <a:r>
                  <a:rPr lang="en-US" sz="2400" dirty="0" err="1">
                    <a:effectLst/>
                    <a:latin typeface="Calibri"/>
                    <a:ea typeface="Calibri"/>
                    <a:cs typeface="Calibri"/>
                  </a:rPr>
                  <a:t>Перевірка</a:t>
                </a:r>
                <a:r>
                  <a:rPr lang="en-US" sz="2400" dirty="0">
                    <a:effectLst/>
                    <a:latin typeface="Calibri"/>
                    <a:ea typeface="Calibri"/>
                    <a:cs typeface="Calibri"/>
                  </a:rPr>
                  <a:t> </a:t>
                </a:r>
                <a:r>
                  <a:rPr lang="en-US" sz="2400" dirty="0" err="1">
                    <a:effectLst/>
                    <a:latin typeface="Calibri"/>
                    <a:ea typeface="Calibri"/>
                    <a:cs typeface="Calibri"/>
                  </a:rPr>
                  <a:t>підпису</a:t>
                </a:r>
                <a:r>
                  <a:rPr lang="en-US" sz="2400" dirty="0">
                    <a:effectLst/>
                    <a:latin typeface="Calibri"/>
                    <a:ea typeface="Calibri"/>
                    <a:cs typeface="Calibri"/>
                  </a:rPr>
                  <a:t>:</a:t>
                </a:r>
              </a:p>
              <a:p>
                <a:pPr marL="342900" marR="0" lvl="0" indent="-342900">
                  <a:spcAft>
                    <a:spcPts val="600"/>
                  </a:spcAft>
                  <a:buFont typeface="Symbol" panose="05050102010706020507" pitchFamily="18" charset="2"/>
                  <a:buChar char=""/>
                  <a:tabLst>
                    <a:tab pos="685800" algn="l"/>
                  </a:tabLst>
                </a:pPr>
                <a:r>
                  <a:rPr lang="en-US" sz="2400" dirty="0" err="1">
                    <a:effectLst/>
                    <a:latin typeface="Calibri"/>
                    <a:ea typeface="Calibri"/>
                    <a:cs typeface="Calibri"/>
                  </a:rPr>
                  <a:t>Якщо</a:t>
                </a:r>
                <a:r>
                  <a:rPr lang="en-US" sz="2400" dirty="0">
                    <a:effectLst/>
                    <a:latin typeface="Calibri"/>
                    <a:ea typeface="Calibri"/>
                    <a:cs typeface="Calibri"/>
                  </a:rPr>
                  <a:t> всі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400" i="1" smtClean="0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</m:ctrlPr>
                      </m:sSubSupPr>
                      <m:e>
                        <m:r>
                          <a:rPr lang="en-US" sz="2400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𝑦</m:t>
                        </m:r>
                      </m:e>
                      <m:sub>
                        <m:r>
                          <a:rPr lang="en-US" sz="2400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𝑖</m:t>
                        </m:r>
                      </m:sub>
                      <m:sup>
                        <m:r>
                          <a:rPr lang="en-US" sz="2400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′</m:t>
                        </m:r>
                      </m:sup>
                    </m:sSubSup>
                    <m:r>
                      <a:rPr lang="en-US" sz="2400">
                        <a:effectLst/>
                        <a:latin typeface="Cambria Math" panose="02040503050406030204" pitchFamily="18" charset="0"/>
                        <a:ea typeface="Calibri"/>
                        <a:cs typeface="Calibri"/>
                      </a:rPr>
                      <m:t>=</m:t>
                    </m:r>
                    <m:sSub>
                      <m:sSubPr>
                        <m:ctrlPr>
                          <a:rPr lang="en-US" sz="2400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</m:ctrlPr>
                      </m:sSubPr>
                      <m:e>
                        <m:r>
                          <a:rPr lang="en-US" sz="2400" i="1">
                            <a:effectLst/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𝑦</m:t>
                        </m:r>
                      </m:e>
                      <m:sub>
                        <m:sSub>
                          <m:sSubPr>
                            <m:ctrlPr>
                              <a:rPr lang="en-US" sz="2400" i="1">
                                <a:effectLst/>
                                <a:latin typeface="Cambria Math" panose="02040503050406030204" pitchFamily="18" charset="0"/>
                                <a:ea typeface="Calibri"/>
                                <a:cs typeface="Calibri"/>
                              </a:rPr>
                            </m:ctrlPr>
                          </m:sSubPr>
                          <m:e>
                            <m:r>
                              <a:rPr lang="en-US" sz="2400" i="1">
                                <a:effectLst/>
                                <a:latin typeface="Cambria Math" panose="02040503050406030204" pitchFamily="18" charset="0"/>
                                <a:ea typeface="Calibri"/>
                                <a:cs typeface="Calibri"/>
                              </a:rPr>
                              <m:t>𝑐</m:t>
                            </m:r>
                          </m:e>
                          <m:sub>
                            <m:r>
                              <a:rPr lang="en-US" sz="2400" i="1">
                                <a:effectLst/>
                                <a:latin typeface="Cambria Math" panose="02040503050406030204" pitchFamily="18" charset="0"/>
                                <a:ea typeface="Calibri"/>
                                <a:cs typeface="Calibri"/>
                              </a:rPr>
                              <m:t>𝑖</m:t>
                            </m:r>
                          </m:sub>
                        </m:sSub>
                      </m:sub>
                    </m:sSub>
                  </m:oMath>
                </a14:m>
                <a:r>
                  <a:rPr lang="en-US" sz="2400" dirty="0">
                    <a:effectLst/>
                    <a:latin typeface="Calibri"/>
                    <a:ea typeface="Calibri"/>
                    <a:cs typeface="Calibri"/>
                  </a:rPr>
                  <a:t>, підпис є дійсним.</a:t>
                </a:r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39466A9-DBCA-2D07-3CD1-90B07101DF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690688"/>
                <a:ext cx="11353800" cy="4128566"/>
              </a:xfrm>
              <a:prstGeom prst="rect">
                <a:avLst/>
              </a:prstGeom>
              <a:blipFill>
                <a:blip r:embed="rId2"/>
                <a:stretch>
                  <a:fillRect l="-894" t="-917" b="-612"/>
                </a:stretch>
              </a:blipFill>
            </p:spPr>
            <p:txBody>
              <a:bodyPr/>
              <a:lstStyle/>
              <a:p>
                <a:r>
                  <a:rPr lang="en-UA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6757475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91D819-3193-3D44-4671-C36FFB0BAC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9DF9557-8286-FB89-FA3C-064397BBC5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85240" y="366532"/>
            <a:ext cx="4668520" cy="1325563"/>
          </a:xfrm>
        </p:spPr>
        <p:txBody>
          <a:bodyPr/>
          <a:lstStyle/>
          <a:p>
            <a:pPr algn="ctr"/>
            <a:r>
              <a:rPr lang="en-US" dirty="0"/>
              <a:t>Дерева Меркла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FDAE6C2A-4253-C184-4C2B-A0878F6C8CFE}"/>
              </a:ext>
            </a:extLst>
          </p:cNvPr>
          <p:cNvSpPr>
            <a:spLocks noGrp="1" noChangeArrowheads="1"/>
          </p:cNvSpPr>
          <p:nvPr>
            <p:ph type="body" sz="quarter" idx="10"/>
          </p:nvPr>
        </p:nvSpPr>
        <p:spPr bwMode="auto">
          <a:xfrm>
            <a:off x="853439" y="1644580"/>
            <a:ext cx="6485823" cy="156785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normAutofit/>
          </a:bodyPr>
          <a:lstStyle/>
          <a:p>
            <a:pPr lv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2400" dirty="0"/>
              <a:t>Від OTS до багаторазових підписів</a:t>
            </a:r>
          </a:p>
          <a:p>
            <a:pPr lv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2400" dirty="0"/>
              <a:t>Деревоподібна </a:t>
            </a:r>
            <a:r>
              <a:rPr lang="en-US" sz="2400" dirty="0" err="1"/>
              <a:t>структура</a:t>
            </a:r>
            <a:r>
              <a:rPr lang="en-US" sz="2400" dirty="0"/>
              <a:t> </a:t>
            </a:r>
            <a:r>
              <a:rPr lang="en-US" sz="2400" dirty="0" err="1"/>
              <a:t>для</a:t>
            </a:r>
            <a:r>
              <a:rPr lang="en-US" sz="2400" dirty="0"/>
              <a:t> </a:t>
            </a:r>
            <a:r>
              <a:rPr lang="en-US" sz="2400" dirty="0" err="1"/>
              <a:t>багаторазових</a:t>
            </a:r>
            <a:r>
              <a:rPr lang="en-US" sz="2400" dirty="0"/>
              <a:t> </a:t>
            </a:r>
            <a:r>
              <a:rPr lang="en-US" sz="2400" dirty="0" err="1"/>
              <a:t>підписів</a:t>
            </a:r>
            <a:r>
              <a:rPr lang="en-US" sz="2400" dirty="0"/>
              <a:t>.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alibri"/>
            </a:endParaRPr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1B738430-D423-5DAF-BC83-7A416EC560AB}"/>
              </a:ext>
            </a:extLst>
          </p:cNvPr>
          <p:cNvSpPr>
            <a:spLocks noGrp="1" noChangeArrowheads="1"/>
          </p:cNvSpPr>
          <p:nvPr>
            <p:ph type="body" sz="quarter" idx="11"/>
          </p:nvPr>
        </p:nvSpPr>
        <p:spPr bwMode="auto">
          <a:xfrm>
            <a:off x="853439" y="3510389"/>
            <a:ext cx="4909687" cy="170303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normAutofit/>
          </a:bodyPr>
          <a:lstStyle/>
          <a:p>
            <a:pPr marR="0" lvl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/>
              </a:rPr>
              <a:t>Корінь = відкритий ключ.</a:t>
            </a:r>
          </a:p>
          <a:p>
            <a:pPr marR="0" lvl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/>
              </a:rPr>
              <a:t>Листя = відкриті ключі OTS.</a:t>
            </a:r>
          </a:p>
          <a:p>
            <a:pPr marR="0" lvl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/>
              </a:rPr>
              <a:t>Підпис включає шлях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Calibri"/>
              </a:rPr>
              <a:t>автентифікації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/>
              </a:rPr>
              <a:t>.</a:t>
            </a:r>
          </a:p>
        </p:txBody>
      </p:sp>
      <p:pic>
        <p:nvPicPr>
          <p:cNvPr id="6" name="Рисунок 3">
            <a:extLst>
              <a:ext uri="{FF2B5EF4-FFF2-40B4-BE49-F238E27FC236}">
                <a16:creationId xmlns:a16="http://schemas.microsoft.com/office/drawing/2014/main" id="{9189A7CC-F9F3-C316-B1C0-4C03DF766E5B}"/>
              </a:ext>
            </a:extLst>
          </p:cNvPr>
          <p:cNvPicPr/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89" r="6969"/>
          <a:stretch/>
        </p:blipFill>
        <p:spPr>
          <a:xfrm>
            <a:off x="6784709" y="1431757"/>
            <a:ext cx="4553852" cy="378166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225275879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A65349-52B9-F12D-4B3C-B7DADDDF72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3450157-90BD-6C55-83C1-3213955C68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XMSS^MT (</a:t>
            </a:r>
            <a:r>
              <a:rPr lang="uk-UA" dirty="0" err="1"/>
              <a:t>мультидерево</a:t>
            </a:r>
            <a:r>
              <a:rPr lang="en-US" dirty="0"/>
              <a:t>)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997AB262-19FA-F4E0-E3BA-BFE0F3441097}"/>
              </a:ext>
            </a:extLst>
          </p:cNvPr>
          <p:cNvSpPr>
            <a:spLocks noGrp="1" noChangeArrowheads="1"/>
          </p:cNvSpPr>
          <p:nvPr>
            <p:ph type="body" sz="quarter" idx="10"/>
          </p:nvPr>
        </p:nvSpPr>
        <p:spPr bwMode="auto">
          <a:xfrm>
            <a:off x="606425" y="2100352"/>
            <a:ext cx="6499972" cy="13255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normAutofit/>
          </a:bodyPr>
          <a:lstStyle/>
          <a:p>
            <a:pPr lv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2000" dirty="0"/>
              <a:t>Масштабування XMSS </a:t>
            </a:r>
          </a:p>
          <a:p>
            <a:pPr lv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2000" dirty="0"/>
              <a:t>Зменшення розмірів підписів та управління станом.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alibri"/>
            </a:endParaRPr>
          </a:p>
        </p:txBody>
      </p:sp>
      <p:sp>
        <p:nvSpPr>
          <p:cNvPr id="13" name="Rectangle 9">
            <a:extLst>
              <a:ext uri="{FF2B5EF4-FFF2-40B4-BE49-F238E27FC236}">
                <a16:creationId xmlns:a16="http://schemas.microsoft.com/office/drawing/2014/main" id="{3A6633B0-8F6B-0678-E0D7-16371126E482}"/>
              </a:ext>
            </a:extLst>
          </p:cNvPr>
          <p:cNvSpPr>
            <a:spLocks noGrp="1" noChangeArrowheads="1"/>
          </p:cNvSpPr>
          <p:nvPr>
            <p:ph type="body" sz="quarter" idx="11"/>
          </p:nvPr>
        </p:nvSpPr>
        <p:spPr bwMode="auto">
          <a:xfrm>
            <a:off x="606425" y="3429000"/>
            <a:ext cx="6499972" cy="173501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norm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2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/>
              </a:rPr>
              <a:t>Використовує багатодеревну конструкцію.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2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/>
              </a:rPr>
              <a:t>Менші шляхи автентифікації.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2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/>
              </a:rPr>
              <a:t>Краща продуктивність для великої кількості підписів.</a:t>
            </a:r>
          </a:p>
        </p:txBody>
      </p:sp>
      <p:pic>
        <p:nvPicPr>
          <p:cNvPr id="3083" name="Picture 11" descr="Hash-based signature revisited | Cybersecurity | Full Text">
            <a:extLst>
              <a:ext uri="{FF2B5EF4-FFF2-40B4-BE49-F238E27FC236}">
                <a16:creationId xmlns:a16="http://schemas.microsoft.com/office/drawing/2014/main" id="{67210A0D-7B95-26CB-6EBF-2B1D0036E36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06397" y="2168706"/>
            <a:ext cx="3990347" cy="34155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0549144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36D0A1-808E-9B4B-5DBD-9F629633B5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DB829B9-6F17-203F-A730-7062510089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SPHINCS+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3ACBA058-CF56-2AB4-3A90-E865D7AAAFF8}"/>
              </a:ext>
            </a:extLst>
          </p:cNvPr>
          <p:cNvSpPr>
            <a:spLocks noGrp="1" noChangeArrowheads="1"/>
          </p:cNvSpPr>
          <p:nvPr>
            <p:ph type="body" sz="quarter" idx="10"/>
          </p:nvPr>
        </p:nvSpPr>
        <p:spPr bwMode="auto">
          <a:xfrm>
            <a:off x="606424" y="2038567"/>
            <a:ext cx="6004441" cy="13255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normAutofit/>
          </a:bodyPr>
          <a:lstStyle/>
          <a:p>
            <a:pPr lv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2000" dirty="0"/>
              <a:t>Бездержавні підписи на основі хеш-функцій </a:t>
            </a:r>
          </a:p>
          <a:p>
            <a:pPr lv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2000" dirty="0"/>
              <a:t>Обрано стандартом NIST PQC (2022).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alibri"/>
            </a:endParaRPr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BA1F8180-8F2C-C373-31EE-9F0BEB4DDAB0}"/>
              </a:ext>
            </a:extLst>
          </p:cNvPr>
          <p:cNvSpPr>
            <a:spLocks noGrp="1" noChangeArrowheads="1"/>
          </p:cNvSpPr>
          <p:nvPr>
            <p:ph type="body" sz="quarter" idx="11"/>
          </p:nvPr>
        </p:nvSpPr>
        <p:spPr bwMode="auto">
          <a:xfrm>
            <a:off x="606425" y="3439404"/>
            <a:ext cx="7590155" cy="220413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normAutofit fontScale="85000" lnSpcReduction="10000"/>
          </a:bodyPr>
          <a:lstStyle/>
          <a:p>
            <a:pPr marR="0" lvl="0" indent="11113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/>
              </a:rPr>
              <a:t>Усуває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Calibri"/>
              </a:rPr>
              <a:t>залежність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/>
              </a:rPr>
              <a:t>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Calibri"/>
              </a:rPr>
              <a:t>від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/>
              </a:rPr>
              <a:t>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Calibri"/>
              </a:rPr>
              <a:t>стану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/>
              </a:rPr>
              <a:t> (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Calibri"/>
              </a:rPr>
              <a:t>немає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/>
              </a:rPr>
              <a:t>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Calibri"/>
              </a:rPr>
              <a:t>проблем</a:t>
            </a:r>
            <a:endParaRPr kumimoji="0" lang="uk-UA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alibri"/>
            </a:endParaRPr>
          </a:p>
          <a:p>
            <a:pPr marR="0" lvl="0" indent="11113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/>
              </a:rPr>
              <a:t>з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Calibri"/>
              </a:rPr>
              <a:t>повторним</a:t>
            </a:r>
            <a:r>
              <a:rPr kumimoji="0" lang="uk-UA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/>
              </a:rPr>
              <a:t>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Calibri"/>
              </a:rPr>
              <a:t>використанням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/>
              </a:rPr>
              <a:t> ключів).</a:t>
            </a:r>
          </a:p>
          <a:p>
            <a:pPr marR="0" lvl="0" indent="11113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/>
              </a:rPr>
              <a:t>Поєднує WOTS+, гіпердерева та схему FORS.</a:t>
            </a:r>
          </a:p>
          <a:p>
            <a:pPr marR="0" lvl="0" indent="11113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/>
              </a:rPr>
              <a:t>Безпека: базується виключно на хеш-функціях.</a:t>
            </a:r>
          </a:p>
          <a:p>
            <a:pPr marR="0" lvl="0" indent="11113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/>
              </a:rPr>
              <a:t>Фіналіст та обраний стандарт цифрового підпису 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/>
              </a:rPr>
              <a:t>NIST PQC.</a:t>
            </a:r>
          </a:p>
        </p:txBody>
      </p:sp>
      <p:pic>
        <p:nvPicPr>
          <p:cNvPr id="4100" name="Picture 4" descr="Hypertree structure used in SPHINCS: An illustration of stateless... |  Download Scientific Diagram">
            <a:extLst>
              <a:ext uri="{FF2B5EF4-FFF2-40B4-BE49-F238E27FC236}">
                <a16:creationId xmlns:a16="http://schemas.microsoft.com/office/drawing/2014/main" id="{A2F188CE-1E70-1426-D456-80CC00A4BDA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10865" y="2449500"/>
            <a:ext cx="4866306" cy="27251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5647317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9451B5-167D-27A6-4C3C-FDA5368891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73CF1E1-BF6E-8DCF-7666-EA9EA58F04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Міркування безпеки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A36E8616-9862-C1C6-CE27-72B16A4500EE}"/>
              </a:ext>
            </a:extLst>
          </p:cNvPr>
          <p:cNvSpPr>
            <a:spLocks noGrp="1" noChangeArrowheads="1"/>
          </p:cNvSpPr>
          <p:nvPr>
            <p:ph type="body" sz="quarter" idx="10"/>
          </p:nvPr>
        </p:nvSpPr>
        <p:spPr bwMode="auto">
          <a:xfrm>
            <a:off x="687704" y="1741544"/>
            <a:ext cx="6269149" cy="96346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normAutofit/>
          </a:bodyPr>
          <a:lstStyle/>
          <a:p>
            <a:pPr lv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2000" dirty="0"/>
              <a:t>Залежить тільки від безпеки хеш-функції.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alibri"/>
            </a:endParaRPr>
          </a:p>
        </p:txBody>
      </p:sp>
      <p:sp>
        <p:nvSpPr>
          <p:cNvPr id="6" name="Rectangle 2">
            <a:extLst>
              <a:ext uri="{FF2B5EF4-FFF2-40B4-BE49-F238E27FC236}">
                <a16:creationId xmlns:a16="http://schemas.microsoft.com/office/drawing/2014/main" id="{6C076AFA-DF74-5500-8531-4D2AECEEB52D}"/>
              </a:ext>
            </a:extLst>
          </p:cNvPr>
          <p:cNvSpPr>
            <a:spLocks noGrp="1" noChangeArrowheads="1"/>
          </p:cNvSpPr>
          <p:nvPr>
            <p:ph type="body" sz="quarter" idx="11"/>
          </p:nvPr>
        </p:nvSpPr>
        <p:spPr bwMode="auto">
          <a:xfrm>
            <a:off x="687704" y="3429000"/>
            <a:ext cx="8394511" cy="192790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norm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/>
              </a:rPr>
              <a:t>Стійкість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Calibri"/>
              </a:rPr>
              <a:t>до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/>
              </a:rPr>
              <a:t> </a:t>
            </a:r>
            <a:r>
              <a:rPr kumimoji="0" lang="uk-UA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/>
              </a:rPr>
              <a:t>перетворення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/>
              </a:rPr>
              <a:t>Стійкість до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Calibri"/>
              </a:rPr>
              <a:t>другого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/>
              </a:rPr>
              <a:t> </a:t>
            </a:r>
            <a:r>
              <a:rPr kumimoji="0" lang="uk-UA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/>
              </a:rPr>
              <a:t>перетворення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/>
              </a:rPr>
              <a:t>Стійкість до колізій.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/>
              </a:rPr>
              <a:t>Алгоритм Гровера: знижує бітову безпеку (наприклад, 256 → 128).</a:t>
            </a:r>
          </a:p>
        </p:txBody>
      </p:sp>
      <p:pic>
        <p:nvPicPr>
          <p:cNvPr id="5124" name="Picture 4" descr="Cloud Security Considerations for General Industry – Co-ops + Careers |  Wentworth Institute of Technology">
            <a:extLst>
              <a:ext uri="{FF2B5EF4-FFF2-40B4-BE49-F238E27FC236}">
                <a16:creationId xmlns:a16="http://schemas.microsoft.com/office/drawing/2014/main" id="{7B21D90E-9D94-D5E1-9786-13661DEEA0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46162" y="1849650"/>
            <a:ext cx="4572000" cy="274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8108302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1" name="suppress_None"/>
          <p:cNvSpPr>
            <a:spLocks noGrp="1"/>
          </p:cNvSpPr>
          <p:nvPr>
            <p:ph type="title"/>
          </p:nvPr>
        </p:nvSpPr>
        <p:spPr>
          <a:xfrm>
            <a:off x="-10000000" y="-10000000"/>
            <a:ext cx="100" cy="100"/>
          </a:xfrm>
        </p:spPr>
        <p:txBody>
          <a:bodyPr wrap="none">
            <a:normAutofit fontScale="90000"/>
          </a:bodyPr>
          <a:lstStyle/>
          <a:p>
            <a:endParaRPr/>
          </a:p>
        </p:txBody>
      </p:sp>
      <p:sp>
        <p:nvSpPr>
          <p:cNvPr id="705" name="Заголовок 1">
            <a:extLst>
              <a:ext uri="{FF2B5EF4-FFF2-40B4-BE49-F238E27FC236}">
                <a16:creationId xmlns:a16="http://schemas.microsoft.com/office/drawing/2014/main" id="{1B6E16CF-568A-DB52-A3EB-6D4FADCDD95D}"/>
              </a:ext>
            </a:extLst>
          </p:cNvPr>
          <p:cNvSpPr>
            <a:spLocks noGrp="1"/>
          </p:cNvSpPr>
          <p:nvPr/>
        </p:nvSpPr>
        <p:spPr/>
        <p:txBody>
          <a:bodyPr/>
          <a:lstStyle/>
          <a:p>
            <a:r>
              <a:rPr lang="en-US" sz="3200" dirty="0"/>
              <a:t>Хронологія hash-based підписів</a:t>
            </a:r>
          </a:p>
          <a:p>
            <a:endParaRPr lang="uk-UA" dirty="0"/>
          </a:p>
        </p:txBody>
      </p:sp>
      <p:sp>
        <p:nvSpPr>
          <p:cNvPr id="706" name="Rounded Rectangle 705"/>
          <p:cNvSpPr/>
          <p:nvPr/>
        </p:nvSpPr>
        <p:spPr>
          <a:xfrm>
            <a:off x="600000" y="1400000"/>
            <a:ext cx="1540333" cy="1500000"/>
          </a:xfrm>
          <a:prstGeom prst="roundRect">
            <a:avLst/>
          </a:prstGeom>
          <a:solidFill>
            <a:srgbClr val="4472C4"/>
          </a:solidFill>
          <a:ln>
            <a:solidFill>
              <a:srgbClr val="4472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0000" tIns="100000" rIns="80000" bIns="100000" rtlCol="0" anchor="ctr"/>
          <a:lstStyle/>
          <a:p>
            <a:pPr algn="ctr"/>
            <a:r>
              <a:rPr sz="2000" b="1">
                <a:solidFill>
                  <a:srgbClr val="FFFFFF"/>
                </a:solidFill>
              </a:rPr>
              <a:t>1979</a:t>
            </a:r>
          </a:p>
          <a:p>
            <a:pPr algn="ctr"/>
            <a:r>
              <a:rPr sz="1600">
                <a:solidFill>
                  <a:srgbClr val="E8EEF9"/>
                </a:solidFill>
              </a:rPr>
              <a:t>Lamport OTS
Merkle tree</a:t>
            </a:r>
          </a:p>
        </p:txBody>
      </p:sp>
      <p:sp>
        <p:nvSpPr>
          <p:cNvPr id="707" name="Right Arrow 706"/>
          <p:cNvSpPr/>
          <p:nvPr/>
        </p:nvSpPr>
        <p:spPr>
          <a:xfrm>
            <a:off x="2140333" y="2000000"/>
            <a:ext cx="350000" cy="300000"/>
          </a:xfrm>
          <a:prstGeom prst="rightArrow">
            <a:avLst/>
          </a:prstGeom>
          <a:solidFill>
            <a:srgbClr val="9BB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8" name="Rounded Rectangle 707"/>
          <p:cNvSpPr/>
          <p:nvPr/>
        </p:nvSpPr>
        <p:spPr>
          <a:xfrm>
            <a:off x="2490333" y="1400000"/>
            <a:ext cx="1540333" cy="1500000"/>
          </a:xfrm>
          <a:prstGeom prst="roundRect">
            <a:avLst/>
          </a:prstGeom>
          <a:solidFill>
            <a:srgbClr val="4472C4"/>
          </a:solidFill>
          <a:ln>
            <a:solidFill>
              <a:srgbClr val="4472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0000" tIns="100000" rIns="80000" bIns="100000" rtlCol="0" anchor="ctr"/>
          <a:lstStyle/>
          <a:p>
            <a:pPr algn="ctr"/>
            <a:r>
              <a:rPr sz="2000" b="1">
                <a:solidFill>
                  <a:srgbClr val="FFFFFF"/>
                </a:solidFill>
              </a:rPr>
              <a:t>1989</a:t>
            </a:r>
          </a:p>
          <a:p>
            <a:pPr algn="ctr"/>
            <a:r>
              <a:rPr sz="1600">
                <a:solidFill>
                  <a:srgbClr val="E8EEF9"/>
                </a:solidFill>
              </a:rPr>
              <a:t>Winternitz
W-OTS</a:t>
            </a:r>
          </a:p>
        </p:txBody>
      </p:sp>
      <p:sp>
        <p:nvSpPr>
          <p:cNvPr id="709" name="Right Arrow 708"/>
          <p:cNvSpPr/>
          <p:nvPr/>
        </p:nvSpPr>
        <p:spPr>
          <a:xfrm>
            <a:off x="4030666" y="2000000"/>
            <a:ext cx="350000" cy="300000"/>
          </a:xfrm>
          <a:prstGeom prst="rightArrow">
            <a:avLst/>
          </a:prstGeom>
          <a:solidFill>
            <a:srgbClr val="9BB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0" name="Rounded Rectangle 709"/>
          <p:cNvSpPr/>
          <p:nvPr/>
        </p:nvSpPr>
        <p:spPr>
          <a:xfrm>
            <a:off x="4380666" y="1400000"/>
            <a:ext cx="1540333" cy="1500000"/>
          </a:xfrm>
          <a:prstGeom prst="roundRect">
            <a:avLst/>
          </a:prstGeom>
          <a:solidFill>
            <a:srgbClr val="4472C4"/>
          </a:solidFill>
          <a:ln>
            <a:solidFill>
              <a:srgbClr val="4472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0000" tIns="100000" rIns="80000" bIns="100000" rtlCol="0" anchor="ctr"/>
          <a:lstStyle/>
          <a:p>
            <a:pPr algn="ctr"/>
            <a:r>
              <a:rPr sz="2000" b="1">
                <a:solidFill>
                  <a:srgbClr val="FFFFFF"/>
                </a:solidFill>
              </a:rPr>
              <a:t>2011</a:t>
            </a:r>
          </a:p>
          <a:p>
            <a:pPr algn="ctr"/>
            <a:r>
              <a:rPr sz="1600">
                <a:solidFill>
                  <a:srgbClr val="E8EEF9"/>
                </a:solidFill>
              </a:rPr>
              <a:t>XMSS
(Hülsing)</a:t>
            </a:r>
          </a:p>
        </p:txBody>
      </p:sp>
      <p:sp>
        <p:nvSpPr>
          <p:cNvPr id="711" name="Right Arrow 710"/>
          <p:cNvSpPr/>
          <p:nvPr/>
        </p:nvSpPr>
        <p:spPr>
          <a:xfrm>
            <a:off x="5920999" y="2000000"/>
            <a:ext cx="350000" cy="300000"/>
          </a:xfrm>
          <a:prstGeom prst="rightArrow">
            <a:avLst/>
          </a:prstGeom>
          <a:solidFill>
            <a:srgbClr val="9BB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2" name="Rounded Rectangle 711"/>
          <p:cNvSpPr/>
          <p:nvPr/>
        </p:nvSpPr>
        <p:spPr>
          <a:xfrm>
            <a:off x="6270999" y="1400000"/>
            <a:ext cx="1540333" cy="1500000"/>
          </a:xfrm>
          <a:prstGeom prst="roundRect">
            <a:avLst/>
          </a:prstGeom>
          <a:solidFill>
            <a:srgbClr val="4472C4"/>
          </a:solidFill>
          <a:ln>
            <a:solidFill>
              <a:srgbClr val="4472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0000" tIns="100000" rIns="80000" bIns="100000" rtlCol="0" anchor="ctr"/>
          <a:lstStyle/>
          <a:p>
            <a:pPr algn="ctr"/>
            <a:r>
              <a:rPr sz="2000" b="1">
                <a:solidFill>
                  <a:srgbClr val="FFFFFF"/>
                </a:solidFill>
              </a:rPr>
              <a:t>2015</a:t>
            </a:r>
          </a:p>
          <a:p>
            <a:pPr algn="ctr"/>
            <a:r>
              <a:rPr sz="1600">
                <a:solidFill>
                  <a:srgbClr val="E8EEF9"/>
                </a:solidFill>
              </a:rPr>
              <a:t>SPHINCS
(stateless)</a:t>
            </a:r>
          </a:p>
        </p:txBody>
      </p:sp>
      <p:sp>
        <p:nvSpPr>
          <p:cNvPr id="713" name="Right Arrow 712"/>
          <p:cNvSpPr/>
          <p:nvPr/>
        </p:nvSpPr>
        <p:spPr>
          <a:xfrm>
            <a:off x="7811332" y="2000000"/>
            <a:ext cx="350000" cy="300000"/>
          </a:xfrm>
          <a:prstGeom prst="rightArrow">
            <a:avLst/>
          </a:prstGeom>
          <a:solidFill>
            <a:srgbClr val="9BB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4" name="Rounded Rectangle 713"/>
          <p:cNvSpPr/>
          <p:nvPr/>
        </p:nvSpPr>
        <p:spPr>
          <a:xfrm>
            <a:off x="8161332" y="1400000"/>
            <a:ext cx="1540333" cy="1500000"/>
          </a:xfrm>
          <a:prstGeom prst="roundRect">
            <a:avLst/>
          </a:prstGeom>
          <a:solidFill>
            <a:srgbClr val="4472C4"/>
          </a:solidFill>
          <a:ln>
            <a:solidFill>
              <a:srgbClr val="4472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0000" tIns="100000" rIns="80000" bIns="100000" rtlCol="0" anchor="ctr"/>
          <a:lstStyle/>
          <a:p>
            <a:pPr algn="ctr"/>
            <a:r>
              <a:rPr sz="2000" b="1">
                <a:solidFill>
                  <a:srgbClr val="FFFFFF"/>
                </a:solidFill>
              </a:rPr>
              <a:t>2018</a:t>
            </a:r>
          </a:p>
          <a:p>
            <a:pPr algn="ctr"/>
            <a:r>
              <a:rPr sz="1600">
                <a:solidFill>
                  <a:srgbClr val="E8EEF9"/>
                </a:solidFill>
              </a:rPr>
              <a:t>RFC 8391
XMSS std</a:t>
            </a:r>
          </a:p>
        </p:txBody>
      </p:sp>
      <p:sp>
        <p:nvSpPr>
          <p:cNvPr id="715" name="Right Arrow 714"/>
          <p:cNvSpPr/>
          <p:nvPr/>
        </p:nvSpPr>
        <p:spPr>
          <a:xfrm>
            <a:off x="9701665" y="2000000"/>
            <a:ext cx="350000" cy="300000"/>
          </a:xfrm>
          <a:prstGeom prst="rightArrow">
            <a:avLst/>
          </a:prstGeom>
          <a:solidFill>
            <a:srgbClr val="9BB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6" name="Rounded Rectangle 715"/>
          <p:cNvSpPr/>
          <p:nvPr/>
        </p:nvSpPr>
        <p:spPr>
          <a:xfrm>
            <a:off x="10051665" y="1400000"/>
            <a:ext cx="1540333" cy="1500000"/>
          </a:xfrm>
          <a:prstGeom prst="roundRect">
            <a:avLst/>
          </a:prstGeom>
          <a:solidFill>
            <a:srgbClr val="4472C4"/>
          </a:solidFill>
          <a:ln>
            <a:solidFill>
              <a:srgbClr val="4472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0000" tIns="100000" rIns="80000" bIns="100000" rtlCol="0" anchor="ctr"/>
          <a:lstStyle/>
          <a:p>
            <a:pPr algn="ctr"/>
            <a:r>
              <a:rPr sz="2000" b="1">
                <a:solidFill>
                  <a:srgbClr val="FFFFFF"/>
                </a:solidFill>
              </a:rPr>
              <a:t>2024</a:t>
            </a:r>
          </a:p>
          <a:p>
            <a:pPr algn="ctr"/>
            <a:r>
              <a:rPr sz="1600">
                <a:solidFill>
                  <a:srgbClr val="E8EEF9"/>
                </a:solidFill>
              </a:rPr>
              <a:t>FIPS 205
SLH-DSA</a:t>
            </a:r>
          </a:p>
        </p:txBody>
      </p:sp>
      <p:sp>
        <p:nvSpPr>
          <p:cNvPr id="717" name="TextBox 716"/>
          <p:cNvSpPr txBox="1"/>
          <p:nvPr/>
        </p:nvSpPr>
        <p:spPr>
          <a:xfrm>
            <a:off x="600000" y="3150000"/>
            <a:ext cx="10992000" cy="6000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800" i="1">
                <a:solidFill>
                  <a:srgbClr val="445577"/>
                </a:solidFill>
              </a:rPr>
              <a:t>45 років еволюції від OTS Лампорта до офіційного NIST-стандарту 2024 року</a:t>
            </a:r>
          </a:p>
        </p:txBody>
      </p:sp>
      <p:sp>
        <p:nvSpPr>
          <p:cNvPr id="718" name="Rectangle 717"/>
          <p:cNvSpPr/>
          <p:nvPr/>
        </p:nvSpPr>
        <p:spPr>
          <a:xfrm>
            <a:off x="600000" y="3850000"/>
            <a:ext cx="10992000" cy="2155384"/>
          </a:xfrm>
          <a:prstGeom prst="rect">
            <a:avLst/>
          </a:prstGeom>
          <a:solidFill>
            <a:srgbClr val="F2F5FB"/>
          </a:solidFill>
          <a:ln>
            <a:solidFill>
              <a:srgbClr val="CDD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0000" tIns="150000" rIns="250000" bIns="150000" rtlCol="0" anchor="ctr"/>
          <a:lstStyle/>
          <a:p>
            <a:pPr>
              <a:lnSpc>
                <a:spcPct val="150000"/>
              </a:lnSpc>
            </a:pPr>
            <a:r>
              <a:rPr sz="2000" dirty="0">
                <a:solidFill>
                  <a:srgbClr val="222233"/>
                </a:solidFill>
              </a:rPr>
              <a:t>•  1979: </a:t>
            </a:r>
            <a:r>
              <a:rPr sz="2000" dirty="0" err="1">
                <a:solidFill>
                  <a:srgbClr val="222233"/>
                </a:solidFill>
              </a:rPr>
              <a:t>Лампорт</a:t>
            </a:r>
            <a:r>
              <a:rPr sz="2000" dirty="0">
                <a:solidFill>
                  <a:srgbClr val="222233"/>
                </a:solidFill>
              </a:rPr>
              <a:t> </a:t>
            </a:r>
            <a:r>
              <a:rPr sz="2000" dirty="0" err="1">
                <a:solidFill>
                  <a:srgbClr val="222233"/>
                </a:solidFill>
              </a:rPr>
              <a:t>і</a:t>
            </a:r>
            <a:r>
              <a:rPr sz="2000" dirty="0">
                <a:solidFill>
                  <a:srgbClr val="222233"/>
                </a:solidFill>
              </a:rPr>
              <a:t> </a:t>
            </a:r>
            <a:r>
              <a:rPr sz="2000" dirty="0" err="1">
                <a:solidFill>
                  <a:srgbClr val="222233"/>
                </a:solidFill>
              </a:rPr>
              <a:t>Меркл</a:t>
            </a:r>
            <a:r>
              <a:rPr sz="2000" dirty="0">
                <a:solidFill>
                  <a:srgbClr val="222233"/>
                </a:solidFill>
              </a:rPr>
              <a:t> </a:t>
            </a:r>
            <a:r>
              <a:rPr sz="2000" dirty="0" err="1">
                <a:solidFill>
                  <a:srgbClr val="222233"/>
                </a:solidFill>
              </a:rPr>
              <a:t>одночасно</a:t>
            </a:r>
            <a:r>
              <a:rPr sz="2000" dirty="0">
                <a:solidFill>
                  <a:srgbClr val="222233"/>
                </a:solidFill>
              </a:rPr>
              <a:t> </a:t>
            </a:r>
            <a:r>
              <a:rPr sz="2000" dirty="0" err="1">
                <a:solidFill>
                  <a:srgbClr val="222233"/>
                </a:solidFill>
              </a:rPr>
              <a:t>публікують</a:t>
            </a:r>
            <a:r>
              <a:rPr sz="2000" dirty="0">
                <a:solidFill>
                  <a:srgbClr val="222233"/>
                </a:solidFill>
              </a:rPr>
              <a:t> </a:t>
            </a:r>
            <a:r>
              <a:rPr sz="2000" dirty="0" err="1">
                <a:solidFill>
                  <a:srgbClr val="222233"/>
                </a:solidFill>
              </a:rPr>
              <a:t>перші</a:t>
            </a:r>
            <a:r>
              <a:rPr sz="2000" dirty="0">
                <a:solidFill>
                  <a:srgbClr val="222233"/>
                </a:solidFill>
              </a:rPr>
              <a:t> </a:t>
            </a:r>
            <a:r>
              <a:rPr sz="2000" dirty="0" err="1">
                <a:solidFill>
                  <a:srgbClr val="222233"/>
                </a:solidFill>
              </a:rPr>
              <a:t>схеми</a:t>
            </a:r>
            <a:endParaRPr sz="2000" dirty="0">
              <a:solidFill>
                <a:srgbClr val="222233"/>
              </a:solidFill>
            </a:endParaRPr>
          </a:p>
          <a:p>
            <a:pPr>
              <a:lnSpc>
                <a:spcPct val="150000"/>
              </a:lnSpc>
            </a:pPr>
            <a:r>
              <a:rPr sz="2000" dirty="0">
                <a:solidFill>
                  <a:srgbClr val="222233"/>
                </a:solidFill>
              </a:rPr>
              <a:t>•  2011: XMSS </a:t>
            </a:r>
            <a:r>
              <a:rPr sz="2000" dirty="0" err="1">
                <a:solidFill>
                  <a:srgbClr val="222233"/>
                </a:solidFill>
              </a:rPr>
              <a:t>приносить</a:t>
            </a:r>
            <a:r>
              <a:rPr sz="2000" dirty="0">
                <a:solidFill>
                  <a:srgbClr val="222233"/>
                </a:solidFill>
              </a:rPr>
              <a:t> formal security proofs </a:t>
            </a:r>
            <a:r>
              <a:rPr sz="2000" dirty="0" err="1">
                <a:solidFill>
                  <a:srgbClr val="222233"/>
                </a:solidFill>
              </a:rPr>
              <a:t>та</a:t>
            </a:r>
            <a:r>
              <a:rPr sz="2000" dirty="0">
                <a:solidFill>
                  <a:srgbClr val="222233"/>
                </a:solidFill>
              </a:rPr>
              <a:t> bitmasks</a:t>
            </a:r>
          </a:p>
          <a:p>
            <a:pPr>
              <a:lnSpc>
                <a:spcPct val="150000"/>
              </a:lnSpc>
            </a:pPr>
            <a:r>
              <a:rPr sz="2000" dirty="0">
                <a:solidFill>
                  <a:srgbClr val="222233"/>
                </a:solidFill>
              </a:rPr>
              <a:t>•  2015: SPHINCS </a:t>
            </a:r>
            <a:r>
              <a:rPr sz="2000" dirty="0" err="1">
                <a:solidFill>
                  <a:srgbClr val="222233"/>
                </a:solidFill>
              </a:rPr>
              <a:t>усуває</a:t>
            </a:r>
            <a:r>
              <a:rPr sz="2000" dirty="0">
                <a:solidFill>
                  <a:srgbClr val="222233"/>
                </a:solidFill>
              </a:rPr>
              <a:t> </a:t>
            </a:r>
            <a:r>
              <a:rPr sz="2000" dirty="0" err="1">
                <a:solidFill>
                  <a:srgbClr val="222233"/>
                </a:solidFill>
              </a:rPr>
              <a:t>проблему</a:t>
            </a:r>
            <a:r>
              <a:rPr sz="2000" dirty="0">
                <a:solidFill>
                  <a:srgbClr val="222233"/>
                </a:solidFill>
              </a:rPr>
              <a:t> </a:t>
            </a:r>
            <a:r>
              <a:rPr sz="2000" dirty="0" err="1">
                <a:solidFill>
                  <a:srgbClr val="222233"/>
                </a:solidFill>
              </a:rPr>
              <a:t>стейту</a:t>
            </a:r>
            <a:r>
              <a:rPr sz="2000" dirty="0">
                <a:solidFill>
                  <a:srgbClr val="222233"/>
                </a:solidFill>
              </a:rPr>
              <a:t> (stateless)</a:t>
            </a:r>
          </a:p>
          <a:p>
            <a:pPr>
              <a:lnSpc>
                <a:spcPct val="150000"/>
              </a:lnSpc>
            </a:pPr>
            <a:r>
              <a:rPr sz="2000" dirty="0">
                <a:solidFill>
                  <a:srgbClr val="222233"/>
                </a:solidFill>
              </a:rPr>
              <a:t>•  2024: FIPS 205 (SLH-DSA) - </a:t>
            </a:r>
            <a:r>
              <a:rPr sz="2000" dirty="0" err="1">
                <a:solidFill>
                  <a:srgbClr val="222233"/>
                </a:solidFill>
              </a:rPr>
              <a:t>третій</a:t>
            </a:r>
            <a:r>
              <a:rPr sz="2000" dirty="0">
                <a:solidFill>
                  <a:srgbClr val="222233"/>
                </a:solidFill>
              </a:rPr>
              <a:t> NIST PQC-</a:t>
            </a:r>
            <a:r>
              <a:rPr sz="2000" dirty="0" err="1">
                <a:solidFill>
                  <a:srgbClr val="222233"/>
                </a:solidFill>
              </a:rPr>
              <a:t>стандарт</a:t>
            </a:r>
            <a:endParaRPr sz="2000" dirty="0">
              <a:solidFill>
                <a:srgbClr val="222233"/>
              </a:solidFill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6" name="suppress_None"/>
          <p:cNvSpPr>
            <a:spLocks noGrp="1"/>
          </p:cNvSpPr>
          <p:nvPr>
            <p:ph type="title"/>
          </p:nvPr>
        </p:nvSpPr>
        <p:spPr>
          <a:xfrm>
            <a:off x="-10000000" y="-10000000"/>
            <a:ext cx="100" cy="100"/>
          </a:xfrm>
        </p:spPr>
        <p:txBody>
          <a:bodyPr wrap="none">
            <a:normAutofit fontScale="90000"/>
          </a:bodyPr>
          <a:lstStyle/>
          <a:p>
            <a:endParaRPr/>
          </a:p>
        </p:txBody>
      </p:sp>
      <p:sp>
        <p:nvSpPr>
          <p:cNvPr id="710" name="Заголовок 1">
            <a:extLst>
              <a:ext uri="{FF2B5EF4-FFF2-40B4-BE49-F238E27FC236}">
                <a16:creationId xmlns:a16="http://schemas.microsoft.com/office/drawing/2014/main" id="{1B6E16CF-568A-DB52-A3EB-6D4FADCDD95D}"/>
              </a:ext>
            </a:extLst>
          </p:cNvPr>
          <p:cNvSpPr>
            <a:spLocks noGrp="1"/>
          </p:cNvSpPr>
          <p:nvPr/>
        </p:nvSpPr>
        <p:spPr/>
        <p:txBody>
          <a:bodyPr/>
          <a:lstStyle/>
          <a:p>
            <a:r>
              <a:rPr lang="en-US" sz="3200" dirty="0"/>
              <a:t>Lamport OTS vs WOTS+</a:t>
            </a:r>
          </a:p>
          <a:p>
            <a:endParaRPr lang="uk-UA" dirty="0"/>
          </a:p>
        </p:txBody>
      </p:sp>
      <p:sp>
        <p:nvSpPr>
          <p:cNvPr id="711" name="Rounded Rectangle 710"/>
          <p:cNvSpPr/>
          <p:nvPr/>
        </p:nvSpPr>
        <p:spPr>
          <a:xfrm>
            <a:off x="700000" y="1114073"/>
            <a:ext cx="5246000" cy="750000"/>
          </a:xfrm>
          <a:prstGeom prst="roundRect">
            <a:avLst/>
          </a:prstGeom>
          <a:solidFill>
            <a:srgbClr val="C0504D"/>
          </a:solidFill>
          <a:ln>
            <a:solidFill>
              <a:srgbClr val="C050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400" b="1">
                <a:solidFill>
                  <a:srgbClr val="FFFFFF"/>
                </a:solidFill>
              </a:rPr>
              <a:t>Lamport (1979)</a:t>
            </a:r>
          </a:p>
        </p:txBody>
      </p:sp>
      <p:sp>
        <p:nvSpPr>
          <p:cNvPr id="712" name="Rectangle 711"/>
          <p:cNvSpPr/>
          <p:nvPr/>
        </p:nvSpPr>
        <p:spPr>
          <a:xfrm>
            <a:off x="700000" y="1964073"/>
            <a:ext cx="5246000" cy="4050000"/>
          </a:xfrm>
          <a:prstGeom prst="rect">
            <a:avLst/>
          </a:prstGeom>
          <a:solidFill>
            <a:srgbClr val="F7F9FD"/>
          </a:solidFill>
          <a:ln>
            <a:solidFill>
              <a:srgbClr val="CDD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0000" tIns="200000" rIns="200000" bIns="200000" rtlCol="0" anchor="ctr"/>
          <a:lstStyle/>
          <a:p>
            <a:pPr>
              <a:spcAft>
                <a:spcPts val="800"/>
              </a:spcAft>
            </a:pPr>
            <a:r>
              <a:rPr sz="2400" dirty="0">
                <a:solidFill>
                  <a:srgbClr val="222233"/>
                </a:solidFill>
              </a:rPr>
              <a:t>•  </a:t>
            </a:r>
            <a:r>
              <a:rPr sz="2400" dirty="0" err="1">
                <a:solidFill>
                  <a:srgbClr val="222233"/>
                </a:solidFill>
              </a:rPr>
              <a:t>Підпис</a:t>
            </a:r>
            <a:r>
              <a:rPr sz="2400" dirty="0">
                <a:solidFill>
                  <a:srgbClr val="222233"/>
                </a:solidFill>
              </a:rPr>
              <a:t> </a:t>
            </a:r>
            <a:r>
              <a:rPr sz="2400" dirty="0" err="1">
                <a:solidFill>
                  <a:srgbClr val="222233"/>
                </a:solidFill>
              </a:rPr>
              <a:t>кожного</a:t>
            </a:r>
            <a:r>
              <a:rPr sz="2400" dirty="0">
                <a:solidFill>
                  <a:srgbClr val="222233"/>
                </a:solidFill>
              </a:rPr>
              <a:t> </a:t>
            </a:r>
            <a:r>
              <a:rPr sz="2400" dirty="0" err="1">
                <a:solidFill>
                  <a:srgbClr val="222233"/>
                </a:solidFill>
              </a:rPr>
              <a:t>біта</a:t>
            </a:r>
            <a:r>
              <a:rPr sz="2400" dirty="0">
                <a:solidFill>
                  <a:srgbClr val="222233"/>
                </a:solidFill>
              </a:rPr>
              <a:t> </a:t>
            </a:r>
            <a:r>
              <a:rPr sz="2400" dirty="0" err="1">
                <a:solidFill>
                  <a:srgbClr val="222233"/>
                </a:solidFill>
              </a:rPr>
              <a:t>окремо</a:t>
            </a:r>
            <a:endParaRPr sz="2400" dirty="0">
              <a:solidFill>
                <a:srgbClr val="222233"/>
              </a:solidFill>
            </a:endParaRPr>
          </a:p>
          <a:p>
            <a:pPr>
              <a:spcAft>
                <a:spcPts val="800"/>
              </a:spcAft>
            </a:pPr>
            <a:r>
              <a:rPr sz="2400" dirty="0">
                <a:solidFill>
                  <a:srgbClr val="222233"/>
                </a:solidFill>
              </a:rPr>
              <a:t>•  PK = 2·n </a:t>
            </a:r>
            <a:r>
              <a:rPr sz="2400" dirty="0" err="1">
                <a:solidFill>
                  <a:srgbClr val="222233"/>
                </a:solidFill>
              </a:rPr>
              <a:t>значень</a:t>
            </a:r>
            <a:r>
              <a:rPr sz="2400" dirty="0">
                <a:solidFill>
                  <a:srgbClr val="222233"/>
                </a:solidFill>
              </a:rPr>
              <a:t> H(</a:t>
            </a:r>
            <a:r>
              <a:rPr sz="2400" dirty="0" err="1">
                <a:solidFill>
                  <a:srgbClr val="222233"/>
                </a:solidFill>
              </a:rPr>
              <a:t>sk</a:t>
            </a:r>
            <a:r>
              <a:rPr sz="2400" dirty="0">
                <a:solidFill>
                  <a:srgbClr val="222233"/>
                </a:solidFill>
              </a:rPr>
              <a:t>)</a:t>
            </a:r>
          </a:p>
          <a:p>
            <a:pPr>
              <a:spcAft>
                <a:spcPts val="800"/>
              </a:spcAft>
            </a:pPr>
            <a:r>
              <a:rPr sz="2400" dirty="0">
                <a:solidFill>
                  <a:srgbClr val="222233"/>
                </a:solidFill>
              </a:rPr>
              <a:t>•  </a:t>
            </a:r>
            <a:r>
              <a:rPr sz="2400" dirty="0" err="1">
                <a:solidFill>
                  <a:srgbClr val="222233"/>
                </a:solidFill>
              </a:rPr>
              <a:t>σ</a:t>
            </a:r>
            <a:r>
              <a:rPr sz="2400" dirty="0">
                <a:solidFill>
                  <a:srgbClr val="222233"/>
                </a:solidFill>
              </a:rPr>
              <a:t> = n </a:t>
            </a:r>
            <a:r>
              <a:rPr sz="2400" dirty="0" err="1">
                <a:solidFill>
                  <a:srgbClr val="222233"/>
                </a:solidFill>
              </a:rPr>
              <a:t>значень</a:t>
            </a:r>
            <a:r>
              <a:rPr sz="2400" dirty="0">
                <a:solidFill>
                  <a:srgbClr val="222233"/>
                </a:solidFill>
              </a:rPr>
              <a:t> </a:t>
            </a:r>
            <a:r>
              <a:rPr sz="2400" dirty="0" err="1">
                <a:solidFill>
                  <a:srgbClr val="222233"/>
                </a:solidFill>
              </a:rPr>
              <a:t>sk</a:t>
            </a:r>
            <a:r>
              <a:rPr sz="2400" dirty="0">
                <a:solidFill>
                  <a:srgbClr val="222233"/>
                </a:solidFill>
              </a:rPr>
              <a:t>_{</a:t>
            </a:r>
            <a:r>
              <a:rPr sz="2400" dirty="0" err="1">
                <a:solidFill>
                  <a:srgbClr val="222233"/>
                </a:solidFill>
              </a:rPr>
              <a:t>i</a:t>
            </a:r>
            <a:r>
              <a:rPr sz="2400" dirty="0">
                <a:solidFill>
                  <a:srgbClr val="222233"/>
                </a:solidFill>
              </a:rPr>
              <a:t>, </a:t>
            </a:r>
            <a:r>
              <a:rPr sz="2400" dirty="0" err="1">
                <a:solidFill>
                  <a:srgbClr val="222233"/>
                </a:solidFill>
              </a:rPr>
              <a:t>m_i</a:t>
            </a:r>
            <a:r>
              <a:rPr sz="2400" dirty="0">
                <a:solidFill>
                  <a:srgbClr val="222233"/>
                </a:solidFill>
              </a:rPr>
              <a:t>}</a:t>
            </a:r>
          </a:p>
          <a:p>
            <a:pPr>
              <a:spcAft>
                <a:spcPts val="800"/>
              </a:spcAft>
            </a:pPr>
            <a:r>
              <a:rPr sz="2400" dirty="0">
                <a:solidFill>
                  <a:srgbClr val="222233"/>
                </a:solidFill>
              </a:rPr>
              <a:t>•  </a:t>
            </a:r>
            <a:r>
              <a:rPr sz="2400" dirty="0" err="1">
                <a:solidFill>
                  <a:srgbClr val="222233"/>
                </a:solidFill>
              </a:rPr>
              <a:t>Дуже</a:t>
            </a:r>
            <a:r>
              <a:rPr sz="2400" dirty="0">
                <a:solidFill>
                  <a:srgbClr val="222233"/>
                </a:solidFill>
              </a:rPr>
              <a:t> </a:t>
            </a:r>
            <a:r>
              <a:rPr sz="2400" dirty="0" err="1">
                <a:solidFill>
                  <a:srgbClr val="222233"/>
                </a:solidFill>
              </a:rPr>
              <a:t>швидкий</a:t>
            </a:r>
            <a:r>
              <a:rPr sz="2400" dirty="0">
                <a:solidFill>
                  <a:srgbClr val="222233"/>
                </a:solidFill>
              </a:rPr>
              <a:t>: ~n </a:t>
            </a:r>
            <a:r>
              <a:rPr sz="2400" dirty="0" err="1">
                <a:solidFill>
                  <a:srgbClr val="222233"/>
                </a:solidFill>
              </a:rPr>
              <a:t>викликів</a:t>
            </a:r>
            <a:r>
              <a:rPr sz="2400" dirty="0">
                <a:solidFill>
                  <a:srgbClr val="222233"/>
                </a:solidFill>
              </a:rPr>
              <a:t> H</a:t>
            </a:r>
          </a:p>
          <a:p>
            <a:pPr>
              <a:spcAft>
                <a:spcPts val="800"/>
              </a:spcAft>
            </a:pPr>
            <a:r>
              <a:rPr sz="2400" dirty="0">
                <a:solidFill>
                  <a:srgbClr val="222233"/>
                </a:solidFill>
              </a:rPr>
              <a:t>•  </a:t>
            </a:r>
            <a:r>
              <a:rPr sz="2400" dirty="0" err="1">
                <a:solidFill>
                  <a:srgbClr val="222233"/>
                </a:solidFill>
              </a:rPr>
              <a:t>Великий</a:t>
            </a:r>
            <a:r>
              <a:rPr sz="2400" dirty="0">
                <a:solidFill>
                  <a:srgbClr val="222233"/>
                </a:solidFill>
              </a:rPr>
              <a:t>: 16 КБ </a:t>
            </a:r>
            <a:r>
              <a:rPr sz="2400" dirty="0" err="1">
                <a:solidFill>
                  <a:srgbClr val="222233"/>
                </a:solidFill>
              </a:rPr>
              <a:t>для</a:t>
            </a:r>
            <a:r>
              <a:rPr sz="2400" dirty="0">
                <a:solidFill>
                  <a:srgbClr val="222233"/>
                </a:solidFill>
              </a:rPr>
              <a:t> n=256</a:t>
            </a:r>
          </a:p>
          <a:p>
            <a:pPr>
              <a:spcAft>
                <a:spcPts val="800"/>
              </a:spcAft>
            </a:pPr>
            <a:r>
              <a:rPr sz="2400" dirty="0">
                <a:solidFill>
                  <a:srgbClr val="222233"/>
                </a:solidFill>
              </a:rPr>
              <a:t>•  </a:t>
            </a:r>
            <a:r>
              <a:rPr sz="2400" dirty="0" err="1">
                <a:solidFill>
                  <a:srgbClr val="222233"/>
                </a:solidFill>
              </a:rPr>
              <a:t>Безпека</a:t>
            </a:r>
            <a:r>
              <a:rPr sz="2400" dirty="0">
                <a:solidFill>
                  <a:srgbClr val="222233"/>
                </a:solidFill>
              </a:rPr>
              <a:t>: preimage resistance</a:t>
            </a:r>
          </a:p>
        </p:txBody>
      </p:sp>
      <p:sp>
        <p:nvSpPr>
          <p:cNvPr id="713" name="Rounded Rectangle 712"/>
          <p:cNvSpPr/>
          <p:nvPr/>
        </p:nvSpPr>
        <p:spPr>
          <a:xfrm>
            <a:off x="6246000" y="1114073"/>
            <a:ext cx="5246000" cy="750000"/>
          </a:xfrm>
          <a:prstGeom prst="roundRect">
            <a:avLst/>
          </a:prstGeom>
          <a:solidFill>
            <a:srgbClr val="4472C4"/>
          </a:solidFill>
          <a:ln>
            <a:solidFill>
              <a:srgbClr val="4472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400" b="1">
                <a:solidFill>
                  <a:srgbClr val="FFFFFF"/>
                </a:solidFill>
              </a:rPr>
              <a:t>WOTS+ (Hülsing, 2013)</a:t>
            </a:r>
          </a:p>
        </p:txBody>
      </p:sp>
      <p:sp>
        <p:nvSpPr>
          <p:cNvPr id="714" name="Rectangle 713"/>
          <p:cNvSpPr/>
          <p:nvPr/>
        </p:nvSpPr>
        <p:spPr>
          <a:xfrm>
            <a:off x="6246000" y="1964073"/>
            <a:ext cx="5246000" cy="4050000"/>
          </a:xfrm>
          <a:prstGeom prst="rect">
            <a:avLst/>
          </a:prstGeom>
          <a:solidFill>
            <a:srgbClr val="F7F9FD"/>
          </a:solidFill>
          <a:ln>
            <a:solidFill>
              <a:srgbClr val="CDD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0000" tIns="200000" rIns="200000" bIns="200000" rtlCol="0" anchor="ctr"/>
          <a:lstStyle/>
          <a:p>
            <a:pPr>
              <a:spcAft>
                <a:spcPts val="800"/>
              </a:spcAft>
            </a:pPr>
            <a:r>
              <a:rPr sz="2400" dirty="0">
                <a:solidFill>
                  <a:srgbClr val="222233"/>
                </a:solidFill>
              </a:rPr>
              <a:t>•  </a:t>
            </a:r>
            <a:r>
              <a:rPr sz="2400" dirty="0" err="1">
                <a:solidFill>
                  <a:srgbClr val="222233"/>
                </a:solidFill>
              </a:rPr>
              <a:t>Підпис</a:t>
            </a:r>
            <a:r>
              <a:rPr sz="2400" dirty="0">
                <a:solidFill>
                  <a:srgbClr val="222233"/>
                </a:solidFill>
              </a:rPr>
              <a:t> log₂(w) </a:t>
            </a:r>
            <a:r>
              <a:rPr sz="2400" dirty="0" err="1">
                <a:solidFill>
                  <a:srgbClr val="222233"/>
                </a:solidFill>
              </a:rPr>
              <a:t>біт</a:t>
            </a:r>
            <a:r>
              <a:rPr sz="2400" dirty="0">
                <a:solidFill>
                  <a:srgbClr val="222233"/>
                </a:solidFill>
              </a:rPr>
              <a:t> </a:t>
            </a:r>
            <a:r>
              <a:rPr sz="2400" dirty="0" err="1">
                <a:solidFill>
                  <a:srgbClr val="222233"/>
                </a:solidFill>
              </a:rPr>
              <a:t>за</a:t>
            </a:r>
            <a:r>
              <a:rPr sz="2400" dirty="0">
                <a:solidFill>
                  <a:srgbClr val="222233"/>
                </a:solidFill>
              </a:rPr>
              <a:t> </a:t>
            </a:r>
            <a:r>
              <a:rPr sz="2400" dirty="0" err="1">
                <a:solidFill>
                  <a:srgbClr val="222233"/>
                </a:solidFill>
              </a:rPr>
              <a:t>один</a:t>
            </a:r>
            <a:r>
              <a:rPr sz="2400" dirty="0">
                <a:solidFill>
                  <a:srgbClr val="222233"/>
                </a:solidFill>
              </a:rPr>
              <a:t> </a:t>
            </a:r>
            <a:r>
              <a:rPr sz="2400" dirty="0" err="1">
                <a:solidFill>
                  <a:srgbClr val="222233"/>
                </a:solidFill>
              </a:rPr>
              <a:t>елемент</a:t>
            </a:r>
            <a:endParaRPr sz="2400" dirty="0">
              <a:solidFill>
                <a:srgbClr val="222233"/>
              </a:solidFill>
            </a:endParaRPr>
          </a:p>
          <a:p>
            <a:pPr>
              <a:spcAft>
                <a:spcPts val="800"/>
              </a:spcAft>
            </a:pPr>
            <a:r>
              <a:rPr sz="2400" dirty="0">
                <a:solidFill>
                  <a:srgbClr val="222233"/>
                </a:solidFill>
              </a:rPr>
              <a:t>•  </a:t>
            </a:r>
            <a:r>
              <a:rPr sz="2400" dirty="0" err="1">
                <a:solidFill>
                  <a:srgbClr val="222233"/>
                </a:solidFill>
              </a:rPr>
              <a:t>Ланцюг</a:t>
            </a:r>
            <a:r>
              <a:rPr sz="2400" dirty="0">
                <a:solidFill>
                  <a:srgbClr val="222233"/>
                </a:solidFill>
              </a:rPr>
              <a:t> </a:t>
            </a:r>
            <a:r>
              <a:rPr sz="2400" dirty="0" err="1">
                <a:solidFill>
                  <a:srgbClr val="222233"/>
                </a:solidFill>
              </a:rPr>
              <a:t>хешів</a:t>
            </a:r>
            <a:r>
              <a:rPr sz="2400" dirty="0">
                <a:solidFill>
                  <a:srgbClr val="222233"/>
                </a:solidFill>
              </a:rPr>
              <a:t> </a:t>
            </a:r>
            <a:r>
              <a:rPr sz="2400" dirty="0" err="1">
                <a:solidFill>
                  <a:srgbClr val="222233"/>
                </a:solidFill>
              </a:rPr>
              <a:t>довжини</a:t>
            </a:r>
            <a:r>
              <a:rPr sz="2400" dirty="0">
                <a:solidFill>
                  <a:srgbClr val="222233"/>
                </a:solidFill>
              </a:rPr>
              <a:t> w−1</a:t>
            </a:r>
          </a:p>
          <a:p>
            <a:pPr>
              <a:spcAft>
                <a:spcPts val="800"/>
              </a:spcAft>
            </a:pPr>
            <a:r>
              <a:rPr sz="2400" dirty="0">
                <a:solidFill>
                  <a:srgbClr val="222233"/>
                </a:solidFill>
              </a:rPr>
              <a:t>•  </a:t>
            </a:r>
            <a:r>
              <a:rPr sz="2400" dirty="0" err="1">
                <a:solidFill>
                  <a:srgbClr val="222233"/>
                </a:solidFill>
              </a:rPr>
              <a:t>Контрольна</a:t>
            </a:r>
            <a:r>
              <a:rPr sz="2400" dirty="0">
                <a:solidFill>
                  <a:srgbClr val="222233"/>
                </a:solidFill>
              </a:rPr>
              <a:t> </a:t>
            </a:r>
            <a:r>
              <a:rPr sz="2400" dirty="0" err="1">
                <a:solidFill>
                  <a:srgbClr val="222233"/>
                </a:solidFill>
              </a:rPr>
              <a:t>сума</a:t>
            </a:r>
            <a:r>
              <a:rPr sz="2400" dirty="0">
                <a:solidFill>
                  <a:srgbClr val="222233"/>
                </a:solidFill>
              </a:rPr>
              <a:t> </a:t>
            </a:r>
            <a:r>
              <a:rPr sz="2400" dirty="0" err="1">
                <a:solidFill>
                  <a:srgbClr val="222233"/>
                </a:solidFill>
              </a:rPr>
              <a:t>запобігає</a:t>
            </a:r>
            <a:r>
              <a:rPr sz="2400" dirty="0">
                <a:solidFill>
                  <a:srgbClr val="222233"/>
                </a:solidFill>
              </a:rPr>
              <a:t> forgery</a:t>
            </a:r>
          </a:p>
          <a:p>
            <a:pPr>
              <a:spcAft>
                <a:spcPts val="800"/>
              </a:spcAft>
            </a:pPr>
            <a:r>
              <a:rPr sz="2400" dirty="0">
                <a:solidFill>
                  <a:srgbClr val="222233"/>
                </a:solidFill>
              </a:rPr>
              <a:t>•  Bitmasks → multi-target safe</a:t>
            </a:r>
          </a:p>
          <a:p>
            <a:pPr>
              <a:spcAft>
                <a:spcPts val="800"/>
              </a:spcAft>
            </a:pPr>
            <a:r>
              <a:rPr sz="2400" dirty="0">
                <a:solidFill>
                  <a:srgbClr val="222233"/>
                </a:solidFill>
              </a:rPr>
              <a:t>•  </a:t>
            </a:r>
            <a:r>
              <a:rPr sz="2400" dirty="0" err="1">
                <a:solidFill>
                  <a:srgbClr val="222233"/>
                </a:solidFill>
              </a:rPr>
              <a:t>Компактний</a:t>
            </a:r>
            <a:r>
              <a:rPr sz="2400" dirty="0">
                <a:solidFill>
                  <a:srgbClr val="222233"/>
                </a:solidFill>
              </a:rPr>
              <a:t>: 2 КБ </a:t>
            </a:r>
            <a:r>
              <a:rPr sz="2400" dirty="0" err="1">
                <a:solidFill>
                  <a:srgbClr val="222233"/>
                </a:solidFill>
              </a:rPr>
              <a:t>для</a:t>
            </a:r>
            <a:r>
              <a:rPr sz="2400" dirty="0">
                <a:solidFill>
                  <a:srgbClr val="222233"/>
                </a:solidFill>
              </a:rPr>
              <a:t> w=16</a:t>
            </a:r>
          </a:p>
          <a:p>
            <a:pPr>
              <a:spcAft>
                <a:spcPts val="800"/>
              </a:spcAft>
            </a:pPr>
            <a:r>
              <a:rPr sz="2400" dirty="0">
                <a:solidFill>
                  <a:srgbClr val="222233"/>
                </a:solidFill>
              </a:rPr>
              <a:t>•  </a:t>
            </a:r>
            <a:r>
              <a:rPr sz="2400" dirty="0" err="1">
                <a:solidFill>
                  <a:srgbClr val="222233"/>
                </a:solidFill>
              </a:rPr>
              <a:t>База</a:t>
            </a:r>
            <a:r>
              <a:rPr sz="2400" dirty="0">
                <a:solidFill>
                  <a:srgbClr val="222233"/>
                </a:solidFill>
              </a:rPr>
              <a:t> XMSS </a:t>
            </a:r>
            <a:r>
              <a:rPr sz="2400" dirty="0" err="1">
                <a:solidFill>
                  <a:srgbClr val="222233"/>
                </a:solidFill>
              </a:rPr>
              <a:t>і</a:t>
            </a:r>
            <a:r>
              <a:rPr sz="2400" dirty="0">
                <a:solidFill>
                  <a:srgbClr val="222233"/>
                </a:solidFill>
              </a:rPr>
              <a:t> SPHINCS+</a:t>
            </a:r>
          </a:p>
        </p:txBody>
      </p:sp>
      <p:sp>
        <p:nvSpPr>
          <p:cNvPr id="715" name="TextBox 714"/>
          <p:cNvSpPr txBox="1"/>
          <p:nvPr/>
        </p:nvSpPr>
        <p:spPr>
          <a:xfrm>
            <a:off x="700000" y="6114073"/>
            <a:ext cx="10792000" cy="5000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2000" b="1" dirty="0">
                <a:solidFill>
                  <a:srgbClr val="445577"/>
                </a:solidFill>
              </a:rPr>
              <a:t>WOTS+ </a:t>
            </a:r>
            <a:r>
              <a:rPr sz="2000" b="1" dirty="0" err="1">
                <a:solidFill>
                  <a:srgbClr val="445577"/>
                </a:solidFill>
              </a:rPr>
              <a:t>дає</a:t>
            </a:r>
            <a:r>
              <a:rPr sz="2000" b="1" dirty="0">
                <a:solidFill>
                  <a:srgbClr val="445577"/>
                </a:solidFill>
              </a:rPr>
              <a:t> ~8× </a:t>
            </a:r>
            <a:r>
              <a:rPr sz="2000" b="1" dirty="0" err="1">
                <a:solidFill>
                  <a:srgbClr val="445577"/>
                </a:solidFill>
              </a:rPr>
              <a:t>менший</a:t>
            </a:r>
            <a:r>
              <a:rPr sz="2000" b="1" dirty="0">
                <a:solidFill>
                  <a:srgbClr val="445577"/>
                </a:solidFill>
              </a:rPr>
              <a:t> </a:t>
            </a:r>
            <a:r>
              <a:rPr sz="2000" b="1" dirty="0" err="1">
                <a:solidFill>
                  <a:srgbClr val="445577"/>
                </a:solidFill>
              </a:rPr>
              <a:t>підпис</a:t>
            </a:r>
            <a:r>
              <a:rPr sz="2000" b="1" dirty="0">
                <a:solidFill>
                  <a:srgbClr val="445577"/>
                </a:solidFill>
              </a:rPr>
              <a:t>, </a:t>
            </a:r>
            <a:r>
              <a:rPr sz="2000" b="1" dirty="0" err="1">
                <a:solidFill>
                  <a:srgbClr val="445577"/>
                </a:solidFill>
              </a:rPr>
              <a:t>але</a:t>
            </a:r>
            <a:r>
              <a:rPr sz="2000" b="1" dirty="0">
                <a:solidFill>
                  <a:srgbClr val="445577"/>
                </a:solidFill>
              </a:rPr>
              <a:t> ~4× </a:t>
            </a:r>
            <a:r>
              <a:rPr sz="2000" b="1" dirty="0" err="1">
                <a:solidFill>
                  <a:srgbClr val="445577"/>
                </a:solidFill>
              </a:rPr>
              <a:t>більше</a:t>
            </a:r>
            <a:r>
              <a:rPr sz="2000" b="1" dirty="0">
                <a:solidFill>
                  <a:srgbClr val="445577"/>
                </a:solidFill>
              </a:rPr>
              <a:t> </a:t>
            </a:r>
            <a:r>
              <a:rPr sz="2000" b="1" dirty="0" err="1">
                <a:solidFill>
                  <a:srgbClr val="445577"/>
                </a:solidFill>
              </a:rPr>
              <a:t>викликів</a:t>
            </a:r>
            <a:r>
              <a:rPr sz="2000" b="1" dirty="0">
                <a:solidFill>
                  <a:srgbClr val="445577"/>
                </a:solidFill>
              </a:rPr>
              <a:t> H </a:t>
            </a:r>
            <a:r>
              <a:rPr sz="2000" b="1" dirty="0" err="1">
                <a:solidFill>
                  <a:srgbClr val="445577"/>
                </a:solidFill>
              </a:rPr>
              <a:t>у</a:t>
            </a:r>
            <a:r>
              <a:rPr sz="2000" b="1" dirty="0">
                <a:solidFill>
                  <a:srgbClr val="445577"/>
                </a:solidFill>
              </a:rPr>
              <a:t> Verify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19B6EAF-7B69-02CA-CF42-3EB1283B247D}"/>
              </a:ext>
            </a:extLst>
          </p:cNvPr>
          <p:cNvSpPr txBox="1"/>
          <p:nvPr/>
        </p:nvSpPr>
        <p:spPr>
          <a:xfrm>
            <a:off x="4300925" y="293147"/>
            <a:ext cx="359015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Lamport OTS vs WOTS+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1" name="suppress_None"/>
          <p:cNvSpPr>
            <a:spLocks noGrp="1"/>
          </p:cNvSpPr>
          <p:nvPr>
            <p:ph type="title"/>
          </p:nvPr>
        </p:nvSpPr>
        <p:spPr>
          <a:xfrm>
            <a:off x="-10000000" y="-10345989"/>
            <a:ext cx="100" cy="100"/>
          </a:xfrm>
        </p:spPr>
        <p:txBody>
          <a:bodyPr wrap="none">
            <a:normAutofit fontScale="90000"/>
          </a:bodyPr>
          <a:lstStyle/>
          <a:p>
            <a:endParaRPr/>
          </a:p>
        </p:txBody>
      </p:sp>
      <p:sp>
        <p:nvSpPr>
          <p:cNvPr id="715" name="Заголовок 1">
            <a:extLst>
              <a:ext uri="{FF2B5EF4-FFF2-40B4-BE49-F238E27FC236}">
                <a16:creationId xmlns:a16="http://schemas.microsoft.com/office/drawing/2014/main" id="{1B6E16CF-568A-DB52-A3EB-6D4FADCDD95D}"/>
              </a:ext>
            </a:extLst>
          </p:cNvPr>
          <p:cNvSpPr>
            <a:spLocks noGrp="1"/>
          </p:cNvSpPr>
          <p:nvPr/>
        </p:nvSpPr>
        <p:spPr>
          <a:xfrm>
            <a:off x="0" y="-345989"/>
            <a:ext cx="0" cy="0"/>
          </a:xfrm>
        </p:spPr>
        <p:txBody>
          <a:bodyPr/>
          <a:lstStyle/>
          <a:p>
            <a:endParaRPr lang="uk-UA" dirty="0"/>
          </a:p>
        </p:txBody>
      </p:sp>
      <p:graphicFrame>
        <p:nvGraphicFramePr>
          <p:cNvPr id="716" name="Table 71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8062484"/>
              </p:ext>
            </p:extLst>
          </p:nvPr>
        </p:nvGraphicFramePr>
        <p:xfrm>
          <a:off x="500000" y="904011"/>
          <a:ext cx="11191999" cy="473067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5236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3490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3490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3490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3490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73067">
                <a:tc>
                  <a:txBody>
                    <a:bodyPr/>
                    <a:lstStyle/>
                    <a:p>
                      <a:r>
                        <a:rPr sz="2000" b="1" dirty="0" err="1">
                          <a:solidFill>
                            <a:srgbClr val="FFFFFF"/>
                          </a:solidFill>
                        </a:rPr>
                        <a:t>Схема</a:t>
                      </a:r>
                      <a:endParaRPr sz="2000" b="1" dirty="0">
                        <a:solidFill>
                          <a:srgbClr val="FFFFFF"/>
                        </a:solidFill>
                      </a:endParaRP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FFFFF"/>
                          </a:solidFill>
                        </a:rPr>
                        <a:t>PK (байт)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FFFFF"/>
                          </a:solidFill>
                        </a:rPr>
                        <a:t>σ (байт)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FFFFF"/>
                          </a:solidFill>
                        </a:rPr>
                        <a:t>Підписів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FFFFF"/>
                          </a:solidFill>
                        </a:rPr>
                        <a:t>Stateful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3067">
                <a:tc>
                  <a:txBody>
                    <a:bodyPr/>
                    <a:lstStyle/>
                    <a:p>
                      <a:r>
                        <a:rPr sz="1800" dirty="0">
                          <a:solidFill>
                            <a:srgbClr val="1F1F2E"/>
                          </a:solidFill>
                        </a:rPr>
                        <a:t>Lamport OTS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F1F2E"/>
                          </a:solidFill>
                        </a:rPr>
                        <a:t>16 384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F1F2E"/>
                          </a:solidFill>
                        </a:rPr>
                        <a:t>8 192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F1F2E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F1F2E"/>
                          </a:solidFill>
                        </a:rPr>
                        <a:t>Ні (OTS)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3067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F1F2E"/>
                          </a:solidFill>
                        </a:rPr>
                        <a:t>WOTS+ (w=4)</a:t>
                      </a:r>
                    </a:p>
                  </a:txBody>
                  <a:tcPr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F1F2E"/>
                          </a:solidFill>
                        </a:rPr>
                        <a:t>4 256</a:t>
                      </a:r>
                    </a:p>
                  </a:txBody>
                  <a:tcPr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F1F2E"/>
                          </a:solidFill>
                        </a:rPr>
                        <a:t>4 256</a:t>
                      </a:r>
                    </a:p>
                  </a:txBody>
                  <a:tcPr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F1F2E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F1F2E"/>
                          </a:solidFill>
                        </a:rPr>
                        <a:t>Ні (OTS)</a:t>
                      </a:r>
                    </a:p>
                  </a:txBody>
                  <a:tcPr>
                    <a:solidFill>
                      <a:srgbClr val="F2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3067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F1F2E"/>
                          </a:solidFill>
                        </a:rPr>
                        <a:t>WOTS+ (w=16)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F1F2E"/>
                          </a:solidFill>
                        </a:rPr>
                        <a:t>2 144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F1F2E"/>
                          </a:solidFill>
                        </a:rPr>
                        <a:t>2 144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F1F2E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F1F2E"/>
                          </a:solidFill>
                        </a:rPr>
                        <a:t>Ні (OTS)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3067">
                <a:tc>
                  <a:txBody>
                    <a:bodyPr/>
                    <a:lstStyle/>
                    <a:p>
                      <a:r>
                        <a:rPr sz="1800" dirty="0">
                          <a:solidFill>
                            <a:srgbClr val="1F1F2E"/>
                          </a:solidFill>
                        </a:rPr>
                        <a:t>WOTS+ (w=256)</a:t>
                      </a:r>
                    </a:p>
                  </a:txBody>
                  <a:tcPr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F1F2E"/>
                          </a:solidFill>
                        </a:rPr>
                        <a:t>1 088</a:t>
                      </a:r>
                    </a:p>
                  </a:txBody>
                  <a:tcPr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F1F2E"/>
                          </a:solidFill>
                        </a:rPr>
                        <a:t>1 088</a:t>
                      </a:r>
                    </a:p>
                  </a:txBody>
                  <a:tcPr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F1F2E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F1F2E"/>
                          </a:solidFill>
                        </a:rPr>
                        <a:t>Ні (OTS)</a:t>
                      </a:r>
                    </a:p>
                  </a:txBody>
                  <a:tcPr>
                    <a:solidFill>
                      <a:srgbClr val="F2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3067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F1F2E"/>
                          </a:solidFill>
                        </a:rPr>
                        <a:t>MSS-Lamport h=10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F1F2E"/>
                          </a:solidFill>
                        </a:rPr>
                        <a:t>32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F1F2E"/>
                          </a:solidFill>
                        </a:rPr>
                        <a:t>~24 К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F1F2E"/>
                          </a:solidFill>
                        </a:rPr>
                        <a:t>1 024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F1F2E"/>
                          </a:solidFill>
                        </a:rPr>
                        <a:t>Так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73067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F1F2E"/>
                          </a:solidFill>
                        </a:rPr>
                        <a:t>XMSS-SHA2-10_256</a:t>
                      </a:r>
                    </a:p>
                  </a:txBody>
                  <a:tcPr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F1F2E"/>
                          </a:solidFill>
                        </a:rPr>
                        <a:t>64</a:t>
                      </a:r>
                    </a:p>
                  </a:txBody>
                  <a:tcPr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F1F2E"/>
                          </a:solidFill>
                        </a:rPr>
                        <a:t>2 500</a:t>
                      </a:r>
                    </a:p>
                  </a:txBody>
                  <a:tcPr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F1F2E"/>
                          </a:solidFill>
                        </a:rPr>
                        <a:t>1 024</a:t>
                      </a:r>
                    </a:p>
                  </a:txBody>
                  <a:tcPr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F1F2E"/>
                          </a:solidFill>
                        </a:rPr>
                        <a:t>Так</a:t>
                      </a:r>
                    </a:p>
                  </a:txBody>
                  <a:tcPr>
                    <a:solidFill>
                      <a:srgbClr val="F2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73067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F1F2E"/>
                          </a:solidFill>
                        </a:rPr>
                        <a:t>XMSS-SHA2-20_256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F1F2E"/>
                          </a:solidFill>
                        </a:rPr>
                        <a:t>64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F1F2E"/>
                          </a:solidFill>
                        </a:rPr>
                        <a:t>2 820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F1F2E"/>
                          </a:solidFill>
                        </a:rPr>
                        <a:t>1 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F1F2E"/>
                          </a:solidFill>
                        </a:rPr>
                        <a:t>Так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73067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F1F2E"/>
                          </a:solidFill>
                        </a:rPr>
                        <a:t>SPHINCS+-128f</a:t>
                      </a:r>
                    </a:p>
                  </a:txBody>
                  <a:tcPr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F1F2E"/>
                          </a:solidFill>
                        </a:rPr>
                        <a:t>32</a:t>
                      </a:r>
                    </a:p>
                  </a:txBody>
                  <a:tcPr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F1F2E"/>
                          </a:solidFill>
                        </a:rPr>
                        <a:t>17 088</a:t>
                      </a:r>
                    </a:p>
                  </a:txBody>
                  <a:tcPr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F1F2E"/>
                          </a:solidFill>
                        </a:rPr>
                        <a:t>~2⁶⁴</a:t>
                      </a:r>
                    </a:p>
                  </a:txBody>
                  <a:tcPr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F1F2E"/>
                          </a:solidFill>
                        </a:rPr>
                        <a:t>Ні</a:t>
                      </a:r>
                    </a:p>
                  </a:txBody>
                  <a:tcPr>
                    <a:solidFill>
                      <a:srgbClr val="F2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73067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F1F2E"/>
                          </a:solidFill>
                        </a:rPr>
                        <a:t>SPHINCS+-128s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F1F2E"/>
                          </a:solidFill>
                        </a:rPr>
                        <a:t>32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F1F2E"/>
                          </a:solidFill>
                        </a:rPr>
                        <a:t>7 856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F1F2E"/>
                          </a:solidFill>
                        </a:rPr>
                        <a:t>~2⁶⁴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dirty="0" err="1">
                          <a:solidFill>
                            <a:srgbClr val="1F1F2E"/>
                          </a:solidFill>
                        </a:rPr>
                        <a:t>Ні</a:t>
                      </a:r>
                      <a:endParaRPr sz="1800" dirty="0">
                        <a:solidFill>
                          <a:srgbClr val="1F1F2E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717" name="TextBox 716"/>
          <p:cNvSpPr txBox="1"/>
          <p:nvPr/>
        </p:nvSpPr>
        <p:spPr>
          <a:xfrm>
            <a:off x="500000" y="5845072"/>
            <a:ext cx="11192000" cy="50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sz="2000" i="1" dirty="0">
                <a:solidFill>
                  <a:srgbClr val="555566"/>
                </a:solidFill>
              </a:rPr>
              <a:t>WOTS+ - </a:t>
            </a:r>
            <a:r>
              <a:rPr sz="2000" i="1" dirty="0" err="1">
                <a:solidFill>
                  <a:srgbClr val="555566"/>
                </a:solidFill>
              </a:rPr>
              <a:t>будівельний</a:t>
            </a:r>
            <a:r>
              <a:rPr sz="2000" i="1" dirty="0">
                <a:solidFill>
                  <a:srgbClr val="555566"/>
                </a:solidFill>
              </a:rPr>
              <a:t> </a:t>
            </a:r>
            <a:r>
              <a:rPr sz="2000" i="1" dirty="0" err="1">
                <a:solidFill>
                  <a:srgbClr val="555566"/>
                </a:solidFill>
              </a:rPr>
              <a:t>блок</a:t>
            </a:r>
            <a:r>
              <a:rPr sz="2000" i="1" dirty="0">
                <a:solidFill>
                  <a:srgbClr val="555566"/>
                </a:solidFill>
              </a:rPr>
              <a:t>. XMSS </a:t>
            </a:r>
            <a:r>
              <a:rPr sz="2000" i="1" dirty="0" err="1">
                <a:solidFill>
                  <a:srgbClr val="555566"/>
                </a:solidFill>
              </a:rPr>
              <a:t>і</a:t>
            </a:r>
            <a:r>
              <a:rPr sz="2000" i="1" dirty="0">
                <a:solidFill>
                  <a:srgbClr val="555566"/>
                </a:solidFill>
              </a:rPr>
              <a:t> SPHINCS+ </a:t>
            </a:r>
            <a:r>
              <a:rPr sz="2000" i="1" dirty="0" err="1">
                <a:solidFill>
                  <a:srgbClr val="555566"/>
                </a:solidFill>
              </a:rPr>
              <a:t>практично</a:t>
            </a:r>
            <a:r>
              <a:rPr sz="2000" i="1" dirty="0">
                <a:solidFill>
                  <a:srgbClr val="555566"/>
                </a:solidFill>
              </a:rPr>
              <a:t> </a:t>
            </a:r>
            <a:r>
              <a:rPr sz="2000" i="1" dirty="0" err="1">
                <a:solidFill>
                  <a:srgbClr val="555566"/>
                </a:solidFill>
              </a:rPr>
              <a:t>використовувані</a:t>
            </a:r>
            <a:r>
              <a:rPr sz="2000" i="1" dirty="0">
                <a:solidFill>
                  <a:srgbClr val="555566"/>
                </a:solidFill>
              </a:rPr>
              <a:t> </a:t>
            </a:r>
            <a:r>
              <a:rPr sz="2000" i="1" dirty="0" err="1">
                <a:solidFill>
                  <a:srgbClr val="555566"/>
                </a:solidFill>
              </a:rPr>
              <a:t>схеми</a:t>
            </a:r>
            <a:r>
              <a:rPr sz="2000" i="1" dirty="0">
                <a:solidFill>
                  <a:srgbClr val="555566"/>
                </a:solidFill>
              </a:rPr>
              <a:t>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30426D7-C46D-C621-FE43-836CBD85E849}"/>
              </a:ext>
            </a:extLst>
          </p:cNvPr>
          <p:cNvSpPr txBox="1"/>
          <p:nvPr/>
        </p:nvSpPr>
        <p:spPr>
          <a:xfrm>
            <a:off x="2523738" y="275596"/>
            <a:ext cx="714452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 err="1"/>
              <a:t>Розміри</a:t>
            </a:r>
            <a:r>
              <a:rPr lang="en-US" sz="2800" dirty="0"/>
              <a:t> hash-based </a:t>
            </a:r>
            <a:r>
              <a:rPr lang="en-US" sz="2800" dirty="0" err="1"/>
              <a:t>підписів</a:t>
            </a:r>
            <a:r>
              <a:rPr lang="en-US" sz="2800" dirty="0"/>
              <a:t> (n = 256, w = 16)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6" name="suppress_None"/>
          <p:cNvSpPr>
            <a:spLocks noGrp="1"/>
          </p:cNvSpPr>
          <p:nvPr>
            <p:ph type="title"/>
          </p:nvPr>
        </p:nvSpPr>
        <p:spPr>
          <a:xfrm>
            <a:off x="-10000000" y="-10000000"/>
            <a:ext cx="100" cy="100"/>
          </a:xfrm>
        </p:spPr>
        <p:txBody>
          <a:bodyPr wrap="none">
            <a:normAutofit fontScale="90000"/>
          </a:bodyPr>
          <a:lstStyle/>
          <a:p>
            <a:endParaRPr/>
          </a:p>
        </p:txBody>
      </p:sp>
      <p:sp>
        <p:nvSpPr>
          <p:cNvPr id="720" name="Заголовок 1">
            <a:extLst>
              <a:ext uri="{FF2B5EF4-FFF2-40B4-BE49-F238E27FC236}">
                <a16:creationId xmlns:a16="http://schemas.microsoft.com/office/drawing/2014/main" id="{1B6E16CF-568A-DB52-A3EB-6D4FADCDD95D}"/>
              </a:ext>
            </a:extLst>
          </p:cNvPr>
          <p:cNvSpPr>
            <a:spLocks noGrp="1"/>
          </p:cNvSpPr>
          <p:nvPr/>
        </p:nvSpPr>
        <p:spPr/>
        <p:txBody>
          <a:bodyPr/>
          <a:lstStyle/>
          <a:p>
            <a:r>
              <a:rPr lang="en-US" sz="3200" dirty="0"/>
              <a:t>Як працює дерево Меркла</a:t>
            </a:r>
          </a:p>
          <a:p>
            <a:endParaRPr lang="uk-UA" dirty="0"/>
          </a:p>
        </p:txBody>
      </p:sp>
      <p:sp>
        <p:nvSpPr>
          <p:cNvPr id="721" name="Rounded Rectangle 720"/>
          <p:cNvSpPr/>
          <p:nvPr/>
        </p:nvSpPr>
        <p:spPr>
          <a:xfrm>
            <a:off x="600000" y="1400000"/>
            <a:ext cx="1918400" cy="1500000"/>
          </a:xfrm>
          <a:prstGeom prst="roundRect">
            <a:avLst/>
          </a:prstGeom>
          <a:solidFill>
            <a:srgbClr val="4472C4"/>
          </a:solidFill>
          <a:ln>
            <a:solidFill>
              <a:srgbClr val="4472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0000" tIns="100000" rIns="80000" bIns="100000" rtlCol="0" anchor="ctr"/>
          <a:lstStyle/>
          <a:p>
            <a:pPr algn="ctr"/>
            <a:r>
              <a:rPr sz="2000" b="1">
                <a:solidFill>
                  <a:srgbClr val="FFFFFF"/>
                </a:solidFill>
              </a:rPr>
              <a:t>1. Згенерувати</a:t>
            </a:r>
          </a:p>
          <a:p>
            <a:pPr algn="ctr"/>
            <a:r>
              <a:rPr sz="1600">
                <a:solidFill>
                  <a:srgbClr val="E8EEF9"/>
                </a:solidFill>
              </a:rPr>
              <a:t>2^h OTS-ключів</a:t>
            </a:r>
          </a:p>
        </p:txBody>
      </p:sp>
      <p:sp>
        <p:nvSpPr>
          <p:cNvPr id="722" name="Right Arrow 721"/>
          <p:cNvSpPr/>
          <p:nvPr/>
        </p:nvSpPr>
        <p:spPr>
          <a:xfrm>
            <a:off x="2518400" y="2000000"/>
            <a:ext cx="350000" cy="300000"/>
          </a:xfrm>
          <a:prstGeom prst="rightArrow">
            <a:avLst/>
          </a:prstGeom>
          <a:solidFill>
            <a:srgbClr val="9BB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3" name="Rounded Rectangle 722"/>
          <p:cNvSpPr/>
          <p:nvPr/>
        </p:nvSpPr>
        <p:spPr>
          <a:xfrm>
            <a:off x="2868400" y="1400000"/>
            <a:ext cx="1918400" cy="1500000"/>
          </a:xfrm>
          <a:prstGeom prst="roundRect">
            <a:avLst/>
          </a:prstGeom>
          <a:solidFill>
            <a:srgbClr val="4472C4"/>
          </a:solidFill>
          <a:ln>
            <a:solidFill>
              <a:srgbClr val="4472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0000" tIns="100000" rIns="80000" bIns="100000" rtlCol="0" anchor="ctr"/>
          <a:lstStyle/>
          <a:p>
            <a:pPr algn="ctr"/>
            <a:r>
              <a:rPr sz="2000" b="1">
                <a:solidFill>
                  <a:srgbClr val="FFFFFF"/>
                </a:solidFill>
              </a:rPr>
              <a:t>2. Хешувати</a:t>
            </a:r>
          </a:p>
          <a:p>
            <a:pPr algn="ctr"/>
            <a:r>
              <a:rPr sz="1600">
                <a:solidFill>
                  <a:srgbClr val="E8EEF9"/>
                </a:solidFill>
              </a:rPr>
              <a:t>leaf_j = H(pk_j)</a:t>
            </a:r>
          </a:p>
        </p:txBody>
      </p:sp>
      <p:sp>
        <p:nvSpPr>
          <p:cNvPr id="724" name="Right Arrow 723"/>
          <p:cNvSpPr/>
          <p:nvPr/>
        </p:nvSpPr>
        <p:spPr>
          <a:xfrm>
            <a:off x="4786800" y="2000000"/>
            <a:ext cx="350000" cy="300000"/>
          </a:xfrm>
          <a:prstGeom prst="rightArrow">
            <a:avLst/>
          </a:prstGeom>
          <a:solidFill>
            <a:srgbClr val="9BB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5" name="Rounded Rectangle 724"/>
          <p:cNvSpPr/>
          <p:nvPr/>
        </p:nvSpPr>
        <p:spPr>
          <a:xfrm>
            <a:off x="5136800" y="1400000"/>
            <a:ext cx="1918400" cy="1500000"/>
          </a:xfrm>
          <a:prstGeom prst="roundRect">
            <a:avLst/>
          </a:prstGeom>
          <a:solidFill>
            <a:srgbClr val="4472C4"/>
          </a:solidFill>
          <a:ln>
            <a:solidFill>
              <a:srgbClr val="4472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0000" tIns="100000" rIns="80000" bIns="100000" rtlCol="0" anchor="ctr"/>
          <a:lstStyle/>
          <a:p>
            <a:pPr algn="ctr"/>
            <a:r>
              <a:rPr sz="2000" b="1">
                <a:solidFill>
                  <a:srgbClr val="FFFFFF"/>
                </a:solidFill>
              </a:rPr>
              <a:t>3. Будувати</a:t>
            </a:r>
          </a:p>
          <a:p>
            <a:pPr algn="ctr"/>
            <a:r>
              <a:rPr sz="1600">
                <a:solidFill>
                  <a:srgbClr val="E8EEF9"/>
                </a:solidFill>
              </a:rPr>
              <a:t>node = H(L ‖ R)</a:t>
            </a:r>
          </a:p>
        </p:txBody>
      </p:sp>
      <p:sp>
        <p:nvSpPr>
          <p:cNvPr id="726" name="Right Arrow 725"/>
          <p:cNvSpPr/>
          <p:nvPr/>
        </p:nvSpPr>
        <p:spPr>
          <a:xfrm>
            <a:off x="7055200" y="2000000"/>
            <a:ext cx="350000" cy="300000"/>
          </a:xfrm>
          <a:prstGeom prst="rightArrow">
            <a:avLst/>
          </a:prstGeom>
          <a:solidFill>
            <a:srgbClr val="9BB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7" name="Rounded Rectangle 726"/>
          <p:cNvSpPr/>
          <p:nvPr/>
        </p:nvSpPr>
        <p:spPr>
          <a:xfrm>
            <a:off x="7405200" y="1400000"/>
            <a:ext cx="1918400" cy="1500000"/>
          </a:xfrm>
          <a:prstGeom prst="roundRect">
            <a:avLst/>
          </a:prstGeom>
          <a:solidFill>
            <a:srgbClr val="4472C4"/>
          </a:solidFill>
          <a:ln>
            <a:solidFill>
              <a:srgbClr val="4472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0000" tIns="100000" rIns="80000" bIns="100000" rtlCol="0" anchor="ctr"/>
          <a:lstStyle/>
          <a:p>
            <a:pPr algn="ctr"/>
            <a:r>
              <a:rPr sz="2000" b="1">
                <a:solidFill>
                  <a:srgbClr val="FFFFFF"/>
                </a:solidFill>
              </a:rPr>
              <a:t>4. Корінь</a:t>
            </a:r>
          </a:p>
          <a:p>
            <a:pPr algn="ctr"/>
            <a:r>
              <a:rPr sz="1600">
                <a:solidFill>
                  <a:srgbClr val="E8EEF9"/>
                </a:solidFill>
              </a:rPr>
              <a:t>PK дерева</a:t>
            </a:r>
          </a:p>
        </p:txBody>
      </p:sp>
      <p:sp>
        <p:nvSpPr>
          <p:cNvPr id="728" name="Right Arrow 727"/>
          <p:cNvSpPr/>
          <p:nvPr/>
        </p:nvSpPr>
        <p:spPr>
          <a:xfrm>
            <a:off x="9323600" y="2000000"/>
            <a:ext cx="350000" cy="300000"/>
          </a:xfrm>
          <a:prstGeom prst="rightArrow">
            <a:avLst/>
          </a:prstGeom>
          <a:solidFill>
            <a:srgbClr val="9BB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9" name="Rounded Rectangle 728"/>
          <p:cNvSpPr/>
          <p:nvPr/>
        </p:nvSpPr>
        <p:spPr>
          <a:xfrm>
            <a:off x="9673600" y="1400000"/>
            <a:ext cx="1918400" cy="1500000"/>
          </a:xfrm>
          <a:prstGeom prst="roundRect">
            <a:avLst/>
          </a:prstGeom>
          <a:solidFill>
            <a:srgbClr val="4472C4"/>
          </a:solidFill>
          <a:ln>
            <a:solidFill>
              <a:srgbClr val="4472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0000" tIns="100000" rIns="80000" bIns="100000" rtlCol="0" anchor="ctr"/>
          <a:lstStyle/>
          <a:p>
            <a:pPr algn="ctr"/>
            <a:r>
              <a:rPr sz="2000" b="1">
                <a:solidFill>
                  <a:srgbClr val="FFFFFF"/>
                </a:solidFill>
              </a:rPr>
              <a:t>5. Підпис</a:t>
            </a:r>
          </a:p>
          <a:p>
            <a:pPr algn="ctr"/>
            <a:r>
              <a:rPr sz="1600">
                <a:solidFill>
                  <a:srgbClr val="E8EEF9"/>
                </a:solidFill>
              </a:rPr>
              <a:t>σ + auth.path</a:t>
            </a:r>
          </a:p>
        </p:txBody>
      </p:sp>
      <p:sp>
        <p:nvSpPr>
          <p:cNvPr id="730" name="TextBox 729"/>
          <p:cNvSpPr txBox="1"/>
          <p:nvPr/>
        </p:nvSpPr>
        <p:spPr>
          <a:xfrm>
            <a:off x="600000" y="3150000"/>
            <a:ext cx="10992000" cy="6000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800" i="1">
                <a:solidFill>
                  <a:srgbClr val="445577"/>
                </a:solidFill>
              </a:rPr>
              <a:t>Один корінь = публічний ключ для 2^h підписів. Auth.path = h хешів братів</a:t>
            </a:r>
          </a:p>
        </p:txBody>
      </p:sp>
      <p:sp>
        <p:nvSpPr>
          <p:cNvPr id="731" name="Rectangle 730"/>
          <p:cNvSpPr/>
          <p:nvPr/>
        </p:nvSpPr>
        <p:spPr>
          <a:xfrm>
            <a:off x="600000" y="3850000"/>
            <a:ext cx="10992000" cy="2229524"/>
          </a:xfrm>
          <a:prstGeom prst="rect">
            <a:avLst/>
          </a:prstGeom>
          <a:solidFill>
            <a:srgbClr val="F2F5FB"/>
          </a:solidFill>
          <a:ln>
            <a:solidFill>
              <a:srgbClr val="CDD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0000" tIns="150000" rIns="250000" bIns="150000" rtlCol="0" anchor="ctr"/>
          <a:lstStyle/>
          <a:p>
            <a:r>
              <a:rPr sz="2400" dirty="0">
                <a:solidFill>
                  <a:srgbClr val="222233"/>
                </a:solidFill>
              </a:rPr>
              <a:t>•  </a:t>
            </a:r>
            <a:r>
              <a:rPr sz="2400" dirty="0" err="1">
                <a:solidFill>
                  <a:srgbClr val="222233"/>
                </a:solidFill>
              </a:rPr>
              <a:t>Висота</a:t>
            </a:r>
            <a:r>
              <a:rPr sz="2400" dirty="0">
                <a:solidFill>
                  <a:srgbClr val="222233"/>
                </a:solidFill>
              </a:rPr>
              <a:t> h = 10 → 1 024 </a:t>
            </a:r>
            <a:r>
              <a:rPr sz="2400" dirty="0" err="1">
                <a:solidFill>
                  <a:srgbClr val="222233"/>
                </a:solidFill>
              </a:rPr>
              <a:t>підписи</a:t>
            </a:r>
            <a:r>
              <a:rPr sz="2400" dirty="0">
                <a:solidFill>
                  <a:srgbClr val="222233"/>
                </a:solidFill>
              </a:rPr>
              <a:t>; h = 20 → ~1 </a:t>
            </a:r>
            <a:r>
              <a:rPr sz="2400" dirty="0" err="1">
                <a:solidFill>
                  <a:srgbClr val="222233"/>
                </a:solidFill>
              </a:rPr>
              <a:t>М</a:t>
            </a:r>
            <a:r>
              <a:rPr sz="2400" dirty="0">
                <a:solidFill>
                  <a:srgbClr val="222233"/>
                </a:solidFill>
              </a:rPr>
              <a:t> </a:t>
            </a:r>
            <a:r>
              <a:rPr sz="2400" dirty="0" err="1">
                <a:solidFill>
                  <a:srgbClr val="222233"/>
                </a:solidFill>
              </a:rPr>
              <a:t>підписів</a:t>
            </a:r>
            <a:endParaRPr sz="2400" dirty="0">
              <a:solidFill>
                <a:srgbClr val="222233"/>
              </a:solidFill>
            </a:endParaRPr>
          </a:p>
          <a:p>
            <a:r>
              <a:rPr sz="2400" dirty="0">
                <a:solidFill>
                  <a:srgbClr val="222233"/>
                </a:solidFill>
              </a:rPr>
              <a:t>•  </a:t>
            </a:r>
            <a:r>
              <a:rPr sz="2400" dirty="0" err="1">
                <a:solidFill>
                  <a:srgbClr val="222233"/>
                </a:solidFill>
              </a:rPr>
              <a:t>Розмір</a:t>
            </a:r>
            <a:r>
              <a:rPr sz="2400" dirty="0">
                <a:solidFill>
                  <a:srgbClr val="222233"/>
                </a:solidFill>
              </a:rPr>
              <a:t> PK = n </a:t>
            </a:r>
            <a:r>
              <a:rPr sz="2400" dirty="0" err="1">
                <a:solidFill>
                  <a:srgbClr val="222233"/>
                </a:solidFill>
              </a:rPr>
              <a:t>байт</a:t>
            </a:r>
            <a:r>
              <a:rPr sz="2400" dirty="0">
                <a:solidFill>
                  <a:srgbClr val="222233"/>
                </a:solidFill>
              </a:rPr>
              <a:t> (32 </a:t>
            </a:r>
            <a:r>
              <a:rPr sz="2400" dirty="0" err="1">
                <a:solidFill>
                  <a:srgbClr val="222233"/>
                </a:solidFill>
              </a:rPr>
              <a:t>для</a:t>
            </a:r>
            <a:r>
              <a:rPr sz="2400" dirty="0">
                <a:solidFill>
                  <a:srgbClr val="222233"/>
                </a:solidFill>
              </a:rPr>
              <a:t> SHA-256) - </a:t>
            </a:r>
            <a:r>
              <a:rPr sz="2400" dirty="0" err="1">
                <a:solidFill>
                  <a:srgbClr val="222233"/>
                </a:solidFill>
              </a:rPr>
              <a:t>найкомпактніший</a:t>
            </a:r>
            <a:r>
              <a:rPr sz="2400" dirty="0">
                <a:solidFill>
                  <a:srgbClr val="222233"/>
                </a:solidFill>
              </a:rPr>
              <a:t> </a:t>
            </a:r>
            <a:r>
              <a:rPr sz="2400" dirty="0" err="1">
                <a:solidFill>
                  <a:srgbClr val="222233"/>
                </a:solidFill>
              </a:rPr>
              <a:t>серед</a:t>
            </a:r>
            <a:r>
              <a:rPr sz="2400" dirty="0">
                <a:solidFill>
                  <a:srgbClr val="222233"/>
                </a:solidFill>
              </a:rPr>
              <a:t> </a:t>
            </a:r>
            <a:r>
              <a:rPr sz="2400" dirty="0" err="1">
                <a:solidFill>
                  <a:srgbClr val="222233"/>
                </a:solidFill>
              </a:rPr>
              <a:t>усіх</a:t>
            </a:r>
            <a:r>
              <a:rPr sz="2400" dirty="0">
                <a:solidFill>
                  <a:srgbClr val="222233"/>
                </a:solidFill>
              </a:rPr>
              <a:t> PQ-</a:t>
            </a:r>
            <a:r>
              <a:rPr sz="2400" dirty="0" err="1">
                <a:solidFill>
                  <a:srgbClr val="222233"/>
                </a:solidFill>
              </a:rPr>
              <a:t>схем</a:t>
            </a:r>
            <a:endParaRPr sz="2400" dirty="0">
              <a:solidFill>
                <a:srgbClr val="222233"/>
              </a:solidFill>
            </a:endParaRPr>
          </a:p>
          <a:p>
            <a:r>
              <a:rPr sz="2400" dirty="0">
                <a:solidFill>
                  <a:srgbClr val="222233"/>
                </a:solidFill>
              </a:rPr>
              <a:t>•  </a:t>
            </a:r>
            <a:r>
              <a:rPr sz="2400" dirty="0" err="1">
                <a:solidFill>
                  <a:srgbClr val="222233"/>
                </a:solidFill>
              </a:rPr>
              <a:t>Auth.path</a:t>
            </a:r>
            <a:r>
              <a:rPr sz="2400" dirty="0">
                <a:solidFill>
                  <a:srgbClr val="222233"/>
                </a:solidFill>
              </a:rPr>
              <a:t> = h × n </a:t>
            </a:r>
            <a:r>
              <a:rPr sz="2400" dirty="0" err="1">
                <a:solidFill>
                  <a:srgbClr val="222233"/>
                </a:solidFill>
              </a:rPr>
              <a:t>байт</a:t>
            </a:r>
            <a:r>
              <a:rPr sz="2400" dirty="0">
                <a:solidFill>
                  <a:srgbClr val="222233"/>
                </a:solidFill>
              </a:rPr>
              <a:t> (320 </a:t>
            </a:r>
            <a:r>
              <a:rPr sz="2400" dirty="0" err="1">
                <a:solidFill>
                  <a:srgbClr val="222233"/>
                </a:solidFill>
              </a:rPr>
              <a:t>байт</a:t>
            </a:r>
            <a:r>
              <a:rPr sz="2400" dirty="0">
                <a:solidFill>
                  <a:srgbClr val="222233"/>
                </a:solidFill>
              </a:rPr>
              <a:t> </a:t>
            </a:r>
            <a:r>
              <a:rPr sz="2400" dirty="0" err="1">
                <a:solidFill>
                  <a:srgbClr val="222233"/>
                </a:solidFill>
              </a:rPr>
              <a:t>для</a:t>
            </a:r>
            <a:r>
              <a:rPr sz="2400" dirty="0">
                <a:solidFill>
                  <a:srgbClr val="222233"/>
                </a:solidFill>
              </a:rPr>
              <a:t> h=10), </a:t>
            </a:r>
            <a:r>
              <a:rPr sz="2400" dirty="0" err="1">
                <a:solidFill>
                  <a:srgbClr val="222233"/>
                </a:solidFill>
              </a:rPr>
              <a:t>додається</a:t>
            </a:r>
            <a:r>
              <a:rPr sz="2400" dirty="0">
                <a:solidFill>
                  <a:srgbClr val="222233"/>
                </a:solidFill>
              </a:rPr>
              <a:t> </a:t>
            </a:r>
            <a:r>
              <a:rPr sz="2400" dirty="0" err="1">
                <a:solidFill>
                  <a:srgbClr val="222233"/>
                </a:solidFill>
              </a:rPr>
              <a:t>до</a:t>
            </a:r>
            <a:r>
              <a:rPr sz="2400" dirty="0">
                <a:solidFill>
                  <a:srgbClr val="222233"/>
                </a:solidFill>
              </a:rPr>
              <a:t> OTS-</a:t>
            </a:r>
            <a:r>
              <a:rPr sz="2400" dirty="0" err="1">
                <a:solidFill>
                  <a:srgbClr val="222233"/>
                </a:solidFill>
              </a:rPr>
              <a:t>підпису</a:t>
            </a:r>
            <a:endParaRPr sz="2400" dirty="0">
              <a:solidFill>
                <a:srgbClr val="222233"/>
              </a:solidFill>
            </a:endParaRPr>
          </a:p>
          <a:p>
            <a:r>
              <a:rPr sz="2400" dirty="0">
                <a:solidFill>
                  <a:srgbClr val="222233"/>
                </a:solidFill>
              </a:rPr>
              <a:t>•  </a:t>
            </a:r>
            <a:r>
              <a:rPr sz="2400" dirty="0" err="1">
                <a:solidFill>
                  <a:srgbClr val="222233"/>
                </a:solidFill>
              </a:rPr>
              <a:t>Перевірка</a:t>
            </a:r>
            <a:r>
              <a:rPr sz="2400" dirty="0">
                <a:solidFill>
                  <a:srgbClr val="222233"/>
                </a:solidFill>
              </a:rPr>
              <a:t>: </a:t>
            </a:r>
            <a:r>
              <a:rPr sz="2400" dirty="0" err="1">
                <a:solidFill>
                  <a:srgbClr val="222233"/>
                </a:solidFill>
              </a:rPr>
              <a:t>реконструювати</a:t>
            </a:r>
            <a:r>
              <a:rPr sz="2400" dirty="0">
                <a:solidFill>
                  <a:srgbClr val="222233"/>
                </a:solidFill>
              </a:rPr>
              <a:t> </a:t>
            </a:r>
            <a:r>
              <a:rPr sz="2400" dirty="0" err="1">
                <a:solidFill>
                  <a:srgbClr val="222233"/>
                </a:solidFill>
              </a:rPr>
              <a:t>корінь</a:t>
            </a:r>
            <a:r>
              <a:rPr sz="2400" dirty="0">
                <a:solidFill>
                  <a:srgbClr val="222233"/>
                </a:solidFill>
              </a:rPr>
              <a:t> </a:t>
            </a:r>
            <a:r>
              <a:rPr sz="2400" dirty="0" err="1">
                <a:solidFill>
                  <a:srgbClr val="222233"/>
                </a:solidFill>
              </a:rPr>
              <a:t>з</a:t>
            </a:r>
            <a:r>
              <a:rPr sz="2400" dirty="0">
                <a:solidFill>
                  <a:srgbClr val="222233"/>
                </a:solidFill>
              </a:rPr>
              <a:t> </a:t>
            </a:r>
            <a:r>
              <a:rPr sz="2400" dirty="0" err="1">
                <a:solidFill>
                  <a:srgbClr val="222233"/>
                </a:solidFill>
              </a:rPr>
              <a:t>листка</a:t>
            </a:r>
            <a:r>
              <a:rPr sz="2400" dirty="0">
                <a:solidFill>
                  <a:srgbClr val="222233"/>
                </a:solidFill>
              </a:rPr>
              <a:t> + </a:t>
            </a:r>
            <a:r>
              <a:rPr sz="2400" dirty="0" err="1">
                <a:solidFill>
                  <a:srgbClr val="222233"/>
                </a:solidFill>
              </a:rPr>
              <a:t>auth.path</a:t>
            </a:r>
            <a:r>
              <a:rPr sz="2400" dirty="0">
                <a:solidFill>
                  <a:srgbClr val="222233"/>
                </a:solidFill>
              </a:rPr>
              <a:t> → </a:t>
            </a:r>
            <a:r>
              <a:rPr sz="2400" dirty="0" err="1">
                <a:solidFill>
                  <a:srgbClr val="222233"/>
                </a:solidFill>
              </a:rPr>
              <a:t>порівняти</a:t>
            </a:r>
            <a:r>
              <a:rPr sz="2400" dirty="0">
                <a:solidFill>
                  <a:srgbClr val="222233"/>
                </a:solidFill>
              </a:rPr>
              <a:t> </a:t>
            </a:r>
            <a:r>
              <a:rPr sz="2400" dirty="0" err="1">
                <a:solidFill>
                  <a:srgbClr val="222233"/>
                </a:solidFill>
              </a:rPr>
              <a:t>з</a:t>
            </a:r>
            <a:r>
              <a:rPr sz="2400" dirty="0">
                <a:solidFill>
                  <a:srgbClr val="222233"/>
                </a:solidFill>
              </a:rPr>
              <a:t> PK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1" name="suppress_None"/>
          <p:cNvSpPr>
            <a:spLocks noGrp="1"/>
          </p:cNvSpPr>
          <p:nvPr>
            <p:ph type="title"/>
          </p:nvPr>
        </p:nvSpPr>
        <p:spPr>
          <a:xfrm>
            <a:off x="-10000000" y="-10296563"/>
            <a:ext cx="100" cy="100"/>
          </a:xfrm>
        </p:spPr>
        <p:txBody>
          <a:bodyPr wrap="none">
            <a:normAutofit fontScale="90000"/>
          </a:bodyPr>
          <a:lstStyle/>
          <a:p>
            <a:endParaRPr/>
          </a:p>
        </p:txBody>
      </p:sp>
      <p:sp>
        <p:nvSpPr>
          <p:cNvPr id="725" name="Заголовок 1">
            <a:extLst>
              <a:ext uri="{FF2B5EF4-FFF2-40B4-BE49-F238E27FC236}">
                <a16:creationId xmlns:a16="http://schemas.microsoft.com/office/drawing/2014/main" id="{1B6E16CF-568A-DB52-A3EB-6D4FADCDD95D}"/>
              </a:ext>
            </a:extLst>
          </p:cNvPr>
          <p:cNvSpPr>
            <a:spLocks noGrp="1"/>
          </p:cNvSpPr>
          <p:nvPr/>
        </p:nvSpPr>
        <p:spPr>
          <a:xfrm>
            <a:off x="0" y="-296563"/>
            <a:ext cx="0" cy="0"/>
          </a:xfrm>
        </p:spPr>
        <p:txBody>
          <a:bodyPr/>
          <a:lstStyle/>
          <a:p>
            <a:endParaRPr lang="uk-UA" dirty="0"/>
          </a:p>
        </p:txBody>
      </p:sp>
      <p:graphicFrame>
        <p:nvGraphicFramePr>
          <p:cNvPr id="726" name="Table 72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16761754"/>
              </p:ext>
            </p:extLst>
          </p:nvPr>
        </p:nvGraphicFramePr>
        <p:xfrm>
          <a:off x="500000" y="1027579"/>
          <a:ext cx="11191998" cy="4458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98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3266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6533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6533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86533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865333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636857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FFFFF"/>
                          </a:solidFill>
                        </a:rPr>
                        <a:t>Варіант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FFFFF"/>
                          </a:solidFill>
                        </a:rPr>
                        <a:t>PK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FFFFF"/>
                          </a:solidFill>
                        </a:rPr>
                        <a:t>σ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FFFFF"/>
                          </a:solidFill>
                        </a:rPr>
                        <a:t>Sign (мс)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FFFFF"/>
                          </a:solidFill>
                        </a:rPr>
                        <a:t>Verify (мс)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FFFFF"/>
                          </a:solidFill>
                        </a:rPr>
                        <a:t>Рівень NIST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36857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F1F2E"/>
                          </a:solidFill>
                        </a:rPr>
                        <a:t>SLH-DSA-SHA2-128s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F1F2E"/>
                          </a:solidFill>
                        </a:rPr>
                        <a:t>32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F1F2E"/>
                          </a:solidFill>
                        </a:rPr>
                        <a:t>7 856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F1F2E"/>
                          </a:solidFill>
                        </a:rPr>
                        <a:t>~600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F1F2E"/>
                          </a:solidFill>
                        </a:rPr>
                        <a:t>~5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F1F2E"/>
                          </a:solidFill>
                        </a:rPr>
                        <a:t>Level 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36857">
                <a:tc>
                  <a:txBody>
                    <a:bodyPr/>
                    <a:lstStyle/>
                    <a:p>
                      <a:r>
                        <a:rPr sz="1800" dirty="0">
                          <a:solidFill>
                            <a:srgbClr val="1F1F2E"/>
                          </a:solidFill>
                        </a:rPr>
                        <a:t>SLH-DSA-SHA2-128f</a:t>
                      </a:r>
                    </a:p>
                  </a:txBody>
                  <a:tcPr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F1F2E"/>
                          </a:solidFill>
                        </a:rPr>
                        <a:t>32</a:t>
                      </a:r>
                    </a:p>
                  </a:txBody>
                  <a:tcPr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F1F2E"/>
                          </a:solidFill>
                        </a:rPr>
                        <a:t>17 088</a:t>
                      </a:r>
                    </a:p>
                  </a:txBody>
                  <a:tcPr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F1F2E"/>
                          </a:solidFill>
                        </a:rPr>
                        <a:t>~25</a:t>
                      </a:r>
                    </a:p>
                  </a:txBody>
                  <a:tcPr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F1F2E"/>
                          </a:solidFill>
                        </a:rPr>
                        <a:t>~7</a:t>
                      </a:r>
                    </a:p>
                  </a:txBody>
                  <a:tcPr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F1F2E"/>
                          </a:solidFill>
                        </a:rPr>
                        <a:t>Level 1</a:t>
                      </a:r>
                    </a:p>
                  </a:txBody>
                  <a:tcPr>
                    <a:solidFill>
                      <a:srgbClr val="F2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36857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F1F2E"/>
                          </a:solidFill>
                        </a:rPr>
                        <a:t>SLH-DSA-SHA2-192s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F1F2E"/>
                          </a:solidFill>
                        </a:rPr>
                        <a:t>48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F1F2E"/>
                          </a:solidFill>
                        </a:rPr>
                        <a:t>16 224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F1F2E"/>
                          </a:solidFill>
                        </a:rPr>
                        <a:t>~1 200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F1F2E"/>
                          </a:solidFill>
                        </a:rPr>
                        <a:t>~8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F1F2E"/>
                          </a:solidFill>
                        </a:rPr>
                        <a:t>Level 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36857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F1F2E"/>
                          </a:solidFill>
                        </a:rPr>
                        <a:t>SLH-DSA-SHA2-192f</a:t>
                      </a:r>
                    </a:p>
                  </a:txBody>
                  <a:tcPr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F1F2E"/>
                          </a:solidFill>
                        </a:rPr>
                        <a:t>48</a:t>
                      </a:r>
                    </a:p>
                  </a:txBody>
                  <a:tcPr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F1F2E"/>
                          </a:solidFill>
                        </a:rPr>
                        <a:t>35 664</a:t>
                      </a:r>
                    </a:p>
                  </a:txBody>
                  <a:tcPr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F1F2E"/>
                          </a:solidFill>
                        </a:rPr>
                        <a:t>~50</a:t>
                      </a:r>
                    </a:p>
                  </a:txBody>
                  <a:tcPr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F1F2E"/>
                          </a:solidFill>
                        </a:rPr>
                        <a:t>~10</a:t>
                      </a:r>
                    </a:p>
                  </a:txBody>
                  <a:tcPr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F1F2E"/>
                          </a:solidFill>
                        </a:rPr>
                        <a:t>Level 3</a:t>
                      </a:r>
                    </a:p>
                  </a:txBody>
                  <a:tcPr>
                    <a:solidFill>
                      <a:srgbClr val="F2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36857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F1F2E"/>
                          </a:solidFill>
                        </a:rPr>
                        <a:t>SLH-DSA-SHA2-256s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F1F2E"/>
                          </a:solidFill>
                        </a:rPr>
                        <a:t>64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F1F2E"/>
                          </a:solidFill>
                        </a:rPr>
                        <a:t>29 792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F1F2E"/>
                          </a:solidFill>
                        </a:rPr>
                        <a:t>~1 800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F1F2E"/>
                          </a:solidFill>
                        </a:rPr>
                        <a:t>~12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F1F2E"/>
                          </a:solidFill>
                        </a:rPr>
                        <a:t>Level 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36858">
                <a:tc>
                  <a:txBody>
                    <a:bodyPr/>
                    <a:lstStyle/>
                    <a:p>
                      <a:r>
                        <a:rPr sz="1800" dirty="0">
                          <a:solidFill>
                            <a:srgbClr val="1F1F2E"/>
                          </a:solidFill>
                        </a:rPr>
                        <a:t>SLH-DSA-SHA2-256f</a:t>
                      </a:r>
                    </a:p>
                  </a:txBody>
                  <a:tcPr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F1F2E"/>
                          </a:solidFill>
                        </a:rPr>
                        <a:t>64</a:t>
                      </a:r>
                    </a:p>
                  </a:txBody>
                  <a:tcPr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F1F2E"/>
                          </a:solidFill>
                        </a:rPr>
                        <a:t>49 856</a:t>
                      </a:r>
                    </a:p>
                  </a:txBody>
                  <a:tcPr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F1F2E"/>
                          </a:solidFill>
                        </a:rPr>
                        <a:t>~120</a:t>
                      </a:r>
                    </a:p>
                  </a:txBody>
                  <a:tcPr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F1F2E"/>
                          </a:solidFill>
                        </a:rPr>
                        <a:t>~14</a:t>
                      </a:r>
                    </a:p>
                  </a:txBody>
                  <a:tcPr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dirty="0">
                          <a:solidFill>
                            <a:srgbClr val="1F1F2E"/>
                          </a:solidFill>
                        </a:rPr>
                        <a:t>Level 5</a:t>
                      </a:r>
                    </a:p>
                  </a:txBody>
                  <a:tcPr>
                    <a:solidFill>
                      <a:srgbClr val="F2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727" name="TextBox 726"/>
          <p:cNvSpPr txBox="1"/>
          <p:nvPr/>
        </p:nvSpPr>
        <p:spPr>
          <a:xfrm>
            <a:off x="500000" y="5585579"/>
            <a:ext cx="11192000" cy="50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sz="1800" i="1" dirty="0">
                <a:solidFill>
                  <a:srgbClr val="555566"/>
                </a:solidFill>
              </a:rPr>
              <a:t>12 </a:t>
            </a:r>
            <a:r>
              <a:rPr sz="1800" i="1" dirty="0" err="1">
                <a:solidFill>
                  <a:srgbClr val="555566"/>
                </a:solidFill>
              </a:rPr>
              <a:t>варіантів</a:t>
            </a:r>
            <a:r>
              <a:rPr sz="1800" i="1" dirty="0">
                <a:solidFill>
                  <a:srgbClr val="555566"/>
                </a:solidFill>
              </a:rPr>
              <a:t>: {SHA-2, SHAKE} × {128, 192, 256-біт} × {small, fast}. Default: SLH-DSA-SHA2-128s.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5096979-3FB2-922C-225A-AB5730E70AAB}"/>
              </a:ext>
            </a:extLst>
          </p:cNvPr>
          <p:cNvSpPr txBox="1"/>
          <p:nvPr/>
        </p:nvSpPr>
        <p:spPr>
          <a:xfrm>
            <a:off x="2916193" y="404359"/>
            <a:ext cx="635961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SPHINCS+ / SLH-DSA: </a:t>
            </a:r>
            <a:r>
              <a:rPr lang="en-US" sz="2800" dirty="0" err="1"/>
              <a:t>параметри</a:t>
            </a:r>
            <a:r>
              <a:rPr lang="en-US" sz="2800" dirty="0"/>
              <a:t> FIPS 205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6" name="suppress_None"/>
          <p:cNvSpPr>
            <a:spLocks noGrp="1"/>
          </p:cNvSpPr>
          <p:nvPr>
            <p:ph type="title"/>
          </p:nvPr>
        </p:nvSpPr>
        <p:spPr>
          <a:xfrm>
            <a:off x="-10000000" y="-10469560"/>
            <a:ext cx="100" cy="100"/>
          </a:xfrm>
        </p:spPr>
        <p:txBody>
          <a:bodyPr wrap="none">
            <a:normAutofit fontScale="90000"/>
          </a:bodyPr>
          <a:lstStyle/>
          <a:p>
            <a:endParaRPr/>
          </a:p>
        </p:txBody>
      </p:sp>
      <p:sp>
        <p:nvSpPr>
          <p:cNvPr id="731" name="Rounded Rectangle 730"/>
          <p:cNvSpPr/>
          <p:nvPr/>
        </p:nvSpPr>
        <p:spPr>
          <a:xfrm>
            <a:off x="700000" y="1015223"/>
            <a:ext cx="5246000" cy="750000"/>
          </a:xfrm>
          <a:prstGeom prst="roundRect">
            <a:avLst/>
          </a:prstGeom>
          <a:solidFill>
            <a:srgbClr val="C0504D"/>
          </a:solidFill>
          <a:ln>
            <a:solidFill>
              <a:srgbClr val="C050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400" b="1">
                <a:solidFill>
                  <a:srgbClr val="FFFFFF"/>
                </a:solidFill>
              </a:rPr>
              <a:t>SLH-DSA (FIPS 205)</a:t>
            </a:r>
          </a:p>
        </p:txBody>
      </p:sp>
      <p:sp>
        <p:nvSpPr>
          <p:cNvPr id="732" name="Rectangle 731"/>
          <p:cNvSpPr/>
          <p:nvPr/>
        </p:nvSpPr>
        <p:spPr>
          <a:xfrm>
            <a:off x="700000" y="1865223"/>
            <a:ext cx="5246000" cy="4050000"/>
          </a:xfrm>
          <a:prstGeom prst="rect">
            <a:avLst/>
          </a:prstGeom>
          <a:solidFill>
            <a:srgbClr val="F7F9FD"/>
          </a:solidFill>
          <a:ln>
            <a:solidFill>
              <a:srgbClr val="CDD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0000" tIns="200000" rIns="200000" bIns="200000" rtlCol="0" anchor="ctr"/>
          <a:lstStyle/>
          <a:p>
            <a:pPr>
              <a:spcAft>
                <a:spcPts val="800"/>
              </a:spcAft>
            </a:pPr>
            <a:r>
              <a:rPr sz="2200" dirty="0">
                <a:solidFill>
                  <a:srgbClr val="222233"/>
                </a:solidFill>
              </a:rPr>
              <a:t>•  </a:t>
            </a:r>
            <a:r>
              <a:rPr sz="2200" dirty="0" err="1">
                <a:solidFill>
                  <a:srgbClr val="222233"/>
                </a:solidFill>
              </a:rPr>
              <a:t>Основа</a:t>
            </a:r>
            <a:r>
              <a:rPr sz="2200" dirty="0">
                <a:solidFill>
                  <a:srgbClr val="222233"/>
                </a:solidFill>
              </a:rPr>
              <a:t>: </a:t>
            </a:r>
            <a:r>
              <a:rPr sz="2200" dirty="0" err="1">
                <a:solidFill>
                  <a:srgbClr val="222233"/>
                </a:solidFill>
              </a:rPr>
              <a:t>лише</a:t>
            </a:r>
            <a:r>
              <a:rPr sz="2200" dirty="0">
                <a:solidFill>
                  <a:srgbClr val="222233"/>
                </a:solidFill>
              </a:rPr>
              <a:t> </a:t>
            </a:r>
            <a:r>
              <a:rPr sz="2200" dirty="0" err="1">
                <a:solidFill>
                  <a:srgbClr val="222233"/>
                </a:solidFill>
              </a:rPr>
              <a:t>хеш-функції</a:t>
            </a:r>
            <a:endParaRPr sz="2200" dirty="0">
              <a:solidFill>
                <a:srgbClr val="222233"/>
              </a:solidFill>
            </a:endParaRPr>
          </a:p>
          <a:p>
            <a:pPr>
              <a:spcAft>
                <a:spcPts val="800"/>
              </a:spcAft>
            </a:pPr>
            <a:r>
              <a:rPr sz="2200" dirty="0">
                <a:solidFill>
                  <a:srgbClr val="222233"/>
                </a:solidFill>
              </a:rPr>
              <a:t>•  PK = 32 </a:t>
            </a:r>
            <a:r>
              <a:rPr sz="2200" dirty="0" err="1">
                <a:solidFill>
                  <a:srgbClr val="222233"/>
                </a:solidFill>
              </a:rPr>
              <a:t>Б</a:t>
            </a:r>
            <a:r>
              <a:rPr sz="2200" dirty="0">
                <a:solidFill>
                  <a:srgbClr val="222233"/>
                </a:solidFill>
              </a:rPr>
              <a:t>, </a:t>
            </a:r>
            <a:r>
              <a:rPr sz="2200" dirty="0" err="1">
                <a:solidFill>
                  <a:srgbClr val="222233"/>
                </a:solidFill>
              </a:rPr>
              <a:t>σ</a:t>
            </a:r>
            <a:r>
              <a:rPr sz="2200" dirty="0">
                <a:solidFill>
                  <a:srgbClr val="222233"/>
                </a:solidFill>
              </a:rPr>
              <a:t> = 7-50 КБ</a:t>
            </a:r>
          </a:p>
          <a:p>
            <a:pPr>
              <a:spcAft>
                <a:spcPts val="800"/>
              </a:spcAft>
            </a:pPr>
            <a:r>
              <a:rPr sz="2200" dirty="0">
                <a:solidFill>
                  <a:srgbClr val="222233"/>
                </a:solidFill>
              </a:rPr>
              <a:t>•  </a:t>
            </a:r>
            <a:r>
              <a:rPr sz="2200" dirty="0" err="1">
                <a:solidFill>
                  <a:srgbClr val="222233"/>
                </a:solidFill>
              </a:rPr>
              <a:t>Дуже</a:t>
            </a:r>
            <a:r>
              <a:rPr sz="2200" dirty="0">
                <a:solidFill>
                  <a:srgbClr val="222233"/>
                </a:solidFill>
              </a:rPr>
              <a:t> </a:t>
            </a:r>
            <a:r>
              <a:rPr sz="2200" dirty="0" err="1">
                <a:solidFill>
                  <a:srgbClr val="222233"/>
                </a:solidFill>
              </a:rPr>
              <a:t>консервативна</a:t>
            </a:r>
            <a:r>
              <a:rPr sz="2200" dirty="0">
                <a:solidFill>
                  <a:srgbClr val="222233"/>
                </a:solidFill>
              </a:rPr>
              <a:t> </a:t>
            </a:r>
            <a:r>
              <a:rPr sz="2200" dirty="0" err="1">
                <a:solidFill>
                  <a:srgbClr val="222233"/>
                </a:solidFill>
              </a:rPr>
              <a:t>безпека</a:t>
            </a:r>
            <a:endParaRPr sz="2200" dirty="0">
              <a:solidFill>
                <a:srgbClr val="222233"/>
              </a:solidFill>
            </a:endParaRPr>
          </a:p>
          <a:p>
            <a:pPr>
              <a:spcAft>
                <a:spcPts val="800"/>
              </a:spcAft>
            </a:pPr>
            <a:r>
              <a:rPr sz="2200" dirty="0">
                <a:solidFill>
                  <a:srgbClr val="222233"/>
                </a:solidFill>
              </a:rPr>
              <a:t>•  </a:t>
            </a:r>
            <a:r>
              <a:rPr sz="2200" dirty="0" err="1">
                <a:solidFill>
                  <a:srgbClr val="222233"/>
                </a:solidFill>
              </a:rPr>
              <a:t>Повільний</a:t>
            </a:r>
            <a:r>
              <a:rPr sz="2200" dirty="0">
                <a:solidFill>
                  <a:srgbClr val="222233"/>
                </a:solidFill>
              </a:rPr>
              <a:t> sign (small)</a:t>
            </a:r>
          </a:p>
          <a:p>
            <a:pPr>
              <a:spcAft>
                <a:spcPts val="800"/>
              </a:spcAft>
            </a:pPr>
            <a:r>
              <a:rPr sz="2200" dirty="0">
                <a:solidFill>
                  <a:srgbClr val="222233"/>
                </a:solidFill>
              </a:rPr>
              <a:t>•  Backup </a:t>
            </a:r>
            <a:r>
              <a:rPr sz="2200" dirty="0" err="1">
                <a:solidFill>
                  <a:srgbClr val="222233"/>
                </a:solidFill>
              </a:rPr>
              <a:t>для</a:t>
            </a:r>
            <a:r>
              <a:rPr sz="2200" dirty="0">
                <a:solidFill>
                  <a:srgbClr val="222233"/>
                </a:solidFill>
              </a:rPr>
              <a:t> </a:t>
            </a:r>
            <a:r>
              <a:rPr sz="2200" dirty="0" err="1">
                <a:solidFill>
                  <a:srgbClr val="222233"/>
                </a:solidFill>
              </a:rPr>
              <a:t>критичних</a:t>
            </a:r>
            <a:r>
              <a:rPr sz="2200" dirty="0">
                <a:solidFill>
                  <a:srgbClr val="222233"/>
                </a:solidFill>
              </a:rPr>
              <a:t> </a:t>
            </a:r>
            <a:r>
              <a:rPr sz="2200" dirty="0" err="1">
                <a:solidFill>
                  <a:srgbClr val="222233"/>
                </a:solidFill>
              </a:rPr>
              <a:t>артефактів</a:t>
            </a:r>
            <a:endParaRPr sz="2200" dirty="0">
              <a:solidFill>
                <a:srgbClr val="222233"/>
              </a:solidFill>
            </a:endParaRPr>
          </a:p>
          <a:p>
            <a:pPr>
              <a:spcAft>
                <a:spcPts val="800"/>
              </a:spcAft>
            </a:pPr>
            <a:r>
              <a:rPr sz="2200" dirty="0">
                <a:solidFill>
                  <a:srgbClr val="222233"/>
                </a:solidFill>
              </a:rPr>
              <a:t>•  Code signing, root-CA, firmware</a:t>
            </a:r>
          </a:p>
        </p:txBody>
      </p:sp>
      <p:sp>
        <p:nvSpPr>
          <p:cNvPr id="733" name="Rounded Rectangle 732"/>
          <p:cNvSpPr/>
          <p:nvPr/>
        </p:nvSpPr>
        <p:spPr>
          <a:xfrm>
            <a:off x="6246000" y="1015223"/>
            <a:ext cx="5246000" cy="750000"/>
          </a:xfrm>
          <a:prstGeom prst="roundRect">
            <a:avLst/>
          </a:prstGeom>
          <a:solidFill>
            <a:srgbClr val="4472C4"/>
          </a:solidFill>
          <a:ln>
            <a:solidFill>
              <a:srgbClr val="4472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400" b="1">
                <a:solidFill>
                  <a:srgbClr val="FFFFFF"/>
                </a:solidFill>
              </a:rPr>
              <a:t>ML-DSA / FN-DSA</a:t>
            </a:r>
          </a:p>
        </p:txBody>
      </p:sp>
      <p:sp>
        <p:nvSpPr>
          <p:cNvPr id="734" name="Rectangle 733"/>
          <p:cNvSpPr/>
          <p:nvPr/>
        </p:nvSpPr>
        <p:spPr>
          <a:xfrm>
            <a:off x="6246000" y="1865223"/>
            <a:ext cx="5246000" cy="4050000"/>
          </a:xfrm>
          <a:prstGeom prst="rect">
            <a:avLst/>
          </a:prstGeom>
          <a:solidFill>
            <a:srgbClr val="F7F9FD"/>
          </a:solidFill>
          <a:ln>
            <a:solidFill>
              <a:srgbClr val="CDD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0000" tIns="200000" rIns="200000" bIns="200000" rtlCol="0" anchor="ctr"/>
          <a:lstStyle/>
          <a:p>
            <a:pPr>
              <a:spcAft>
                <a:spcPts val="800"/>
              </a:spcAft>
            </a:pPr>
            <a:r>
              <a:rPr sz="2200" dirty="0">
                <a:solidFill>
                  <a:srgbClr val="222233"/>
                </a:solidFill>
              </a:rPr>
              <a:t>•  </a:t>
            </a:r>
            <a:r>
              <a:rPr sz="2200" dirty="0" err="1">
                <a:solidFill>
                  <a:srgbClr val="222233"/>
                </a:solidFill>
              </a:rPr>
              <a:t>Основа</a:t>
            </a:r>
            <a:r>
              <a:rPr sz="2200" dirty="0">
                <a:solidFill>
                  <a:srgbClr val="222233"/>
                </a:solidFill>
              </a:rPr>
              <a:t>: </a:t>
            </a:r>
            <a:r>
              <a:rPr sz="2200" dirty="0" err="1">
                <a:solidFill>
                  <a:srgbClr val="222233"/>
                </a:solidFill>
              </a:rPr>
              <a:t>решітки</a:t>
            </a:r>
            <a:r>
              <a:rPr sz="2200" dirty="0">
                <a:solidFill>
                  <a:srgbClr val="222233"/>
                </a:solidFill>
              </a:rPr>
              <a:t> (LWE / NTRU)</a:t>
            </a:r>
          </a:p>
          <a:p>
            <a:pPr>
              <a:spcAft>
                <a:spcPts val="800"/>
              </a:spcAft>
            </a:pPr>
            <a:r>
              <a:rPr sz="2200" dirty="0">
                <a:solidFill>
                  <a:srgbClr val="222233"/>
                </a:solidFill>
              </a:rPr>
              <a:t>•  PK = 0.9-1.3 КБ, </a:t>
            </a:r>
            <a:r>
              <a:rPr sz="2200" dirty="0" err="1">
                <a:solidFill>
                  <a:srgbClr val="222233"/>
                </a:solidFill>
              </a:rPr>
              <a:t>σ</a:t>
            </a:r>
            <a:r>
              <a:rPr sz="2200" dirty="0">
                <a:solidFill>
                  <a:srgbClr val="222233"/>
                </a:solidFill>
              </a:rPr>
              <a:t> = 0.7-2.5 КБ</a:t>
            </a:r>
          </a:p>
          <a:p>
            <a:pPr>
              <a:spcAft>
                <a:spcPts val="800"/>
              </a:spcAft>
            </a:pPr>
            <a:r>
              <a:rPr sz="2200" dirty="0">
                <a:solidFill>
                  <a:srgbClr val="222233"/>
                </a:solidFill>
              </a:rPr>
              <a:t>•  </a:t>
            </a:r>
            <a:r>
              <a:rPr sz="2200" dirty="0" err="1">
                <a:solidFill>
                  <a:srgbClr val="222233"/>
                </a:solidFill>
              </a:rPr>
              <a:t>Алгебраїчні</a:t>
            </a:r>
            <a:r>
              <a:rPr sz="2200" dirty="0">
                <a:solidFill>
                  <a:srgbClr val="222233"/>
                </a:solidFill>
              </a:rPr>
              <a:t> </a:t>
            </a:r>
            <a:r>
              <a:rPr sz="2200" dirty="0" err="1">
                <a:solidFill>
                  <a:srgbClr val="222233"/>
                </a:solidFill>
              </a:rPr>
              <a:t>припущення</a:t>
            </a:r>
            <a:endParaRPr sz="2200" dirty="0">
              <a:solidFill>
                <a:srgbClr val="222233"/>
              </a:solidFill>
            </a:endParaRPr>
          </a:p>
          <a:p>
            <a:pPr>
              <a:spcAft>
                <a:spcPts val="800"/>
              </a:spcAft>
            </a:pPr>
            <a:r>
              <a:rPr sz="2200" dirty="0">
                <a:solidFill>
                  <a:srgbClr val="222233"/>
                </a:solidFill>
              </a:rPr>
              <a:t>•  </a:t>
            </a:r>
            <a:r>
              <a:rPr sz="2200" dirty="0" err="1">
                <a:solidFill>
                  <a:srgbClr val="222233"/>
                </a:solidFill>
              </a:rPr>
              <a:t>Швидкий</a:t>
            </a:r>
            <a:r>
              <a:rPr sz="2200" dirty="0">
                <a:solidFill>
                  <a:srgbClr val="222233"/>
                </a:solidFill>
              </a:rPr>
              <a:t> sign </a:t>
            </a:r>
            <a:r>
              <a:rPr sz="2200" dirty="0" err="1">
                <a:solidFill>
                  <a:srgbClr val="222233"/>
                </a:solidFill>
              </a:rPr>
              <a:t>та</a:t>
            </a:r>
            <a:r>
              <a:rPr sz="2200" dirty="0">
                <a:solidFill>
                  <a:srgbClr val="222233"/>
                </a:solidFill>
              </a:rPr>
              <a:t> verify</a:t>
            </a:r>
          </a:p>
          <a:p>
            <a:pPr>
              <a:spcAft>
                <a:spcPts val="800"/>
              </a:spcAft>
            </a:pPr>
            <a:r>
              <a:rPr sz="2200" dirty="0">
                <a:solidFill>
                  <a:srgbClr val="222233"/>
                </a:solidFill>
              </a:rPr>
              <a:t>•  Default </a:t>
            </a:r>
            <a:r>
              <a:rPr sz="2200" dirty="0" err="1">
                <a:solidFill>
                  <a:srgbClr val="222233"/>
                </a:solidFill>
              </a:rPr>
              <a:t>для</a:t>
            </a:r>
            <a:r>
              <a:rPr sz="2200" dirty="0">
                <a:solidFill>
                  <a:srgbClr val="222233"/>
                </a:solidFill>
              </a:rPr>
              <a:t> </a:t>
            </a:r>
            <a:r>
              <a:rPr sz="2200" dirty="0" err="1">
                <a:solidFill>
                  <a:srgbClr val="222233"/>
                </a:solidFill>
              </a:rPr>
              <a:t>більшості</a:t>
            </a:r>
            <a:r>
              <a:rPr sz="2200" dirty="0">
                <a:solidFill>
                  <a:srgbClr val="222233"/>
                </a:solidFill>
              </a:rPr>
              <a:t> </a:t>
            </a:r>
            <a:r>
              <a:rPr sz="2200" dirty="0" err="1">
                <a:solidFill>
                  <a:srgbClr val="222233"/>
                </a:solidFill>
              </a:rPr>
              <a:t>сценаріїв</a:t>
            </a:r>
            <a:endParaRPr sz="2200" dirty="0">
              <a:solidFill>
                <a:srgbClr val="222233"/>
              </a:solidFill>
            </a:endParaRPr>
          </a:p>
          <a:p>
            <a:pPr>
              <a:spcAft>
                <a:spcPts val="800"/>
              </a:spcAft>
            </a:pPr>
            <a:r>
              <a:rPr sz="2200" dirty="0">
                <a:solidFill>
                  <a:srgbClr val="222233"/>
                </a:solidFill>
              </a:rPr>
              <a:t>•  TLS, </a:t>
            </a:r>
            <a:r>
              <a:rPr sz="2200" dirty="0" err="1">
                <a:solidFill>
                  <a:srgbClr val="222233"/>
                </a:solidFill>
              </a:rPr>
              <a:t>документообіг</a:t>
            </a:r>
            <a:r>
              <a:rPr sz="2200" dirty="0">
                <a:solidFill>
                  <a:srgbClr val="222233"/>
                </a:solidFill>
              </a:rPr>
              <a:t>, mobile</a:t>
            </a:r>
          </a:p>
        </p:txBody>
      </p:sp>
      <p:sp>
        <p:nvSpPr>
          <p:cNvPr id="735" name="TextBox 734"/>
          <p:cNvSpPr txBox="1"/>
          <p:nvPr/>
        </p:nvSpPr>
        <p:spPr>
          <a:xfrm>
            <a:off x="700000" y="6082866"/>
            <a:ext cx="10792000" cy="5000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2000" b="1" dirty="0">
                <a:solidFill>
                  <a:srgbClr val="445577"/>
                </a:solidFill>
              </a:rPr>
              <a:t>SLH-DSA - </a:t>
            </a:r>
            <a:r>
              <a:rPr sz="2000" b="1" dirty="0" err="1">
                <a:solidFill>
                  <a:srgbClr val="445577"/>
                </a:solidFill>
              </a:rPr>
              <a:t>консервативний</a:t>
            </a:r>
            <a:r>
              <a:rPr sz="2000" b="1" dirty="0">
                <a:solidFill>
                  <a:srgbClr val="445577"/>
                </a:solidFill>
              </a:rPr>
              <a:t> </a:t>
            </a:r>
            <a:r>
              <a:rPr sz="2000" b="1" dirty="0" err="1">
                <a:solidFill>
                  <a:srgbClr val="445577"/>
                </a:solidFill>
              </a:rPr>
              <a:t>резерв</a:t>
            </a:r>
            <a:r>
              <a:rPr sz="2000" b="1" dirty="0">
                <a:solidFill>
                  <a:srgbClr val="445577"/>
                </a:solidFill>
              </a:rPr>
              <a:t>; ML-DSA - </a:t>
            </a:r>
            <a:r>
              <a:rPr sz="2000" b="1" dirty="0" err="1">
                <a:solidFill>
                  <a:srgbClr val="445577"/>
                </a:solidFill>
              </a:rPr>
              <a:t>повсякденне</a:t>
            </a:r>
            <a:r>
              <a:rPr sz="2000" b="1" dirty="0">
                <a:solidFill>
                  <a:srgbClr val="445577"/>
                </a:solidFill>
              </a:rPr>
              <a:t> </a:t>
            </a:r>
            <a:r>
              <a:rPr sz="2000" b="1" dirty="0" err="1">
                <a:solidFill>
                  <a:srgbClr val="445577"/>
                </a:solidFill>
              </a:rPr>
              <a:t>використання</a:t>
            </a:r>
            <a:endParaRPr sz="2000" b="1" dirty="0">
              <a:solidFill>
                <a:srgbClr val="445577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553A2D2-5BF5-7C10-80E7-03C79A4E31A3}"/>
              </a:ext>
            </a:extLst>
          </p:cNvPr>
          <p:cNvSpPr txBox="1"/>
          <p:nvPr/>
        </p:nvSpPr>
        <p:spPr>
          <a:xfrm>
            <a:off x="2504617" y="324360"/>
            <a:ext cx="7482766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/>
              <a:t>NIST PQC </a:t>
            </a:r>
            <a:r>
              <a:rPr lang="en-US" sz="2800" dirty="0" err="1"/>
              <a:t>підписи</a:t>
            </a:r>
            <a:r>
              <a:rPr lang="en-US" sz="2800" dirty="0"/>
              <a:t>: SLH-DSA vs ML-DSA vs FN-DSA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1" name="suppress_None"/>
          <p:cNvSpPr>
            <a:spLocks noGrp="1"/>
          </p:cNvSpPr>
          <p:nvPr>
            <p:ph type="title"/>
          </p:nvPr>
        </p:nvSpPr>
        <p:spPr>
          <a:xfrm>
            <a:off x="-10000000" y="-10383061"/>
            <a:ext cx="100" cy="100"/>
          </a:xfrm>
        </p:spPr>
        <p:txBody>
          <a:bodyPr wrap="none">
            <a:normAutofit fontScale="90000"/>
          </a:bodyPr>
          <a:lstStyle/>
          <a:p>
            <a:endParaRPr/>
          </a:p>
        </p:txBody>
      </p:sp>
      <p:sp>
        <p:nvSpPr>
          <p:cNvPr id="735" name="Заголовок 1">
            <a:extLst>
              <a:ext uri="{FF2B5EF4-FFF2-40B4-BE49-F238E27FC236}">
                <a16:creationId xmlns:a16="http://schemas.microsoft.com/office/drawing/2014/main" id="{1B6E16CF-568A-DB52-A3EB-6D4FADCDD95D}"/>
              </a:ext>
            </a:extLst>
          </p:cNvPr>
          <p:cNvSpPr>
            <a:spLocks noGrp="1"/>
          </p:cNvSpPr>
          <p:nvPr/>
        </p:nvSpPr>
        <p:spPr>
          <a:xfrm>
            <a:off x="0" y="-383061"/>
            <a:ext cx="0" cy="0"/>
          </a:xfrm>
        </p:spPr>
        <p:txBody>
          <a:bodyPr/>
          <a:lstStyle/>
          <a:p>
            <a:endParaRPr lang="uk-UA" dirty="0"/>
          </a:p>
        </p:txBody>
      </p:sp>
      <p:graphicFrame>
        <p:nvGraphicFramePr>
          <p:cNvPr id="736" name="Table 73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88683214"/>
              </p:ext>
            </p:extLst>
          </p:nvPr>
        </p:nvGraphicFramePr>
        <p:xfrm>
          <a:off x="500000" y="866939"/>
          <a:ext cx="11191999" cy="530913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3066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98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6333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40733">
                <a:tc>
                  <a:txBody>
                    <a:bodyPr/>
                    <a:lstStyle/>
                    <a:p>
                      <a:r>
                        <a:rPr sz="2400" b="1" dirty="0" err="1">
                          <a:solidFill>
                            <a:srgbClr val="FFFFFF"/>
                          </a:solidFill>
                        </a:rPr>
                        <a:t>Сценарій</a:t>
                      </a:r>
                      <a:endParaRPr sz="2400" b="1" dirty="0">
                        <a:solidFill>
                          <a:srgbClr val="FFFFFF"/>
                        </a:solidFill>
                      </a:endParaRP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 b="1">
                          <a:solidFill>
                            <a:srgbClr val="FFFFFF"/>
                          </a:solidFill>
                        </a:rPr>
                        <a:t>Рекомендована схема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 b="1">
                          <a:solidFill>
                            <a:srgbClr val="FFFFFF"/>
                          </a:solidFill>
                        </a:rPr>
                        <a:t>Обґрунтування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0733">
                <a:tc>
                  <a:txBody>
                    <a:bodyPr/>
                    <a:lstStyle/>
                    <a:p>
                      <a:r>
                        <a:rPr sz="2000" dirty="0">
                          <a:solidFill>
                            <a:srgbClr val="1F1F2E"/>
                          </a:solidFill>
                        </a:rPr>
                        <a:t>Firmware signing (IoT, ICS)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>
                          <a:solidFill>
                            <a:srgbClr val="1F1F2E"/>
                          </a:solidFill>
                        </a:rPr>
                        <a:t>XMSS / LMS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>
                          <a:solidFill>
                            <a:srgbClr val="1F1F2E"/>
                          </a:solidFill>
                        </a:rPr>
                        <a:t>Малі частоти, stateful керовано HSM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0733">
                <a:tc>
                  <a:txBody>
                    <a:bodyPr/>
                    <a:lstStyle/>
                    <a:p>
                      <a:r>
                        <a:rPr sz="2000">
                          <a:solidFill>
                            <a:srgbClr val="1F1F2E"/>
                          </a:solidFill>
                        </a:rPr>
                        <a:t>Root-CA сертифікати</a:t>
                      </a:r>
                    </a:p>
                  </a:txBody>
                  <a:tcPr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>
                          <a:solidFill>
                            <a:srgbClr val="1F1F2E"/>
                          </a:solidFill>
                        </a:rPr>
                        <a:t>SLH-DSA-256s</a:t>
                      </a:r>
                    </a:p>
                  </a:txBody>
                  <a:tcPr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>
                          <a:solidFill>
                            <a:srgbClr val="1F1F2E"/>
                          </a:solidFill>
                        </a:rPr>
                        <a:t>Довгий термін дії (10+ років)</a:t>
                      </a:r>
                    </a:p>
                  </a:txBody>
                  <a:tcPr>
                    <a:solidFill>
                      <a:srgbClr val="F2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0733">
                <a:tc>
                  <a:txBody>
                    <a:bodyPr/>
                    <a:lstStyle/>
                    <a:p>
                      <a:r>
                        <a:rPr sz="2000">
                          <a:solidFill>
                            <a:srgbClr val="1F1F2E"/>
                          </a:solidFill>
                        </a:rPr>
                        <a:t>TLS server certificates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>
                          <a:solidFill>
                            <a:srgbClr val="1F1F2E"/>
                          </a:solidFill>
                        </a:rPr>
                        <a:t>ML-DSA + SLH-DSA hybrid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>
                          <a:solidFill>
                            <a:srgbClr val="1F1F2E"/>
                          </a:solidFill>
                        </a:rPr>
                        <a:t>Швидкий handshake + захист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0733">
                <a:tc>
                  <a:txBody>
                    <a:bodyPr/>
                    <a:lstStyle/>
                    <a:p>
                      <a:r>
                        <a:rPr sz="2000">
                          <a:solidFill>
                            <a:srgbClr val="1F1F2E"/>
                          </a:solidFill>
                        </a:rPr>
                        <a:t>Code signing (OS updates)</a:t>
                      </a:r>
                    </a:p>
                  </a:txBody>
                  <a:tcPr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>
                          <a:solidFill>
                            <a:srgbClr val="1F1F2E"/>
                          </a:solidFill>
                        </a:rPr>
                        <a:t>SLH-DSA-128f</a:t>
                      </a:r>
                    </a:p>
                  </a:txBody>
                  <a:tcPr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>
                          <a:solidFill>
                            <a:srgbClr val="1F1F2E"/>
                          </a:solidFill>
                        </a:rPr>
                        <a:t>Stateless, висока довіра</a:t>
                      </a:r>
                    </a:p>
                  </a:txBody>
                  <a:tcPr>
                    <a:solidFill>
                      <a:srgbClr val="F2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40733">
                <a:tc>
                  <a:txBody>
                    <a:bodyPr/>
                    <a:lstStyle/>
                    <a:p>
                      <a:r>
                        <a:rPr sz="2000" dirty="0">
                          <a:solidFill>
                            <a:srgbClr val="1F1F2E"/>
                          </a:solidFill>
                        </a:rPr>
                        <a:t>DNSSEC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>
                          <a:solidFill>
                            <a:srgbClr val="1F1F2E"/>
                          </a:solidFill>
                        </a:rPr>
                        <a:t>ML-DSA / FN-DSA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>
                          <a:solidFill>
                            <a:srgbClr val="1F1F2E"/>
                          </a:solidFill>
                        </a:rPr>
                        <a:t>Малий σ для UDP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40733">
                <a:tc>
                  <a:txBody>
                    <a:bodyPr/>
                    <a:lstStyle/>
                    <a:p>
                      <a:r>
                        <a:rPr sz="2000">
                          <a:solidFill>
                            <a:srgbClr val="1F1F2E"/>
                          </a:solidFill>
                        </a:rPr>
                        <a:t>Smart-card транзакції</a:t>
                      </a:r>
                    </a:p>
                  </a:txBody>
                  <a:tcPr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>
                          <a:solidFill>
                            <a:srgbClr val="1F1F2E"/>
                          </a:solidFill>
                        </a:rPr>
                        <a:t>FN-DSA</a:t>
                      </a:r>
                    </a:p>
                  </a:txBody>
                  <a:tcPr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>
                          <a:solidFill>
                            <a:srgbClr val="1F1F2E"/>
                          </a:solidFill>
                        </a:rPr>
                        <a:t>Мінімальний PK + σ</a:t>
                      </a:r>
                    </a:p>
                  </a:txBody>
                  <a:tcPr>
                    <a:solidFill>
                      <a:srgbClr val="F2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40733">
                <a:tc>
                  <a:txBody>
                    <a:bodyPr/>
                    <a:lstStyle/>
                    <a:p>
                      <a:r>
                        <a:rPr sz="2000" dirty="0">
                          <a:solidFill>
                            <a:srgbClr val="1F1F2E"/>
                          </a:solidFill>
                        </a:rPr>
                        <a:t>Blockchain (post-Q rollup)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>
                          <a:solidFill>
                            <a:srgbClr val="1F1F2E"/>
                          </a:solidFill>
                        </a:rPr>
                        <a:t>SLH-DSA-128f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dirty="0">
                          <a:solidFill>
                            <a:srgbClr val="1F1F2E"/>
                          </a:solidFill>
                        </a:rPr>
                        <a:t>Stateless, </a:t>
                      </a:r>
                      <a:r>
                        <a:rPr sz="2000" dirty="0" err="1">
                          <a:solidFill>
                            <a:srgbClr val="1F1F2E"/>
                          </a:solidFill>
                        </a:rPr>
                        <a:t>без</a:t>
                      </a:r>
                      <a:r>
                        <a:rPr sz="2000" dirty="0">
                          <a:solidFill>
                            <a:srgbClr val="1F1F2E"/>
                          </a:solidFill>
                        </a:rPr>
                        <a:t> state-management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40736">
                <a:tc>
                  <a:txBody>
                    <a:bodyPr/>
                    <a:lstStyle/>
                    <a:p>
                      <a:r>
                        <a:rPr sz="2000">
                          <a:solidFill>
                            <a:srgbClr val="1F1F2E"/>
                          </a:solidFill>
                        </a:rPr>
                        <a:t>Документи (30+ років архіву)</a:t>
                      </a:r>
                    </a:p>
                  </a:txBody>
                  <a:tcPr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>
                          <a:solidFill>
                            <a:srgbClr val="1F1F2E"/>
                          </a:solidFill>
                        </a:rPr>
                        <a:t>SLH-DSA-256s + XMSS</a:t>
                      </a:r>
                    </a:p>
                  </a:txBody>
                  <a:tcPr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dirty="0" err="1">
                          <a:solidFill>
                            <a:srgbClr val="1F1F2E"/>
                          </a:solidFill>
                        </a:rPr>
                        <a:t>Максимум</a:t>
                      </a:r>
                      <a:r>
                        <a:rPr sz="2000" dirty="0">
                          <a:solidFill>
                            <a:srgbClr val="1F1F2E"/>
                          </a:solidFill>
                        </a:rPr>
                        <a:t> </a:t>
                      </a:r>
                      <a:r>
                        <a:rPr sz="2000" dirty="0" err="1">
                          <a:solidFill>
                            <a:srgbClr val="1F1F2E"/>
                          </a:solidFill>
                        </a:rPr>
                        <a:t>консервативності</a:t>
                      </a:r>
                      <a:endParaRPr sz="2000" dirty="0">
                        <a:solidFill>
                          <a:srgbClr val="1F1F2E"/>
                        </a:solidFill>
                      </a:endParaRPr>
                    </a:p>
                  </a:txBody>
                  <a:tcPr>
                    <a:solidFill>
                      <a:srgbClr val="F2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737" name="TextBox 736"/>
          <p:cNvSpPr txBox="1"/>
          <p:nvPr/>
        </p:nvSpPr>
        <p:spPr>
          <a:xfrm>
            <a:off x="500000" y="6240490"/>
            <a:ext cx="11192000" cy="50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sz="1800" i="1" dirty="0">
                <a:solidFill>
                  <a:srgbClr val="555566"/>
                </a:solidFill>
              </a:rPr>
              <a:t>Cloudflare, Microsoft, Apple, Linux Kernel </a:t>
            </a:r>
            <a:r>
              <a:rPr sz="1800" i="1" dirty="0" err="1">
                <a:solidFill>
                  <a:srgbClr val="555566"/>
                </a:solidFill>
              </a:rPr>
              <a:t>вже</a:t>
            </a:r>
            <a:r>
              <a:rPr sz="1800" i="1" dirty="0">
                <a:solidFill>
                  <a:srgbClr val="555566"/>
                </a:solidFill>
              </a:rPr>
              <a:t> </a:t>
            </a:r>
            <a:r>
              <a:rPr sz="1800" i="1" dirty="0" err="1">
                <a:solidFill>
                  <a:srgbClr val="555566"/>
                </a:solidFill>
              </a:rPr>
              <a:t>інтегрують</a:t>
            </a:r>
            <a:r>
              <a:rPr sz="1800" i="1" dirty="0">
                <a:solidFill>
                  <a:srgbClr val="555566"/>
                </a:solidFill>
              </a:rPr>
              <a:t> hash-based </a:t>
            </a:r>
            <a:r>
              <a:rPr sz="1800" i="1" dirty="0" err="1">
                <a:solidFill>
                  <a:srgbClr val="555566"/>
                </a:solidFill>
              </a:rPr>
              <a:t>схеми</a:t>
            </a:r>
            <a:r>
              <a:rPr sz="1800" i="1" dirty="0">
                <a:solidFill>
                  <a:srgbClr val="555566"/>
                </a:solidFill>
              </a:rPr>
              <a:t> </a:t>
            </a:r>
            <a:r>
              <a:rPr sz="1800" i="1" dirty="0" err="1">
                <a:solidFill>
                  <a:srgbClr val="555566"/>
                </a:solidFill>
              </a:rPr>
              <a:t>у</a:t>
            </a:r>
            <a:r>
              <a:rPr sz="1800" i="1" dirty="0">
                <a:solidFill>
                  <a:srgbClr val="555566"/>
                </a:solidFill>
              </a:rPr>
              <a:t> production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7B90DC1-A42E-55D9-C577-589463DC0F99}"/>
              </a:ext>
            </a:extLst>
          </p:cNvPr>
          <p:cNvSpPr txBox="1"/>
          <p:nvPr/>
        </p:nvSpPr>
        <p:spPr>
          <a:xfrm>
            <a:off x="2514985" y="279302"/>
            <a:ext cx="7162027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 err="1"/>
              <a:t>Сценарії</a:t>
            </a:r>
            <a:r>
              <a:rPr lang="en-US" sz="2800" dirty="0"/>
              <a:t> </a:t>
            </a:r>
            <a:r>
              <a:rPr lang="en-US" sz="2800" dirty="0" err="1"/>
              <a:t>застосування</a:t>
            </a:r>
            <a:r>
              <a:rPr lang="en-US" sz="2800" dirty="0"/>
              <a:t> hash-based </a:t>
            </a:r>
            <a:r>
              <a:rPr lang="en-US" sz="2800" dirty="0" err="1"/>
              <a:t>підписів</a:t>
            </a:r>
            <a:endParaRPr lang="en-US" sz="28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6" name="suppress_None"/>
          <p:cNvSpPr>
            <a:spLocks noGrp="1"/>
          </p:cNvSpPr>
          <p:nvPr>
            <p:ph type="title"/>
          </p:nvPr>
        </p:nvSpPr>
        <p:spPr>
          <a:xfrm>
            <a:off x="-10000000" y="-10333633"/>
            <a:ext cx="100" cy="100"/>
          </a:xfrm>
        </p:spPr>
        <p:txBody>
          <a:bodyPr wrap="none">
            <a:normAutofit fontScale="90000"/>
          </a:bodyPr>
          <a:lstStyle/>
          <a:p>
            <a:endParaRPr/>
          </a:p>
        </p:txBody>
      </p:sp>
      <p:sp>
        <p:nvSpPr>
          <p:cNvPr id="740" name="Заголовок 1">
            <a:extLst>
              <a:ext uri="{FF2B5EF4-FFF2-40B4-BE49-F238E27FC236}">
                <a16:creationId xmlns:a16="http://schemas.microsoft.com/office/drawing/2014/main" id="{1B6E16CF-568A-DB52-A3EB-6D4FADCDD95D}"/>
              </a:ext>
            </a:extLst>
          </p:cNvPr>
          <p:cNvSpPr>
            <a:spLocks noGrp="1"/>
          </p:cNvSpPr>
          <p:nvPr/>
        </p:nvSpPr>
        <p:spPr>
          <a:xfrm>
            <a:off x="0" y="-333633"/>
            <a:ext cx="0" cy="0"/>
          </a:xfrm>
        </p:spPr>
        <p:txBody>
          <a:bodyPr/>
          <a:lstStyle/>
          <a:p>
            <a:endParaRPr lang="uk-UA" dirty="0"/>
          </a:p>
        </p:txBody>
      </p:sp>
      <p:sp>
        <p:nvSpPr>
          <p:cNvPr id="741" name="Rounded Rectangle 740"/>
          <p:cNvSpPr/>
          <p:nvPr/>
        </p:nvSpPr>
        <p:spPr>
          <a:xfrm>
            <a:off x="700000" y="916367"/>
            <a:ext cx="5246000" cy="750000"/>
          </a:xfrm>
          <a:prstGeom prst="roundRect">
            <a:avLst/>
          </a:prstGeom>
          <a:solidFill>
            <a:srgbClr val="C0504D"/>
          </a:solidFill>
          <a:ln>
            <a:solidFill>
              <a:srgbClr val="C050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400" b="1" dirty="0" err="1">
                <a:solidFill>
                  <a:srgbClr val="FFFFFF"/>
                </a:solidFill>
              </a:rPr>
              <a:t>Що</a:t>
            </a:r>
            <a:r>
              <a:rPr sz="2400" b="1" dirty="0">
                <a:solidFill>
                  <a:srgbClr val="FFFFFF"/>
                </a:solidFill>
              </a:rPr>
              <a:t> </a:t>
            </a:r>
            <a:r>
              <a:rPr sz="2400" b="1" dirty="0" err="1">
                <a:solidFill>
                  <a:srgbClr val="FFFFFF"/>
                </a:solidFill>
              </a:rPr>
              <a:t>вивчили</a:t>
            </a:r>
            <a:endParaRPr sz="2400" b="1" dirty="0">
              <a:solidFill>
                <a:srgbClr val="FFFFFF"/>
              </a:solidFill>
            </a:endParaRPr>
          </a:p>
        </p:txBody>
      </p:sp>
      <p:sp>
        <p:nvSpPr>
          <p:cNvPr id="742" name="Rectangle 741"/>
          <p:cNvSpPr/>
          <p:nvPr/>
        </p:nvSpPr>
        <p:spPr>
          <a:xfrm>
            <a:off x="700000" y="1766367"/>
            <a:ext cx="5246000" cy="4050000"/>
          </a:xfrm>
          <a:prstGeom prst="rect">
            <a:avLst/>
          </a:prstGeom>
          <a:solidFill>
            <a:srgbClr val="F7F9FD"/>
          </a:solidFill>
          <a:ln>
            <a:solidFill>
              <a:srgbClr val="CDD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0000" tIns="200000" rIns="200000" bIns="200000" rtlCol="0" anchor="ctr"/>
          <a:lstStyle/>
          <a:p>
            <a:pPr>
              <a:spcAft>
                <a:spcPts val="800"/>
              </a:spcAft>
            </a:pPr>
            <a:r>
              <a:rPr sz="2000" dirty="0">
                <a:solidFill>
                  <a:srgbClr val="222233"/>
                </a:solidFill>
              </a:rPr>
              <a:t>•  Lamport OTS - </a:t>
            </a:r>
            <a:r>
              <a:rPr sz="2000" dirty="0" err="1">
                <a:solidFill>
                  <a:srgbClr val="222233"/>
                </a:solidFill>
              </a:rPr>
              <a:t>перший</a:t>
            </a:r>
            <a:r>
              <a:rPr sz="2000" dirty="0">
                <a:solidFill>
                  <a:srgbClr val="222233"/>
                </a:solidFill>
              </a:rPr>
              <a:t> hash-based </a:t>
            </a:r>
            <a:r>
              <a:rPr sz="2000" dirty="0" err="1">
                <a:solidFill>
                  <a:srgbClr val="222233"/>
                </a:solidFill>
              </a:rPr>
              <a:t>підпис</a:t>
            </a:r>
            <a:r>
              <a:rPr sz="2000" dirty="0">
                <a:solidFill>
                  <a:srgbClr val="222233"/>
                </a:solidFill>
              </a:rPr>
              <a:t> (1979)</a:t>
            </a:r>
          </a:p>
          <a:p>
            <a:pPr>
              <a:spcAft>
                <a:spcPts val="800"/>
              </a:spcAft>
            </a:pPr>
            <a:r>
              <a:rPr sz="2000" dirty="0">
                <a:solidFill>
                  <a:srgbClr val="222233"/>
                </a:solidFill>
              </a:rPr>
              <a:t>•  WOTS+ - </a:t>
            </a:r>
            <a:r>
              <a:rPr sz="2000" dirty="0" err="1">
                <a:solidFill>
                  <a:srgbClr val="222233"/>
                </a:solidFill>
              </a:rPr>
              <a:t>компактний</a:t>
            </a:r>
            <a:r>
              <a:rPr sz="2000" dirty="0">
                <a:solidFill>
                  <a:srgbClr val="222233"/>
                </a:solidFill>
              </a:rPr>
              <a:t> OTS </a:t>
            </a:r>
            <a:r>
              <a:rPr sz="2000" dirty="0" err="1">
                <a:solidFill>
                  <a:srgbClr val="222233"/>
                </a:solidFill>
              </a:rPr>
              <a:t>з</a:t>
            </a:r>
            <a:r>
              <a:rPr sz="2000" dirty="0">
                <a:solidFill>
                  <a:srgbClr val="222233"/>
                </a:solidFill>
              </a:rPr>
              <a:t> </a:t>
            </a:r>
            <a:r>
              <a:rPr sz="2000" dirty="0" err="1">
                <a:solidFill>
                  <a:srgbClr val="222233"/>
                </a:solidFill>
              </a:rPr>
              <a:t>ланцюгом</a:t>
            </a:r>
            <a:r>
              <a:rPr sz="2000" dirty="0">
                <a:solidFill>
                  <a:srgbClr val="222233"/>
                </a:solidFill>
              </a:rPr>
              <a:t> </a:t>
            </a:r>
            <a:r>
              <a:rPr sz="2000" dirty="0" err="1">
                <a:solidFill>
                  <a:srgbClr val="222233"/>
                </a:solidFill>
              </a:rPr>
              <a:t>хешів</a:t>
            </a:r>
            <a:endParaRPr sz="2000" dirty="0">
              <a:solidFill>
                <a:srgbClr val="222233"/>
              </a:solidFill>
            </a:endParaRPr>
          </a:p>
          <a:p>
            <a:pPr>
              <a:spcAft>
                <a:spcPts val="800"/>
              </a:spcAft>
            </a:pPr>
            <a:r>
              <a:rPr sz="2000" dirty="0">
                <a:solidFill>
                  <a:srgbClr val="222233"/>
                </a:solidFill>
              </a:rPr>
              <a:t>•  </a:t>
            </a:r>
            <a:r>
              <a:rPr sz="2000" dirty="0" err="1">
                <a:solidFill>
                  <a:srgbClr val="222233"/>
                </a:solidFill>
              </a:rPr>
              <a:t>Дерево</a:t>
            </a:r>
            <a:r>
              <a:rPr sz="2000" dirty="0">
                <a:solidFill>
                  <a:srgbClr val="222233"/>
                </a:solidFill>
              </a:rPr>
              <a:t> </a:t>
            </a:r>
            <a:r>
              <a:rPr sz="2000" dirty="0" err="1">
                <a:solidFill>
                  <a:srgbClr val="222233"/>
                </a:solidFill>
              </a:rPr>
              <a:t>Меркла</a:t>
            </a:r>
            <a:r>
              <a:rPr sz="2000" dirty="0">
                <a:solidFill>
                  <a:srgbClr val="222233"/>
                </a:solidFill>
              </a:rPr>
              <a:t> - </a:t>
            </a:r>
            <a:r>
              <a:rPr sz="2000" dirty="0" err="1">
                <a:solidFill>
                  <a:srgbClr val="222233"/>
                </a:solidFill>
              </a:rPr>
              <a:t>багато</a:t>
            </a:r>
            <a:r>
              <a:rPr sz="2000" dirty="0">
                <a:solidFill>
                  <a:srgbClr val="222233"/>
                </a:solidFill>
              </a:rPr>
              <a:t> OTS </a:t>
            </a:r>
            <a:r>
              <a:rPr sz="2000" dirty="0" err="1">
                <a:solidFill>
                  <a:srgbClr val="222233"/>
                </a:solidFill>
              </a:rPr>
              <a:t>під</a:t>
            </a:r>
            <a:r>
              <a:rPr sz="2000" dirty="0">
                <a:solidFill>
                  <a:srgbClr val="222233"/>
                </a:solidFill>
              </a:rPr>
              <a:t> </a:t>
            </a:r>
            <a:r>
              <a:rPr sz="2000" dirty="0" err="1">
                <a:solidFill>
                  <a:srgbClr val="222233"/>
                </a:solidFill>
              </a:rPr>
              <a:t>одним</a:t>
            </a:r>
            <a:r>
              <a:rPr sz="2000" dirty="0">
                <a:solidFill>
                  <a:srgbClr val="222233"/>
                </a:solidFill>
              </a:rPr>
              <a:t> PK</a:t>
            </a:r>
          </a:p>
          <a:p>
            <a:pPr>
              <a:spcAft>
                <a:spcPts val="800"/>
              </a:spcAft>
            </a:pPr>
            <a:r>
              <a:rPr sz="2000" dirty="0">
                <a:solidFill>
                  <a:srgbClr val="222233"/>
                </a:solidFill>
              </a:rPr>
              <a:t>•  XMSS / LMS - stateful, RFC 8391 / 8554</a:t>
            </a:r>
          </a:p>
          <a:p>
            <a:pPr>
              <a:spcAft>
                <a:spcPts val="800"/>
              </a:spcAft>
            </a:pPr>
            <a:r>
              <a:rPr sz="2000" dirty="0">
                <a:solidFill>
                  <a:srgbClr val="222233"/>
                </a:solidFill>
              </a:rPr>
              <a:t>•  SPHINCS+ - stateless, </a:t>
            </a:r>
            <a:r>
              <a:rPr sz="2000" dirty="0" err="1">
                <a:solidFill>
                  <a:srgbClr val="222233"/>
                </a:solidFill>
              </a:rPr>
              <a:t>гіпердерево</a:t>
            </a:r>
            <a:r>
              <a:rPr sz="2000" dirty="0">
                <a:solidFill>
                  <a:srgbClr val="222233"/>
                </a:solidFill>
              </a:rPr>
              <a:t> + FORS</a:t>
            </a:r>
          </a:p>
          <a:p>
            <a:pPr>
              <a:spcAft>
                <a:spcPts val="800"/>
              </a:spcAft>
            </a:pPr>
            <a:r>
              <a:rPr sz="2000" dirty="0">
                <a:solidFill>
                  <a:srgbClr val="222233"/>
                </a:solidFill>
              </a:rPr>
              <a:t>•  SLH-DSA - </a:t>
            </a:r>
            <a:r>
              <a:rPr sz="2000" dirty="0" err="1">
                <a:solidFill>
                  <a:srgbClr val="222233"/>
                </a:solidFill>
              </a:rPr>
              <a:t>стандарт</a:t>
            </a:r>
            <a:r>
              <a:rPr sz="2000" dirty="0">
                <a:solidFill>
                  <a:srgbClr val="222233"/>
                </a:solidFill>
              </a:rPr>
              <a:t> NIST FIPS 205 (2024)</a:t>
            </a:r>
          </a:p>
        </p:txBody>
      </p:sp>
      <p:sp>
        <p:nvSpPr>
          <p:cNvPr id="743" name="Rounded Rectangle 742"/>
          <p:cNvSpPr/>
          <p:nvPr/>
        </p:nvSpPr>
        <p:spPr>
          <a:xfrm>
            <a:off x="6246000" y="916367"/>
            <a:ext cx="5246000" cy="750000"/>
          </a:xfrm>
          <a:prstGeom prst="roundRect">
            <a:avLst/>
          </a:prstGeom>
          <a:solidFill>
            <a:srgbClr val="4472C4"/>
          </a:solidFill>
          <a:ln>
            <a:solidFill>
              <a:srgbClr val="4472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400" b="1">
                <a:solidFill>
                  <a:srgbClr val="FFFFFF"/>
                </a:solidFill>
              </a:rPr>
              <a:t>Практичні висновки</a:t>
            </a:r>
          </a:p>
        </p:txBody>
      </p:sp>
      <p:sp>
        <p:nvSpPr>
          <p:cNvPr id="744" name="Rectangle 743"/>
          <p:cNvSpPr/>
          <p:nvPr/>
        </p:nvSpPr>
        <p:spPr>
          <a:xfrm>
            <a:off x="6246000" y="1766367"/>
            <a:ext cx="5246000" cy="4050000"/>
          </a:xfrm>
          <a:prstGeom prst="rect">
            <a:avLst/>
          </a:prstGeom>
          <a:solidFill>
            <a:srgbClr val="F7F9FD"/>
          </a:solidFill>
          <a:ln>
            <a:solidFill>
              <a:srgbClr val="CDD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0000" tIns="200000" rIns="200000" bIns="200000" rtlCol="0" anchor="ctr"/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222233"/>
                </a:solidFill>
              </a:rPr>
              <a:t>•  Безпека лише на хеш-функції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22233"/>
                </a:solidFill>
              </a:rPr>
              <a:t>•  σ великий (8-50 КБ), PK дуже малий (32-64 Б)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22233"/>
                </a:solidFill>
              </a:rPr>
              <a:t>•  XMSS/LMS - для firmware signing з HSM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22233"/>
                </a:solidFill>
              </a:rPr>
              <a:t>•  SLH-DSA - для довгострокових артефактів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22233"/>
                </a:solidFill>
              </a:rPr>
              <a:t>•  ML-DSA - default для більшості випадків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22233"/>
                </a:solidFill>
              </a:rPr>
              <a:t>•  Гібрид ECDSA + SLH-DSA - best practice</a:t>
            </a:r>
          </a:p>
        </p:txBody>
      </p:sp>
      <p:sp>
        <p:nvSpPr>
          <p:cNvPr id="745" name="TextBox 744"/>
          <p:cNvSpPr txBox="1"/>
          <p:nvPr/>
        </p:nvSpPr>
        <p:spPr>
          <a:xfrm>
            <a:off x="700000" y="5996367"/>
            <a:ext cx="10792000" cy="5000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800" b="1">
                <a:solidFill>
                  <a:srgbClr val="445577"/>
                </a:solidFill>
              </a:rPr>
              <a:t>Hash-based підпис - найконсервативніший постквантовий вибір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8E1D234-B7A1-8EEC-FCB2-3BD7E835AF63}"/>
              </a:ext>
            </a:extLst>
          </p:cNvPr>
          <p:cNvSpPr txBox="1"/>
          <p:nvPr/>
        </p:nvSpPr>
        <p:spPr>
          <a:xfrm>
            <a:off x="4747154" y="213147"/>
            <a:ext cx="299769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800" dirty="0" err="1"/>
              <a:t>Підсумки</a:t>
            </a:r>
            <a:r>
              <a:rPr lang="ru-RU" sz="2800" dirty="0"/>
              <a:t> </a:t>
            </a:r>
            <a:r>
              <a:rPr lang="ru-RU" sz="2800" dirty="0" err="1"/>
              <a:t>лекції</a:t>
            </a:r>
            <a:r>
              <a:rPr lang="ru-RU" sz="2800" dirty="0"/>
              <a:t> 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Image result for caucasus university">
            <a:extLst>
              <a:ext uri="{FF2B5EF4-FFF2-40B4-BE49-F238E27FC236}">
                <a16:creationId xmlns:a16="http://schemas.microsoft.com/office/drawing/2014/main" id="{41160F76-96C7-DC1E-EEA7-A4872968830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1788" y="230687"/>
            <a:ext cx="1541081" cy="15772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EDA0928-EB30-F39D-6A09-83ED624004E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47931" y="89794"/>
            <a:ext cx="1852863" cy="18528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2474545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Офіс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Офіс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Офіс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1760</TotalTime>
  <Words>2263</Words>
  <Application>Microsoft Macintosh PowerPoint</Application>
  <PresentationFormat>Widescreen</PresentationFormat>
  <Paragraphs>369</Paragraphs>
  <Slides>28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5" baseType="lpstr">
      <vt:lpstr>Aptos</vt:lpstr>
      <vt:lpstr>Arial</vt:lpstr>
      <vt:lpstr>Calibri</vt:lpstr>
      <vt:lpstr>Calibri Light</vt:lpstr>
      <vt:lpstr>Cambria Math</vt:lpstr>
      <vt:lpstr>Symbol</vt:lpstr>
      <vt:lpstr>Тема Office</vt:lpstr>
      <vt:lpstr>Квантова та постквантова безпека № 7</vt:lpstr>
      <vt:lpstr>Мотивація</vt:lpstr>
      <vt:lpstr>Цифровий підпис Лампорта</vt:lpstr>
      <vt:lpstr>Lamport: генерація ключів</vt:lpstr>
      <vt:lpstr>Lamport: формування підпису</vt:lpstr>
      <vt:lpstr>Lamport: перевірка підпису</vt:lpstr>
      <vt:lpstr>Чому LOTS є одноразовим</vt:lpstr>
      <vt:lpstr>Одноразовий підпис Вінтерніца</vt:lpstr>
      <vt:lpstr>WOTS: генерація ключів</vt:lpstr>
      <vt:lpstr>WOTS: генерація підпису</vt:lpstr>
      <vt:lpstr>WOTS: перевірка підпису</vt:lpstr>
      <vt:lpstr>Чому WOTS є одноразовим</vt:lpstr>
      <vt:lpstr>Постквантова безпека WOTS</vt:lpstr>
      <vt:lpstr>MSS: генерація ключів</vt:lpstr>
      <vt:lpstr>MSS: створення та перевірка підпису</vt:lpstr>
      <vt:lpstr>Дерева Меркла</vt:lpstr>
      <vt:lpstr>XMSS^MT (мультидерево)</vt:lpstr>
      <vt:lpstr>SPHINCS+</vt:lpstr>
      <vt:lpstr>Міркування безпеки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Квантова та постквантова безпека № 1</dc:title>
  <dc:creator>Dmytro Bilozor</dc:creator>
  <cp:keywords>, docId:9A0E76D41C9A51B842CA243D69D03AE1</cp:keywords>
  <cp:lastModifiedBy>Dima Bil</cp:lastModifiedBy>
  <cp:revision>129</cp:revision>
  <dcterms:created xsi:type="dcterms:W3CDTF">2025-07-11T12:38:56Z</dcterms:created>
  <dcterms:modified xsi:type="dcterms:W3CDTF">2026-05-31T19:20:17Z</dcterms:modified>
</cp:coreProperties>
</file>