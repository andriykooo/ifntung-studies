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23" r:id="rId2"/>
    <p:sldId id="324" r:id="rId3"/>
    <p:sldId id="332" r:id="rId4"/>
    <p:sldId id="333" r:id="rId5"/>
    <p:sldId id="334" r:id="rId6"/>
    <p:sldId id="335" r:id="rId7"/>
    <p:sldId id="336" r:id="rId8"/>
    <p:sldId id="326" r:id="rId9"/>
    <p:sldId id="328" r:id="rId10"/>
    <p:sldId id="329" r:id="rId11"/>
    <p:sldId id="330" r:id="rId12"/>
    <p:sldId id="331" r:id="rId13"/>
    <p:sldId id="337" r:id="rId14"/>
    <p:sldId id="338" r:id="rId15"/>
    <p:sldId id="339" r:id="rId16"/>
    <p:sldId id="340" r:id="rId17"/>
    <p:sldId id="341" r:id="rId18"/>
    <p:sldId id="342" r:id="rId19"/>
    <p:sldId id="343" r:id="rId20"/>
    <p:sldId id="345" r:id="rId21"/>
    <p:sldId id="346" r:id="rId22"/>
    <p:sldId id="347" r:id="rId23"/>
    <p:sldId id="348" r:id="rId24"/>
    <p:sldId id="349" r:id="rId25"/>
    <p:sldId id="350" r:id="rId26"/>
    <p:sldId id="351" r:id="rId27"/>
    <p:sldId id="352" r:id="rId28"/>
    <p:sldId id="344" r:id="rId29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66" autoAdjust="0"/>
    <p:restoredTop sz="94658"/>
  </p:normalViewPr>
  <p:slideViewPr>
    <p:cSldViewPr snapToGrid="0">
      <p:cViewPr>
        <p:scale>
          <a:sx n="104" d="100"/>
          <a:sy n="104" d="100"/>
        </p:scale>
        <p:origin x="1520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05DBC626-4DD8-95BD-2906-E62D73E83E1B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2F4F4B-645B-AE4E-2BF4-F7E94EEF37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30363" y="2077401"/>
            <a:ext cx="9144000" cy="750852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COURSE NAME</a:t>
            </a:r>
            <a:endParaRPr lang="uk-UA" dirty="0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2F5CA641-4378-FFF4-6C63-FE20A7AB18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46843" y="4323334"/>
            <a:ext cx="11298314" cy="92405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Teacher:</a:t>
            </a:r>
          </a:p>
          <a:p>
            <a:r>
              <a:rPr lang="en-US" dirty="0"/>
              <a:t>First name, Last name, academic degree, academic title, position</a:t>
            </a:r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4D8244C4-6C89-A133-852B-C8FC03F1D08E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1026" name="Picture 2" descr="COMAI - Ulysseus">
            <a:extLst>
              <a:ext uri="{FF2B5EF4-FFF2-40B4-BE49-F238E27FC236}">
                <a16:creationId xmlns:a16="http://schemas.microsoft.com/office/drawing/2014/main" id="{C12C8155-5617-3A68-F4D7-AAD08BB06DE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843" y="5909845"/>
            <a:ext cx="2867487" cy="582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Місце для зображення 12">
            <a:extLst>
              <a:ext uri="{FF2B5EF4-FFF2-40B4-BE49-F238E27FC236}">
                <a16:creationId xmlns:a16="http://schemas.microsoft.com/office/drawing/2014/main" id="{E815AE2E-6725-7927-4881-DA2D2C5A4F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088" y="328613"/>
            <a:ext cx="2368550" cy="923925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r>
              <a:rPr lang="en-US" dirty="0"/>
              <a:t>University logo</a:t>
            </a:r>
            <a:endParaRPr lang="uk-UA" dirty="0"/>
          </a:p>
        </p:txBody>
      </p:sp>
      <p:sp>
        <p:nvSpPr>
          <p:cNvPr id="14" name="Місце для зображення 12">
            <a:extLst>
              <a:ext uri="{FF2B5EF4-FFF2-40B4-BE49-F238E27FC236}">
                <a16:creationId xmlns:a16="http://schemas.microsoft.com/office/drawing/2014/main" id="{62658F34-B66C-A1D3-B3B4-DF50825EA16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376607" y="328612"/>
            <a:ext cx="2368550" cy="923925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en-US" dirty="0"/>
              <a:t>Department logo</a:t>
            </a:r>
            <a:endParaRPr lang="uk-UA" dirty="0"/>
          </a:p>
        </p:txBody>
      </p:sp>
      <p:sp>
        <p:nvSpPr>
          <p:cNvPr id="19" name="Місце для тексту 18">
            <a:extLst>
              <a:ext uri="{FF2B5EF4-FFF2-40B4-BE49-F238E27FC236}">
                <a16:creationId xmlns:a16="http://schemas.microsoft.com/office/drawing/2014/main" id="{B10AEEDB-6C49-4C16-1AB4-353507F3945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30363" y="3033506"/>
            <a:ext cx="9144000" cy="750852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Lecture #. “Title”</a:t>
            </a:r>
            <a:endParaRPr lang="uk-UA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C46E11E8-C94E-4AE7-ADB5-FDEAADAE04C0}"/>
              </a:ext>
            </a:extLst>
          </p:cNvPr>
          <p:cNvSpPr txBox="1"/>
          <p:nvPr userDrawn="1"/>
        </p:nvSpPr>
        <p:spPr>
          <a:xfrm>
            <a:off x="4079519" y="5820282"/>
            <a:ext cx="5967043" cy="65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b="1" dirty="0">
                <a:solidFill>
                  <a:srgbClr val="023399"/>
                </a:solidFill>
                <a:latin typeface="Aptos" panose="020B0004020202020204" pitchFamily="34" charset="0"/>
                <a:ea typeface="Arial Bold"/>
                <a:cs typeface="Arial Bold"/>
                <a:sym typeface="Arial Bold"/>
              </a:rPr>
              <a:t>SECURE ERASMUS-EDU-2024-CBHE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This project has received funding from the European Union’s Erasmus + </a:t>
            </a:r>
            <a:r>
              <a:rPr lang="en-US" sz="1000" dirty="0" err="1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Programme</a:t>
            </a: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"Capacity building in the field of higher education", project id 101179818</a:t>
            </a:r>
          </a:p>
        </p:txBody>
      </p:sp>
    </p:spTree>
    <p:extLst>
      <p:ext uri="{BB962C8B-B14F-4D97-AF65-F5344CB8AC3E}">
        <p14:creationId xmlns:p14="http://schemas.microsoft.com/office/powerpoint/2010/main" val="859439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2">
            <a:extLst>
              <a:ext uri="{FF2B5EF4-FFF2-40B4-BE49-F238E27FC236}">
                <a16:creationId xmlns:a16="http://schemas.microsoft.com/office/drawing/2014/main" id="{20CB3192-52DB-1C4F-CDF1-2C5834701427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  <p:txBody>
          <a:bodyPr/>
          <a:lstStyle/>
          <a:p>
            <a:endParaRPr lang="uk-UA" dirty="0"/>
          </a:p>
        </p:txBody>
      </p:sp>
      <p:sp>
        <p:nvSpPr>
          <p:cNvPr id="9" name="Місце для тексту 8">
            <a:extLst>
              <a:ext uri="{FF2B5EF4-FFF2-40B4-BE49-F238E27FC236}">
                <a16:creationId xmlns:a16="http://schemas.microsoft.com/office/drawing/2014/main" id="{8DA5757D-9772-C9F6-1941-FA9F1C1F97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44066" y="2392077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3" name="Заголовок 12">
            <a:extLst>
              <a:ext uri="{FF2B5EF4-FFF2-40B4-BE49-F238E27FC236}">
                <a16:creationId xmlns:a16="http://schemas.microsoft.com/office/drawing/2014/main" id="{B648F94A-93CF-5554-B9EC-99C1603543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LECTURE PLAN</a:t>
            </a:r>
            <a:endParaRPr lang="uk-UA" dirty="0"/>
          </a:p>
        </p:txBody>
      </p:sp>
      <p:sp>
        <p:nvSpPr>
          <p:cNvPr id="18" name="Місце для тексту 8">
            <a:extLst>
              <a:ext uri="{FF2B5EF4-FFF2-40B4-BE49-F238E27FC236}">
                <a16:creationId xmlns:a16="http://schemas.microsoft.com/office/drawing/2014/main" id="{2C4AAD83-F098-467E-30E8-5B1DBFBB92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44065" y="3267036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9" name="Місце для тексту 8">
            <a:extLst>
              <a:ext uri="{FF2B5EF4-FFF2-40B4-BE49-F238E27FC236}">
                <a16:creationId xmlns:a16="http://schemas.microsoft.com/office/drawing/2014/main" id="{E19B8F13-7D27-6CB4-C4E2-740F7D45DE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44066" y="4141995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0" name="Місце для тексту 8">
            <a:extLst>
              <a:ext uri="{FF2B5EF4-FFF2-40B4-BE49-F238E27FC236}">
                <a16:creationId xmlns:a16="http://schemas.microsoft.com/office/drawing/2014/main" id="{478A70D7-9C17-6A3A-7307-37FCE7F9D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44065" y="5016954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1" name="Місце для тексту 8">
            <a:extLst>
              <a:ext uri="{FF2B5EF4-FFF2-40B4-BE49-F238E27FC236}">
                <a16:creationId xmlns:a16="http://schemas.microsoft.com/office/drawing/2014/main" id="{6C85C806-5D99-80B3-1B5C-C1F8654380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2685" y="2392077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2" name="Місце для тексту 8">
            <a:extLst>
              <a:ext uri="{FF2B5EF4-FFF2-40B4-BE49-F238E27FC236}">
                <a16:creationId xmlns:a16="http://schemas.microsoft.com/office/drawing/2014/main" id="{A9DE4B24-321A-7699-D368-923ABAFA73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2684" y="3267036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3" name="Місце для тексту 8">
            <a:extLst>
              <a:ext uri="{FF2B5EF4-FFF2-40B4-BE49-F238E27FC236}">
                <a16:creationId xmlns:a16="http://schemas.microsoft.com/office/drawing/2014/main" id="{AFA89644-FB9E-ABAF-F0D3-EA41087639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32685" y="4141995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4" name="Місце для тексту 8">
            <a:extLst>
              <a:ext uri="{FF2B5EF4-FFF2-40B4-BE49-F238E27FC236}">
                <a16:creationId xmlns:a16="http://schemas.microsoft.com/office/drawing/2014/main" id="{E4A3D9BF-973C-0418-3024-30595EBA45F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32684" y="5016954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997676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5A07F23F-4277-FC4D-97B7-3E341B68F917}"/>
              </a:ext>
            </a:extLst>
          </p:cNvPr>
          <p:cNvSpPr/>
          <p:nvPr userDrawn="1"/>
        </p:nvSpPr>
        <p:spPr>
          <a:xfrm rot="19833573">
            <a:off x="4329829" y="-375306"/>
            <a:ext cx="9880718" cy="7608613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897EB8-BC56-C8CD-3070-C9ACA13EC0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ctr">
            <a:normAutofit/>
          </a:bodyPr>
          <a:lstStyle>
            <a:lvl1pPr algn="ctr">
              <a:defRPr sz="5000"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 OF THE # POINT FROM THE LECTURE PLAN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27D60B2F-9685-26A3-EC21-6D22D8A4D04B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FBD412A2-E641-132E-78FF-02F60B95DF11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  <p:sp>
        <p:nvSpPr>
          <p:cNvPr id="11" name="Freeform 4">
            <a:extLst>
              <a:ext uri="{FF2B5EF4-FFF2-40B4-BE49-F238E27FC236}">
                <a16:creationId xmlns:a16="http://schemas.microsoft.com/office/drawing/2014/main" id="{F07C4348-D2BB-5FEF-BFDE-ED24D7871E6A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323636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>
            <a:extLst>
              <a:ext uri="{FF2B5EF4-FFF2-40B4-BE49-F238E27FC236}">
                <a16:creationId xmlns:a16="http://schemas.microsoft.com/office/drawing/2014/main" id="{438A861F-723B-32BD-123D-23AB50C1E9DF}"/>
              </a:ext>
            </a:extLst>
          </p:cNvPr>
          <p:cNvSpPr/>
          <p:nvPr userDrawn="1"/>
        </p:nvSpPr>
        <p:spPr>
          <a:xfrm rot="6517973">
            <a:off x="-1650001" y="805883"/>
            <a:ext cx="9663726" cy="6609046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7D33B1-0CDC-ED77-635F-731BCFBFA5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710261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91339ECB-7836-56BF-C31D-3BAEBCA8FA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7" name="Місце для тексту 6">
            <a:extLst>
              <a:ext uri="{FF2B5EF4-FFF2-40B4-BE49-F238E27FC236}">
                <a16:creationId xmlns:a16="http://schemas.microsoft.com/office/drawing/2014/main" id="{8E8B18C6-9CBB-DF5A-5A27-4791831B80B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870075"/>
            <a:ext cx="5532120" cy="842963"/>
          </a:xfrm>
        </p:spPr>
        <p:txBody>
          <a:bodyPr/>
          <a:lstStyle>
            <a:lvl1pPr marL="0" indent="0">
              <a:buNone/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8" name="Місце для тексту 6">
            <a:extLst>
              <a:ext uri="{FF2B5EF4-FFF2-40B4-BE49-F238E27FC236}">
                <a16:creationId xmlns:a16="http://schemas.microsoft.com/office/drawing/2014/main" id="{6CBD2B82-584E-B922-D53A-B6F456C865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2892424"/>
            <a:ext cx="5532120" cy="3467736"/>
          </a:xfrm>
        </p:spPr>
        <p:txBody>
          <a:bodyPr>
            <a:normAutofit/>
          </a:bodyPr>
          <a:lstStyle>
            <a:lvl1pPr marL="0" indent="0">
              <a:buNone/>
              <a:defRPr sz="2500" b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1" name="Місце для зображення 10">
            <a:extLst>
              <a:ext uri="{FF2B5EF4-FFF2-40B4-BE49-F238E27FC236}">
                <a16:creationId xmlns:a16="http://schemas.microsoft.com/office/drawing/2014/main" id="{A33FF4F4-EFEE-BFD1-375F-648CA393F5E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624638" y="1870074"/>
            <a:ext cx="4729162" cy="4490085"/>
          </a:xfrm>
        </p:spPr>
        <p:txBody>
          <a:bodyPr/>
          <a:lstStyle/>
          <a:p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8753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2">
            <a:extLst>
              <a:ext uri="{FF2B5EF4-FFF2-40B4-BE49-F238E27FC236}">
                <a16:creationId xmlns:a16="http://schemas.microsoft.com/office/drawing/2014/main" id="{70C13FFF-F513-4654-24F8-20B9F6D33240}"/>
              </a:ext>
            </a:extLst>
          </p:cNvPr>
          <p:cNvSpPr/>
          <p:nvPr userDrawn="1"/>
        </p:nvSpPr>
        <p:spPr>
          <a:xfrm rot="8411302" flipH="1" flipV="1">
            <a:off x="4748439" y="-391160"/>
            <a:ext cx="9459568" cy="8276884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2FB564-C2AF-2A39-32F5-C8AE625BFF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>
              <a:defRPr sz="3200"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6E35D1EC-A30B-2B54-1BAD-F7B1C813C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0"/>
            <a:ext cx="6172200" cy="574706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D619E5F8-83B6-C4B1-CDE6-E2576A5D97D9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39268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788718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E60F5C-0E3F-B81E-3874-5DFE7B95B6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43C40CA-D14D-1220-C849-3E91200A184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text/assets</a:t>
            </a:r>
            <a:endParaRPr lang="uk-UA" dirty="0"/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6A858D7C-35A5-2A50-602A-248A2D961D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latin typeface="Aptos" panose="020B00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text/assets</a:t>
            </a:r>
            <a:endParaRPr lang="uk-UA" dirty="0"/>
          </a:p>
          <a:p>
            <a:pPr lvl="0"/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12613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C437F139-DD75-BFB8-2FA9-97A05C2AE574}"/>
              </a:ext>
            </a:extLst>
          </p:cNvPr>
          <p:cNvSpPr/>
          <p:nvPr userDrawn="1"/>
        </p:nvSpPr>
        <p:spPr>
          <a:xfrm rot="3018939" flipV="1">
            <a:off x="1616475" y="-3063601"/>
            <a:ext cx="8959050" cy="6857449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10847659"/>
                </a:moveTo>
                <a:lnTo>
                  <a:pt x="13347232" y="10847659"/>
                </a:lnTo>
                <a:lnTo>
                  <a:pt x="13347232" y="0"/>
                </a:lnTo>
                <a:lnTo>
                  <a:pt x="0" y="0"/>
                </a:lnTo>
                <a:lnTo>
                  <a:pt x="0" y="1084765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481017-89BE-29C2-1A48-1CA1E40695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CONCLUSIONS</a:t>
            </a:r>
            <a:endParaRPr lang="uk-UA" dirty="0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286543E-9BBE-1534-1F22-48AB59E465D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4"/>
            <a:ext cx="10515600" cy="4544695"/>
          </a:xfrm>
        </p:spPr>
        <p:txBody>
          <a:bodyPr vert="horz"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95BE0E7F-0198-EA12-056F-87B0F57B8966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195A661F-45EA-3984-9BEC-BC9C3B1A31E6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</p:spTree>
    <p:extLst>
      <p:ext uri="{BB962C8B-B14F-4D97-AF65-F5344CB8AC3E}">
        <p14:creationId xmlns:p14="http://schemas.microsoft.com/office/powerpoint/2010/main" val="3543415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C437F139-DD75-BFB8-2FA9-97A05C2AE574}"/>
              </a:ext>
            </a:extLst>
          </p:cNvPr>
          <p:cNvSpPr/>
          <p:nvPr userDrawn="1"/>
        </p:nvSpPr>
        <p:spPr>
          <a:xfrm rot="3018939" flipV="1">
            <a:off x="1616475" y="-3063601"/>
            <a:ext cx="8959050" cy="6857449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10847659"/>
                </a:moveTo>
                <a:lnTo>
                  <a:pt x="13347232" y="10847659"/>
                </a:lnTo>
                <a:lnTo>
                  <a:pt x="13347232" y="0"/>
                </a:lnTo>
                <a:lnTo>
                  <a:pt x="0" y="0"/>
                </a:lnTo>
                <a:lnTo>
                  <a:pt x="0" y="1084765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481017-89BE-29C2-1A48-1CA1E40695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ADDITIONALS MATERIALS</a:t>
            </a:r>
            <a:endParaRPr lang="uk-UA" dirty="0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286543E-9BBE-1534-1F22-48AB59E465D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4"/>
            <a:ext cx="10515600" cy="4544695"/>
          </a:xfrm>
        </p:spPr>
        <p:txBody>
          <a:bodyPr vert="horz"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95BE0E7F-0198-EA12-056F-87B0F57B8966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195A661F-45EA-3984-9BEC-BC9C3B1A31E6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</p:spTree>
    <p:extLst>
      <p:ext uri="{BB962C8B-B14F-4D97-AF65-F5344CB8AC3E}">
        <p14:creationId xmlns:p14="http://schemas.microsoft.com/office/powerpoint/2010/main" val="1577605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8CD1E789-90A0-FE6B-0F10-C15EB3FD5B16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C1D3FF62-D606-B90B-7956-E3AB4C912B48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9" name="Picture 2" descr="COMAI - Ulysseus">
            <a:extLst>
              <a:ext uri="{FF2B5EF4-FFF2-40B4-BE49-F238E27FC236}">
                <a16:creationId xmlns:a16="http://schemas.microsoft.com/office/drawing/2014/main" id="{E4A298BE-4D28-41A3-FCCC-78D6F73C5D2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843" y="5909845"/>
            <a:ext cx="2867487" cy="582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Місце для зображення 12">
            <a:extLst>
              <a:ext uri="{FF2B5EF4-FFF2-40B4-BE49-F238E27FC236}">
                <a16:creationId xmlns:a16="http://schemas.microsoft.com/office/drawing/2014/main" id="{E0592F16-BCB5-9327-78F3-B2E92935A21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088" y="328613"/>
            <a:ext cx="2368550" cy="923925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r>
              <a:rPr lang="en-US" dirty="0"/>
              <a:t>University logo</a:t>
            </a:r>
            <a:endParaRPr lang="uk-UA" dirty="0"/>
          </a:p>
        </p:txBody>
      </p:sp>
      <p:sp>
        <p:nvSpPr>
          <p:cNvPr id="11" name="Місце для зображення 12">
            <a:extLst>
              <a:ext uri="{FF2B5EF4-FFF2-40B4-BE49-F238E27FC236}">
                <a16:creationId xmlns:a16="http://schemas.microsoft.com/office/drawing/2014/main" id="{9C30DA7F-596D-B59E-26DA-3B0C3F4C06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376607" y="328612"/>
            <a:ext cx="2368550" cy="923925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en-US" dirty="0"/>
              <a:t>Department logo</a:t>
            </a:r>
            <a:endParaRPr lang="uk-UA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8C1CC2-B9AD-AB54-C17A-8D901E5C744E}"/>
              </a:ext>
            </a:extLst>
          </p:cNvPr>
          <p:cNvSpPr txBox="1"/>
          <p:nvPr userDrawn="1"/>
        </p:nvSpPr>
        <p:spPr>
          <a:xfrm>
            <a:off x="446088" y="2682240"/>
            <a:ext cx="92839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>
                <a:solidFill>
                  <a:srgbClr val="203864"/>
                </a:solidFill>
                <a:latin typeface="Aptos" panose="020B0004020202020204" pitchFamily="34" charset="0"/>
              </a:rPr>
              <a:t>THANK YOU FOR ATTENTION!</a:t>
            </a:r>
            <a:endParaRPr lang="uk-UA" sz="5400" b="1" dirty="0">
              <a:solidFill>
                <a:srgbClr val="203864"/>
              </a:solidFill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9BA098-B1CD-0269-8D35-42A582493920}"/>
              </a:ext>
            </a:extLst>
          </p:cNvPr>
          <p:cNvSpPr txBox="1"/>
          <p:nvPr userDrawn="1"/>
        </p:nvSpPr>
        <p:spPr>
          <a:xfrm>
            <a:off x="446088" y="3556813"/>
            <a:ext cx="28714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Any questions?</a:t>
            </a:r>
            <a:endParaRPr lang="uk-UA" sz="3200" b="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5163F224-4127-B18E-51F9-39EA8647CB63}"/>
              </a:ext>
            </a:extLst>
          </p:cNvPr>
          <p:cNvSpPr txBox="1"/>
          <p:nvPr userDrawn="1"/>
        </p:nvSpPr>
        <p:spPr>
          <a:xfrm>
            <a:off x="3934029" y="5820282"/>
            <a:ext cx="5967043" cy="65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b="1" dirty="0">
                <a:solidFill>
                  <a:srgbClr val="023399"/>
                </a:solidFill>
                <a:latin typeface="Aptos" panose="020B0004020202020204" pitchFamily="34" charset="0"/>
                <a:ea typeface="Arial Bold"/>
                <a:cs typeface="Arial Bold"/>
                <a:sym typeface="Arial Bold"/>
              </a:rPr>
              <a:t>SECURE ERASMUS-EDU-2024-CBHE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This project has received funding from the European Union’s Erasmus + </a:t>
            </a:r>
            <a:r>
              <a:rPr lang="en-US" sz="1000" dirty="0" err="1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Programme</a:t>
            </a: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"Capacity building in the field of higher education", project id 101179818</a:t>
            </a:r>
          </a:p>
        </p:txBody>
      </p:sp>
    </p:spTree>
    <p:extLst>
      <p:ext uri="{BB962C8B-B14F-4D97-AF65-F5344CB8AC3E}">
        <p14:creationId xmlns:p14="http://schemas.microsoft.com/office/powerpoint/2010/main" val="1834359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38C6A-C972-4D9E-AA74-333EB6C38D98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532CD-2E3F-4A7F-B8A0-E5258AB21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178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262A46F7-AE3D-FE17-716F-BD0735588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440003CE-35D9-0D22-9697-103258AF7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П'ятий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99D95934-CB61-23CC-5A3B-CAE88FF8F7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B528A8-01FA-4E19-966E-6D8EBDB87570}" type="datetimeFigureOut">
              <a:rPr lang="uk-UA" smtClean="0"/>
              <a:t>25.05.26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5C9D978F-CE49-2A2D-0742-4A82CA25FA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D4B8B66-57F6-0E1C-BC7E-F1BC1A8B0E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4FF707-F803-4672-B2C0-069A27EADB5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87627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55" r:id="rId5"/>
    <p:sldLayoutId id="2147483657" r:id="rId6"/>
    <p:sldLayoutId id="2147483652" r:id="rId7"/>
    <p:sldLayoutId id="2147483658" r:id="rId8"/>
    <p:sldLayoutId id="2147483660" r:id="rId9"/>
    <p:sldLayoutId id="2147483659" r:id="rId10"/>
    <p:sldLayoutId id="21474836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3D7EDF-EC43-C3F4-B3FA-A3653E0A30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0070" y="2077401"/>
            <a:ext cx="9624293" cy="750852"/>
          </a:xfrm>
        </p:spPr>
        <p:txBody>
          <a:bodyPr>
            <a:normAutofit fontScale="90000"/>
          </a:bodyPr>
          <a:lstStyle/>
          <a:p>
            <a:r>
              <a:rPr lang="en-US" dirty="0"/>
              <a:t>Квантова та постквантова безпека № 7</a:t>
            </a:r>
            <a:endParaRPr lang="uk-UA" dirty="0"/>
          </a:p>
        </p:txBody>
      </p:sp>
      <p:sp>
        <p:nvSpPr>
          <p:cNvPr id="6" name="Місце для тексту 5">
            <a:extLst>
              <a:ext uri="{FF2B5EF4-FFF2-40B4-BE49-F238E27FC236}">
                <a16:creationId xmlns:a16="http://schemas.microsoft.com/office/drawing/2014/main" id="{5865D50E-67FD-0929-0A83-003F307A0EB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6497" y="3053574"/>
            <a:ext cx="11159005" cy="750852"/>
          </a:xfrm>
        </p:spPr>
        <p:txBody>
          <a:bodyPr/>
          <a:lstStyle/>
          <a:p>
            <a:r>
              <a:rPr lang="en-US" b="1" dirty="0"/>
              <a:t>Схеми цифрового підпису на основі хеш-функцій</a:t>
            </a:r>
            <a:endParaRPr lang="uk-UA" b="1" dirty="0"/>
          </a:p>
        </p:txBody>
      </p:sp>
      <p:pic>
        <p:nvPicPr>
          <p:cNvPr id="12" name="Picture 11" descr="Image result for caucasus university">
            <a:extLst>
              <a:ext uri="{FF2B5EF4-FFF2-40B4-BE49-F238E27FC236}">
                <a16:creationId xmlns:a16="http://schemas.microsoft.com/office/drawing/2014/main" id="{E09FF6E2-F06E-14E7-8874-F4EC4069A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88" y="230687"/>
            <a:ext cx="1541081" cy="157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5FEC94D-E8A1-53EF-6760-B84C3A4D2E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931" y="89794"/>
            <a:ext cx="1852863" cy="1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287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Мотивація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86B2E6-EF52-BEFC-2919-DA04E2C4AD6E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06425" y="2100353"/>
            <a:ext cx="5092626" cy="880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i="1" dirty="0"/>
              <a:t>Чому саме хеш-підписи?</a:t>
            </a:r>
            <a:br>
              <a:rPr lang="en-US" sz="1800" dirty="0"/>
            </a:br>
            <a:r>
              <a:rPr lang="en-US" sz="1800" dirty="0"/>
              <a:t>Безпечні навіть проти квантових комп'ютерів.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441E25CA-E5AF-083F-B1CB-3CEB4B67935D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447675" y="4260022"/>
            <a:ext cx="4339650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Базуються виключно на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безпеці хеш-функції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Стійкі до алгоритму Шора.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Проста конструкція, добре вивчена з 1970-х років.</a:t>
            </a:r>
          </a:p>
        </p:txBody>
      </p:sp>
      <p:pic>
        <p:nvPicPr>
          <p:cNvPr id="1028" name="Picture 4" descr="7 Top Motivation Models To Use As a Leader">
            <a:extLst>
              <a:ext uri="{FF2B5EF4-FFF2-40B4-BE49-F238E27FC236}">
                <a16:creationId xmlns:a16="http://schemas.microsoft.com/office/drawing/2014/main" id="{B9BFC49E-0FA6-C776-DB31-1276BBD25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0418" y="1447613"/>
            <a:ext cx="5595157" cy="345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4148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5051B-F397-768C-04C8-682CD290A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443720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Цифровий підпис Лампорта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621B6-C99A-6CF6-F8D0-289AC7456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2720"/>
            <a:ext cx="10515600" cy="4900931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i="0" dirty="0" err="1">
                <a:effectLst/>
                <a:latin typeface="Calibri"/>
              </a:rPr>
              <a:t>Схема</a:t>
            </a:r>
            <a:r>
              <a:rPr lang="en-US" sz="1800" b="1" i="0" dirty="0">
                <a:effectLst/>
                <a:latin typeface="Calibri"/>
              </a:rPr>
              <a:t> </a:t>
            </a:r>
            <a:r>
              <a:rPr lang="en-US" sz="1800" b="1" i="0" dirty="0" err="1">
                <a:effectLst/>
                <a:latin typeface="Calibri"/>
              </a:rPr>
              <a:t>цифрового</a:t>
            </a:r>
            <a:r>
              <a:rPr lang="en-US" sz="1800" b="1" i="0" dirty="0">
                <a:effectLst/>
                <a:latin typeface="Calibri"/>
              </a:rPr>
              <a:t> </a:t>
            </a:r>
            <a:r>
              <a:rPr lang="en-US" sz="1800" b="1" i="0" dirty="0" err="1">
                <a:effectLst/>
                <a:latin typeface="Calibri"/>
              </a:rPr>
              <a:t>підпису</a:t>
            </a:r>
            <a:r>
              <a:rPr lang="en-US" sz="1800" b="1" i="0" dirty="0">
                <a:effectLst/>
                <a:latin typeface="Calibri"/>
              </a:rPr>
              <a:t> </a:t>
            </a:r>
            <a:r>
              <a:rPr lang="en-US" sz="1800" b="1" i="0" dirty="0" err="1">
                <a:effectLst/>
                <a:latin typeface="Calibri"/>
              </a:rPr>
              <a:t>на</a:t>
            </a:r>
            <a:r>
              <a:rPr lang="en-US" sz="1800" b="1" i="0" dirty="0">
                <a:effectLst/>
                <a:latin typeface="Calibri"/>
              </a:rPr>
              <a:t> </a:t>
            </a:r>
            <a:r>
              <a:rPr lang="en-US" sz="1800" b="1" i="0" dirty="0" err="1">
                <a:effectLst/>
                <a:latin typeface="Calibri"/>
              </a:rPr>
              <a:t>основі</a:t>
            </a:r>
            <a:r>
              <a:rPr lang="en-US" sz="1800" b="1" i="0" dirty="0">
                <a:effectLst/>
                <a:latin typeface="Calibri"/>
              </a:rPr>
              <a:t> </a:t>
            </a:r>
            <a:r>
              <a:rPr lang="en-US" sz="1800" b="1" i="0" dirty="0" err="1">
                <a:effectLst/>
                <a:latin typeface="Calibri"/>
              </a:rPr>
              <a:t>хеш-функції</a:t>
            </a:r>
            <a:endParaRPr lang="en-US" sz="1800" b="0" i="0" dirty="0">
              <a:effectLst/>
              <a:latin typeface="Calibri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800" b="0" i="0" dirty="0" err="1">
                <a:effectLst/>
                <a:latin typeface="Calibri"/>
              </a:rPr>
              <a:t>Призначена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для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1" i="0" dirty="0" err="1">
                <a:effectLst/>
                <a:latin typeface="Calibri"/>
              </a:rPr>
              <a:t>одноразового</a:t>
            </a:r>
            <a:r>
              <a:rPr lang="en-US" sz="1800" b="1" i="0" dirty="0">
                <a:effectLst/>
                <a:latin typeface="Calibri"/>
              </a:rPr>
              <a:t> </a:t>
            </a:r>
            <a:r>
              <a:rPr lang="en-US" sz="1800" b="1" i="0" dirty="0" err="1">
                <a:effectLst/>
                <a:latin typeface="Calibri"/>
              </a:rPr>
              <a:t>використання</a:t>
            </a:r>
            <a:r>
              <a:rPr lang="en-US" sz="1800" b="1" i="0" dirty="0">
                <a:effectLst/>
                <a:latin typeface="Calibri"/>
              </a:rPr>
              <a:t> </a:t>
            </a:r>
            <a:r>
              <a:rPr lang="en-US" sz="1800" b="0" i="0" dirty="0">
                <a:effectLst/>
                <a:latin typeface="Calibri"/>
              </a:rPr>
              <a:t>(</a:t>
            </a:r>
            <a:r>
              <a:rPr lang="en-US" sz="1800" b="0" i="0" dirty="0" err="1">
                <a:effectLst/>
                <a:latin typeface="Calibri"/>
              </a:rPr>
              <a:t>кожна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пара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ключів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підписує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тільки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одне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повідомлення</a:t>
            </a:r>
            <a:r>
              <a:rPr lang="en-US" sz="1800" b="0" i="0" dirty="0">
                <a:effectLst/>
                <a:latin typeface="Calibri"/>
              </a:rPr>
              <a:t>)</a:t>
            </a:r>
          </a:p>
          <a:p>
            <a:pPr algn="l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800" b="0" i="0" dirty="0" err="1">
                <a:effectLst/>
                <a:latin typeface="Calibri"/>
              </a:rPr>
              <a:t>Базується</a:t>
            </a:r>
            <a:r>
              <a:rPr lang="en-US" sz="1800" b="0" i="0" dirty="0">
                <a:effectLst/>
                <a:latin typeface="Calibri"/>
              </a:rPr>
              <a:t> на безпеці криптографічних хеш-функцій</a:t>
            </a:r>
          </a:p>
          <a:p>
            <a:pPr algn="l">
              <a:lnSpc>
                <a:spcPct val="15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 err="1">
                <a:effectLst/>
                <a:latin typeface="Calibri"/>
              </a:rPr>
              <a:t>Постквантова</a:t>
            </a:r>
            <a:r>
              <a:rPr lang="en-US" sz="1800" b="1" i="0" dirty="0">
                <a:effectLst/>
                <a:latin typeface="Calibri"/>
              </a:rPr>
              <a:t> </a:t>
            </a:r>
            <a:r>
              <a:rPr lang="en-US" sz="1800" b="1" i="0" dirty="0" err="1">
                <a:effectLst/>
                <a:latin typeface="Calibri"/>
              </a:rPr>
              <a:t>безпека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457200" lvl="1" indent="0" algn="l">
              <a:lnSpc>
                <a:spcPct val="150000"/>
              </a:lnSpc>
              <a:spcBef>
                <a:spcPts val="300"/>
              </a:spcBef>
              <a:buNone/>
            </a:pPr>
            <a:r>
              <a:rPr lang="uk-UA" sz="1800" b="0" i="0" dirty="0">
                <a:effectLst/>
                <a:latin typeface="Calibri"/>
              </a:rPr>
              <a:t>- </a:t>
            </a:r>
            <a:r>
              <a:rPr lang="en-US" sz="1800" b="0" i="0" dirty="0" err="1">
                <a:effectLst/>
                <a:latin typeface="Calibri"/>
              </a:rPr>
              <a:t>Стійка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до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квантових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атак</a:t>
            </a:r>
            <a:r>
              <a:rPr lang="en-US" sz="1800" b="0" i="0" dirty="0">
                <a:effectLst/>
                <a:latin typeface="Calibri"/>
              </a:rPr>
              <a:t> (</a:t>
            </a:r>
            <a:r>
              <a:rPr lang="en-US" sz="1800" b="0" i="0" dirty="0" err="1">
                <a:effectLst/>
                <a:latin typeface="Calibri"/>
              </a:rPr>
              <a:t>базується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на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хеш-функціях</a:t>
            </a:r>
            <a:r>
              <a:rPr lang="en-US" sz="1800" b="0" i="0" dirty="0">
                <a:effectLst/>
                <a:latin typeface="Calibri"/>
              </a:rPr>
              <a:t>, </a:t>
            </a:r>
            <a:r>
              <a:rPr lang="en-US" sz="1800" b="0" i="0" dirty="0" err="1">
                <a:effectLst/>
                <a:latin typeface="Calibri"/>
              </a:rPr>
              <a:t>не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вразлива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до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алгоритму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Шора</a:t>
            </a:r>
            <a:r>
              <a:rPr lang="en-US" sz="1800" b="0" i="0" dirty="0">
                <a:effectLst/>
                <a:latin typeface="Calibri"/>
              </a:rPr>
              <a:t>)</a:t>
            </a:r>
          </a:p>
          <a:p>
            <a:pPr algn="l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 err="1">
                <a:effectLst/>
                <a:latin typeface="Calibri"/>
              </a:rPr>
              <a:t>Простота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457200" lvl="1" indent="0" algn="l">
              <a:lnSpc>
                <a:spcPct val="150000"/>
              </a:lnSpc>
              <a:spcBef>
                <a:spcPts val="300"/>
              </a:spcBef>
              <a:buNone/>
            </a:pPr>
            <a:r>
              <a:rPr lang="uk-UA" sz="1800" b="0" i="0" dirty="0">
                <a:effectLst/>
                <a:latin typeface="Calibri"/>
              </a:rPr>
              <a:t>- </a:t>
            </a:r>
            <a:r>
              <a:rPr lang="en-US" sz="1800" b="0" i="0" dirty="0" err="1">
                <a:effectLst/>
                <a:latin typeface="Calibri"/>
              </a:rPr>
              <a:t>Використовує</a:t>
            </a:r>
            <a:r>
              <a:rPr lang="en-US" sz="1800" b="0" i="0" dirty="0">
                <a:effectLst/>
                <a:latin typeface="Calibri"/>
              </a:rPr>
              <a:t> тільки хеш-функції, уникаючи складних математичних операцій, таких як модульне піднесення </a:t>
            </a:r>
            <a:r>
              <a:rPr lang="en-US" sz="1800" b="0" i="0" dirty="0" err="1">
                <a:effectLst/>
                <a:latin typeface="Calibri"/>
              </a:rPr>
              <a:t>до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степеня</a:t>
            </a:r>
            <a:endParaRPr lang="en-US" sz="1800" b="0" i="0" dirty="0">
              <a:effectLst/>
              <a:latin typeface="Calibri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effectLst/>
                <a:latin typeface="Calibri"/>
              </a:rPr>
              <a:t>Одноразове використання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457200" lvl="1" indent="0" algn="l">
              <a:lnSpc>
                <a:spcPct val="150000"/>
              </a:lnSpc>
              <a:spcBef>
                <a:spcPts val="300"/>
              </a:spcBef>
              <a:buNone/>
            </a:pPr>
            <a:r>
              <a:rPr lang="uk-UA" sz="1800" b="0" i="0" dirty="0">
                <a:effectLst/>
                <a:latin typeface="Calibri"/>
              </a:rPr>
              <a:t>- </a:t>
            </a:r>
            <a:r>
              <a:rPr lang="en-US" sz="1800" b="0" i="0" dirty="0" err="1">
                <a:effectLst/>
                <a:latin typeface="Calibri"/>
              </a:rPr>
              <a:t>Забезпечує</a:t>
            </a:r>
            <a:r>
              <a:rPr lang="en-US" sz="1800" b="0" i="0" dirty="0">
                <a:effectLst/>
                <a:latin typeface="Calibri"/>
              </a:rPr>
              <a:t> безпеку для окремих транзакцій </a:t>
            </a:r>
            <a:r>
              <a:rPr lang="en-US" sz="1800" b="0" i="0" dirty="0" err="1">
                <a:effectLst/>
                <a:latin typeface="Calibri"/>
              </a:rPr>
              <a:t>або</a:t>
            </a:r>
            <a:r>
              <a:rPr lang="en-US" sz="1800" b="0" i="0" dirty="0">
                <a:effectLst/>
                <a:latin typeface="Calibri"/>
              </a:rPr>
              <a:t> </a:t>
            </a:r>
            <a:r>
              <a:rPr lang="en-US" sz="1800" b="0" i="0" dirty="0" err="1">
                <a:effectLst/>
                <a:latin typeface="Calibri"/>
              </a:rPr>
              <a:t>комунікацій</a:t>
            </a:r>
            <a:endParaRPr lang="en-US" sz="1800" b="0" i="0" dirty="0">
              <a:effectLst/>
              <a:latin typeface="Calibri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effectLst/>
                <a:latin typeface="Calibri"/>
              </a:rPr>
              <a:t>Компактні підписи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457200" lvl="1" indent="0" algn="just">
              <a:lnSpc>
                <a:spcPct val="150000"/>
              </a:lnSpc>
              <a:spcBef>
                <a:spcPts val="300"/>
              </a:spcBef>
              <a:buNone/>
            </a:pPr>
            <a:r>
              <a:rPr lang="uk-UA" sz="1800" b="0" i="0" dirty="0">
                <a:effectLst/>
                <a:latin typeface="Calibri"/>
              </a:rPr>
              <a:t>- </a:t>
            </a:r>
            <a:r>
              <a:rPr lang="en-US" sz="1800" b="0" i="0" dirty="0" err="1">
                <a:effectLst/>
                <a:latin typeface="Calibri"/>
              </a:rPr>
              <a:t>Менші</a:t>
            </a:r>
            <a:r>
              <a:rPr lang="en-US" sz="1800" b="0" i="0" dirty="0">
                <a:effectLst/>
                <a:latin typeface="Calibri"/>
              </a:rPr>
              <a:t> за інші схеми на основі хеш-функцій (наприклад, підписи </a:t>
            </a:r>
            <a:r>
              <a:rPr lang="en-US" sz="1800" b="0" i="0" dirty="0" err="1">
                <a:effectLst/>
                <a:latin typeface="Calibri"/>
              </a:rPr>
              <a:t>Меркла</a:t>
            </a:r>
            <a:r>
              <a:rPr lang="en-US" sz="1800" b="0" i="0" dirty="0">
                <a:effectLst/>
                <a:latin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23709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64E76-A341-7076-042B-43CE4D5A5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071" y="198437"/>
            <a:ext cx="5440680" cy="132556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203864"/>
                </a:solidFill>
                <a:latin typeface="Calibri"/>
              </a:rPr>
              <a:t>Lamport: генерація ключів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76B782-75E1-8FB0-250E-633C1C28B0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524000"/>
                <a:ext cx="9905999" cy="4774531"/>
              </a:xfrm>
            </p:spPr>
            <p:txBody>
              <a:bodyPr>
                <a:normAutofit lnSpcReduction="10000"/>
              </a:bodyPr>
              <a:lstStyle/>
              <a:p>
                <a:pPr marL="342900" marR="0" lvl="0" indent="-342900">
                  <a:lnSpc>
                    <a:spcPct val="100000"/>
                  </a:lnSpc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Приватний ключ (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𝑥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):</a:t>
                </a:r>
              </a:p>
              <a:p>
                <a:pPr marL="342900" marR="0" lvl="0" indent="-342900">
                  <a:lnSpc>
                    <a:spcPct val="1000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Згенеруйте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2</m:t>
                    </m:r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𝑛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випадкові значення ,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де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𝑛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- довжина хешу повідомлення.</a:t>
                </a:r>
              </a:p>
              <a:p>
                <a:pPr marL="342900" marR="0" lvl="0" indent="-342900">
                  <a:lnSpc>
                    <a:spcPct val="1000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Розділити на дві частини:</a:t>
                </a:r>
              </a:p>
              <a:p>
                <a:pPr marL="0" marR="0" indent="0">
                  <a:lnSpc>
                    <a:spcPct val="100000"/>
                  </a:lnSpc>
                  <a:spcAft>
                    <a:spcPts val="11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𝑥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d>
                        <m:d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1,0</m:t>
                              </m:r>
                            </m:sub>
                          </m:s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2,0</m:t>
                              </m:r>
                            </m:sub>
                          </m:s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2,1</m:t>
                              </m:r>
                            </m:sub>
                          </m:s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𝑛</m:t>
                              </m:r>
                              <m: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,0</m:t>
                              </m:r>
                            </m:sub>
                          </m:s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𝑛</m:t>
                              </m:r>
                              <m: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,1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lnSpc>
                    <a:spcPct val="100000"/>
                  </a:lnSpc>
                  <a:spcAft>
                    <a:spcPts val="1100"/>
                  </a:spcAf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Кожен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є випадковим значенням (наприклад, 256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бітів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).</a:t>
                </a:r>
                <a:endParaRPr lang="uk-UA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 indent="0">
                  <a:lnSpc>
                    <a:spcPct val="100000"/>
                  </a:lnSpc>
                  <a:spcAft>
                    <a:spcPts val="1100"/>
                  </a:spcAft>
                  <a:buNone/>
                </a:pPr>
                <a:b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</a:b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2. Відкритий ключ (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𝑦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):</a:t>
                </a:r>
              </a:p>
              <a:p>
                <a:pPr marL="342900" marR="0" lvl="0" indent="-342900">
                  <a:lnSpc>
                    <a:spcPct val="1000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Хешуйте кожен елемент приватного ключа:</a:t>
                </a:r>
              </a:p>
              <a:p>
                <a:pPr marL="0" marR="0" indent="0">
                  <a:lnSpc>
                    <a:spcPct val="100000"/>
                  </a:lnSpc>
                  <a:spcAft>
                    <a:spcPts val="11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𝑦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d>
                        <m:d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1,0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2,0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,…,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𝑛</m:t>
                                  </m:r>
                                  <m:r>
                                    <a:rPr lang="en-US" sz="18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,0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𝑛</m:t>
                                  </m:r>
                                  <m:r>
                                    <a:rPr lang="en-US" sz="18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lnSpc>
                    <a:spcPct val="100000"/>
                  </a:lnSpc>
                  <a:spcAft>
                    <a:spcPts val="1100"/>
                  </a:spcAf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є криптографічною хеш-функцією (наприклад, SHA-256).</a:t>
                </a: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76B782-75E1-8FB0-250E-633C1C28B0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524000"/>
                <a:ext cx="9905999" cy="4774531"/>
              </a:xfrm>
              <a:blipFill>
                <a:blip r:embed="rId2"/>
                <a:stretch>
                  <a:fillRect l="-492" t="-1149"/>
                </a:stretch>
              </a:blipFill>
            </p:spPr>
            <p:txBody>
              <a:bodyPr>
                <a:normAutoFit fontScale="75000" lnSpcReduction="20000"/>
              </a:bodyPr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6538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08EF1-A4C1-56E0-D78B-0326792F0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3179" y="283708"/>
            <a:ext cx="8757920" cy="1325563"/>
          </a:xfrm>
        </p:spPr>
        <p:txBody>
          <a:bodyPr>
            <a:normAutofit/>
          </a:bodyPr>
          <a:lstStyle/>
          <a:p>
            <a:r>
              <a:rPr lang="uk-UA" b="1" dirty="0">
                <a:solidFill>
                  <a:schemeClr val="accent1">
                    <a:lumMod val="50000"/>
                  </a:schemeClr>
                </a:solidFill>
                <a:latin typeface="Calibri"/>
              </a:rPr>
              <a:t>Lamport: формування підпису</a:t>
            </a:r>
            <a:endParaRPr lang="en-US" b="1" dirty="0">
              <a:solidFill>
                <a:schemeClr val="accent1">
                  <a:lumMod val="50000"/>
                </a:schemeClr>
              </a:solidFill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07A7F3-182C-4E96-A112-3911D09514F4}"/>
                  </a:ext>
                </a:extLst>
              </p:cNvPr>
              <p:cNvSpPr txBox="1"/>
              <p:nvPr/>
            </p:nvSpPr>
            <p:spPr>
              <a:xfrm>
                <a:off x="1584158" y="1237615"/>
                <a:ext cx="9023684" cy="5620385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Хешування повідомлення: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Хешуйте повідомлення 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, щоб отримати дайджест фіксованої довжини: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h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𝐻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(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𝑚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)</m:t>
                      </m:r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Приклад: 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=101101011100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  <a:endParaRPr lang="uk-UA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>
                  <a:spcAft>
                    <a:spcPts val="600"/>
                  </a:spcAft>
                  <a:tabLst>
                    <a:tab pos="685800" algn="l"/>
                  </a:tabLst>
                </a:pPr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2"/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Вибір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елементів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приватного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ключа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кожного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біта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𝑏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виберіть відповідний елемент приватного ключа: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𝜎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𝑖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𝑖</m:t>
                          </m:r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Приклад:</a:t>
                </a: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     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=101101011100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, то: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𝜎</m:t>
                          </m:r>
                        </m:e>
                        <m: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1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  <m: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1,1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, </m:t>
                      </m:r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𝜎</m:t>
                          </m:r>
                        </m:e>
                        <m: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2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  <m: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2,0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, </m:t>
                      </m:r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𝜎</m:t>
                          </m:r>
                        </m:e>
                        <m: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3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  <m: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3,1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, …</m:t>
                      </m:r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3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Сформуйте підпис: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Підпис - це сукупність вибраних елементів приватного ключа: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1">
                          <a:effectLst/>
                          <a:latin typeface="Calibri"/>
                          <a:ea typeface="Calibri"/>
                          <a:cs typeface="Calibri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>
                          <a:effectLst/>
                          <a:latin typeface="Calibri"/>
                          <a:ea typeface="Calibri"/>
                          <a:cs typeface="Calibri"/>
                        </a:rPr>
                        <m:t>Signature</m:t>
                      </m:r>
                      <m:r>
                        <m:rPr>
                          <m:nor/>
                        </m:rPr>
                        <a:rPr lang="en-US" sz="1800" i="1">
                          <a:effectLst/>
                          <a:latin typeface="Calibri"/>
                          <a:ea typeface="Calibri"/>
                          <a:cs typeface="Calibri"/>
                        </a:rPr>
                        <m:t> 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07A7F3-182C-4E96-A112-3911D0951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4158" y="1237615"/>
                <a:ext cx="9023684" cy="5620385"/>
              </a:xfrm>
              <a:prstGeom prst="rect">
                <a:avLst/>
              </a:prstGeom>
              <a:blipFill>
                <a:blip r:embed="rId2"/>
                <a:stretch>
                  <a:fillRect l="-562" t="-451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9310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73A67-72C6-3970-C465-D86E9FB81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Lamport: перевірка підпису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06D9C9-D913-10DA-35EC-0737953D5EDF}"/>
                  </a:ext>
                </a:extLst>
              </p:cNvPr>
              <p:cNvSpPr txBox="1"/>
              <p:nvPr/>
            </p:nvSpPr>
            <p:spPr>
              <a:xfrm>
                <a:off x="2632192" y="2101216"/>
                <a:ext cx="7873248" cy="2611741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Перерахуйте відкритий ключ: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Виконайте хешування кожного елемента підпису: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𝑦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𝑖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′</m:t>
                          </m:r>
                        </m:sup>
                      </m:sSubSup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𝐻</m:t>
                      </m:r>
                      <m:d>
                        <m:d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Порівняйте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з відповідним елементом відкритого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ключа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2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Перевірка підпису: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Якщо всі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, підпис є дійсним.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06D9C9-D913-10DA-35EC-0737953D5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192" y="2101216"/>
                <a:ext cx="7873248" cy="2611741"/>
              </a:xfrm>
              <a:prstGeom prst="rect">
                <a:avLst/>
              </a:prstGeom>
              <a:blipFill>
                <a:blip r:embed="rId2"/>
                <a:stretch>
                  <a:fillRect l="-697" t="-1402" b="-1869"/>
                </a:stretch>
              </a:blipFill>
            </p:spPr>
            <p:txBody>
              <a:bodyPr>
                <a:normAutoFit fontScale="75000" lnSpcReduction="20000"/>
              </a:bodyPr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4194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D1B4F-0AF6-517B-18F3-54F3F4B26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9980" y="386081"/>
            <a:ext cx="7432040" cy="1439544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203864"/>
                </a:solidFill>
                <a:latin typeface="Calibri"/>
              </a:rPr>
              <a:t>Чому LOTS є </a:t>
            </a:r>
            <a:r>
              <a:rPr lang="uk-UA" b="1" dirty="0">
                <a:solidFill>
                  <a:srgbClr val="203864"/>
                </a:solidFill>
                <a:latin typeface="Calibri"/>
              </a:rPr>
              <a:t>одноразовим</a:t>
            </a:r>
            <a:br>
              <a:rPr lang="en-US" sz="1800" dirty="0">
                <a:effectLst/>
                <a:latin typeface="Calibri"/>
                <a:ea typeface="Calibri"/>
                <a:cs typeface="Calibri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5ECB8-2ACD-CE54-11F6-CDDD67D70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>
              <a:lnSpc>
                <a:spcPct val="100000"/>
              </a:lnSpc>
              <a:spcAft>
                <a:spcPts val="600"/>
              </a:spcAft>
              <a:buNone/>
              <a:tabLst>
                <a:tab pos="685800" algn="l"/>
              </a:tabLst>
            </a:pPr>
            <a:r>
              <a:rPr lang="en-US" sz="1800" dirty="0">
                <a:effectLst/>
                <a:latin typeface="Calibri"/>
                <a:ea typeface="Calibri"/>
                <a:cs typeface="Calibri"/>
              </a:rPr>
              <a:t>Часткове розкриття приватного ключа</a:t>
            </a:r>
          </a:p>
          <a:p>
            <a:pPr marL="342900" marR="0" lvl="0" indent="-342900">
              <a:lnSpc>
                <a:spcPct val="100000"/>
              </a:lnSpc>
              <a:spcAft>
                <a:spcPts val="600"/>
              </a:spcAft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en-US" sz="1800" dirty="0">
                <a:effectLst/>
                <a:latin typeface="Calibri"/>
                <a:ea typeface="Calibri"/>
                <a:cs typeface="Calibri"/>
              </a:rPr>
              <a:t>Кожен підпис розкриває половину елементів приватного ключа (по одному для кожного біта хешу повідомлення).</a:t>
            </a:r>
          </a:p>
          <a:p>
            <a:pPr marL="342900" marR="0" lvl="0" indent="-342900">
              <a:lnSpc>
                <a:spcPct val="100000"/>
              </a:lnSpc>
              <a:spcAft>
                <a:spcPts val="600"/>
              </a:spcAft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en-US" sz="1800" dirty="0">
                <a:effectLst/>
                <a:latin typeface="Calibri"/>
                <a:ea typeface="Calibri"/>
                <a:cs typeface="Calibri"/>
              </a:rPr>
              <a:t>Якщо ви підпишете друге повідомлення, новий підпис розкриє іншу половину елементів приватного ключа.</a:t>
            </a:r>
          </a:p>
          <a:p>
            <a:pPr marL="342900" marR="0" lvl="0" indent="-342900">
              <a:lnSpc>
                <a:spcPct val="100000"/>
              </a:lnSpc>
              <a:spcAft>
                <a:spcPts val="600"/>
              </a:spcAft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en-US" sz="1800" dirty="0">
                <a:effectLst/>
                <a:latin typeface="Calibri"/>
                <a:ea typeface="Calibri"/>
                <a:cs typeface="Calibri"/>
              </a:rPr>
              <a:t>Зловмисник може об'єднати два підписи, щоб відновити весь приватний ключ.</a:t>
            </a:r>
          </a:p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1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27BF3-7B9C-E8AA-633A-FB410864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uk-UA" b="1" dirty="0">
                <a:solidFill>
                  <a:schemeClr val="accent1">
                    <a:lumMod val="50000"/>
                  </a:schemeClr>
                </a:solidFill>
                <a:latin typeface="Calibri"/>
              </a:rPr>
              <a:t>Одноразовий підпис </a:t>
            </a:r>
            <a:r>
              <a:rPr lang="uk-UA" b="1" dirty="0" err="1">
                <a:solidFill>
                  <a:schemeClr val="accent1">
                    <a:lumMod val="50000"/>
                  </a:schemeClr>
                </a:solidFill>
                <a:latin typeface="Calibri"/>
              </a:rPr>
              <a:t>Вінтерніца</a:t>
            </a:r>
            <a:endParaRPr lang="en-US" b="1" dirty="0">
              <a:solidFill>
                <a:schemeClr val="accent1">
                  <a:lumMod val="50000"/>
                </a:schemeClr>
              </a:solidFill>
              <a:latin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B1040F-FAFD-26A3-8AD3-EEBC7A282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4319"/>
            <a:ext cx="10820400" cy="4948555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i="0" dirty="0">
                <a:effectLst/>
                <a:latin typeface="Calibri"/>
              </a:rPr>
              <a:t>Схема цифрового підпису на </a:t>
            </a:r>
            <a:r>
              <a:rPr lang="en-US" sz="1800" b="1" i="0" dirty="0" err="1">
                <a:effectLst/>
                <a:latin typeface="Calibri"/>
              </a:rPr>
              <a:t>основі</a:t>
            </a:r>
            <a:r>
              <a:rPr lang="en-US" sz="1800" b="1" i="0" dirty="0">
                <a:effectLst/>
                <a:latin typeface="Calibri"/>
              </a:rPr>
              <a:t> </a:t>
            </a:r>
            <a:r>
              <a:rPr lang="en-US" sz="1800" b="1" i="0" dirty="0" err="1">
                <a:effectLst/>
                <a:latin typeface="Calibri"/>
              </a:rPr>
              <a:t>хеш-функції</a:t>
            </a:r>
            <a:endParaRPr lang="en-US" sz="1800" b="0" i="0" dirty="0">
              <a:effectLst/>
              <a:latin typeface="Calibri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effectLst/>
                <a:latin typeface="Calibri"/>
              </a:rPr>
              <a:t>Призначена для </a:t>
            </a:r>
            <a:r>
              <a:rPr lang="en-US" sz="1800" b="1" i="0" dirty="0">
                <a:effectLst/>
                <a:latin typeface="Calibri"/>
              </a:rPr>
              <a:t>одноразового використання </a:t>
            </a:r>
            <a:r>
              <a:rPr lang="en-US" sz="1800" b="0" i="0" dirty="0">
                <a:effectLst/>
                <a:latin typeface="Calibri"/>
              </a:rPr>
              <a:t>(кожна пара ключів підписує тільки одне повідомлення).</a:t>
            </a:r>
          </a:p>
          <a:p>
            <a:pPr algn="l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effectLst/>
                <a:latin typeface="Calibri"/>
              </a:rPr>
              <a:t>Базується на безпеці криптографічних хеш-функцій</a:t>
            </a:r>
          </a:p>
          <a:p>
            <a:pPr algn="l">
              <a:lnSpc>
                <a:spcPct val="15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effectLst/>
                <a:latin typeface="Calibri"/>
              </a:rPr>
              <a:t>Постквантова безпека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457200" lvl="1" indent="0" algn="l">
              <a:lnSpc>
                <a:spcPct val="150000"/>
              </a:lnSpc>
              <a:spcBef>
                <a:spcPts val="300"/>
              </a:spcBef>
              <a:buNone/>
            </a:pPr>
            <a:r>
              <a:rPr lang="uk-UA" sz="1800" b="0" i="0" dirty="0">
                <a:effectLst/>
                <a:latin typeface="Calibri"/>
              </a:rPr>
              <a:t> - </a:t>
            </a:r>
            <a:r>
              <a:rPr lang="en-US" sz="1800" b="0" i="0" dirty="0" err="1">
                <a:effectLst/>
                <a:latin typeface="Calibri"/>
              </a:rPr>
              <a:t>Стійка</a:t>
            </a:r>
            <a:r>
              <a:rPr lang="en-US" sz="1800" b="0" i="0" dirty="0">
                <a:effectLst/>
                <a:latin typeface="Calibri"/>
              </a:rPr>
              <a:t> до квантових атак (базується на хеш-функціях, не вразлива до алгоритму Шора).</a:t>
            </a:r>
          </a:p>
          <a:p>
            <a:pPr algn="l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effectLst/>
                <a:latin typeface="Calibri"/>
              </a:rPr>
              <a:t>Простота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457200" lvl="1" indent="0" algn="l">
              <a:lnSpc>
                <a:spcPct val="150000"/>
              </a:lnSpc>
              <a:spcBef>
                <a:spcPts val="300"/>
              </a:spcBef>
              <a:buNone/>
            </a:pPr>
            <a:r>
              <a:rPr lang="uk-UA" sz="1800" b="0" i="0" dirty="0">
                <a:effectLst/>
                <a:latin typeface="Calibri"/>
              </a:rPr>
              <a:t>- </a:t>
            </a:r>
            <a:r>
              <a:rPr lang="en-US" sz="1800" b="0" i="0" dirty="0" err="1">
                <a:effectLst/>
                <a:latin typeface="Calibri"/>
              </a:rPr>
              <a:t>Використовує</a:t>
            </a:r>
            <a:r>
              <a:rPr lang="en-US" sz="1800" b="0" i="0" dirty="0">
                <a:effectLst/>
                <a:latin typeface="Calibri"/>
              </a:rPr>
              <a:t> тільки хеш-функції, уникаючи складних математичних операцій, </a:t>
            </a:r>
            <a:r>
              <a:rPr lang="en-US" sz="1800" b="0" i="0" dirty="0" err="1">
                <a:effectLst/>
                <a:latin typeface="Calibri"/>
              </a:rPr>
              <a:t>таких</a:t>
            </a:r>
            <a:r>
              <a:rPr lang="en-US" sz="1800" b="0" i="0" dirty="0">
                <a:effectLst/>
                <a:latin typeface="Calibri"/>
              </a:rPr>
              <a:t> як модульне піднесення до степеня.</a:t>
            </a:r>
          </a:p>
          <a:p>
            <a:pPr algn="l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effectLst/>
                <a:latin typeface="Calibri"/>
              </a:rPr>
              <a:t>Одноразове використання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457200" lvl="1" indent="0" algn="l">
              <a:lnSpc>
                <a:spcPct val="150000"/>
              </a:lnSpc>
              <a:spcBef>
                <a:spcPts val="300"/>
              </a:spcBef>
              <a:buNone/>
            </a:pPr>
            <a:r>
              <a:rPr lang="uk-UA" sz="1800" b="0" i="0" dirty="0">
                <a:effectLst/>
                <a:latin typeface="Calibri"/>
              </a:rPr>
              <a:t>- </a:t>
            </a:r>
            <a:r>
              <a:rPr lang="en-US" sz="1800" b="0" i="0" dirty="0" err="1">
                <a:effectLst/>
                <a:latin typeface="Calibri"/>
              </a:rPr>
              <a:t>Забезпечує</a:t>
            </a:r>
            <a:r>
              <a:rPr lang="en-US" sz="1800" b="0" i="0" dirty="0">
                <a:effectLst/>
                <a:latin typeface="Calibri"/>
              </a:rPr>
              <a:t> безпеку для окремих транзакцій або комунікацій.</a:t>
            </a:r>
          </a:p>
          <a:p>
            <a:pPr algn="l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effectLst/>
                <a:latin typeface="Calibri"/>
              </a:rPr>
              <a:t>Компактні підписи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457200" lvl="1" indent="0" algn="l">
              <a:lnSpc>
                <a:spcPct val="150000"/>
              </a:lnSpc>
              <a:spcBef>
                <a:spcPts val="300"/>
              </a:spcBef>
              <a:buNone/>
            </a:pPr>
            <a:r>
              <a:rPr lang="uk-UA" sz="1800" b="0" i="0" dirty="0">
                <a:effectLst/>
                <a:latin typeface="Calibri"/>
              </a:rPr>
              <a:t>- </a:t>
            </a:r>
            <a:r>
              <a:rPr lang="en-US" sz="1800" b="0" i="0" dirty="0" err="1">
                <a:effectLst/>
                <a:latin typeface="Calibri"/>
              </a:rPr>
              <a:t>Менші</a:t>
            </a:r>
            <a:r>
              <a:rPr lang="en-US" sz="1800" b="0" i="0" dirty="0">
                <a:effectLst/>
                <a:latin typeface="Calibri"/>
              </a:rPr>
              <a:t> за інші схеми на основі хеш-функцій (наприклад, підписи </a:t>
            </a:r>
            <a:r>
              <a:rPr lang="en-US" sz="1800" b="0" i="0" dirty="0" err="1">
                <a:effectLst/>
                <a:latin typeface="Calibri"/>
              </a:rPr>
              <a:t>Меркла</a:t>
            </a:r>
            <a:r>
              <a:rPr lang="en-US" sz="1800" b="0" i="0" dirty="0">
                <a:effectLst/>
                <a:latin typeface="Calibri"/>
              </a:rPr>
              <a:t>).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831160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A706C-8A51-C366-F59D-C8D08DDF3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WOTS: генерація ключів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6B7EE6-B544-03BD-0F62-90C00428CD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93240" y="1690688"/>
                <a:ext cx="8305800" cy="4667250"/>
              </a:xfrm>
            </p:spPr>
            <p:txBody>
              <a:bodyPr/>
              <a:lstStyle/>
              <a:p>
                <a:pPr marL="0" marR="0" lvl="0" indent="0">
                  <a:lnSpc>
                    <a:spcPts val="1200"/>
                  </a:lnSpc>
                  <a:spcAft>
                    <a:spcPts val="600"/>
                  </a:spcAft>
                  <a:buNone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Приватний ключ (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𝑥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):</a:t>
                </a:r>
              </a:p>
              <a:p>
                <a:pPr marL="36000" marR="0" lvl="0" indent="-342900">
                  <a:lnSpc>
                    <a:spcPts val="12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Набір випадкових значень: 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𝑥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d>
                      <m:d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,…,</m:t>
                        </m:r>
                        <m:sSub>
                          <m:sSub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" marR="0" lvl="0" indent="-342900">
                  <a:lnSpc>
                    <a:spcPts val="12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Кожен є випадковим числом (наприклад, 256 бітів).</a:t>
                </a:r>
              </a:p>
              <a:p>
                <a:pPr marL="0" marR="0" lvl="0" indent="0">
                  <a:lnSpc>
                    <a:spcPts val="1200"/>
                  </a:lnSpc>
                  <a:spcAft>
                    <a:spcPts val="600"/>
                  </a:spcAft>
                  <a:buNone/>
                  <a:tabLst>
                    <a:tab pos="685800" algn="l"/>
                  </a:tabLst>
                </a:pPr>
                <a:endParaRPr lang="uk-UA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 lvl="0" indent="0">
                  <a:lnSpc>
                    <a:spcPts val="1200"/>
                  </a:lnSpc>
                  <a:spcAft>
                    <a:spcPts val="600"/>
                  </a:spcAft>
                  <a:buNone/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Відкритий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ключ (y):</a:t>
                </a:r>
              </a:p>
              <a:p>
                <a:pPr marL="36000" marR="0" lvl="0" indent="-342900">
                  <a:lnSpc>
                    <a:spcPts val="1200"/>
                  </a:lnSpc>
                  <a:spcAft>
                    <a:spcPts val="12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Отримується шляхом застосування хеш-функції 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𝑤</m:t>
                    </m:r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разів до кожного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6000" marR="0" indent="0">
                  <a:lnSpc>
                    <a:spcPts val="1200"/>
                  </a:lnSpc>
                  <a:spcAft>
                    <a:spcPts val="11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𝑦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d>
                        <m:d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𝑤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𝑤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,…,</m:t>
                          </m:r>
                          <m:sSup>
                            <m:sSup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𝑤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" marR="0" lvl="0" indent="-342900">
                  <a:lnSpc>
                    <a:spcPts val="12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є криптографічною хеш-функцією (наприклад, SHA-256).</a:t>
                </a:r>
              </a:p>
              <a:p>
                <a:pPr marL="36000" marR="0" lvl="0" indent="-342900">
                  <a:lnSpc>
                    <a:spcPts val="12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𝑤</m:t>
                    </m:r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є параметром (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наприклад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,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𝑤</m:t>
                    </m:r>
                    <m:r>
                      <a:rPr lang="en-US" sz="1800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=16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6B7EE6-B544-03BD-0F62-90C00428CD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93240" y="1690688"/>
                <a:ext cx="8305800" cy="4667250"/>
              </a:xfrm>
              <a:blipFill>
                <a:blip r:embed="rId2"/>
                <a:stretch>
                  <a:fillRect l="-611" t="-2710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095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12A03-4CF5-71CA-4C7A-ABB86C0D2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780" y="-147499"/>
            <a:ext cx="9905998" cy="1478570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WOTS: генерація підпису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641280-27B9-498F-665A-8173B37EB923}"/>
                  </a:ext>
                </a:extLst>
              </p:cNvPr>
              <p:cNvSpPr txBox="1"/>
              <p:nvPr/>
            </p:nvSpPr>
            <p:spPr>
              <a:xfrm>
                <a:off x="457200" y="963200"/>
                <a:ext cx="11277600" cy="6019597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360000" marR="0">
                  <a:spcAft>
                    <a:spcPts val="1100"/>
                  </a:spcAft>
                </a:pPr>
                <a:r>
                  <a:rPr lang="en-US" sz="1600" b="1" dirty="0">
                    <a:effectLst/>
                    <a:latin typeface="Calibri"/>
                    <a:ea typeface="Calibri"/>
                    <a:cs typeface="Calibri"/>
                  </a:rPr>
                  <a:t>Крок 1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: Хешування повідомлення</a:t>
                </a:r>
              </a:p>
              <a:p>
                <a:pPr marL="3600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Хешуйте повідомлення </a:t>
                </a:r>
                <a14:m>
                  <m:oMath xmlns:m="http://schemas.openxmlformats.org/officeDocument/2006/math">
                    <m:r>
                      <a:rPr lang="en-US" sz="16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, щоб отримати дайджест фіксованої довжини: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)</m:t>
                    </m:r>
                  </m:oMath>
                </a14:m>
                <a:endParaRPr lang="en-US" sz="16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0"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Приклад: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)=101101011100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, то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 sz="1600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=101101011100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  <a:endParaRPr lang="uk-UA" sz="1600" b="1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0" marR="0">
                  <a:spcAft>
                    <a:spcPts val="1100"/>
                  </a:spcAft>
                </a:pPr>
                <a:r>
                  <a:rPr lang="en-US" sz="1600" b="1" dirty="0" err="1">
                    <a:effectLst/>
                    <a:latin typeface="Calibri"/>
                    <a:ea typeface="Calibri"/>
                    <a:cs typeface="Calibri"/>
                  </a:rPr>
                  <a:t>Крок</a:t>
                </a:r>
                <a:r>
                  <a:rPr lang="en-US" sz="1600" b="1" dirty="0">
                    <a:effectLst/>
                    <a:latin typeface="Calibri"/>
                    <a:ea typeface="Calibri"/>
                    <a:cs typeface="Calibri"/>
                  </a:rPr>
                  <a:t> 2: 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Розділіть дайджест</a:t>
                </a:r>
              </a:p>
              <a:p>
                <a:pPr marL="3600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Розділіть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uk-UA" sz="1600" b="0" i="0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r>
                      <a:rPr lang="en-US" sz="16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на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𝑛</m:t>
                    </m:r>
                    <m:r>
                      <a:rPr lang="en-US" sz="16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частин, кожна з яких має розмір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log</m:t>
                        </m:r>
                      </m:e>
                      <m:sub>
                        <m:r>
                          <a:rPr lang="en-US" sz="1600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 sz="1600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⁡(</m:t>
                    </m:r>
                    <m:r>
                      <a:rPr lang="en-US" sz="16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𝑤</m:t>
                    </m:r>
                    <m:r>
                      <a:rPr lang="en-US" sz="1600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)</m:t>
                    </m:r>
                  </m:oMath>
                </a14:m>
                <a:r>
                  <a:rPr lang="en-US" sz="1600" dirty="0"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600" dirty="0"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600" dirty="0">
                    <a:latin typeface="Calibri"/>
                    <a:ea typeface="Calibri"/>
                    <a:cs typeface="Calibri"/>
                  </a:rPr>
                  <a:t>бітів.</a:t>
                </a:r>
              </a:p>
              <a:p>
                <a:pPr marL="360000"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Приклад: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𝑤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=16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, то кожен фрагмент має розмір 4 біти: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=1011=11, </m:t>
                    </m:r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=0101=5, </m:t>
                    </m:r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=1100=12</m:t>
                    </m:r>
                  </m:oMath>
                </a14:m>
                <a:endParaRPr lang="en-US" sz="16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0" marR="0">
                  <a:spcAft>
                    <a:spcPts val="1100"/>
                  </a:spcAft>
                </a:pPr>
                <a:r>
                  <a:rPr lang="en-US" sz="1600" b="1" dirty="0">
                    <a:effectLst/>
                    <a:latin typeface="Calibri"/>
                    <a:ea typeface="Calibri"/>
                    <a:cs typeface="Calibri"/>
                  </a:rPr>
                  <a:t>Крок 3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: Застосування хеш-ланцюгів</a:t>
                </a:r>
              </a:p>
              <a:p>
                <a:pPr marL="3600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Для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кожного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фрагмента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застосуйте хеш-функцію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600" dirty="0" err="1"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sz="1600" dirty="0"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600" dirty="0"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600" dirty="0" err="1">
                    <a:latin typeface="Calibri"/>
                    <a:ea typeface="Calibri"/>
                    <a:cs typeface="Calibri"/>
                  </a:rPr>
                  <a:t>до</a:t>
                </a:r>
                <a:r>
                  <a:rPr lang="uk-UA" sz="1600" dirty="0"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>
                    <a:latin typeface="Calibri"/>
                    <a:ea typeface="Calibri"/>
                    <a:cs typeface="Calibri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0" marR="0" lvl="0">
                  <a:spcAft>
                    <a:spcPts val="600"/>
                  </a:spcAft>
                  <a:tabLst>
                    <a:tab pos="685800" algn="l"/>
                  </a:tabLst>
                </a:pPr>
                <a:endParaRPr lang="en-US" sz="16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0"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Приклад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, 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11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11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, 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5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5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12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12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60000" marR="0" lvl="0">
                  <a:spcAft>
                    <a:spcPts val="600"/>
                  </a:spcAft>
                  <a:tabLst>
                    <a:tab pos="685800" algn="l"/>
                  </a:tabLst>
                </a:pPr>
                <a:endParaRPr lang="uk-UA" sz="1600" b="1" dirty="0">
                  <a:latin typeface="Calibri"/>
                  <a:ea typeface="Calibri"/>
                  <a:cs typeface="Calibri"/>
                </a:endParaRPr>
              </a:p>
              <a:p>
                <a:pPr marL="360000"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600" b="1" dirty="0" err="1">
                    <a:effectLst/>
                    <a:latin typeface="Calibri"/>
                    <a:ea typeface="Calibri"/>
                    <a:cs typeface="Calibri"/>
                  </a:rPr>
                  <a:t>Крок</a:t>
                </a:r>
                <a:r>
                  <a:rPr lang="en-US" sz="1600" b="1" dirty="0">
                    <a:effectLst/>
                    <a:latin typeface="Calibri"/>
                    <a:ea typeface="Calibri"/>
                    <a:cs typeface="Calibri"/>
                  </a:rPr>
                  <a:t> 4: 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Сформуйте підпис</a:t>
                </a:r>
              </a:p>
              <a:p>
                <a:pPr marL="3600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Підпис -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це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сукупність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𝜎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: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uk-UA" sz="1600" b="0" i="0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r>
                      <m:rPr>
                        <m:nor/>
                      </m:rPr>
                      <a:rPr lang="en-US" sz="1600">
                        <a:effectLst/>
                        <a:latin typeface="Calibri"/>
                        <a:ea typeface="Calibri"/>
                        <a:cs typeface="Calibri"/>
                      </a:rPr>
                      <m:t>Signature</m:t>
                    </m:r>
                    <m:r>
                      <m:rPr>
                        <m:nor/>
                      </m:rPr>
                      <a:rPr lang="en-US" sz="1600" i="1">
                        <a:effectLst/>
                        <a:latin typeface="Calibri"/>
                        <a:ea typeface="Calibri"/>
                        <a:cs typeface="Calibri"/>
                      </a:rPr>
                      <m:t> 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641280-27B9-498F-665A-8173B37EB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963200"/>
                <a:ext cx="11277600" cy="6019597"/>
              </a:xfrm>
              <a:prstGeom prst="rect">
                <a:avLst/>
              </a:prstGeom>
              <a:blipFill>
                <a:blip r:embed="rId2"/>
                <a:stretch>
                  <a:fillRect l="-337" t="-211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8632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79144-E1A8-0663-C7D1-FAA5E19D4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WOTS: перевірка підпису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15F1DE-220D-80BC-E6B6-CEB880082FD9}"/>
                  </a:ext>
                </a:extLst>
              </p:cNvPr>
              <p:cNvSpPr txBox="1"/>
              <p:nvPr/>
            </p:nvSpPr>
            <p:spPr>
              <a:xfrm>
                <a:off x="1341120" y="1690688"/>
                <a:ext cx="10012680" cy="4390561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0" marR="0">
                  <a:spcAft>
                    <a:spcPts val="1100"/>
                  </a:spcAft>
                </a:pPr>
                <a:r>
                  <a:rPr lang="en-US" sz="1800" b="1" dirty="0">
                    <a:effectLst/>
                    <a:latin typeface="Calibri"/>
                    <a:ea typeface="Calibri"/>
                    <a:cs typeface="Calibri"/>
                  </a:rPr>
                  <a:t>Крок 1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: Перерахуйте відкритий ключ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Для кожного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хеш-функцію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𝑤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разів: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𝑦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𝑖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′</m:t>
                          </m:r>
                        </m:sup>
                      </m:sSubSup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sSup>
                        <m:sSup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𝑤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d>
                        <m:d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Приклад: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, 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(16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−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11)=5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5</m:t>
                        </m:r>
                      </m:sup>
                    </m:sSup>
                    <m:d>
                      <m:d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dirty="0"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uk-UA" sz="1800" dirty="0">
                    <a:effectLst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(16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−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5)=11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11</m:t>
                        </m:r>
                      </m:sup>
                    </m:sSup>
                    <m:d>
                      <m:d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(16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−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12)=4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4</m:t>
                        </m:r>
                      </m:sup>
                    </m:sSup>
                    <m:d>
                      <m:d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spcAft>
                    <a:spcPts val="1100"/>
                  </a:spcAft>
                </a:pPr>
                <a:r>
                  <a:rPr lang="en-US" sz="1800" b="1" dirty="0">
                    <a:effectLst/>
                    <a:latin typeface="Calibri"/>
                    <a:ea typeface="Calibri"/>
                    <a:cs typeface="Calibri"/>
                  </a:rPr>
                  <a:t>Крок 2: 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Порівняйте відкриті ключі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Порівняйте перерахований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відкритий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ключ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p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d>
                      <m:d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  <m:sup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′</m:t>
                            </m:r>
                          </m:sup>
                        </m:sSubSup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Sup>
                          <m:sSubSup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  <m:sup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′</m:t>
                            </m:r>
                          </m:sup>
                        </m:sSubSup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Sup>
                          <m:sSubSup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8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3</m:t>
                            </m:r>
                          </m:sub>
                          <m:sup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′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з оригінальним відкритим ключем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𝑦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p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𝑦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,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підпис є дійсним.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15F1DE-220D-80BC-E6B6-CEB88008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120" y="1690688"/>
                <a:ext cx="10012680" cy="4390561"/>
              </a:xfrm>
              <a:prstGeom prst="rect">
                <a:avLst/>
              </a:prstGeom>
              <a:blipFill>
                <a:blip r:embed="rId2"/>
                <a:stretch>
                  <a:fillRect l="-487" t="-693" b="-1248"/>
                </a:stretch>
              </a:blipFill>
            </p:spPr>
            <p:txBody>
              <a:bodyPr>
                <a:normAutoFit fontScale="75000" lnSpcReduction="20000"/>
              </a:bodyPr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1375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C11EE-480B-3261-C319-0BB2C1424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89128"/>
            <a:ext cx="9905998" cy="1478570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Чому WOTS є одноразовим</a:t>
            </a:r>
            <a:br>
              <a:rPr lang="en-US" b="1" dirty="0">
                <a:solidFill>
                  <a:srgbClr val="203864"/>
                </a:solidFill>
                <a:latin typeface="Calibri"/>
              </a:rPr>
            </a:br>
            <a:endParaRPr lang="en-US" b="1" dirty="0">
              <a:solidFill>
                <a:srgbClr val="203864"/>
              </a:solidFill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B01482-E607-1956-2BCA-70382895B56C}"/>
                  </a:ext>
                </a:extLst>
              </p:cNvPr>
              <p:cNvSpPr txBox="1"/>
              <p:nvPr/>
            </p:nvSpPr>
            <p:spPr>
              <a:xfrm>
                <a:off x="223520" y="831670"/>
                <a:ext cx="11968480" cy="5810950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Хеш-ланцюги витоку інформації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У WOTS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підпис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для повідомлення генерується шляхом застосування хеш-функції </a:t>
                </a:r>
                <a14:m>
                  <m:oMath xmlns:m="http://schemas.openxmlformats.org/officeDocument/2006/math">
                    <m:r>
                      <a:rPr lang="en-US" sz="16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𝑐</m:t>
                    </m:r>
                    <m:r>
                      <a:rPr lang="en-US" sz="16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𝑖</m:t>
                    </m:r>
                    <m:r>
                      <a:rPr lang="en-US" sz="16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разів до елемента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приватного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ключа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Якщо ви підпишете два різних повідомлення, ви розкриєте дві різні точки в хеш-ланцюжку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кожного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uk-UA" sz="1600" dirty="0"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Наприклад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Для повідомлення 1: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(1)</m:t>
                        </m:r>
                      </m:sup>
                    </m:sSubSup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Sup>
                          <m:sSubSup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(1)</m:t>
                            </m:r>
                          </m:sup>
                        </m:sSubSup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Для повідомлення 2: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(2)</m:t>
                        </m:r>
                      </m:sup>
                    </m:sSubSup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Sup>
                          <m:sSubSup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(2)</m:t>
                            </m:r>
                          </m:sup>
                        </m:sSubSup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Якщо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(1)</m:t>
                        </m:r>
                      </m:sup>
                    </m:sSubSup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&lt;</m:t>
                    </m:r>
                    <m:sSubSup>
                      <m:sSub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(2)</m:t>
                        </m:r>
                      </m:sup>
                    </m:sSubSup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, зловмисник може обчислити: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Sup>
                          <m:sSubSup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(2)</m:t>
                            </m:r>
                          </m:sup>
                        </m:sSubSup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−</m:t>
                        </m:r>
                        <m:sSubSup>
                          <m:sSubSup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(1)</m:t>
                            </m:r>
                          </m:sup>
                        </m:sSubSup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(1)</m:t>
                            </m:r>
                          </m:sup>
                        </m:sSubSup>
                      </m:e>
                    </m:d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Sup>
                          <m:sSubSup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6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(2)</m:t>
                            </m:r>
                          </m:sup>
                        </m:sSubSup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Sup>
                      <m:sSub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(2)</m:t>
                        </m:r>
                      </m:sup>
                    </m:sSubSup>
                  </m:oMath>
                </a14:m>
                <a:endParaRPr lang="en-US" sz="16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spcAft>
                    <a:spcPts val="1100"/>
                  </a:spcAf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Це розкриває підпис для другого повідомлення без знання приватного ключа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  <a:b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</a:br>
                <a:endParaRPr lang="en-US" sz="16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spcAft>
                    <a:spcPts val="1100"/>
                  </a:spcAf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2. Часткове розкриття хеш-ланцюга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Кожен підпис розкриває частину хеш-ланцюга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кожного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. З часом підписання декількох повідомлень розкриває все більше і більше хеш-ланцюга, що полегшує зловмиснику відновлення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приватного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ключа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.</a:t>
                </a: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Наприклад</a:t>
                </a: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uk-UA" sz="16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(1)</m:t>
                        </m:r>
                      </m:sup>
                    </m:sSubSup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=5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 і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1600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(2)</m:t>
                        </m:r>
                      </m:sup>
                    </m:sSubSup>
                    <m:r>
                      <a:rPr lang="en-US" sz="1600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, зловмисник дізнається: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5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r>
                      <m:rPr>
                        <m:nor/>
                      </m:rPr>
                      <a:rPr lang="en-US" sz="1600" i="1">
                        <a:effectLst/>
                        <a:latin typeface="Calibri"/>
                        <a:ea typeface="Calibri"/>
                        <a:cs typeface="Calibri"/>
                      </a:rPr>
                      <m:t> </m:t>
                    </m:r>
                    <m:r>
                      <m:rPr>
                        <m:nor/>
                      </m:rPr>
                      <a:rPr lang="en-US" sz="1600">
                        <a:effectLst/>
                        <a:latin typeface="Calibri"/>
                        <a:ea typeface="Calibri"/>
                        <a:cs typeface="Calibri"/>
                      </a:rPr>
                      <m:t>and</m:t>
                    </m:r>
                    <m:r>
                      <m:rPr>
                        <m:nor/>
                      </m:rPr>
                      <a:rPr lang="en-US" sz="1600" i="1">
                        <a:effectLst/>
                        <a:latin typeface="Calibri"/>
                        <a:ea typeface="Calibri"/>
                        <a:cs typeface="Calibri"/>
                      </a:rPr>
                      <m:t> </m:t>
                    </m:r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10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На основі цього він може обчислити проміжні значення, такі як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6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</m:t>
                    </m:r>
                    <m:sSup>
                      <m:sSup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16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7</m:t>
                        </m:r>
                      </m:sup>
                    </m:sSup>
                    <m:d>
                      <m:dPr>
                        <m:ctrlPr>
                          <a:rPr lang="en-US" sz="16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6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,…</m:t>
                    </m:r>
                  </m:oMath>
                </a14:m>
                <a:r>
                  <a:rPr lang="en-US" sz="1600" dirty="0">
                    <a:effectLst/>
                    <a:latin typeface="Calibri"/>
                    <a:ea typeface="Calibri"/>
                    <a:cs typeface="Calibri"/>
                  </a:rPr>
                  <a:t>, , і зрештою розкрити весь хеш-ланцюжок.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B01482-E607-1956-2BCA-70382895B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520" y="831670"/>
                <a:ext cx="11968480" cy="5810950"/>
              </a:xfrm>
              <a:prstGeom prst="rect">
                <a:avLst/>
              </a:prstGeom>
              <a:blipFill>
                <a:blip r:embed="rId2"/>
                <a:stretch>
                  <a:fillRect l="-318" t="-436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3440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Title 1">
            <a:extLst>
              <a:ext uri="{FF2B5EF4-FFF2-40B4-BE49-F238E27FC236}">
                <a16:creationId xmlns:a16="http://schemas.microsoft.com/office/drawing/2014/main" id="{DB35051B-F397-768C-04C8-682CD290A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443720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Постквантова безпека WOTS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3BE9B-58CC-92E9-D286-C42B04B88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5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effectLst/>
                <a:latin typeface="Calibri"/>
              </a:rPr>
              <a:t>Постквантова безпека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742950" lvl="1" indent="-285750" algn="just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effectLst/>
                <a:latin typeface="Calibri"/>
              </a:rPr>
              <a:t>Стійка до квантових атак (базується на хеш-функціях, не вразлива до алгоритму Шора).</a:t>
            </a:r>
          </a:p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effectLst/>
                <a:latin typeface="Calibri"/>
              </a:rPr>
              <a:t>Менші підписи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742950" lvl="1" indent="-285750" algn="just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effectLst/>
                <a:latin typeface="Calibri"/>
              </a:rPr>
              <a:t>Підписи менші за LOTS, що робить їх більш ефективними.</a:t>
            </a:r>
          </a:p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800" b="1" i="0" dirty="0">
                <a:effectLst/>
                <a:latin typeface="Calibri"/>
              </a:rPr>
              <a:t>Нечасте використання</a:t>
            </a:r>
            <a:r>
              <a:rPr lang="en-US" sz="1800" b="0" i="0" dirty="0">
                <a:effectLst/>
                <a:latin typeface="Calibri"/>
              </a:rPr>
              <a:t>:</a:t>
            </a:r>
          </a:p>
          <a:p>
            <a:pPr marL="742950" lvl="1" indent="-285750" algn="just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800" b="0" i="0" dirty="0">
                <a:effectLst/>
                <a:latin typeface="Calibri"/>
              </a:rPr>
              <a:t>Забезпечує безпеку для невеликої кількості транзакцій або комунікацій.</a:t>
            </a:r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24153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A0156-80AB-ED03-AFA2-BEDD94D46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271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MSS: генерація ключів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59A9CAE-11FD-F95F-8EDB-1F18A44EB4A2}"/>
                  </a:ext>
                </a:extLst>
              </p:cNvPr>
              <p:cNvSpPr txBox="1"/>
              <p:nvPr/>
            </p:nvSpPr>
            <p:spPr>
              <a:xfrm>
                <a:off x="1044758" y="1287720"/>
                <a:ext cx="10309042" cy="4836196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Хешування повідомлення: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Хешуйте повідомлення 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, щоб отримати дайджест фіксованої довжини: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h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𝐻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(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𝑚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)</m:t>
                      </m:r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Приклад: 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=101101011100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2"/>
                  <a:tabLst>
                    <a:tab pos="685800" algn="l"/>
                  </a:tabLst>
                </a:pPr>
                <a:endParaRPr lang="uk-UA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2"/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Розділіть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дайджест: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Розділіть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uk-UA" b="0" i="0" smtClean="0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uk-UA" b="0" i="1" smtClean="0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частин, кожна з яких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має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розмір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log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⁡(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𝑡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) 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бітів.</a:t>
                </a: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Приклад: Якщо </a:t>
                </a:r>
                <a14:m>
                  <m:oMath xmlns:m="http://schemas.openxmlformats.org/officeDocument/2006/math">
                    <m:r>
                      <a:rPr lang="en-US" sz="18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𝑡</m:t>
                    </m:r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=16</m:t>
                    </m:r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, кожен фрагмент має розмір 4 біти: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𝑐</m:t>
                          </m:r>
                        </m:e>
                        <m: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1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=1011=11, </m:t>
                      </m:r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𝑐</m:t>
                          </m:r>
                        </m:e>
                        <m: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2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=0101=5, </m:t>
                      </m:r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𝑐</m:t>
                          </m:r>
                        </m:e>
                        <m: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3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=1100=12</m:t>
                      </m:r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3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Виберіть елементи приватного ключа: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Для кожного фрагмента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виберіть відповідний елемент приватного ключа: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𝜎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𝑖</m:t>
                          </m:r>
                        </m:sub>
                      </m:sSub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𝑥</m:t>
                          </m:r>
                        </m:e>
                        <m:sub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Приклад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uk-UA" sz="1800" b="0" i="0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  </m:t>
                    </m:r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11</m:t>
                        </m:r>
                      </m:sub>
                    </m:sSub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 </m:t>
                    </m:r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5</m:t>
                        </m:r>
                      </m:sub>
                    </m:sSub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 </m:t>
                    </m:r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18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12</m:t>
                        </m:r>
                      </m:sub>
                    </m:sSub>
                  </m:oMath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59A9CAE-11FD-F95F-8EDB-1F18A44EB4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758" y="1287720"/>
                <a:ext cx="10309042" cy="4836196"/>
              </a:xfrm>
              <a:prstGeom prst="rect">
                <a:avLst/>
              </a:prstGeom>
              <a:blipFill>
                <a:blip r:embed="rId2"/>
                <a:stretch>
                  <a:fillRect l="-473" t="-630" b="-1008"/>
                </a:stretch>
              </a:blipFill>
            </p:spPr>
            <p:txBody>
              <a:bodyPr>
                <a:normAutoFit fontScale="75000" lnSpcReduction="20000"/>
              </a:bodyPr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471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8A9ED-14F9-5C07-A480-3A0A3CD60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MSS: створення та перевірка підпису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9466A9-DBCA-2D07-3CD1-90B07101DFB0}"/>
                  </a:ext>
                </a:extLst>
              </p:cNvPr>
              <p:cNvSpPr txBox="1"/>
              <p:nvPr/>
            </p:nvSpPr>
            <p:spPr>
              <a:xfrm>
                <a:off x="933517" y="1690688"/>
                <a:ext cx="10298363" cy="4128566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Формування підпису: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Підпис - це сукупність вибраних елементів приватного ключа: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1">
                          <a:effectLst/>
                          <a:latin typeface="Calibri"/>
                          <a:ea typeface="Calibri"/>
                          <a:cs typeface="Calibri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>
                          <a:effectLst/>
                          <a:latin typeface="Calibri"/>
                          <a:ea typeface="Calibri"/>
                          <a:cs typeface="Calibri"/>
                        </a:rPr>
                        <m:t>Signature</m:t>
                      </m:r>
                      <m:r>
                        <m:rPr>
                          <m:nor/>
                        </m:rPr>
                        <a:rPr lang="en-US" sz="1800" i="1">
                          <a:effectLst/>
                          <a:latin typeface="Calibri"/>
                          <a:ea typeface="Calibri"/>
                          <a:cs typeface="Calibri"/>
                        </a:rPr>
                        <m:t> 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d>
                        <m:d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spcAft>
                    <a:spcPts val="1100"/>
                  </a:spcAf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Перевірка підпису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Перерахунок відкритого ключа: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Виконайте хешування кожного елемента підпису: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𝑦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𝑖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′</m:t>
                          </m:r>
                        </m:sup>
                      </m:sSubSup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𝐻</m:t>
                      </m:r>
                      <m:d>
                        <m:dPr>
                          <m:ctrlP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Порівняйте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з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відповідним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елементом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відкритого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ключа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  <a:endParaRPr lang="uk-UA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endParaRPr lang="en-US" sz="18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2"/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Перевірка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підпису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1800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 всі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18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800" dirty="0">
                    <a:effectLst/>
                    <a:latin typeface="Calibri"/>
                    <a:ea typeface="Calibri"/>
                    <a:cs typeface="Calibri"/>
                  </a:rPr>
                  <a:t>, підпис є дійсним.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9466A9-DBCA-2D07-3CD1-90B07101D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517" y="1690688"/>
                <a:ext cx="10298363" cy="4128566"/>
              </a:xfrm>
              <a:prstGeom prst="rect">
                <a:avLst/>
              </a:prstGeom>
              <a:blipFill>
                <a:blip r:embed="rId2"/>
                <a:stretch>
                  <a:fillRect l="-473" t="-737" b="-1327"/>
                </a:stretch>
              </a:blipFill>
            </p:spPr>
            <p:txBody>
              <a:bodyPr>
                <a:normAutoFit fontScale="75000" lnSpcReduction="20000"/>
              </a:bodyPr>
              <a:lstStyle/>
              <a:p>
                <a:r>
                  <a:rPr lang="uk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7574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1D819-3193-3D44-4671-C36FFB0BA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DF9557-8286-FB89-FA3C-064397BBC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366532"/>
            <a:ext cx="4668520" cy="1325563"/>
          </a:xfrm>
        </p:spPr>
        <p:txBody>
          <a:bodyPr/>
          <a:lstStyle/>
          <a:p>
            <a:pPr algn="ctr"/>
            <a:r>
              <a:rPr lang="en-US" dirty="0"/>
              <a:t>Дерева Меркла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DAE6C2A-4253-C184-4C2B-A0878F6C8CFE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454292" y="1644581"/>
            <a:ext cx="6330416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Від OTS до багаторазових підписів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Деревоподібна </a:t>
            </a:r>
            <a:r>
              <a:rPr lang="en-US" sz="1800" dirty="0" err="1"/>
              <a:t>структура</a:t>
            </a:r>
            <a:r>
              <a:rPr lang="en-US" sz="1800" dirty="0"/>
              <a:t> </a:t>
            </a:r>
            <a:r>
              <a:rPr lang="en-US" sz="1800" dirty="0" err="1"/>
              <a:t>для</a:t>
            </a:r>
            <a:r>
              <a:rPr lang="en-US" sz="1800" dirty="0"/>
              <a:t> </a:t>
            </a:r>
            <a:r>
              <a:rPr lang="en-US" sz="1800" dirty="0" err="1"/>
              <a:t>багаторазовихпідписів</a:t>
            </a:r>
            <a:r>
              <a:rPr lang="en-US" sz="1800" dirty="0"/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B738430-D423-5DAF-BC83-7A416EC560AB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853439" y="3510389"/>
            <a:ext cx="4160113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Корінь = відкритий ключ.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Листя = відкриті ключі OTS.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Підпис включає шлях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автентифікації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.</a:t>
            </a:r>
          </a:p>
        </p:txBody>
      </p:sp>
      <p:pic>
        <p:nvPicPr>
          <p:cNvPr id="6" name="Рисунок 3">
            <a:extLst>
              <a:ext uri="{FF2B5EF4-FFF2-40B4-BE49-F238E27FC236}">
                <a16:creationId xmlns:a16="http://schemas.microsoft.com/office/drawing/2014/main" id="{9189A7CC-F9F3-C316-B1C0-4C03DF766E5B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9" r="6969"/>
          <a:stretch/>
        </p:blipFill>
        <p:spPr>
          <a:xfrm>
            <a:off x="6096001" y="1029313"/>
            <a:ext cx="5242560" cy="41841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52758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65349-52B9-F12D-4B3C-B7DADDDF7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450157-90BD-6C55-83C1-3213955C6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XMSS^MT (</a:t>
            </a:r>
            <a:r>
              <a:rPr lang="uk-UA" dirty="0" err="1"/>
              <a:t>мультидерево</a:t>
            </a:r>
            <a:r>
              <a:rPr lang="en-US" dirty="0"/>
              <a:t>)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97AB262-19FA-F4E0-E3BA-BFE0F3441097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06425" y="2100353"/>
            <a:ext cx="5111528" cy="880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Масштабування XMSS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Зменшення розмірів підписів та управління станом.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3A6633B0-8F6B-0678-E0D7-16371126E482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606425" y="3429000"/>
            <a:ext cx="5365571" cy="17350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Використовує багатодеревну конструкцію.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Менші шляхи автентифікації.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Краща продуктивність для великої кількості підписів.</a:t>
            </a:r>
          </a:p>
        </p:txBody>
      </p:sp>
      <p:pic>
        <p:nvPicPr>
          <p:cNvPr id="3083" name="Picture 11" descr="Hash-based signature revisited | Cybersecurity | Full Text">
            <a:extLst>
              <a:ext uri="{FF2B5EF4-FFF2-40B4-BE49-F238E27FC236}">
                <a16:creationId xmlns:a16="http://schemas.microsoft.com/office/drawing/2014/main" id="{67210A0D-7B95-26CB-6EBF-2B1D0036E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397" y="2168706"/>
            <a:ext cx="3990347" cy="3415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491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6D0A1-808E-9B4B-5DBD-9F629633B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B829B9-6F17-203F-A730-706251008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SPHINCS+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ACBA058-CF56-2AB4-3A90-E865D7AAAFF8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06425" y="2100353"/>
            <a:ext cx="4768550" cy="880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Бездержавні підписи на основі хеш-функцій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Обрано стандартом NIST PQC (2022).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A1F8180-8F2C-C373-31EE-9F0BEB4DDAB0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274955" y="3976577"/>
            <a:ext cx="7590155" cy="22041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4572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Усуває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залежність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від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стану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немає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проблем</a:t>
            </a:r>
            <a:endParaRPr kumimoji="0" lang="uk-UA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  <a:p>
            <a:pPr marL="0" marR="0" lvl="0" indent="4572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з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повторним</a:t>
            </a:r>
            <a:r>
              <a:rPr kumimoji="0" lang="uk-U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використанням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ключів).</a:t>
            </a:r>
          </a:p>
          <a:p>
            <a:pPr marL="0" marR="0" lvl="0" indent="4572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Поєднує WOTS+, гіпердерева та схему FORS.</a:t>
            </a:r>
          </a:p>
          <a:p>
            <a:pPr marL="0" marR="0" lvl="0" indent="4572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Безпека: базується виключно на хеш-функціях.</a:t>
            </a:r>
          </a:p>
          <a:p>
            <a:pPr marL="0" marR="0" lvl="0" indent="45720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Фіналіст та обраний стандарт цифрового підпису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NIST PQC.</a:t>
            </a:r>
          </a:p>
        </p:txBody>
      </p:sp>
      <p:pic>
        <p:nvPicPr>
          <p:cNvPr id="4100" name="Picture 4" descr="Hypertree structure used in SPHINCS: An illustration of stateless... |  Download Scientific Diagram">
            <a:extLst>
              <a:ext uri="{FF2B5EF4-FFF2-40B4-BE49-F238E27FC236}">
                <a16:creationId xmlns:a16="http://schemas.microsoft.com/office/drawing/2014/main" id="{A2F188CE-1E70-1426-D456-80CC00A4BD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6798" y="2085511"/>
            <a:ext cx="5288777" cy="2961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4731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451B5-167D-27A6-4C3C-FDA536889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3CF1E1-BF6E-8DCF-7666-EA9EA58F0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Міркування безпеки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36E8616-9862-C1C6-CE27-72B16A4500EE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87705" y="1741544"/>
            <a:ext cx="4370492" cy="4653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/>
              <a:t>Залежить тільки від безпеки хеш-функції.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C076AFA-DF74-5500-8531-4D2AECEEB52D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687705" y="3633229"/>
            <a:ext cx="7304307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Стійкість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до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uk-U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перетворення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Стійкість до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другого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uk-U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перетворення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Стійкість до колізій.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Алгоритм Гровера: знижує бітову безпеку (наприклад, 256 → 128).</a:t>
            </a:r>
          </a:p>
        </p:txBody>
      </p:sp>
      <p:pic>
        <p:nvPicPr>
          <p:cNvPr id="5124" name="Picture 4" descr="Cloud Security Considerations for General Industry – Co-ops + Careers |  Wentworth Institute of Technology">
            <a:extLst>
              <a:ext uri="{FF2B5EF4-FFF2-40B4-BE49-F238E27FC236}">
                <a16:creationId xmlns:a16="http://schemas.microsoft.com/office/drawing/2014/main" id="{7B21D90E-9D94-D5E1-9786-13661DEEA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9065" y="1741544"/>
            <a:ext cx="45720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10830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0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/>
        <p:txBody>
          <a:bodyPr/>
          <a:lstStyle/>
          <a:p>
            <a:r>
              <a:rPr lang="en-US" sz="3200" dirty="0"/>
              <a:t>Хронологія hash-based підписів</a:t>
            </a:r>
          </a:p>
          <a:p>
            <a:endParaRPr lang="uk-UA" dirty="0"/>
          </a:p>
        </p:txBody>
      </p:sp>
      <p:sp>
        <p:nvSpPr>
          <p:cNvPr id="706" name="Rounded Rectangle 705"/>
          <p:cNvSpPr/>
          <p:nvPr/>
        </p:nvSpPr>
        <p:spPr>
          <a:xfrm>
            <a:off x="600000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1979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Lamport OTS
Merkle tree</a:t>
            </a:r>
          </a:p>
        </p:txBody>
      </p:sp>
      <p:sp>
        <p:nvSpPr>
          <p:cNvPr id="707" name="Right Arrow 706"/>
          <p:cNvSpPr/>
          <p:nvPr/>
        </p:nvSpPr>
        <p:spPr>
          <a:xfrm>
            <a:off x="2140333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8" name="Rounded Rectangle 707"/>
          <p:cNvSpPr/>
          <p:nvPr/>
        </p:nvSpPr>
        <p:spPr>
          <a:xfrm>
            <a:off x="2490333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1989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Winternitz
W-OTS</a:t>
            </a:r>
          </a:p>
        </p:txBody>
      </p:sp>
      <p:sp>
        <p:nvSpPr>
          <p:cNvPr id="709" name="Right Arrow 708"/>
          <p:cNvSpPr/>
          <p:nvPr/>
        </p:nvSpPr>
        <p:spPr>
          <a:xfrm>
            <a:off x="4030666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0" name="Rounded Rectangle 709"/>
          <p:cNvSpPr/>
          <p:nvPr/>
        </p:nvSpPr>
        <p:spPr>
          <a:xfrm>
            <a:off x="4380666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2011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XMSS
(Hülsing)</a:t>
            </a:r>
          </a:p>
        </p:txBody>
      </p:sp>
      <p:sp>
        <p:nvSpPr>
          <p:cNvPr id="711" name="Right Arrow 710"/>
          <p:cNvSpPr/>
          <p:nvPr/>
        </p:nvSpPr>
        <p:spPr>
          <a:xfrm>
            <a:off x="5920999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2" name="Rounded Rectangle 711"/>
          <p:cNvSpPr/>
          <p:nvPr/>
        </p:nvSpPr>
        <p:spPr>
          <a:xfrm>
            <a:off x="6270999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2015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SPHINCS
(stateless)</a:t>
            </a:r>
          </a:p>
        </p:txBody>
      </p:sp>
      <p:sp>
        <p:nvSpPr>
          <p:cNvPr id="713" name="Right Arrow 712"/>
          <p:cNvSpPr/>
          <p:nvPr/>
        </p:nvSpPr>
        <p:spPr>
          <a:xfrm>
            <a:off x="7811332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4" name="Rounded Rectangle 713"/>
          <p:cNvSpPr/>
          <p:nvPr/>
        </p:nvSpPr>
        <p:spPr>
          <a:xfrm>
            <a:off x="8161332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2018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RFC 8391
XMSS std</a:t>
            </a:r>
          </a:p>
        </p:txBody>
      </p:sp>
      <p:sp>
        <p:nvSpPr>
          <p:cNvPr id="715" name="Right Arrow 714"/>
          <p:cNvSpPr/>
          <p:nvPr/>
        </p:nvSpPr>
        <p:spPr>
          <a:xfrm>
            <a:off x="9701665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6" name="Rounded Rectangle 715"/>
          <p:cNvSpPr/>
          <p:nvPr/>
        </p:nvSpPr>
        <p:spPr>
          <a:xfrm>
            <a:off x="10051665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2024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FIPS 205
SLH-DSA</a:t>
            </a:r>
          </a:p>
        </p:txBody>
      </p:sp>
      <p:sp>
        <p:nvSpPr>
          <p:cNvPr id="717" name="TextBox 716"/>
          <p:cNvSpPr txBox="1"/>
          <p:nvPr/>
        </p:nvSpPr>
        <p:spPr>
          <a:xfrm>
            <a:off x="600000" y="3150000"/>
            <a:ext cx="10992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i="1">
                <a:solidFill>
                  <a:srgbClr val="445577"/>
                </a:solidFill>
              </a:rPr>
              <a:t>45 років еволюції від OTS Лампорта до офіційного NIST-стандарту 2024 року</a:t>
            </a:r>
          </a:p>
        </p:txBody>
      </p:sp>
      <p:sp>
        <p:nvSpPr>
          <p:cNvPr id="718" name="Rectangle 717"/>
          <p:cNvSpPr/>
          <p:nvPr/>
        </p:nvSpPr>
        <p:spPr>
          <a:xfrm>
            <a:off x="600000" y="3850000"/>
            <a:ext cx="10992000" cy="1900000"/>
          </a:xfrm>
          <a:prstGeom prst="rect">
            <a:avLst/>
          </a:prstGeom>
          <a:solidFill>
            <a:srgbClr val="F2F5FB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150000" rIns="250000" bIns="150000" rtlCol="0" anchor="ctr"/>
          <a:lstStyle/>
          <a:p>
            <a:r>
              <a:rPr sz="2000">
                <a:solidFill>
                  <a:srgbClr val="222233"/>
                </a:solidFill>
              </a:rPr>
              <a:t>•  1979: Лампорт і Меркл одночасно публікують перші схеми</a:t>
            </a:r>
          </a:p>
          <a:p>
            <a:r>
              <a:rPr sz="2000">
                <a:solidFill>
                  <a:srgbClr val="222233"/>
                </a:solidFill>
              </a:rPr>
              <a:t>•  2011: XMSS приносить formal security proofs та bitmasks</a:t>
            </a:r>
          </a:p>
          <a:p>
            <a:r>
              <a:rPr sz="2000">
                <a:solidFill>
                  <a:srgbClr val="222233"/>
                </a:solidFill>
              </a:rPr>
              <a:t>•  2015: SPHINCS усуває проблему стейту (stateless)</a:t>
            </a:r>
          </a:p>
          <a:p>
            <a:r>
              <a:rPr sz="2000">
                <a:solidFill>
                  <a:srgbClr val="222233"/>
                </a:solidFill>
              </a:rPr>
              <a:t>•  2024: FIPS 205 (SLH-DSA) - третій NIST PQC-стандарт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1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/>
        <p:txBody>
          <a:bodyPr/>
          <a:lstStyle/>
          <a:p>
            <a:r>
              <a:rPr lang="en-US" sz="3200" dirty="0"/>
              <a:t>Lamport OTS vs WOTS+</a:t>
            </a:r>
          </a:p>
          <a:p>
            <a:endParaRPr lang="uk-UA" dirty="0"/>
          </a:p>
        </p:txBody>
      </p:sp>
      <p:sp>
        <p:nvSpPr>
          <p:cNvPr id="711" name="Rounded Rectangle 710"/>
          <p:cNvSpPr/>
          <p:nvPr/>
        </p:nvSpPr>
        <p:spPr>
          <a:xfrm>
            <a:off x="700000" y="1250000"/>
            <a:ext cx="5246000" cy="75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Lamport (1979)</a:t>
            </a:r>
          </a:p>
        </p:txBody>
      </p:sp>
      <p:sp>
        <p:nvSpPr>
          <p:cNvPr id="712" name="Rectangle 711"/>
          <p:cNvSpPr/>
          <p:nvPr/>
        </p:nvSpPr>
        <p:spPr>
          <a:xfrm>
            <a:off x="700000" y="2100000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Підпис кожного біта окремо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PK = 2·n значень H(sk)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σ = n значень sk_{i, m_i}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Дуже швидкий: ~n викликів H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Великий: 16 КБ для n=256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Безпека: preimage resistance</a:t>
            </a:r>
          </a:p>
        </p:txBody>
      </p:sp>
      <p:sp>
        <p:nvSpPr>
          <p:cNvPr id="713" name="Rounded Rectangle 712"/>
          <p:cNvSpPr/>
          <p:nvPr/>
        </p:nvSpPr>
        <p:spPr>
          <a:xfrm>
            <a:off x="6246000" y="1250000"/>
            <a:ext cx="5246000" cy="75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WOTS+ (Hülsing, 2013)</a:t>
            </a:r>
          </a:p>
        </p:txBody>
      </p:sp>
      <p:sp>
        <p:nvSpPr>
          <p:cNvPr id="714" name="Rectangle 713"/>
          <p:cNvSpPr/>
          <p:nvPr/>
        </p:nvSpPr>
        <p:spPr>
          <a:xfrm>
            <a:off x="6246000" y="2100000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Підпис log₂(w) біт за один елемент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Ланцюг хешів довжини w−1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Контрольна сума запобігає forgery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Bitmasks → multi-target safe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Компактний: 2 КБ для w=16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База XMSS і SPHINCS+</a:t>
            </a:r>
          </a:p>
        </p:txBody>
      </p:sp>
      <p:sp>
        <p:nvSpPr>
          <p:cNvPr id="715" name="TextBox 714"/>
          <p:cNvSpPr txBox="1"/>
          <p:nvPr/>
        </p:nvSpPr>
        <p:spPr>
          <a:xfrm>
            <a:off x="700000" y="6250000"/>
            <a:ext cx="10792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dirty="0">
                <a:solidFill>
                  <a:srgbClr val="445577"/>
                </a:solidFill>
              </a:rPr>
              <a:t>WOTS+ </a:t>
            </a:r>
            <a:r>
              <a:rPr sz="1800" b="1" dirty="0" err="1">
                <a:solidFill>
                  <a:srgbClr val="445577"/>
                </a:solidFill>
              </a:rPr>
              <a:t>дає</a:t>
            </a:r>
            <a:r>
              <a:rPr sz="1800" b="1" dirty="0">
                <a:solidFill>
                  <a:srgbClr val="445577"/>
                </a:solidFill>
              </a:rPr>
              <a:t> ~8× </a:t>
            </a:r>
            <a:r>
              <a:rPr sz="1800" b="1" dirty="0" err="1">
                <a:solidFill>
                  <a:srgbClr val="445577"/>
                </a:solidFill>
              </a:rPr>
              <a:t>менший</a:t>
            </a:r>
            <a:r>
              <a:rPr sz="1800" b="1" dirty="0">
                <a:solidFill>
                  <a:srgbClr val="445577"/>
                </a:solidFill>
              </a:rPr>
              <a:t> </a:t>
            </a:r>
            <a:r>
              <a:rPr sz="1800" b="1" dirty="0" err="1">
                <a:solidFill>
                  <a:srgbClr val="445577"/>
                </a:solidFill>
              </a:rPr>
              <a:t>підпис</a:t>
            </a:r>
            <a:r>
              <a:rPr sz="1800" b="1" dirty="0">
                <a:solidFill>
                  <a:srgbClr val="445577"/>
                </a:solidFill>
              </a:rPr>
              <a:t>, </a:t>
            </a:r>
            <a:r>
              <a:rPr sz="1800" b="1" dirty="0" err="1">
                <a:solidFill>
                  <a:srgbClr val="445577"/>
                </a:solidFill>
              </a:rPr>
              <a:t>але</a:t>
            </a:r>
            <a:r>
              <a:rPr sz="1800" b="1" dirty="0">
                <a:solidFill>
                  <a:srgbClr val="445577"/>
                </a:solidFill>
              </a:rPr>
              <a:t> ~4× </a:t>
            </a:r>
            <a:r>
              <a:rPr sz="1800" b="1" dirty="0" err="1">
                <a:solidFill>
                  <a:srgbClr val="445577"/>
                </a:solidFill>
              </a:rPr>
              <a:t>більше</a:t>
            </a:r>
            <a:r>
              <a:rPr sz="1800" b="1" dirty="0">
                <a:solidFill>
                  <a:srgbClr val="445577"/>
                </a:solidFill>
              </a:rPr>
              <a:t> </a:t>
            </a:r>
            <a:r>
              <a:rPr sz="1800" b="1" dirty="0" err="1">
                <a:solidFill>
                  <a:srgbClr val="445577"/>
                </a:solidFill>
              </a:rPr>
              <a:t>викликів</a:t>
            </a:r>
            <a:r>
              <a:rPr sz="1800" b="1" dirty="0">
                <a:solidFill>
                  <a:srgbClr val="445577"/>
                </a:solidFill>
              </a:rPr>
              <a:t> H </a:t>
            </a:r>
            <a:r>
              <a:rPr sz="1800" b="1" dirty="0" err="1">
                <a:solidFill>
                  <a:srgbClr val="445577"/>
                </a:solidFill>
              </a:rPr>
              <a:t>у</a:t>
            </a:r>
            <a:r>
              <a:rPr sz="1800" b="1" dirty="0">
                <a:solidFill>
                  <a:srgbClr val="445577"/>
                </a:solidFill>
              </a:rPr>
              <a:t> Verify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9B6EAF-7B69-02CA-CF42-3EB1283B247D}"/>
              </a:ext>
            </a:extLst>
          </p:cNvPr>
          <p:cNvSpPr txBox="1"/>
          <p:nvPr/>
        </p:nvSpPr>
        <p:spPr>
          <a:xfrm>
            <a:off x="4786667" y="708000"/>
            <a:ext cx="26186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Lamport OTS vs WOTS+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suppress_None"/>
          <p:cNvSpPr>
            <a:spLocks noGrp="1"/>
          </p:cNvSpPr>
          <p:nvPr>
            <p:ph type="title"/>
          </p:nvPr>
        </p:nvSpPr>
        <p:spPr>
          <a:xfrm>
            <a:off x="-10000000" y="-10345989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1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0" y="-345989"/>
            <a:ext cx="0" cy="0"/>
          </a:xfrm>
        </p:spPr>
        <p:txBody>
          <a:bodyPr/>
          <a:lstStyle/>
          <a:p>
            <a:endParaRPr lang="uk-UA" dirty="0"/>
          </a:p>
        </p:txBody>
      </p:sp>
      <p:graphicFrame>
        <p:nvGraphicFramePr>
          <p:cNvPr id="716" name="Table 7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87831"/>
              </p:ext>
            </p:extLst>
          </p:nvPr>
        </p:nvGraphicFramePr>
        <p:xfrm>
          <a:off x="500000" y="904011"/>
          <a:ext cx="11191999" cy="44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2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58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Схема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PK (байт)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σ (байт)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Підписів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Stateful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Lamport 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16 384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8 192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Ні (OTS)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WOTS+ (w=4)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4 256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4 256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Ні (OTS)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WOTS+ (w=16)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2 144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2 144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Ні (OTS)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WOTS+ (w=256)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1 088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1 088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Ні (OTS)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MSS-Lamport h=10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~24 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1 024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Так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5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XMSS-SHA2-10_256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2 500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1 024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Так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5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XMSS-SHA2-20_256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2 820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 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Так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5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SPHINCS+-128f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17 088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~2⁶⁴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Ні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4580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SPHINCS+-128s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7 856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~2⁶⁴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Ні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17" name="TextBox 716"/>
          <p:cNvSpPr txBox="1"/>
          <p:nvPr/>
        </p:nvSpPr>
        <p:spPr>
          <a:xfrm>
            <a:off x="500000" y="5462011"/>
            <a:ext cx="11192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i="1">
                <a:solidFill>
                  <a:srgbClr val="555566"/>
                </a:solidFill>
              </a:rPr>
              <a:t>WOTS+ - будівельний блок. XMSS і SPHINCS+ практично використовувані схеми.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0426D7-C46D-C621-FE43-836CBD85E849}"/>
              </a:ext>
            </a:extLst>
          </p:cNvPr>
          <p:cNvSpPr txBox="1"/>
          <p:nvPr/>
        </p:nvSpPr>
        <p:spPr>
          <a:xfrm>
            <a:off x="3805365" y="434679"/>
            <a:ext cx="45812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Розміри</a:t>
            </a:r>
            <a:r>
              <a:rPr lang="en-US" sz="1800" dirty="0"/>
              <a:t> hash-based </a:t>
            </a:r>
            <a:r>
              <a:rPr lang="en-US" sz="1800" dirty="0" err="1"/>
              <a:t>підписів</a:t>
            </a:r>
            <a:r>
              <a:rPr lang="en-US" sz="1800" dirty="0"/>
              <a:t> (n = 256, w = 16)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2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/>
        <p:txBody>
          <a:bodyPr/>
          <a:lstStyle/>
          <a:p>
            <a:r>
              <a:rPr lang="en-US" sz="3200" dirty="0"/>
              <a:t>Як працює дерево Меркла</a:t>
            </a:r>
          </a:p>
          <a:p>
            <a:endParaRPr lang="uk-UA" dirty="0"/>
          </a:p>
        </p:txBody>
      </p:sp>
      <p:sp>
        <p:nvSpPr>
          <p:cNvPr id="721" name="Rounded Rectangle 720"/>
          <p:cNvSpPr/>
          <p:nvPr/>
        </p:nvSpPr>
        <p:spPr>
          <a:xfrm>
            <a:off x="600000" y="1400000"/>
            <a:ext cx="1918400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1. Згенерувати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2^h OTS-ключів</a:t>
            </a:r>
          </a:p>
        </p:txBody>
      </p:sp>
      <p:sp>
        <p:nvSpPr>
          <p:cNvPr id="722" name="Right Arrow 721"/>
          <p:cNvSpPr/>
          <p:nvPr/>
        </p:nvSpPr>
        <p:spPr>
          <a:xfrm>
            <a:off x="2518400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3" name="Rounded Rectangle 722"/>
          <p:cNvSpPr/>
          <p:nvPr/>
        </p:nvSpPr>
        <p:spPr>
          <a:xfrm>
            <a:off x="2868400" y="1400000"/>
            <a:ext cx="1918400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2. Хешувати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leaf_j = H(pk_j)</a:t>
            </a:r>
          </a:p>
        </p:txBody>
      </p:sp>
      <p:sp>
        <p:nvSpPr>
          <p:cNvPr id="724" name="Right Arrow 723"/>
          <p:cNvSpPr/>
          <p:nvPr/>
        </p:nvSpPr>
        <p:spPr>
          <a:xfrm>
            <a:off x="4786800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5" name="Rounded Rectangle 724"/>
          <p:cNvSpPr/>
          <p:nvPr/>
        </p:nvSpPr>
        <p:spPr>
          <a:xfrm>
            <a:off x="5136800" y="1400000"/>
            <a:ext cx="1918400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3. Будувати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node = H(L ‖ R)</a:t>
            </a:r>
          </a:p>
        </p:txBody>
      </p:sp>
      <p:sp>
        <p:nvSpPr>
          <p:cNvPr id="726" name="Right Arrow 725"/>
          <p:cNvSpPr/>
          <p:nvPr/>
        </p:nvSpPr>
        <p:spPr>
          <a:xfrm>
            <a:off x="7055200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7" name="Rounded Rectangle 726"/>
          <p:cNvSpPr/>
          <p:nvPr/>
        </p:nvSpPr>
        <p:spPr>
          <a:xfrm>
            <a:off x="7405200" y="1400000"/>
            <a:ext cx="1918400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4. Корінь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PK дерева</a:t>
            </a:r>
          </a:p>
        </p:txBody>
      </p:sp>
      <p:sp>
        <p:nvSpPr>
          <p:cNvPr id="728" name="Right Arrow 727"/>
          <p:cNvSpPr/>
          <p:nvPr/>
        </p:nvSpPr>
        <p:spPr>
          <a:xfrm>
            <a:off x="9323600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9" name="Rounded Rectangle 728"/>
          <p:cNvSpPr/>
          <p:nvPr/>
        </p:nvSpPr>
        <p:spPr>
          <a:xfrm>
            <a:off x="9673600" y="1400000"/>
            <a:ext cx="1918400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5. Підпис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σ + auth.path</a:t>
            </a:r>
          </a:p>
        </p:txBody>
      </p:sp>
      <p:sp>
        <p:nvSpPr>
          <p:cNvPr id="730" name="TextBox 729"/>
          <p:cNvSpPr txBox="1"/>
          <p:nvPr/>
        </p:nvSpPr>
        <p:spPr>
          <a:xfrm>
            <a:off x="600000" y="3150000"/>
            <a:ext cx="10992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i="1">
                <a:solidFill>
                  <a:srgbClr val="445577"/>
                </a:solidFill>
              </a:rPr>
              <a:t>Один корінь = публічний ключ для 2^h підписів. Auth.path = h хешів братів</a:t>
            </a:r>
          </a:p>
        </p:txBody>
      </p:sp>
      <p:sp>
        <p:nvSpPr>
          <p:cNvPr id="731" name="Rectangle 730"/>
          <p:cNvSpPr/>
          <p:nvPr/>
        </p:nvSpPr>
        <p:spPr>
          <a:xfrm>
            <a:off x="600000" y="3850000"/>
            <a:ext cx="10992000" cy="1900000"/>
          </a:xfrm>
          <a:prstGeom prst="rect">
            <a:avLst/>
          </a:prstGeom>
          <a:solidFill>
            <a:srgbClr val="F2F5FB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150000" rIns="250000" bIns="150000" rtlCol="0" anchor="ctr"/>
          <a:lstStyle/>
          <a:p>
            <a:r>
              <a:rPr sz="2000">
                <a:solidFill>
                  <a:srgbClr val="222233"/>
                </a:solidFill>
              </a:rPr>
              <a:t>•  Висота h = 10 → 1 024 підписи; h = 20 → ~1 М підписів</a:t>
            </a:r>
          </a:p>
          <a:p>
            <a:r>
              <a:rPr sz="2000">
                <a:solidFill>
                  <a:srgbClr val="222233"/>
                </a:solidFill>
              </a:rPr>
              <a:t>•  Розмір PK = n байт (32 для SHA-256) - найкомпактніший серед усіх PQ-схем</a:t>
            </a:r>
          </a:p>
          <a:p>
            <a:r>
              <a:rPr sz="2000">
                <a:solidFill>
                  <a:srgbClr val="222233"/>
                </a:solidFill>
              </a:rPr>
              <a:t>•  Auth.path = h × n байт (320 байт для h=10), додається до OTS-підпису</a:t>
            </a:r>
          </a:p>
          <a:p>
            <a:r>
              <a:rPr sz="2000">
                <a:solidFill>
                  <a:srgbClr val="222233"/>
                </a:solidFill>
              </a:rPr>
              <a:t>•  Перевірка: реконструювати корінь з листка + auth.path → порівняти з PK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suppress_None"/>
          <p:cNvSpPr>
            <a:spLocks noGrp="1"/>
          </p:cNvSpPr>
          <p:nvPr>
            <p:ph type="title"/>
          </p:nvPr>
        </p:nvSpPr>
        <p:spPr>
          <a:xfrm>
            <a:off x="-10000000" y="-10296563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2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0" y="-296563"/>
            <a:ext cx="0" cy="0"/>
          </a:xfrm>
        </p:spPr>
        <p:txBody>
          <a:bodyPr/>
          <a:lstStyle/>
          <a:p>
            <a:endParaRPr lang="uk-UA" dirty="0"/>
          </a:p>
        </p:txBody>
      </p:sp>
      <p:graphicFrame>
        <p:nvGraphicFramePr>
          <p:cNvPr id="726" name="Table 7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4837084"/>
              </p:ext>
            </p:extLst>
          </p:nvPr>
        </p:nvGraphicFramePr>
        <p:xfrm>
          <a:off x="500000" y="1027579"/>
          <a:ext cx="11191998" cy="44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6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36857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Варіант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σ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Sign (мс)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Verify (мс)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Рівень NIST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SLH-DSA-SHA2-128s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7 856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Level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1F1F2E"/>
                          </a:solidFill>
                        </a:rPr>
                        <a:t>SLH-DSA-SHA2-128f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17 088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~25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~7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Level 1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SLH-DSA-SHA2-192s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16 224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~1 200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Level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SLH-DSA-SHA2-192f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35 664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~50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~10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Level 3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SLH-DSA-SHA2-256s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29 792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~1 800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Level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685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SLH-DSA-SHA2-256f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49 856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~120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~14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1F1F2E"/>
                          </a:solidFill>
                        </a:rPr>
                        <a:t>Level 5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27" name="TextBox 726"/>
          <p:cNvSpPr txBox="1"/>
          <p:nvPr/>
        </p:nvSpPr>
        <p:spPr>
          <a:xfrm>
            <a:off x="500000" y="5585579"/>
            <a:ext cx="11192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i="1" dirty="0">
                <a:solidFill>
                  <a:srgbClr val="555566"/>
                </a:solidFill>
              </a:rPr>
              <a:t>12 </a:t>
            </a:r>
            <a:r>
              <a:rPr sz="1800" i="1" dirty="0" err="1">
                <a:solidFill>
                  <a:srgbClr val="555566"/>
                </a:solidFill>
              </a:rPr>
              <a:t>варіантів</a:t>
            </a:r>
            <a:r>
              <a:rPr sz="1800" i="1" dirty="0">
                <a:solidFill>
                  <a:srgbClr val="555566"/>
                </a:solidFill>
              </a:rPr>
              <a:t>: {SHA-2, SHAKE} × {128, 192, 256-біт} × {small, fast}. Default: SLH-DSA-SHA2-128s.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096979-3FB2-922C-225A-AB5730E70AAB}"/>
              </a:ext>
            </a:extLst>
          </p:cNvPr>
          <p:cNvSpPr txBox="1"/>
          <p:nvPr/>
        </p:nvSpPr>
        <p:spPr>
          <a:xfrm>
            <a:off x="3813803" y="492620"/>
            <a:ext cx="45643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SPHINCS+ / SLH-DSA: </a:t>
            </a:r>
            <a:r>
              <a:rPr lang="en-US" sz="2000" dirty="0" err="1"/>
              <a:t>параметри</a:t>
            </a:r>
            <a:r>
              <a:rPr lang="en-US" sz="2000" dirty="0"/>
              <a:t> FIPS 205</a:t>
            </a:r>
          </a:p>
          <a:p>
            <a:endParaRPr lang="en-UA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suppress_None"/>
          <p:cNvSpPr>
            <a:spLocks noGrp="1"/>
          </p:cNvSpPr>
          <p:nvPr>
            <p:ph type="title"/>
          </p:nvPr>
        </p:nvSpPr>
        <p:spPr>
          <a:xfrm>
            <a:off x="-10000000" y="-1046956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31" name="Rounded Rectangle 730"/>
          <p:cNvSpPr/>
          <p:nvPr/>
        </p:nvSpPr>
        <p:spPr>
          <a:xfrm>
            <a:off x="700000" y="1015223"/>
            <a:ext cx="5246000" cy="75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SLH-DSA (FIPS 205)</a:t>
            </a:r>
          </a:p>
        </p:txBody>
      </p:sp>
      <p:sp>
        <p:nvSpPr>
          <p:cNvPr id="732" name="Rectangle 731"/>
          <p:cNvSpPr/>
          <p:nvPr/>
        </p:nvSpPr>
        <p:spPr>
          <a:xfrm>
            <a:off x="700000" y="1865223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Основа: лише хеш-функції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PK = 32 Б, σ = 7-50 КБ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Дуже консервативна безпека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Повільний sign (small)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Backup для критичних артефактів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Code signing, root-CA, firmware</a:t>
            </a:r>
          </a:p>
        </p:txBody>
      </p:sp>
      <p:sp>
        <p:nvSpPr>
          <p:cNvPr id="733" name="Rounded Rectangle 732"/>
          <p:cNvSpPr/>
          <p:nvPr/>
        </p:nvSpPr>
        <p:spPr>
          <a:xfrm>
            <a:off x="6246000" y="1015223"/>
            <a:ext cx="5246000" cy="75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ML-DSA / FN-DSA</a:t>
            </a:r>
          </a:p>
        </p:txBody>
      </p:sp>
      <p:sp>
        <p:nvSpPr>
          <p:cNvPr id="734" name="Rectangle 733"/>
          <p:cNvSpPr/>
          <p:nvPr/>
        </p:nvSpPr>
        <p:spPr>
          <a:xfrm>
            <a:off x="6246000" y="1865223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Основа: решітки (LWE / NTRU)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PK = 0.9-1.3 КБ, σ = 0.7-2.5 КБ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Алгебраїчні припущення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Швидкий sign та verify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Default для більшості сценаріїв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TLS, документообіг, mobile</a:t>
            </a:r>
          </a:p>
        </p:txBody>
      </p:sp>
      <p:sp>
        <p:nvSpPr>
          <p:cNvPr id="735" name="TextBox 734"/>
          <p:cNvSpPr txBox="1"/>
          <p:nvPr/>
        </p:nvSpPr>
        <p:spPr>
          <a:xfrm>
            <a:off x="700000" y="6082866"/>
            <a:ext cx="10792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 dirty="0">
                <a:solidFill>
                  <a:srgbClr val="445577"/>
                </a:solidFill>
              </a:rPr>
              <a:t>SLH-DSA - </a:t>
            </a:r>
            <a:r>
              <a:rPr sz="1800" b="1" dirty="0" err="1">
                <a:solidFill>
                  <a:srgbClr val="445577"/>
                </a:solidFill>
              </a:rPr>
              <a:t>консервативний</a:t>
            </a:r>
            <a:r>
              <a:rPr sz="1800" b="1" dirty="0">
                <a:solidFill>
                  <a:srgbClr val="445577"/>
                </a:solidFill>
              </a:rPr>
              <a:t> </a:t>
            </a:r>
            <a:r>
              <a:rPr sz="1800" b="1" dirty="0" err="1">
                <a:solidFill>
                  <a:srgbClr val="445577"/>
                </a:solidFill>
              </a:rPr>
              <a:t>резерв</a:t>
            </a:r>
            <a:r>
              <a:rPr sz="1800" b="1" dirty="0">
                <a:solidFill>
                  <a:srgbClr val="445577"/>
                </a:solidFill>
              </a:rPr>
              <a:t>; ML-DSA - </a:t>
            </a:r>
            <a:r>
              <a:rPr sz="1800" b="1" dirty="0" err="1">
                <a:solidFill>
                  <a:srgbClr val="445577"/>
                </a:solidFill>
              </a:rPr>
              <a:t>повсякденне</a:t>
            </a:r>
            <a:r>
              <a:rPr sz="1800" b="1" dirty="0">
                <a:solidFill>
                  <a:srgbClr val="445577"/>
                </a:solidFill>
              </a:rPr>
              <a:t> </a:t>
            </a:r>
            <a:r>
              <a:rPr sz="1800" b="1" dirty="0" err="1">
                <a:solidFill>
                  <a:srgbClr val="445577"/>
                </a:solidFill>
              </a:rPr>
              <a:t>використання</a:t>
            </a:r>
            <a:endParaRPr sz="1800" b="1" dirty="0">
              <a:solidFill>
                <a:srgbClr val="445577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53A2D2-5BF5-7C10-80E7-03C79A4E31A3}"/>
              </a:ext>
            </a:extLst>
          </p:cNvPr>
          <p:cNvSpPr txBox="1"/>
          <p:nvPr/>
        </p:nvSpPr>
        <p:spPr>
          <a:xfrm>
            <a:off x="3544890" y="447470"/>
            <a:ext cx="54022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NIST PQC </a:t>
            </a:r>
            <a:r>
              <a:rPr lang="en-US" sz="2000" dirty="0" err="1"/>
              <a:t>підписи</a:t>
            </a:r>
            <a:r>
              <a:rPr lang="en-US" sz="2000" dirty="0"/>
              <a:t>: SLH-DSA vs ML-DSA vs FN-DSA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suppress_None"/>
          <p:cNvSpPr>
            <a:spLocks noGrp="1"/>
          </p:cNvSpPr>
          <p:nvPr>
            <p:ph type="title"/>
          </p:nvPr>
        </p:nvSpPr>
        <p:spPr>
          <a:xfrm>
            <a:off x="-10000000" y="-10383061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3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0" y="-383061"/>
            <a:ext cx="0" cy="0"/>
          </a:xfrm>
        </p:spPr>
        <p:txBody>
          <a:bodyPr/>
          <a:lstStyle/>
          <a:p>
            <a:endParaRPr lang="uk-UA" dirty="0"/>
          </a:p>
        </p:txBody>
      </p:sp>
      <p:graphicFrame>
        <p:nvGraphicFramePr>
          <p:cNvPr id="736" name="Table 7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5099855"/>
              </p:ext>
            </p:extLst>
          </p:nvPr>
        </p:nvGraphicFramePr>
        <p:xfrm>
          <a:off x="500000" y="866939"/>
          <a:ext cx="11191999" cy="44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06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533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Сценарій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Рекомендована схема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Обґрунтування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33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Firmware signing (IoT, ICS)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XMSS / LMS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Малі частоти, stateful керовано HSM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33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Root-CA сертифікати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SLH-DSA-256s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Довгий термін дії (10+ років)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33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TLS server certificates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ML-DSA + SLH-DSA 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Швидкий handshake + захист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33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Code signing (OS updates)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SLH-DSA-128f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Stateless, висока довіра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5333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DNSSEC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ML-DSA / FN-DSA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Малий σ для UDP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5333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Smart-card транзакції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FN-DSA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Мінімальний PK + σ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333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Blockchain (post-Q rollup)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SLH-DSA-128f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Stateless, без state-management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533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Документи (30+ років архіву)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SLH-DSA-256s + XMSS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1F2E"/>
                          </a:solidFill>
                        </a:rPr>
                        <a:t>Максимум консервативності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37" name="TextBox 736"/>
          <p:cNvSpPr txBox="1"/>
          <p:nvPr/>
        </p:nvSpPr>
        <p:spPr>
          <a:xfrm>
            <a:off x="500000" y="5424939"/>
            <a:ext cx="11192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i="1">
                <a:solidFill>
                  <a:srgbClr val="555566"/>
                </a:solidFill>
              </a:rPr>
              <a:t>Cloudflare, Microsoft, Apple, Linux Kernel вже інтегрують hash-based схеми у production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B90DC1-A42E-55D9-C577-589463DC0F99}"/>
              </a:ext>
            </a:extLst>
          </p:cNvPr>
          <p:cNvSpPr txBox="1"/>
          <p:nvPr/>
        </p:nvSpPr>
        <p:spPr>
          <a:xfrm>
            <a:off x="3670727" y="366829"/>
            <a:ext cx="48505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/>
              <a:t>Сценарії</a:t>
            </a:r>
            <a:r>
              <a:rPr lang="en-US" sz="2000" dirty="0"/>
              <a:t> </a:t>
            </a:r>
            <a:r>
              <a:rPr lang="en-US" sz="2000" dirty="0" err="1"/>
              <a:t>застосування</a:t>
            </a:r>
            <a:r>
              <a:rPr lang="en-US" sz="2000" dirty="0"/>
              <a:t> hash-based </a:t>
            </a:r>
            <a:r>
              <a:rPr lang="en-US" sz="2000" dirty="0" err="1"/>
              <a:t>підписів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suppress_None"/>
          <p:cNvSpPr>
            <a:spLocks noGrp="1"/>
          </p:cNvSpPr>
          <p:nvPr>
            <p:ph type="title"/>
          </p:nvPr>
        </p:nvSpPr>
        <p:spPr>
          <a:xfrm>
            <a:off x="-10000000" y="-10333633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4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0" y="-333633"/>
            <a:ext cx="0" cy="0"/>
          </a:xfrm>
        </p:spPr>
        <p:txBody>
          <a:bodyPr/>
          <a:lstStyle/>
          <a:p>
            <a:endParaRPr lang="uk-UA" dirty="0"/>
          </a:p>
        </p:txBody>
      </p:sp>
      <p:sp>
        <p:nvSpPr>
          <p:cNvPr id="741" name="Rounded Rectangle 740"/>
          <p:cNvSpPr/>
          <p:nvPr/>
        </p:nvSpPr>
        <p:spPr>
          <a:xfrm>
            <a:off x="700000" y="916367"/>
            <a:ext cx="5246000" cy="75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Що вивчили</a:t>
            </a:r>
          </a:p>
        </p:txBody>
      </p:sp>
      <p:sp>
        <p:nvSpPr>
          <p:cNvPr id="742" name="Rectangle 741"/>
          <p:cNvSpPr/>
          <p:nvPr/>
        </p:nvSpPr>
        <p:spPr>
          <a:xfrm>
            <a:off x="700000" y="1766367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Lamport OTS - перший hash-based підпис (1979)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WOTS+ - компактний OTS з ланцюгом хешів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Дерево Меркла - багато OTS під одним PK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XMSS / LMS - stateful, RFC 8391 / 8554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SPHINCS+ - stateless, гіпердерево + FORS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SLH-DSA - стандарт NIST FIPS 205 (2024)</a:t>
            </a:r>
          </a:p>
        </p:txBody>
      </p:sp>
      <p:sp>
        <p:nvSpPr>
          <p:cNvPr id="743" name="Rounded Rectangle 742"/>
          <p:cNvSpPr/>
          <p:nvPr/>
        </p:nvSpPr>
        <p:spPr>
          <a:xfrm>
            <a:off x="6246000" y="916367"/>
            <a:ext cx="5246000" cy="75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Практичні висновки</a:t>
            </a:r>
          </a:p>
        </p:txBody>
      </p:sp>
      <p:sp>
        <p:nvSpPr>
          <p:cNvPr id="744" name="Rectangle 743"/>
          <p:cNvSpPr/>
          <p:nvPr/>
        </p:nvSpPr>
        <p:spPr>
          <a:xfrm>
            <a:off x="6246000" y="1766367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Безпека лише на хеш-функції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σ великий (8-50 КБ), PK дуже малий (32-64 Б)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XMSS/LMS - для firmware signing з HSM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SLH-DSA - для довгострокових артефактів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ML-DSA - default для більшості випадків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Гібрид ECDSA + SLH-DSA - best practice</a:t>
            </a:r>
          </a:p>
        </p:txBody>
      </p:sp>
      <p:sp>
        <p:nvSpPr>
          <p:cNvPr id="745" name="TextBox 744"/>
          <p:cNvSpPr txBox="1"/>
          <p:nvPr/>
        </p:nvSpPr>
        <p:spPr>
          <a:xfrm>
            <a:off x="700000" y="5996367"/>
            <a:ext cx="10792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445577"/>
                </a:solidFill>
              </a:rPr>
              <a:t>Hash-based підпис - найконсервативніший постквантовий вибір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1D234-B7A1-8EEC-FCB2-3BD7E835AF63}"/>
              </a:ext>
            </a:extLst>
          </p:cNvPr>
          <p:cNvSpPr txBox="1"/>
          <p:nvPr/>
        </p:nvSpPr>
        <p:spPr>
          <a:xfrm>
            <a:off x="5064597" y="361633"/>
            <a:ext cx="20628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 err="1"/>
              <a:t>Підсумки</a:t>
            </a:r>
            <a:r>
              <a:rPr lang="ru-RU" sz="2000" dirty="0"/>
              <a:t> </a:t>
            </a:r>
            <a:r>
              <a:rPr lang="ru-RU" sz="2000" dirty="0" err="1"/>
              <a:t>лекції</a:t>
            </a:r>
            <a:r>
              <a:rPr lang="ru-RU" sz="2000" dirty="0"/>
              <a:t> 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 result for caucasus university">
            <a:extLst>
              <a:ext uri="{FF2B5EF4-FFF2-40B4-BE49-F238E27FC236}">
                <a16:creationId xmlns:a16="http://schemas.microsoft.com/office/drawing/2014/main" id="{41160F76-96C7-DC1E-EEA7-A48729688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88" y="230687"/>
            <a:ext cx="1541081" cy="157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DA0928-EB30-F39D-6A09-83ED624004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931" y="89794"/>
            <a:ext cx="1852863" cy="1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4745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1734</TotalTime>
  <Words>2273</Words>
  <Application>Microsoft Macintosh PowerPoint</Application>
  <PresentationFormat>Widescreen</PresentationFormat>
  <Paragraphs>389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Arial</vt:lpstr>
      <vt:lpstr>Calibri</vt:lpstr>
      <vt:lpstr>Calibri Light</vt:lpstr>
      <vt:lpstr>Cambria Math</vt:lpstr>
      <vt:lpstr>Symbol</vt:lpstr>
      <vt:lpstr>Тема Office</vt:lpstr>
      <vt:lpstr>Квантова та постквантова безпека № 7</vt:lpstr>
      <vt:lpstr>Мотивація</vt:lpstr>
      <vt:lpstr>Цифровий підпис Лампорта</vt:lpstr>
      <vt:lpstr>Lamport: генерація ключів</vt:lpstr>
      <vt:lpstr>Lamport: формування підпису</vt:lpstr>
      <vt:lpstr>Lamport: перевірка підпису</vt:lpstr>
      <vt:lpstr>Чому LOTS є одноразовим </vt:lpstr>
      <vt:lpstr>Одноразовий підпис Вінтерніца</vt:lpstr>
      <vt:lpstr>WOTS: генерація ключів</vt:lpstr>
      <vt:lpstr>WOTS: генерація підпису</vt:lpstr>
      <vt:lpstr>WOTS: перевірка підпису</vt:lpstr>
      <vt:lpstr>Чому WOTS є одноразовим </vt:lpstr>
      <vt:lpstr>Постквантова безпека WOTS</vt:lpstr>
      <vt:lpstr>MSS: генерація ключів</vt:lpstr>
      <vt:lpstr>MSS: створення та перевірка підпису</vt:lpstr>
      <vt:lpstr>Дерева Меркла</vt:lpstr>
      <vt:lpstr>XMSS^MT (мультидерево)</vt:lpstr>
      <vt:lpstr>SPHINCS+</vt:lpstr>
      <vt:lpstr>Міркування безпеки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Квантова та постквантова безпека № 1</dc:title>
  <dc:creator>Dmytro Bilozor</dc:creator>
  <cp:keywords>, docId:9A0E76D41C9A51B842CA243D69D03AE1</cp:keywords>
  <cp:lastModifiedBy>Dima Bil</cp:lastModifiedBy>
  <cp:revision>124</cp:revision>
  <dcterms:created xsi:type="dcterms:W3CDTF">2025-07-11T12:38:56Z</dcterms:created>
  <dcterms:modified xsi:type="dcterms:W3CDTF">2026-05-25T10:42:16Z</dcterms:modified>
</cp:coreProperties>
</file>