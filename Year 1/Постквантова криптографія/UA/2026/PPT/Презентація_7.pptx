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324" r:id="rId3"/>
    <p:sldId id="332" r:id="rId4"/>
    <p:sldId id="333" r:id="rId5"/>
    <p:sldId id="334" r:id="rId6"/>
    <p:sldId id="335" r:id="rId7"/>
    <p:sldId id="336" r:id="rId8"/>
    <p:sldId id="326" r:id="rId9"/>
    <p:sldId id="327" r:id="rId10"/>
    <p:sldId id="328" r:id="rId11"/>
    <p:sldId id="329" r:id="rId12"/>
    <p:sldId id="330" r:id="rId13"/>
    <p:sldId id="331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44" r:id="rId3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57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05DBC626-4DD8-95BD-2906-E62D73E83E1B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F4F4B-645B-AE4E-2BF4-F7E94EEF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0363" y="2077401"/>
            <a:ext cx="9144000" cy="750852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COURSE NAME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F5CA641-4378-FFF4-6C63-FE20A7AB18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6843" y="4323334"/>
            <a:ext cx="11298314" cy="92405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Teacher:</a:t>
            </a:r>
          </a:p>
          <a:p>
            <a:r>
              <a:rPr lang="en-US" dirty="0"/>
              <a:t>First name, Last name, academic degree, academic title, position</a:t>
            </a: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4D8244C4-6C89-A133-852B-C8FC03F1D08E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026" name="Picture 2" descr="COMAI - Ulysseus">
            <a:extLst>
              <a:ext uri="{FF2B5EF4-FFF2-40B4-BE49-F238E27FC236}">
                <a16:creationId xmlns:a16="http://schemas.microsoft.com/office/drawing/2014/main" id="{C12C8155-5617-3A68-F4D7-AAD08BB06D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Місце для зображення 12">
            <a:extLst>
              <a:ext uri="{FF2B5EF4-FFF2-40B4-BE49-F238E27FC236}">
                <a16:creationId xmlns:a16="http://schemas.microsoft.com/office/drawing/2014/main" id="{E815AE2E-6725-7927-4881-DA2D2C5A4F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4" name="Місце для зображення 12">
            <a:extLst>
              <a:ext uri="{FF2B5EF4-FFF2-40B4-BE49-F238E27FC236}">
                <a16:creationId xmlns:a16="http://schemas.microsoft.com/office/drawing/2014/main" id="{62658F34-B66C-A1D3-B3B4-DF50825EA1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9" name="Місце для тексту 18">
            <a:extLst>
              <a:ext uri="{FF2B5EF4-FFF2-40B4-BE49-F238E27FC236}">
                <a16:creationId xmlns:a16="http://schemas.microsoft.com/office/drawing/2014/main" id="{B10AEEDB-6C49-4C16-1AB4-353507F394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0363" y="3033506"/>
            <a:ext cx="9144000" cy="75085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Lecture #. “Title”</a:t>
            </a:r>
            <a:endParaRPr lang="uk-UA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46E11E8-C94E-4AE7-ADB5-FDEAADAE04C0}"/>
              </a:ext>
            </a:extLst>
          </p:cNvPr>
          <p:cNvSpPr txBox="1"/>
          <p:nvPr userDrawn="1"/>
        </p:nvSpPr>
        <p:spPr>
          <a:xfrm>
            <a:off x="407951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85943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20CB3192-52DB-1C4F-CDF1-2C5834701427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Місце для тексту 8">
            <a:extLst>
              <a:ext uri="{FF2B5EF4-FFF2-40B4-BE49-F238E27FC236}">
                <a16:creationId xmlns:a16="http://schemas.microsoft.com/office/drawing/2014/main" id="{8DA5757D-9772-C9F6-1941-FA9F1C1F97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4066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B648F94A-93CF-5554-B9EC-99C160354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LECTURE PLAN</a:t>
            </a:r>
            <a:endParaRPr lang="uk-UA" dirty="0"/>
          </a:p>
        </p:txBody>
      </p:sp>
      <p:sp>
        <p:nvSpPr>
          <p:cNvPr id="18" name="Місце для тексту 8">
            <a:extLst>
              <a:ext uri="{FF2B5EF4-FFF2-40B4-BE49-F238E27FC236}">
                <a16:creationId xmlns:a16="http://schemas.microsoft.com/office/drawing/2014/main" id="{2C4AAD83-F098-467E-30E8-5B1DBFBB92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4065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9" name="Місце для тексту 8">
            <a:extLst>
              <a:ext uri="{FF2B5EF4-FFF2-40B4-BE49-F238E27FC236}">
                <a16:creationId xmlns:a16="http://schemas.microsoft.com/office/drawing/2014/main" id="{E19B8F13-7D27-6CB4-C4E2-740F7D45DE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4066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0" name="Місце для тексту 8">
            <a:extLst>
              <a:ext uri="{FF2B5EF4-FFF2-40B4-BE49-F238E27FC236}">
                <a16:creationId xmlns:a16="http://schemas.microsoft.com/office/drawing/2014/main" id="{478A70D7-9C17-6A3A-7307-37FCE7F9D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44065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1" name="Місце для тексту 8">
            <a:extLst>
              <a:ext uri="{FF2B5EF4-FFF2-40B4-BE49-F238E27FC236}">
                <a16:creationId xmlns:a16="http://schemas.microsoft.com/office/drawing/2014/main" id="{6C85C806-5D99-80B3-1B5C-C1F865438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2685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2" name="Місце для тексту 8">
            <a:extLst>
              <a:ext uri="{FF2B5EF4-FFF2-40B4-BE49-F238E27FC236}">
                <a16:creationId xmlns:a16="http://schemas.microsoft.com/office/drawing/2014/main" id="{A9DE4B24-321A-7699-D368-923ABAFA73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2684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3" name="Місце для тексту 8">
            <a:extLst>
              <a:ext uri="{FF2B5EF4-FFF2-40B4-BE49-F238E27FC236}">
                <a16:creationId xmlns:a16="http://schemas.microsoft.com/office/drawing/2014/main" id="{AFA89644-FB9E-ABAF-F0D3-EA41087639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2685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4" name="Місце для тексту 8">
            <a:extLst>
              <a:ext uri="{FF2B5EF4-FFF2-40B4-BE49-F238E27FC236}">
                <a16:creationId xmlns:a16="http://schemas.microsoft.com/office/drawing/2014/main" id="{E4A3D9BF-973C-0418-3024-30595EBA45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32684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767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A07F23F-4277-FC4D-97B7-3E341B68F917}"/>
              </a:ext>
            </a:extLst>
          </p:cNvPr>
          <p:cNvSpPr/>
          <p:nvPr userDrawn="1"/>
        </p:nvSpPr>
        <p:spPr>
          <a:xfrm rot="19833573">
            <a:off x="4329829" y="-375306"/>
            <a:ext cx="9880718" cy="7608613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97EB8-BC56-C8CD-3070-C9ACA13EC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50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 OF THE # POINT FROM THE LECTURE PLAN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27D60B2F-9685-26A3-EC21-6D22D8A4D04B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BD412A2-E641-132E-78FF-02F60B95DF11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  <p:sp>
        <p:nvSpPr>
          <p:cNvPr id="11" name="Freeform 4">
            <a:extLst>
              <a:ext uri="{FF2B5EF4-FFF2-40B4-BE49-F238E27FC236}">
                <a16:creationId xmlns:a16="http://schemas.microsoft.com/office/drawing/2014/main" id="{F07C4348-D2BB-5FEF-BFDE-ED24D7871E6A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2363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438A861F-723B-32BD-123D-23AB50C1E9DF}"/>
              </a:ext>
            </a:extLst>
          </p:cNvPr>
          <p:cNvSpPr/>
          <p:nvPr userDrawn="1"/>
        </p:nvSpPr>
        <p:spPr>
          <a:xfrm rot="6517973">
            <a:off x="-1650001" y="805883"/>
            <a:ext cx="9663726" cy="6609046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D33B1-0CDC-ED77-635F-731BCFBFA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1026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1339ECB-7836-56BF-C31D-3BAEBCA8F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7" name="Місце для тексту 6">
            <a:extLst>
              <a:ext uri="{FF2B5EF4-FFF2-40B4-BE49-F238E27FC236}">
                <a16:creationId xmlns:a16="http://schemas.microsoft.com/office/drawing/2014/main" id="{8E8B18C6-9CBB-DF5A-5A27-4791831B8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870075"/>
            <a:ext cx="5532120" cy="842963"/>
          </a:xfrm>
        </p:spPr>
        <p:txBody>
          <a:bodyPr/>
          <a:lstStyle>
            <a:lvl1pPr marL="0" indent="0">
              <a:buNone/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8" name="Місце для тексту 6">
            <a:extLst>
              <a:ext uri="{FF2B5EF4-FFF2-40B4-BE49-F238E27FC236}">
                <a16:creationId xmlns:a16="http://schemas.microsoft.com/office/drawing/2014/main" id="{6CBD2B82-584E-B922-D53A-B6F456C86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892424"/>
            <a:ext cx="5532120" cy="3467736"/>
          </a:xfrm>
        </p:spPr>
        <p:txBody>
          <a:bodyPr>
            <a:normAutofit/>
          </a:bodyPr>
          <a:lstStyle>
            <a:lvl1pPr marL="0" indent="0">
              <a:buNone/>
              <a:defRPr sz="2500" b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1" name="Місце для зображення 10">
            <a:extLst>
              <a:ext uri="{FF2B5EF4-FFF2-40B4-BE49-F238E27FC236}">
                <a16:creationId xmlns:a16="http://schemas.microsoft.com/office/drawing/2014/main" id="{A33FF4F4-EFEE-BFD1-375F-648CA393F5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24638" y="1870074"/>
            <a:ext cx="4729162" cy="4490085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753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70C13FFF-F513-4654-24F8-20B9F6D33240}"/>
              </a:ext>
            </a:extLst>
          </p:cNvPr>
          <p:cNvSpPr/>
          <p:nvPr userDrawn="1"/>
        </p:nvSpPr>
        <p:spPr>
          <a:xfrm rot="8411302" flipH="1" flipV="1">
            <a:off x="4748439" y="-391160"/>
            <a:ext cx="9459568" cy="8276884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FB564-C2AF-2A39-32F5-C8AE625B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E35D1EC-A30B-2B54-1BAD-F7B1C813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7470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619E5F8-83B6-C4B1-CDE6-E2576A5D97D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9268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871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60F5C-0E3F-B81E-3874-5DFE7B95B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3C40CA-D14D-1220-C849-3E91200A18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text/assets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A858D7C-35A5-2A50-602A-248A2D961D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text/assets</a:t>
            </a:r>
            <a:endParaRPr lang="uk-UA" dirty="0"/>
          </a:p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261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CONCLUSIONS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354341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ADDITIONALS MATERIALS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157760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CD1E789-90A0-FE6B-0F10-C15EB3FD5B16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1D3FF62-D606-B90B-7956-E3AB4C912B48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Picture 2" descr="COMAI - Ulysseus">
            <a:extLst>
              <a:ext uri="{FF2B5EF4-FFF2-40B4-BE49-F238E27FC236}">
                <a16:creationId xmlns:a16="http://schemas.microsoft.com/office/drawing/2014/main" id="{E4A298BE-4D28-41A3-FCCC-78D6F73C5D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Місце для зображення 12">
            <a:extLst>
              <a:ext uri="{FF2B5EF4-FFF2-40B4-BE49-F238E27FC236}">
                <a16:creationId xmlns:a16="http://schemas.microsoft.com/office/drawing/2014/main" id="{E0592F16-BCB5-9327-78F3-B2E92935A21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1" name="Місце для зображення 12">
            <a:extLst>
              <a:ext uri="{FF2B5EF4-FFF2-40B4-BE49-F238E27FC236}">
                <a16:creationId xmlns:a16="http://schemas.microsoft.com/office/drawing/2014/main" id="{9C30DA7F-596D-B59E-26DA-3B0C3F4C06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C1CC2-B9AD-AB54-C17A-8D901E5C744E}"/>
              </a:ext>
            </a:extLst>
          </p:cNvPr>
          <p:cNvSpPr txBox="1"/>
          <p:nvPr userDrawn="1"/>
        </p:nvSpPr>
        <p:spPr>
          <a:xfrm>
            <a:off x="446088" y="2682240"/>
            <a:ext cx="92839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203864"/>
                </a:solidFill>
                <a:latin typeface="Aptos" panose="020B0004020202020204" pitchFamily="34" charset="0"/>
              </a:rPr>
              <a:t>THANK YOU FOR ATTENTION!</a:t>
            </a:r>
            <a:endParaRPr lang="uk-UA" sz="5400" b="1" dirty="0">
              <a:solidFill>
                <a:srgbClr val="203864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BA098-B1CD-0269-8D35-42A582493920}"/>
              </a:ext>
            </a:extLst>
          </p:cNvPr>
          <p:cNvSpPr txBox="1"/>
          <p:nvPr userDrawn="1"/>
        </p:nvSpPr>
        <p:spPr>
          <a:xfrm>
            <a:off x="446088" y="3556813"/>
            <a:ext cx="2871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Any questions?</a:t>
            </a:r>
            <a:endParaRPr lang="uk-UA" sz="3200"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163F224-4127-B18E-51F9-39EA8647CB63}"/>
              </a:ext>
            </a:extLst>
          </p:cNvPr>
          <p:cNvSpPr txBox="1"/>
          <p:nvPr userDrawn="1"/>
        </p:nvSpPr>
        <p:spPr>
          <a:xfrm>
            <a:off x="393402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183435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8C6A-C972-4D9E-AA74-333EB6C38D98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32CD-2E3F-4A7F-B8A0-E5258AB21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7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62A46F7-AE3D-FE17-716F-BD073558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40003CE-35D9-0D22-9697-103258AF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D95934-CB61-23CC-5A3B-CAE88FF8F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528A8-01FA-4E19-966E-6D8EBDB87570}" type="datetimeFigureOut">
              <a:rPr lang="uk-UA" smtClean="0"/>
              <a:t>07.05.26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C9D978F-CE49-2A2D-0742-4A82CA25F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4B8B66-57F6-0E1C-BC7E-F1BC1A8B0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FF707-F803-4672-B2C0-069A27EADB5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762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7" r:id="rId6"/>
    <p:sldLayoutId id="2147483652" r:id="rId7"/>
    <p:sldLayoutId id="2147483658" r:id="rId8"/>
    <p:sldLayoutId id="2147483660" r:id="rId9"/>
    <p:sldLayoutId id="2147483659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070" y="2077401"/>
            <a:ext cx="9624293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7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6497" y="3053574"/>
            <a:ext cx="11159005" cy="750852"/>
          </a:xfrm>
        </p:spPr>
        <p:txBody>
          <a:bodyPr/>
          <a:lstStyle/>
          <a:p>
            <a:r>
              <a:rPr lang="en-US" b="1" dirty="0"/>
              <a:t>Схеми цифрового підпису на основі хеш-функцій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87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Мотивація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86B2E6-EF52-BEFC-2919-DA04E2C4AD6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4533357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i="1" dirty="0"/>
              <a:t>Чому саме хеш-підписи?</a:t>
            </a:r>
            <a:br>
              <a:rPr lang="en-US" sz="1800" dirty="0"/>
            </a:br>
            <a:r>
              <a:rPr lang="en-US" sz="1800" dirty="0"/>
              <a:t>Безпечні навіть проти квантових комп'ютерів.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41E25CA-E5AF-083F-B1CB-3CEB4B67935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06425" y="3876766"/>
            <a:ext cx="5134418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Базуються виключно на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безпеці хеш-функції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Стійкі до алгоритму Шора.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Проста конструкція, добре вивчена з 1970-х років.</a:t>
            </a:r>
          </a:p>
        </p:txBody>
      </p:sp>
      <p:pic>
        <p:nvPicPr>
          <p:cNvPr id="1028" name="Picture 4" descr="7 Top Motivation Models To Use As a Leader">
            <a:extLst>
              <a:ext uri="{FF2B5EF4-FFF2-40B4-BE49-F238E27FC236}">
                <a16:creationId xmlns:a16="http://schemas.microsoft.com/office/drawing/2014/main" id="{B9BFC49E-0FA6-C776-DB31-1276BBD25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418" y="1447613"/>
            <a:ext cx="5595157" cy="345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14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051B-F397-768C-04C8-682CD290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4372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ЦИФРОВИЙ ПІДПИС ЛАМПОРТА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21B6-C99A-6CF6-F8D0-289AC7456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5247"/>
            <a:ext cx="10515600" cy="423840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 err="1">
                <a:effectLst/>
                <a:latin typeface="Calibri"/>
              </a:rPr>
              <a:t>Схема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цифрового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підпису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на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основі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хеш-функції</a:t>
            </a:r>
            <a:endParaRPr lang="en-US" sz="1800" b="0" i="0" dirty="0">
              <a:effectLst/>
              <a:latin typeface="Calibri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Calibri"/>
              </a:rPr>
              <a:t>Призначена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для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одноразового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використання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0" i="0" dirty="0">
                <a:effectLst/>
                <a:latin typeface="Calibri"/>
              </a:rPr>
              <a:t>(</a:t>
            </a:r>
            <a:r>
              <a:rPr lang="en-US" sz="1800" b="0" i="0" dirty="0" err="1">
                <a:effectLst/>
                <a:latin typeface="Calibri"/>
              </a:rPr>
              <a:t>кожна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пара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ключів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підписує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тільки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одне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повідомлення</a:t>
            </a:r>
            <a:r>
              <a:rPr lang="en-US" sz="1800" b="0" i="0" dirty="0">
                <a:effectLst/>
                <a:latin typeface="Calibri"/>
              </a:rPr>
              <a:t>)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Calibri"/>
              </a:rPr>
              <a:t>Базується</a:t>
            </a:r>
            <a:r>
              <a:rPr lang="en-US" sz="1800" b="0" i="0" dirty="0">
                <a:effectLst/>
                <a:latin typeface="Calibri"/>
              </a:rPr>
              <a:t> на безпеці криптографічних хеш-функцій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 err="1">
                <a:effectLst/>
                <a:latin typeface="Calibri"/>
              </a:rPr>
              <a:t>Постквантова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безпека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- </a:t>
            </a:r>
            <a:r>
              <a:rPr lang="en-US" sz="1800" b="0" i="0" dirty="0" err="1">
                <a:effectLst/>
                <a:latin typeface="Calibri"/>
              </a:rPr>
              <a:t>Стійка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до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квантових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атак</a:t>
            </a:r>
            <a:r>
              <a:rPr lang="en-US" sz="1800" b="0" i="0" dirty="0">
                <a:effectLst/>
                <a:latin typeface="Calibri"/>
              </a:rPr>
              <a:t> (</a:t>
            </a:r>
            <a:r>
              <a:rPr lang="en-US" sz="1800" b="0" i="0" dirty="0" err="1">
                <a:effectLst/>
                <a:latin typeface="Calibri"/>
              </a:rPr>
              <a:t>базується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на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хеш-функціях</a:t>
            </a:r>
            <a:r>
              <a:rPr lang="en-US" sz="1800" b="0" i="0" dirty="0">
                <a:effectLst/>
                <a:latin typeface="Calibri"/>
              </a:rPr>
              <a:t>, </a:t>
            </a:r>
            <a:r>
              <a:rPr lang="en-US" sz="1800" b="0" i="0" dirty="0" err="1">
                <a:effectLst/>
                <a:latin typeface="Calibri"/>
              </a:rPr>
              <a:t>не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вразлива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до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алгоритму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Шора</a:t>
            </a:r>
            <a:r>
              <a:rPr lang="en-US" sz="1800" b="0" i="0" dirty="0">
                <a:effectLst/>
                <a:latin typeface="Calibri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 err="1">
                <a:effectLst/>
                <a:latin typeface="Calibri"/>
              </a:rPr>
              <a:t>Простота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- </a:t>
            </a:r>
            <a:r>
              <a:rPr lang="en-US" sz="1800" b="0" i="0" dirty="0" err="1">
                <a:effectLst/>
                <a:latin typeface="Calibri"/>
              </a:rPr>
              <a:t>Використовує</a:t>
            </a:r>
            <a:r>
              <a:rPr lang="en-US" sz="1800" b="0" i="0" dirty="0">
                <a:effectLst/>
                <a:latin typeface="Calibri"/>
              </a:rPr>
              <a:t> тільки хеш-функції, уникаючи складних математичних операцій, таких як модульне піднесення </a:t>
            </a:r>
            <a:r>
              <a:rPr lang="en-US" sz="1800" b="0" i="0" dirty="0" err="1">
                <a:effectLst/>
                <a:latin typeface="Calibri"/>
              </a:rPr>
              <a:t>до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степеня</a:t>
            </a:r>
            <a:endParaRPr lang="en-US" sz="1800" b="0" i="0" dirty="0">
              <a:effectLst/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Calibri"/>
              </a:rPr>
              <a:t>Одноразове використання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- </a:t>
            </a:r>
            <a:r>
              <a:rPr lang="en-US" sz="1800" b="0" i="0" dirty="0" err="1">
                <a:effectLst/>
                <a:latin typeface="Calibri"/>
              </a:rPr>
              <a:t>Забезпечує</a:t>
            </a:r>
            <a:r>
              <a:rPr lang="en-US" sz="1800" b="0" i="0" dirty="0">
                <a:effectLst/>
                <a:latin typeface="Calibri"/>
              </a:rPr>
              <a:t> безпеку для окремих транзакцій </a:t>
            </a:r>
            <a:r>
              <a:rPr lang="en-US" sz="1800" b="0" i="0" dirty="0" err="1">
                <a:effectLst/>
                <a:latin typeface="Calibri"/>
              </a:rPr>
              <a:t>або</a:t>
            </a:r>
            <a:r>
              <a:rPr lang="en-US" sz="1800" b="0" i="0" dirty="0">
                <a:effectLst/>
                <a:latin typeface="Calibri"/>
              </a:rPr>
              <a:t> </a:t>
            </a:r>
            <a:r>
              <a:rPr lang="en-US" sz="1800" b="0" i="0" dirty="0" err="1">
                <a:effectLst/>
                <a:latin typeface="Calibri"/>
              </a:rPr>
              <a:t>комунікацій</a:t>
            </a:r>
            <a:endParaRPr lang="en-US" sz="1800" b="0" i="0" dirty="0">
              <a:effectLst/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Calibri"/>
              </a:rPr>
              <a:t>Компактні підписи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just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- </a:t>
            </a:r>
            <a:r>
              <a:rPr lang="en-US" sz="1800" b="0" i="0" dirty="0" err="1">
                <a:effectLst/>
                <a:latin typeface="Calibri"/>
              </a:rPr>
              <a:t>Менші</a:t>
            </a:r>
            <a:r>
              <a:rPr lang="en-US" sz="1800" b="0" i="0" dirty="0">
                <a:effectLst/>
                <a:latin typeface="Calibri"/>
              </a:rPr>
              <a:t> за інші схеми на основі хеш-функцій (наприклад, підписи </a:t>
            </a:r>
            <a:r>
              <a:rPr lang="en-US" sz="1800" b="0" i="0" dirty="0" err="1">
                <a:effectLst/>
                <a:latin typeface="Calibri"/>
              </a:rPr>
              <a:t>Меркла</a:t>
            </a:r>
            <a:r>
              <a:rPr lang="en-US" sz="1800" b="0" i="0" dirty="0">
                <a:effectLst/>
                <a:latin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370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4E76-A341-7076-042B-43CE4D5A5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071" y="198437"/>
            <a:ext cx="544068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03864"/>
                </a:solidFill>
                <a:latin typeface="Calibri"/>
              </a:rPr>
              <a:t>Генерація ключів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6B782-75E1-8FB0-250E-633C1C28B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24000"/>
                <a:ext cx="9905999" cy="4774531"/>
              </a:xfrm>
            </p:spPr>
            <p:txBody>
              <a:bodyPr>
                <a:normAutofit lnSpcReduction="10000"/>
              </a:bodyPr>
              <a:lstStyle/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Приватний ключ (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):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Згенеруйте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2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𝑛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випадкові значення ,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де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𝑛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— довжина хешу повідомлення.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Розділити на дві частини:</a:t>
                </a:r>
              </a:p>
              <a:p>
                <a:pPr marL="0" marR="0" indent="0">
                  <a:lnSpc>
                    <a:spcPct val="100000"/>
                  </a:lnSpc>
                  <a:spcAft>
                    <a:spcPts val="1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𝑥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1,0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1,1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2,0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2,1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𝑛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,0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𝑛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1100"/>
                  </a:spcAf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Кожен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є випадковим значенням (наприклад, 256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бітів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).</a:t>
                </a:r>
                <a:endParaRPr lang="uk-UA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 indent="0">
                  <a:lnSpc>
                    <a:spcPct val="100000"/>
                  </a:lnSpc>
                  <a:spcAft>
                    <a:spcPts val="1100"/>
                  </a:spcAft>
                  <a:buNone/>
                </a:pPr>
                <a:b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</a:b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2. Відкритий ключ (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):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Хешуйте кожен елемент приватного ключа:</a:t>
                </a:r>
              </a:p>
              <a:p>
                <a:pPr marL="0" marR="0" indent="0">
                  <a:lnSpc>
                    <a:spcPct val="100000"/>
                  </a:lnSpc>
                  <a:spcAft>
                    <a:spcPts val="1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𝑦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1,0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2,0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,…,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𝑛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𝑛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1100"/>
                  </a:spcAf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є криптографічною хеш-функцією (наприклад, SHA-256).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6B782-75E1-8FB0-250E-633C1C28B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24000"/>
                <a:ext cx="9905999" cy="4774531"/>
              </a:xfrm>
              <a:blipFill>
                <a:blip r:embed="rId2"/>
                <a:stretch>
                  <a:fillRect l="-492" t="-1149"/>
                </a:stretch>
              </a:blipFill>
            </p:spPr>
            <p:txBody>
              <a:bodyPr>
                <a:normAutoFit/>
              </a:bodyPr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53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8EF1-A4C1-56E0-D78B-0326792F0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179" y="283708"/>
            <a:ext cx="8757920" cy="1325563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Формування цифрового підпису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07A7F3-182C-4E96-A112-3911D09514F4}"/>
                  </a:ext>
                </a:extLst>
              </p:cNvPr>
              <p:cNvSpPr txBox="1"/>
              <p:nvPr/>
            </p:nvSpPr>
            <p:spPr>
              <a:xfrm>
                <a:off x="1584158" y="1237615"/>
                <a:ext cx="9023684" cy="5620385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Хешування повідомлення: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Хешуйте повідомлення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𝑚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 щоб отримати дайджест фіксованої довжини: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h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𝐻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(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𝑚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Приклад: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=101101011100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  <a:endParaRPr lang="en-US" dirty="0">
                  <a:latin typeface="Calibri"/>
                  <a:ea typeface="Calibri"/>
                  <a:cs typeface="Calibri"/>
                </a:endParaRPr>
              </a:p>
              <a:p>
                <a:pPr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Вибір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елементів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приватного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ключа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кожного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біта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виберіть відповідний елемент приватного ключа: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𝜎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Приклад: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     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Якщо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=101101011100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 то: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𝜎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1,1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𝜎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2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2,0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𝜎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3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3,1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, …</m:t>
                      </m:r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3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Сформуйте підпис: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Підпис — це сукупність вибраних елементів приватного ключа: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1">
                          <a:effectLst/>
                          <a:latin typeface="Calibri"/>
                          <a:ea typeface="Calibri"/>
                          <a:cs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m:t>Signature</m:t>
                      </m:r>
                      <m:r>
                        <m:rPr>
                          <m:nor/>
                        </m:rPr>
                        <a:rPr lang="en-US" sz="1800" i="1">
                          <a:effectLst/>
                          <a:latin typeface="Calibri"/>
                          <a:ea typeface="Calibri"/>
                          <a:cs typeface="Calibri"/>
                        </a:rPr>
                        <m:t> 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07A7F3-182C-4E96-A112-3911D0951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158" y="1237615"/>
                <a:ext cx="9023684" cy="5620385"/>
              </a:xfrm>
              <a:prstGeom prst="rect">
                <a:avLst/>
              </a:prstGeom>
              <a:blipFill>
                <a:blip r:embed="rId2"/>
                <a:stretch>
                  <a:fillRect l="-562" t="-451"/>
                </a:stretch>
              </a:blipFill>
            </p:spPr>
            <p:txBody>
              <a:bodyPr/>
              <a:lstStyle/>
              <a:p>
                <a:r>
                  <a:rPr lang="en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31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3A67-72C6-3970-C465-D86E9FB8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ПЕРЕВІРКА ПІДПИСУ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06D9C9-D913-10DA-35EC-0737953D5EDF}"/>
                  </a:ext>
                </a:extLst>
              </p:cNvPr>
              <p:cNvSpPr txBox="1"/>
              <p:nvPr/>
            </p:nvSpPr>
            <p:spPr>
              <a:xfrm>
                <a:off x="2632192" y="2101216"/>
                <a:ext cx="7873248" cy="2611741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Перерахуйте відкритий ключ: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Виконайте хешування кожного елемента підпису: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′</m:t>
                          </m:r>
                        </m:sup>
                      </m:sSubSup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𝐻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Порівняйте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з відповідним елементом відкритого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ключа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Перевірка підпису: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Якщо всі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 підпис є дійсним.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06D9C9-D913-10DA-35EC-0737953D5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192" y="2101216"/>
                <a:ext cx="7873248" cy="2611741"/>
              </a:xfrm>
              <a:prstGeom prst="rect">
                <a:avLst/>
              </a:prstGeom>
              <a:blipFill>
                <a:blip r:embed="rId2"/>
                <a:stretch>
                  <a:fillRect l="-697" t="-1402" b="-1869"/>
                </a:stretch>
              </a:blipFill>
            </p:spPr>
            <p:txBody>
              <a:bodyPr>
                <a:normAutoFit/>
              </a:bodyPr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194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1B4F-0AF6-517B-18F3-54F3F4B26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80" y="386081"/>
            <a:ext cx="7432040" cy="14395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03864"/>
                </a:solidFill>
                <a:latin typeface="Calibri"/>
              </a:rPr>
              <a:t>Чому LOTS є </a:t>
            </a:r>
            <a:r>
              <a:rPr lang="uk-UA" b="1" dirty="0">
                <a:solidFill>
                  <a:srgbClr val="203864"/>
                </a:solidFill>
                <a:latin typeface="Calibri"/>
              </a:rPr>
              <a:t>одноразовим</a:t>
            </a:r>
            <a:br>
              <a:rPr lang="en-US" sz="1800" dirty="0">
                <a:effectLst/>
                <a:latin typeface="Calibri"/>
                <a:ea typeface="Calibri"/>
                <a:cs typeface="Calibri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5ECB8-2ACD-CE54-11F6-CDDD67D70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0000"/>
              </a:lnSpc>
              <a:spcAft>
                <a:spcPts val="600"/>
              </a:spcAft>
              <a:buNone/>
              <a:tabLst>
                <a:tab pos="685800" algn="l"/>
              </a:tabLst>
            </a:pPr>
            <a:r>
              <a:rPr lang="en-US" sz="1800" dirty="0">
                <a:effectLst/>
                <a:latin typeface="Calibri"/>
                <a:ea typeface="Calibri"/>
                <a:cs typeface="Calibri"/>
              </a:rPr>
              <a:t>Часткове розкриття приватного ключа</a:t>
            </a:r>
          </a:p>
          <a:p>
            <a:pPr marL="342900" marR="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US" sz="1800" dirty="0">
                <a:effectLst/>
                <a:latin typeface="Calibri"/>
                <a:ea typeface="Calibri"/>
                <a:cs typeface="Calibri"/>
              </a:rPr>
              <a:t>Кожен підпис розкриває половину елементів приватного ключа (по одному для кожного біта хешу повідомлення).</a:t>
            </a:r>
          </a:p>
          <a:p>
            <a:pPr marL="342900" marR="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US" sz="1800" dirty="0">
                <a:effectLst/>
                <a:latin typeface="Calibri"/>
                <a:ea typeface="Calibri"/>
                <a:cs typeface="Calibri"/>
              </a:rPr>
              <a:t>Якщо ви підпишете друге повідомлення, новий підпис розкриє іншу половину елементів приватного ключа.</a:t>
            </a:r>
          </a:p>
          <a:p>
            <a:pPr marL="342900" marR="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US" sz="1800" dirty="0">
                <a:effectLst/>
                <a:latin typeface="Calibri"/>
                <a:ea typeface="Calibri"/>
                <a:cs typeface="Calibri"/>
              </a:rPr>
              <a:t>Зловмисник може об'єднати два підписи, щоб відновити весь приватний ключ.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1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7BF3-7B9C-E8AA-633A-FB410864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Одноразовий підпис </a:t>
            </a:r>
            <a:r>
              <a:rPr lang="uk-UA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Вінтерніца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1040F-FAFD-26A3-8AD3-EEBC7A282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168"/>
            <a:ext cx="10820400" cy="394106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Calibri"/>
              </a:rPr>
              <a:t>Схема цифрового підпису на </a:t>
            </a:r>
            <a:r>
              <a:rPr lang="en-US" sz="1800" b="1" i="0" dirty="0" err="1">
                <a:effectLst/>
                <a:latin typeface="Calibri"/>
              </a:rPr>
              <a:t>основі</a:t>
            </a:r>
            <a:r>
              <a:rPr lang="en-US" sz="1800" b="1" i="0" dirty="0">
                <a:effectLst/>
                <a:latin typeface="Calibri"/>
              </a:rPr>
              <a:t> </a:t>
            </a:r>
            <a:r>
              <a:rPr lang="en-US" sz="1800" b="1" i="0" dirty="0" err="1">
                <a:effectLst/>
                <a:latin typeface="Calibri"/>
              </a:rPr>
              <a:t>хеш-функції</a:t>
            </a:r>
            <a:endParaRPr lang="en-US" sz="1800" b="0" i="0" dirty="0">
              <a:effectLst/>
              <a:latin typeface="Calibri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/>
              </a:rPr>
              <a:t>Призначена для </a:t>
            </a:r>
            <a:r>
              <a:rPr lang="en-US" sz="1800" b="1" i="0" dirty="0">
                <a:effectLst/>
                <a:latin typeface="Calibri"/>
              </a:rPr>
              <a:t>одноразового використання </a:t>
            </a:r>
            <a:r>
              <a:rPr lang="en-US" sz="1800" b="0" i="0" dirty="0">
                <a:effectLst/>
                <a:latin typeface="Calibri"/>
              </a:rPr>
              <a:t>(кожна пара ключів підписує тільки одне повідомлення).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/>
              </a:rPr>
              <a:t>Базується на безпеці криптографічних хеш-функцій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Calibri"/>
              </a:rPr>
              <a:t>Постквантова безпека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 - </a:t>
            </a:r>
            <a:r>
              <a:rPr lang="en-US" sz="1800" b="0" i="0" dirty="0" err="1">
                <a:effectLst/>
                <a:latin typeface="Calibri"/>
              </a:rPr>
              <a:t>Стійка</a:t>
            </a:r>
            <a:r>
              <a:rPr lang="en-US" sz="1800" b="0" i="0" dirty="0">
                <a:effectLst/>
                <a:latin typeface="Calibri"/>
              </a:rPr>
              <a:t> до квантових атак (базується на хеш-функціях, не вразлива до алгоритму Шора).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Calibri"/>
              </a:rPr>
              <a:t>Простота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- </a:t>
            </a:r>
            <a:r>
              <a:rPr lang="en-US" sz="1800" b="0" i="0" dirty="0" err="1">
                <a:effectLst/>
                <a:latin typeface="Calibri"/>
              </a:rPr>
              <a:t>Використовує</a:t>
            </a:r>
            <a:r>
              <a:rPr lang="en-US" sz="1800" b="0" i="0" dirty="0">
                <a:effectLst/>
                <a:latin typeface="Calibri"/>
              </a:rPr>
              <a:t> тільки хеш-функції, уникаючи складних математичних операцій, </a:t>
            </a:r>
            <a:r>
              <a:rPr lang="en-US" sz="1800" b="0" i="0" dirty="0" err="1">
                <a:effectLst/>
                <a:latin typeface="Calibri"/>
              </a:rPr>
              <a:t>таких</a:t>
            </a:r>
            <a:r>
              <a:rPr lang="en-US" sz="1800" b="0" i="0" dirty="0">
                <a:effectLst/>
                <a:latin typeface="Calibri"/>
              </a:rPr>
              <a:t> як модульне піднесення до степеня.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Calibri"/>
              </a:rPr>
              <a:t>Одноразове використання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- </a:t>
            </a:r>
            <a:r>
              <a:rPr lang="en-US" sz="1800" b="0" i="0" dirty="0" err="1">
                <a:effectLst/>
                <a:latin typeface="Calibri"/>
              </a:rPr>
              <a:t>Забезпечує</a:t>
            </a:r>
            <a:r>
              <a:rPr lang="en-US" sz="1800" b="0" i="0" dirty="0">
                <a:effectLst/>
                <a:latin typeface="Calibri"/>
              </a:rPr>
              <a:t> безпеку для окремих транзакцій або комунікацій.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Calibri"/>
              </a:rPr>
              <a:t>Компактні підписи</a:t>
            </a:r>
            <a:r>
              <a:rPr lang="en-US" sz="1800" b="0" i="0" dirty="0">
                <a:effectLst/>
                <a:latin typeface="Calibri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1800" b="0" i="0" dirty="0">
                <a:effectLst/>
                <a:latin typeface="Calibri"/>
              </a:rPr>
              <a:t>- </a:t>
            </a:r>
            <a:r>
              <a:rPr lang="en-US" sz="1800" b="0" i="0" dirty="0" err="1">
                <a:effectLst/>
                <a:latin typeface="Calibri"/>
              </a:rPr>
              <a:t>Менші</a:t>
            </a:r>
            <a:r>
              <a:rPr lang="en-US" sz="1800" b="0" i="0" dirty="0">
                <a:effectLst/>
                <a:latin typeface="Calibri"/>
              </a:rPr>
              <a:t> за інші схеми на основі хеш-функцій (наприклад, підписи </a:t>
            </a:r>
            <a:r>
              <a:rPr lang="en-US" sz="1800" b="0" i="0" dirty="0" err="1">
                <a:effectLst/>
                <a:latin typeface="Calibri"/>
              </a:rPr>
              <a:t>Меркла</a:t>
            </a:r>
            <a:r>
              <a:rPr lang="en-US" sz="1800" b="0" i="0" dirty="0">
                <a:effectLst/>
                <a:latin typeface="Calibri"/>
              </a:rPr>
              <a:t>).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31160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933B-E217-6775-DDDE-950A7702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ХЕШ-ЛАНЦЮГ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FEEB0-754B-E35F-DFA1-D11DB051B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11" y="3338512"/>
            <a:ext cx="1010617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4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706C-8A51-C366-F59D-C8D08DDF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Генерація ключів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6B7EE6-B544-03BD-0F62-90C00428CD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3240" y="1690688"/>
                <a:ext cx="8305800" cy="4667250"/>
              </a:xfrm>
            </p:spPr>
            <p:txBody>
              <a:bodyPr/>
              <a:lstStyle/>
              <a:p>
                <a:pPr marL="0" marR="0" lvl="0" indent="0">
                  <a:lnSpc>
                    <a:spcPts val="1200"/>
                  </a:lnSpc>
                  <a:spcAft>
                    <a:spcPts val="600"/>
                  </a:spcAft>
                  <a:buNone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Приватний ключ (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):</a:t>
                </a: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Набір випадкових значень: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Кожен є випадковим числом (наприклад, 256 бітів).</a:t>
                </a:r>
              </a:p>
              <a:p>
                <a:pPr marL="0" marR="0" lvl="0" indent="0">
                  <a:lnSpc>
                    <a:spcPts val="1200"/>
                  </a:lnSpc>
                  <a:spcAft>
                    <a:spcPts val="600"/>
                  </a:spcAft>
                  <a:buNone/>
                  <a:tabLst>
                    <a:tab pos="685800" algn="l"/>
                  </a:tabLst>
                </a:pPr>
                <a:endParaRPr lang="uk-UA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 lvl="0" indent="0">
                  <a:lnSpc>
                    <a:spcPts val="1200"/>
                  </a:lnSpc>
                  <a:spcAft>
                    <a:spcPts val="600"/>
                  </a:spcAft>
                  <a:buNone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Відкритий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ключ (y):</a:t>
                </a:r>
              </a:p>
              <a:p>
                <a:pPr marL="36000" marR="0" lvl="0" indent="-342900">
                  <a:lnSpc>
                    <a:spcPts val="1200"/>
                  </a:lnSpc>
                  <a:spcAft>
                    <a:spcPts val="12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Отримується шляхом застосування хеш-функції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𝑤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разів до кожного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</a:t>
                </a:r>
              </a:p>
              <a:p>
                <a:pPr marL="36000" marR="0" indent="0">
                  <a:lnSpc>
                    <a:spcPts val="1200"/>
                  </a:lnSpc>
                  <a:spcAft>
                    <a:spcPts val="1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𝑦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𝑤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𝑤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𝑤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є криптографічною хеш-функцією (наприклад, SHA-256).</a:t>
                </a: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𝑤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є параметром (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наприклад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𝑤</m:t>
                    </m:r>
                    <m:r>
                      <a:rPr lang="en-US" sz="180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=16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6B7EE6-B544-03BD-0F62-90C00428CD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3240" y="1690688"/>
                <a:ext cx="8305800" cy="4667250"/>
              </a:xfrm>
              <a:blipFill>
                <a:blip r:embed="rId2"/>
                <a:stretch>
                  <a:fillRect l="-587" t="-2872"/>
                </a:stretch>
              </a:blipFill>
            </p:spPr>
            <p:txBody>
              <a:bodyPr>
                <a:normAutoFit/>
              </a:bodyPr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95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2A03-4CF5-71CA-4C7A-ABB86C0D2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80" y="-147499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Генерація підпису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41280-27B9-498F-665A-8173B37EB923}"/>
                  </a:ext>
                </a:extLst>
              </p:cNvPr>
              <p:cNvSpPr txBox="1"/>
              <p:nvPr/>
            </p:nvSpPr>
            <p:spPr>
              <a:xfrm>
                <a:off x="690880" y="899405"/>
                <a:ext cx="11277600" cy="6019597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pPr marL="360000" marR="0">
                  <a:spcAft>
                    <a:spcPts val="1100"/>
                  </a:spcAft>
                </a:pPr>
                <a:r>
                  <a:rPr lang="en-US" sz="1600" b="1" dirty="0">
                    <a:effectLst/>
                    <a:latin typeface="Calibri"/>
                    <a:ea typeface="Calibri"/>
                    <a:cs typeface="Calibri"/>
                  </a:rPr>
                  <a:t>Крок 1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: Хешування повідомлення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Хешуйте повідомлення 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𝑚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, щоб отримати дайджест фіксованої довжини:</a:t>
                </a:r>
                <a:r>
                  <a:rPr lang="en-US" sz="1600" dirty="0"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𝑚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Приклад: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Якщо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𝑚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)=101101011100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, то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  <m:r>
                      <a:rPr lang="en-US" sz="160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=101101011100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60000" marR="0">
                  <a:spcAft>
                    <a:spcPts val="1100"/>
                  </a:spcAft>
                </a:pPr>
                <a:endParaRPr lang="uk-UA" sz="1600" b="1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60000" marR="0">
                  <a:spcAft>
                    <a:spcPts val="1100"/>
                  </a:spcAft>
                </a:pPr>
                <a:r>
                  <a:rPr lang="en-US" sz="1600" b="1" dirty="0">
                    <a:effectLst/>
                    <a:latin typeface="Calibri"/>
                    <a:ea typeface="Calibri"/>
                    <a:cs typeface="Calibri"/>
                  </a:rPr>
                  <a:t>Крок 2: 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Розділіть дайджест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Розділіть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uk-UA" sz="1600" b="0" i="0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на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𝑛</m:t>
                    </m:r>
                    <m:r>
                      <a:rPr lang="en-US" sz="16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частин, кожна з яких має розмір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log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⁡(</m:t>
                    </m:r>
                    <m:r>
                      <a:rPr lang="en-US" sz="16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𝑤</m:t>
                    </m:r>
                    <m:r>
                      <a:rPr lang="en-US" sz="160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r>
                  <a:rPr lang="en-US" sz="1600" dirty="0"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600" dirty="0"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>
                    <a:latin typeface="Calibri"/>
                    <a:ea typeface="Calibri"/>
                    <a:cs typeface="Calibri"/>
                  </a:rPr>
                  <a:t>бітів.</a:t>
                </a: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Приклад: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Якщо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𝑤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=16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, то кожен фрагмент має розмір 4 біти: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=1011=11, 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=0101=5, 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3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=1100=12</m:t>
                    </m:r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60000" marR="0">
                  <a:spcAft>
                    <a:spcPts val="1100"/>
                  </a:spcAft>
                </a:pPr>
                <a:endParaRPr lang="en-US" sz="1600" b="1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60000" marR="0">
                  <a:spcAft>
                    <a:spcPts val="1100"/>
                  </a:spcAft>
                </a:pPr>
                <a:r>
                  <a:rPr lang="en-US" sz="1600" b="1" dirty="0" err="1">
                    <a:effectLst/>
                    <a:latin typeface="Calibri"/>
                    <a:ea typeface="Calibri"/>
                    <a:cs typeface="Calibri"/>
                  </a:rPr>
                  <a:t>Крок</a:t>
                </a:r>
                <a:r>
                  <a:rPr lang="en-US" sz="1600" b="1" dirty="0">
                    <a:effectLst/>
                    <a:latin typeface="Calibri"/>
                    <a:ea typeface="Calibri"/>
                    <a:cs typeface="Calibri"/>
                  </a:rPr>
                  <a:t> 3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: Застосування хеш-ланцюгів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Для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кожного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фрагмента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застосуйте хеш-функцію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latin typeface="Calibri"/>
                    <a:ea typeface="Calibri"/>
                    <a:cs typeface="Calibri"/>
                  </a:rPr>
                  <a:t>разів</a:t>
                </a:r>
                <a:r>
                  <a:rPr lang="en-US" sz="1600" dirty="0"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600" dirty="0"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latin typeface="Calibri"/>
                    <a:ea typeface="Calibri"/>
                    <a:cs typeface="Calibri"/>
                  </a:rPr>
                  <a:t>до</a:t>
                </a:r>
                <a:r>
                  <a:rPr lang="uk-UA" sz="1600" dirty="0"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/>
                    <a:ea typeface="Calibri"/>
                    <a:cs typeface="Calibri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Приклад: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, 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застосуйте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11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разів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11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, 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застосуйте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разів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5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застосуйте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12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разів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3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12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uk-UA" sz="1600" b="1" dirty="0">
                  <a:latin typeface="Calibri"/>
                  <a:ea typeface="Calibri"/>
                  <a:cs typeface="Calibri"/>
                </a:endParaRP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600" b="1" dirty="0" err="1">
                    <a:effectLst/>
                    <a:latin typeface="Calibri"/>
                    <a:ea typeface="Calibri"/>
                    <a:cs typeface="Calibri"/>
                  </a:rPr>
                  <a:t>Крок</a:t>
                </a:r>
                <a:r>
                  <a:rPr lang="en-US" sz="1600" b="1" dirty="0">
                    <a:effectLst/>
                    <a:latin typeface="Calibri"/>
                    <a:ea typeface="Calibri"/>
                    <a:cs typeface="Calibri"/>
                  </a:rPr>
                  <a:t> 4: 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Сформуйте підпис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Підпис —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це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сукупність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𝜎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: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uk-UA" sz="1600" b="0" i="0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sz="1600">
                        <a:effectLst/>
                        <a:latin typeface="Calibri"/>
                        <a:ea typeface="Calibri"/>
                        <a:cs typeface="Calibri"/>
                      </a:rPr>
                      <m:t>Signature</m:t>
                    </m:r>
                    <m:r>
                      <m:rPr>
                        <m:nor/>
                      </m:rPr>
                      <a:rPr lang="en-US" sz="1600" i="1">
                        <a:effectLst/>
                        <a:latin typeface="Calibri"/>
                        <a:ea typeface="Calibri"/>
                        <a:cs typeface="Calibri"/>
                      </a:rPr>
                      <m:t> 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41280-27B9-498F-665A-8173B37E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" y="899405"/>
                <a:ext cx="11277600" cy="6019597"/>
              </a:xfrm>
              <a:prstGeom prst="rect">
                <a:avLst/>
              </a:prstGeom>
              <a:blipFill>
                <a:blip r:embed="rId2"/>
                <a:stretch>
                  <a:fillRect l="-337" t="-422"/>
                </a:stretch>
              </a:blipFill>
            </p:spPr>
            <p:txBody>
              <a:bodyPr/>
              <a:lstStyle/>
              <a:p>
                <a:r>
                  <a:rPr lang="en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632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9144-E1A8-0663-C7D1-FAA5E19D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Перевірка підпису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15F1DE-220D-80BC-E6B6-CEB880082FD9}"/>
                  </a:ext>
                </a:extLst>
              </p:cNvPr>
              <p:cNvSpPr txBox="1"/>
              <p:nvPr/>
            </p:nvSpPr>
            <p:spPr>
              <a:xfrm>
                <a:off x="1341120" y="1690688"/>
                <a:ext cx="10012680" cy="4390561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pPr marL="0" marR="0">
                  <a:spcAft>
                    <a:spcPts val="1100"/>
                  </a:spcAft>
                </a:pPr>
                <a:r>
                  <a:rPr lang="en-US" sz="1800" b="1" dirty="0">
                    <a:effectLst/>
                    <a:latin typeface="Calibri"/>
                    <a:ea typeface="Calibri"/>
                    <a:cs typeface="Calibri"/>
                  </a:rPr>
                  <a:t>Крок 1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 Перерахуйте відкритий ключ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Для кожного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застосуйте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хеш-функцію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разів: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′</m:t>
                          </m:r>
                        </m:sup>
                      </m:sSubSup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𝐻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𝑤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Приклад: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 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застосуйте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(16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−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11)=5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разів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5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dirty="0"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uk-UA" sz="1800" dirty="0">
                    <a:effectLst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застосуйте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(16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−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5)=11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разів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11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застосуйте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(16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−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12)=4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разів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3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4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>
                  <a:spcAft>
                    <a:spcPts val="1100"/>
                  </a:spcAft>
                </a:pPr>
                <a:r>
                  <a:rPr lang="en-US" sz="1800" b="1" dirty="0">
                    <a:effectLst/>
                    <a:latin typeface="Calibri"/>
                    <a:ea typeface="Calibri"/>
                    <a:cs typeface="Calibri"/>
                  </a:rPr>
                  <a:t>Крок 2: 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Порівняйте відкриті ключі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Порівняйте перерахований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відкритий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ключ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′</m:t>
                            </m:r>
                          </m:sup>
                        </m:sSub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′</m:t>
                            </m:r>
                          </m:sup>
                        </m:sSub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3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з оригінальним відкритим ключем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Якщо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підпис є дійсним.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15F1DE-220D-80BC-E6B6-CEB88008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20" y="1690688"/>
                <a:ext cx="10012680" cy="4390561"/>
              </a:xfrm>
              <a:prstGeom prst="rect">
                <a:avLst/>
              </a:prstGeom>
              <a:blipFill>
                <a:blip r:embed="rId2"/>
                <a:stretch>
                  <a:fillRect l="-487" t="-693" b="-1248"/>
                </a:stretch>
              </a:blipFill>
            </p:spPr>
            <p:txBody>
              <a:bodyPr>
                <a:normAutoFit/>
              </a:bodyPr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375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11EE-480B-3261-C319-0BB2C142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9128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Чому WOTS є одноразовим</a:t>
            </a:r>
            <a:br>
              <a:rPr lang="en-US" b="1" dirty="0">
                <a:solidFill>
                  <a:srgbClr val="203864"/>
                </a:solidFill>
                <a:latin typeface="Calibri"/>
              </a:rPr>
            </a:br>
            <a:endParaRPr lang="en-US" b="1" dirty="0">
              <a:solidFill>
                <a:srgbClr val="203864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B01482-E607-1956-2BCA-70382895B56C}"/>
                  </a:ext>
                </a:extLst>
              </p:cNvPr>
              <p:cNvSpPr txBox="1"/>
              <p:nvPr/>
            </p:nvSpPr>
            <p:spPr>
              <a:xfrm>
                <a:off x="223520" y="957922"/>
                <a:ext cx="11968480" cy="5810950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Хеш-ланцюги витоку інформації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У WOTS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підпис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для повідомлення генерується шляхом застосування хеш-функції </a:t>
                </a:r>
                <a14:m>
                  <m:oMath xmlns:m="http://schemas.openxmlformats.org/officeDocument/2006/math"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𝑐</m:t>
                    </m:r>
                    <m:r>
                      <a:rPr lang="en-US" sz="16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𝑖</m:t>
                    </m:r>
                    <m:r>
                      <a:rPr lang="en-US" sz="16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разів до елемента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приватного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ключа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Якщо ви підпишете два різних повідомлення, ви розкриєте дві різні точки в хеш-ланцюжку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кожного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uk-UA" sz="1600" dirty="0"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Наприклад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Для повідомлення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(1)</m:t>
                        </m:r>
                      </m:sup>
                    </m:sSub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sSubSup>
                          <m:sSub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(1)</m:t>
                            </m:r>
                          </m:sup>
                        </m:sSubSup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Для повідомлення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(2)</m:t>
                        </m:r>
                      </m:sup>
                    </m:sSub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sSubSup>
                          <m:sSub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(2)</m:t>
                            </m:r>
                          </m:sup>
                        </m:sSubSup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Якщо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(1)</m:t>
                        </m:r>
                      </m:sup>
                    </m:sSub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&lt;</m:t>
                    </m:r>
                    <m:sSubSup>
                      <m:sSub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(2)</m:t>
                        </m:r>
                      </m:sup>
                    </m:sSubSup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, зловмисник може обчислити: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sSubSup>
                          <m:sSub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(2)</m:t>
                            </m:r>
                          </m:sup>
                        </m:sSub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(1)</m:t>
                            </m:r>
                          </m:sup>
                        </m:sSubSup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(1)</m:t>
                            </m:r>
                          </m:sup>
                        </m:sSubSup>
                      </m:e>
                    </m:d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sSubSup>
                          <m:sSub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(2)</m:t>
                            </m:r>
                          </m:sup>
                        </m:sSubSup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Sup>
                      <m:sSub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(2)</m:t>
                        </m:r>
                      </m:sup>
                    </m:sSubSup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>
                  <a:spcAft>
                    <a:spcPts val="1100"/>
                  </a:spcAf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Це розкриває підпис для другого повідомлення без знання приватного ключа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  <a:b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</a:b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2. Часткове розкриття хеш-ланцюга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Кожен підпис розкриває частину хеш-ланцюга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для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кожного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. З часом підписання декількох повідомлень розкриває все більше і більше хеш-ланцюга, що полегшує зловмиснику відновлення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приватного</a:t>
                </a: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ключа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Наприклад: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 err="1">
                    <a:effectLst/>
                    <a:latin typeface="Calibri"/>
                    <a:ea typeface="Calibri"/>
                    <a:cs typeface="Calibri"/>
                  </a:rPr>
                  <a:t>Якщо</a:t>
                </a:r>
                <a:r>
                  <a:rPr lang="uk-UA" sz="16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(1)</m:t>
                        </m:r>
                      </m:sup>
                    </m:sSub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=5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 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(2)</m:t>
                        </m:r>
                      </m:sup>
                    </m:sSubSup>
                    <m:r>
                      <a:rPr lang="en-US" sz="160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=10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, зловмисник дізнається: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5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sz="1600" i="1">
                        <a:effectLst/>
                        <a:latin typeface="Calibri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sz="1600">
                        <a:effectLst/>
                        <a:latin typeface="Calibri"/>
                        <a:ea typeface="Calibri"/>
                        <a:cs typeface="Calibri"/>
                      </a:rPr>
                      <m:t>and</m:t>
                    </m:r>
                    <m:r>
                      <m:rPr>
                        <m:nor/>
                      </m:rPr>
                      <a:rPr lang="en-US" sz="1600" i="1">
                        <a:effectLst/>
                        <a:latin typeface="Calibri"/>
                        <a:ea typeface="Calibri"/>
                        <a:cs typeface="Calibri"/>
                      </a:rPr>
                      <m:t> 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10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На основі цього він може обчислити проміжні значення, такі як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6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7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,…</m:t>
                    </m:r>
                  </m:oMath>
                </a14:m>
                <a:r>
                  <a:rPr lang="en-US" sz="1600" dirty="0">
                    <a:effectLst/>
                    <a:latin typeface="Calibri"/>
                    <a:ea typeface="Calibri"/>
                    <a:cs typeface="Calibri"/>
                  </a:rPr>
                  <a:t>, , і зрештою розкрити весь хеш-ланцюжок.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B01482-E607-1956-2BCA-70382895B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957922"/>
                <a:ext cx="11968480" cy="5810950"/>
              </a:xfrm>
              <a:prstGeom prst="rect">
                <a:avLst/>
              </a:prstGeom>
              <a:blipFill>
                <a:blip r:embed="rId2"/>
                <a:stretch>
                  <a:fillRect l="-318" t="-437"/>
                </a:stretch>
              </a:blipFill>
            </p:spPr>
            <p:txBody>
              <a:bodyPr/>
              <a:lstStyle/>
              <a:p>
                <a:r>
                  <a:rPr lang="en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440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BE9B-58CC-92E9-D286-C42B04B88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/>
              </a:rPr>
              <a:t>Постквантова безпека</a:t>
            </a:r>
            <a:r>
              <a:rPr lang="en-US" sz="2000" b="0" i="0" dirty="0">
                <a:effectLst/>
                <a:latin typeface="Calibri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/>
              </a:rPr>
              <a:t>Стійка до квантових атак (базується на хеш-функціях, не вразлива до алгоритму Шора).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/>
              </a:rPr>
              <a:t>Менші підписи</a:t>
            </a:r>
            <a:r>
              <a:rPr lang="en-US" sz="2000" b="0" i="0" dirty="0">
                <a:effectLst/>
                <a:latin typeface="Calibri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/>
              </a:rPr>
              <a:t>Підписи менші за LOTS, що робить їх більш ефективними.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/>
              </a:rPr>
              <a:t>Нечасте використання</a:t>
            </a:r>
            <a:r>
              <a:rPr lang="en-US" sz="2000" b="0" i="0" dirty="0">
                <a:effectLst/>
                <a:latin typeface="Calibri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/>
              </a:rPr>
              <a:t>Забезпечує безпеку для невеликої кількості транзакцій або комунікацій.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4153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0156-80AB-ED03-AFA2-BEDD94D4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7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ГЕНЕРАЦІЯ КЛЮЧІВ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9A9CAE-11FD-F95F-8EDB-1F18A44EB4A2}"/>
                  </a:ext>
                </a:extLst>
              </p:cNvPr>
              <p:cNvSpPr txBox="1"/>
              <p:nvPr/>
            </p:nvSpPr>
            <p:spPr>
              <a:xfrm>
                <a:off x="1044758" y="1287720"/>
                <a:ext cx="10309042" cy="4836196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Хешування повідомлення: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Хешуйте повідомлення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𝑚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 щоб отримати дайджест фіксованої довжини: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𝑚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Приклад: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=101101011100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endParaRPr lang="uk-UA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Розділіть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дайджест: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Розділіть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uk-UA" b="0" i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h</m:t>
                    </m:r>
                    <m:r>
                      <a:rPr lang="uk-UA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частин, кожна з яких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має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розмір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log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⁡(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𝑡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) 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бітів.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Приклад: Якщо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𝑡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=16</m:t>
                    </m:r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 кожен фрагмент має розмір 4 біти: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=1011=11,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=0101=5,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3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=1100=12</m:t>
                    </m:r>
                  </m:oMath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3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Виберіть елементи приватного ключа: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Для кожного фрагмента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виберіть відповідний елемент приватного ключа: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Приклад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</a:t>
                </a:r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uk-UA" sz="1800" b="0" i="0" smtClean="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 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11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5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3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12</m:t>
                        </m:r>
                      </m:sub>
                    </m:sSub>
                  </m:oMath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9A9CAE-11FD-F95F-8EDB-1F18A44EB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58" y="1287720"/>
                <a:ext cx="10309042" cy="4836196"/>
              </a:xfrm>
              <a:prstGeom prst="rect">
                <a:avLst/>
              </a:prstGeom>
              <a:blipFill>
                <a:blip r:embed="rId2"/>
                <a:stretch>
                  <a:fillRect l="-492" t="-524"/>
                </a:stretch>
              </a:blipFill>
            </p:spPr>
            <p:txBody>
              <a:bodyPr/>
              <a:lstStyle/>
              <a:p>
                <a:r>
                  <a:rPr lang="en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471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A9ED-14F9-5C07-A480-3A0A3CD6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Calibri"/>
              </a:rPr>
              <a:t>СТВОРЕННЯ ТА ПЕРЕВІРКА ПІДПИСУ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9466A9-DBCA-2D07-3CD1-90B07101DFB0}"/>
                  </a:ext>
                </a:extLst>
              </p:cNvPr>
              <p:cNvSpPr txBox="1"/>
              <p:nvPr/>
            </p:nvSpPr>
            <p:spPr>
              <a:xfrm>
                <a:off x="933517" y="1690688"/>
                <a:ext cx="10298363" cy="4128566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Формування підпису: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Підпис — це сукупність вибраних елементів приватного ключа: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1">
                        <a:effectLst/>
                        <a:latin typeface="Calibri"/>
                        <a:ea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en-US" sz="1800">
                        <a:effectLst/>
                        <a:latin typeface="Calibri"/>
                        <a:ea typeface="Calibri"/>
                        <a:cs typeface="Calibri"/>
                      </a:rPr>
                      <m:t>Signature</m:t>
                    </m:r>
                    <m:r>
                      <m:rPr>
                        <m:nor/>
                      </m:rPr>
                      <a:rPr lang="en-US" sz="1800" i="1">
                        <a:effectLst/>
                        <a:latin typeface="Calibri"/>
                        <a:ea typeface="Calibri"/>
                        <a:cs typeface="Calibri"/>
                      </a:rPr>
                      <m:t> 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>
                  <a:spcAft>
                    <a:spcPts val="1100"/>
                  </a:spcAft>
                </a:pPr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>
                  <a:spcAft>
                    <a:spcPts val="1100"/>
                  </a:spcAf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Перевірка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підпису</a:t>
                </a:r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Перерахунок відкритого ключа: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Виконайте хешування кожного елемента підпису: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𝐻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Порівняйте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з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відповідним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елементом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відкритого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ключа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.</a:t>
                </a:r>
                <a:endParaRPr lang="uk-UA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Перевірка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підпису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Calibri"/>
                    <a:ea typeface="Calibri"/>
                    <a:cs typeface="Calibri"/>
                  </a:rPr>
                  <a:t>Якщо</a:t>
                </a:r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 всі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/>
                    <a:ea typeface="Calibri"/>
                    <a:cs typeface="Calibri"/>
                  </a:rPr>
                  <a:t>, підпис є дійсним.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9466A9-DBCA-2D07-3CD1-90B07101D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17" y="1690688"/>
                <a:ext cx="10298363" cy="4128566"/>
              </a:xfrm>
              <a:prstGeom prst="rect">
                <a:avLst/>
              </a:prstGeom>
              <a:blipFill>
                <a:blip r:embed="rId2"/>
                <a:stretch>
                  <a:fillRect l="-493" t="-306"/>
                </a:stretch>
              </a:blipFill>
            </p:spPr>
            <p:txBody>
              <a:bodyPr/>
              <a:lstStyle/>
              <a:p>
                <a:r>
                  <a:rPr lang="en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574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D819-3193-3D44-4671-C36FFB0B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F9557-8286-FB89-FA3C-064397BBC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366532"/>
            <a:ext cx="4668520" cy="1325563"/>
          </a:xfrm>
        </p:spPr>
        <p:txBody>
          <a:bodyPr/>
          <a:lstStyle/>
          <a:p>
            <a:pPr algn="ctr"/>
            <a:r>
              <a:rPr lang="en-US" dirty="0"/>
              <a:t>Дерева Меркла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AE6C2A-4253-C184-4C2B-A0878F6C8CF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54292" y="1644581"/>
            <a:ext cx="63304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Від OTS до багаторазових підписів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Деревоподібна </a:t>
            </a:r>
            <a:r>
              <a:rPr lang="en-US" sz="1800" dirty="0" err="1"/>
              <a:t>структура</a:t>
            </a:r>
            <a:r>
              <a:rPr lang="en-US" sz="1800" dirty="0"/>
              <a:t> </a:t>
            </a:r>
            <a:r>
              <a:rPr lang="en-US" sz="1800" dirty="0" err="1"/>
              <a:t>для</a:t>
            </a:r>
            <a:r>
              <a:rPr lang="en-US" sz="1800" dirty="0"/>
              <a:t> </a:t>
            </a:r>
            <a:r>
              <a:rPr lang="en-US" sz="1800" dirty="0" err="1"/>
              <a:t>багаторазових</a:t>
            </a:r>
            <a:endParaRPr lang="uk-UA" sz="18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1800" dirty="0"/>
              <a:t>                                                                                                   </a:t>
            </a:r>
            <a:r>
              <a:rPr lang="en-US" sz="1800" dirty="0" err="1"/>
              <a:t>підписів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738430-D423-5DAF-BC83-7A416EC560A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853439" y="3510389"/>
            <a:ext cx="416011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Корінь = відкритий ключ.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Листя = відкриті ключі OTS.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Підпис включає шлях автентифікації.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.</a:t>
            </a:r>
          </a:p>
        </p:txBody>
      </p:sp>
      <p:pic>
        <p:nvPicPr>
          <p:cNvPr id="6" name="Рисунок 3">
            <a:extLst>
              <a:ext uri="{FF2B5EF4-FFF2-40B4-BE49-F238E27FC236}">
                <a16:creationId xmlns:a16="http://schemas.microsoft.com/office/drawing/2014/main" id="{9189A7CC-F9F3-C316-B1C0-4C03DF766E5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r="6969"/>
          <a:stretch/>
        </p:blipFill>
        <p:spPr>
          <a:xfrm>
            <a:off x="6096001" y="1029313"/>
            <a:ext cx="5242560" cy="41841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52758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5349-52B9-F12D-4B3C-B7DADDDF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50157-90BD-6C55-83C1-3213955C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XMSS^MT (</a:t>
            </a:r>
            <a:r>
              <a:rPr lang="uk-UA" dirty="0" err="1"/>
              <a:t>мультидерево</a:t>
            </a:r>
            <a:r>
              <a:rPr lang="en-US" dirty="0"/>
              <a:t>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7AB262-19FA-F4E0-E3BA-BFE0F3441097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5111528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Масштабування XMSS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Зменшення розмірів підписів та управління станом.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A6633B0-8F6B-0678-E0D7-16371126E48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06425" y="3876482"/>
            <a:ext cx="5365571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Використовує багатодеревну конструкцію.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Менші шляхи автентифікації.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Краща продуктивність для великої кількості підписів.</a:t>
            </a:r>
          </a:p>
        </p:txBody>
      </p:sp>
      <p:pic>
        <p:nvPicPr>
          <p:cNvPr id="3083" name="Picture 11" descr="Hash-based signature revisited | Cybersecurity | Full Text">
            <a:extLst>
              <a:ext uri="{FF2B5EF4-FFF2-40B4-BE49-F238E27FC236}">
                <a16:creationId xmlns:a16="http://schemas.microsoft.com/office/drawing/2014/main" id="{67210A0D-7B95-26CB-6EBF-2B1D0036E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397" y="2168706"/>
            <a:ext cx="3990347" cy="341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491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6D0A1-808E-9B4B-5DBD-9F629633B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829B9-6F17-203F-A730-70625100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SPHINCS+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CBA058-CF56-2AB4-3A90-E865D7AAAFF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4768550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Бездержавні підписи на основі хеш-функцій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Обрано стандартом NIST PQC (2022).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1F8180-8F2C-C373-31EE-9F0BEB4DDAB0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80753" y="3178248"/>
            <a:ext cx="6700003" cy="248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Усуває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залежність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від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стану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немає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проблем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/>
            </a:endParaRPr>
          </a:p>
          <a:p>
            <a:pPr marL="0" marR="0" lvl="0" indent="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з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повторним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використанням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ключів).</a:t>
            </a:r>
          </a:p>
          <a:p>
            <a:pPr marL="0" marR="0" lvl="0" indent="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Поєднує WOTS+, гіпердерева та схему FORS.</a:t>
            </a:r>
          </a:p>
          <a:p>
            <a:pPr marL="0" marR="0" lvl="0" indent="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Безпека: базується виключно на хеш-функціях.</a:t>
            </a:r>
          </a:p>
          <a:p>
            <a:pPr marL="0" marR="0" lvl="0" indent="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Фіналіст та обраний стандарт цифрового підпису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NIST PQC.</a:t>
            </a:r>
          </a:p>
        </p:txBody>
      </p:sp>
      <p:pic>
        <p:nvPicPr>
          <p:cNvPr id="4100" name="Picture 4" descr="Hypertree structure used in SPHINCS: An illustration of stateless... |  Download Scientific Diagram">
            <a:extLst>
              <a:ext uri="{FF2B5EF4-FFF2-40B4-BE49-F238E27FC236}">
                <a16:creationId xmlns:a16="http://schemas.microsoft.com/office/drawing/2014/main" id="{A2F188CE-1E70-1426-D456-80CC00A4B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798" y="2085511"/>
            <a:ext cx="5288777" cy="296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473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51B5-167D-27A6-4C3C-FDA53688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CF1E1-BF6E-8DCF-7666-EA9EA58F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Міркування безпеки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6E8616-9862-C1C6-CE27-72B16A4500E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7705" y="1741544"/>
            <a:ext cx="4370492" cy="46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Залежить тільки від безпеки хеш-функції.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076AFA-DF74-5500-8531-4D2AECEEB52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03373" y="3429000"/>
            <a:ext cx="783887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Стійкість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до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перетворення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Стійкість до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другого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перетворення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Стійкість до колізій.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</a:rPr>
              <a:t>Алгоритм Гровера: знижує бітову безпеку (наприклад, 256 → 128).</a:t>
            </a:r>
          </a:p>
        </p:txBody>
      </p:sp>
      <p:pic>
        <p:nvPicPr>
          <p:cNvPr id="5124" name="Picture 4" descr="Cloud Security Considerations for General Industry – Co-ops + Careers |  Wentworth Institute of Technology">
            <a:extLst>
              <a:ext uri="{FF2B5EF4-FFF2-40B4-BE49-F238E27FC236}">
                <a16:creationId xmlns:a16="http://schemas.microsoft.com/office/drawing/2014/main" id="{7B21D90E-9D94-D5E1-9786-13661DEEA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065" y="1741544"/>
            <a:ext cx="45720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083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0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Хронологія hash-based підписів</a:t>
            </a:r>
          </a:p>
          <a:p>
            <a:endParaRPr lang="uk-UA" dirty="0"/>
          </a:p>
        </p:txBody>
      </p:sp>
      <p:sp>
        <p:nvSpPr>
          <p:cNvPr id="706" name="Rounded Rectangle 705"/>
          <p:cNvSpPr/>
          <p:nvPr/>
        </p:nvSpPr>
        <p:spPr>
          <a:xfrm>
            <a:off x="600000" y="1400000"/>
            <a:ext cx="1540333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1979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Lamport OTS
Merkle tree</a:t>
            </a:r>
          </a:p>
        </p:txBody>
      </p:sp>
      <p:sp>
        <p:nvSpPr>
          <p:cNvPr id="707" name="Right Arrow 706"/>
          <p:cNvSpPr/>
          <p:nvPr/>
        </p:nvSpPr>
        <p:spPr>
          <a:xfrm>
            <a:off x="2140333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Rounded Rectangle 707"/>
          <p:cNvSpPr/>
          <p:nvPr/>
        </p:nvSpPr>
        <p:spPr>
          <a:xfrm>
            <a:off x="2490333" y="1400000"/>
            <a:ext cx="1540333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1989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Winternitz
W-OTS</a:t>
            </a:r>
          </a:p>
        </p:txBody>
      </p:sp>
      <p:sp>
        <p:nvSpPr>
          <p:cNvPr id="709" name="Right Arrow 708"/>
          <p:cNvSpPr/>
          <p:nvPr/>
        </p:nvSpPr>
        <p:spPr>
          <a:xfrm>
            <a:off x="4030666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0" name="Rounded Rectangle 709"/>
          <p:cNvSpPr/>
          <p:nvPr/>
        </p:nvSpPr>
        <p:spPr>
          <a:xfrm>
            <a:off x="4380666" y="1400000"/>
            <a:ext cx="1540333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2011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XMSS
(Hülsing)</a:t>
            </a:r>
          </a:p>
        </p:txBody>
      </p:sp>
      <p:sp>
        <p:nvSpPr>
          <p:cNvPr id="711" name="Right Arrow 710"/>
          <p:cNvSpPr/>
          <p:nvPr/>
        </p:nvSpPr>
        <p:spPr>
          <a:xfrm>
            <a:off x="5920999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Rounded Rectangle 711"/>
          <p:cNvSpPr/>
          <p:nvPr/>
        </p:nvSpPr>
        <p:spPr>
          <a:xfrm>
            <a:off x="6270999" y="1400000"/>
            <a:ext cx="1540333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2015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SPHINCS
(stateless)</a:t>
            </a:r>
          </a:p>
        </p:txBody>
      </p:sp>
      <p:sp>
        <p:nvSpPr>
          <p:cNvPr id="713" name="Right Arrow 712"/>
          <p:cNvSpPr/>
          <p:nvPr/>
        </p:nvSpPr>
        <p:spPr>
          <a:xfrm>
            <a:off x="7811332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4" name="Rounded Rectangle 713"/>
          <p:cNvSpPr/>
          <p:nvPr/>
        </p:nvSpPr>
        <p:spPr>
          <a:xfrm>
            <a:off x="8161332" y="1400000"/>
            <a:ext cx="1540333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2018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RFC 8391
XMSS std</a:t>
            </a:r>
          </a:p>
        </p:txBody>
      </p:sp>
      <p:sp>
        <p:nvSpPr>
          <p:cNvPr id="715" name="Right Arrow 714"/>
          <p:cNvSpPr/>
          <p:nvPr/>
        </p:nvSpPr>
        <p:spPr>
          <a:xfrm>
            <a:off x="9701665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6" name="Rounded Rectangle 715"/>
          <p:cNvSpPr/>
          <p:nvPr/>
        </p:nvSpPr>
        <p:spPr>
          <a:xfrm>
            <a:off x="10051665" y="1400000"/>
            <a:ext cx="1540333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2024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FIPS 205
SLH-DSA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600000" y="3150000"/>
            <a:ext cx="10992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i="1">
                <a:solidFill>
                  <a:srgbClr val="445577"/>
                </a:solidFill>
              </a:rPr>
              <a:t>45 років еволюції — від OTS Лампорта до офіційного NIST-стандарту 2024 року</a:t>
            </a:r>
          </a:p>
        </p:txBody>
      </p:sp>
      <p:sp>
        <p:nvSpPr>
          <p:cNvPr id="718" name="Rectangle 717"/>
          <p:cNvSpPr/>
          <p:nvPr/>
        </p:nvSpPr>
        <p:spPr>
          <a:xfrm>
            <a:off x="600000" y="3850000"/>
            <a:ext cx="10992000" cy="1900000"/>
          </a:xfrm>
          <a:prstGeom prst="rect">
            <a:avLst/>
          </a:prstGeom>
          <a:solidFill>
            <a:srgbClr val="F2F5FB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150000" rIns="250000" bIns="150000" rtlCol="0" anchor="ctr"/>
          <a:lstStyle/>
          <a:p>
            <a:r>
              <a:rPr sz="1600">
                <a:solidFill>
                  <a:srgbClr val="222233"/>
                </a:solidFill>
              </a:rPr>
              <a:t>•  1979 — Лампорт і Меркл одночасно публікують перші схеми</a:t>
            </a:r>
          </a:p>
          <a:p>
            <a:r>
              <a:rPr sz="1600">
                <a:solidFill>
                  <a:srgbClr val="222233"/>
                </a:solidFill>
              </a:rPr>
              <a:t>•  2011 — XMSS приносить formal security proofs та bitmasks</a:t>
            </a:r>
          </a:p>
          <a:p>
            <a:r>
              <a:rPr sz="1600">
                <a:solidFill>
                  <a:srgbClr val="222233"/>
                </a:solidFill>
              </a:rPr>
              <a:t>•  2015 — SPHINCS усуває проблему стейту (stateless)</a:t>
            </a:r>
          </a:p>
          <a:p>
            <a:r>
              <a:rPr sz="1600">
                <a:solidFill>
                  <a:srgbClr val="222233"/>
                </a:solidFill>
              </a:rPr>
              <a:t>•  2024 — FIPS 205 (SLH-DSA) — третій NIST PQC-стандарт поряд з ML-DSA та FN-DSA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1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Lamport OTS vs WOTS+</a:t>
            </a:r>
          </a:p>
          <a:p>
            <a:endParaRPr lang="uk-UA" dirty="0"/>
          </a:p>
        </p:txBody>
      </p:sp>
      <p:sp>
        <p:nvSpPr>
          <p:cNvPr id="711" name="Rounded Rectangle 710"/>
          <p:cNvSpPr/>
          <p:nvPr/>
        </p:nvSpPr>
        <p:spPr>
          <a:xfrm>
            <a:off x="700000" y="1250000"/>
            <a:ext cx="5246000" cy="7500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Lamport (1979)</a:t>
            </a:r>
          </a:p>
        </p:txBody>
      </p:sp>
      <p:sp>
        <p:nvSpPr>
          <p:cNvPr id="712" name="Rectangle 711"/>
          <p:cNvSpPr/>
          <p:nvPr/>
        </p:nvSpPr>
        <p:spPr>
          <a:xfrm>
            <a:off x="700000" y="2100000"/>
            <a:ext cx="5246000" cy="405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Підпис кожного біта окремо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PK = 2·n значень H(sk)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σ = n значень sk_{i, m_i}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Дуже швидкий: ~n викликів 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Великий: 16 КБ для n=256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Безпека: preimage resistance</a:t>
            </a:r>
          </a:p>
        </p:txBody>
      </p:sp>
      <p:sp>
        <p:nvSpPr>
          <p:cNvPr id="713" name="Rounded Rectangle 712"/>
          <p:cNvSpPr/>
          <p:nvPr/>
        </p:nvSpPr>
        <p:spPr>
          <a:xfrm>
            <a:off x="6246000" y="1250000"/>
            <a:ext cx="5246000" cy="75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WOTS+ (Hülsing, 2013)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6246000" y="2100000"/>
            <a:ext cx="5246000" cy="405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Підпис log₂(w) біт за один елемент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Ланцюг хешів довжини w−1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Контрольна сума запобігає forgery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Bitmasks → multi-target safe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Компактний: 2 КБ для w=16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База XMSS і SPHINCS+</a:t>
            </a:r>
          </a:p>
        </p:txBody>
      </p:sp>
      <p:sp>
        <p:nvSpPr>
          <p:cNvPr id="715" name="TextBox 714"/>
          <p:cNvSpPr txBox="1"/>
          <p:nvPr/>
        </p:nvSpPr>
        <p:spPr>
          <a:xfrm>
            <a:off x="700000" y="6330000"/>
            <a:ext cx="10792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45577"/>
                </a:solidFill>
              </a:rPr>
              <a:t>WOTS+ ≈ 8× менший підпис, але ≈ 4× більше викликів H у Verify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1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Розміри hash-based підписів (n = 256, w = 16)</a:t>
            </a:r>
          </a:p>
          <a:p>
            <a:endParaRPr lang="uk-UA" dirty="0"/>
          </a:p>
        </p:txBody>
      </p:sp>
      <p:graphicFrame>
        <p:nvGraphicFramePr>
          <p:cNvPr id="716" name="Table 715"/>
          <p:cNvGraphicFramePr>
            <a:graphicFrameLocks noGrp="1"/>
          </p:cNvGraphicFramePr>
          <p:nvPr/>
        </p:nvGraphicFramePr>
        <p:xfrm>
          <a:off x="500000" y="1200000"/>
          <a:ext cx="11191999" cy="45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4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Схема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PK (байт)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σ (байт)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Підписів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Stateful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Lamport 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16 384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8 192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Ні (OTS)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WOTS+ (w=4)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4 256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4 256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Ні (OTS)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WOTS+ (w=16)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2 144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2 144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Ні (OTS)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WOTS+ (w=256)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1 088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1 088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Ні (OTS)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MSS-Lamport h=10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~24 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1 024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Так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XMSS-SHA2-10_256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2 500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1 024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Так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XMSS-SHA2-20_256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2 820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 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Так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SPHINCS+-128f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17 088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~2⁶⁴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Ні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SPHINCS+-128s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7 856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~2⁶⁴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Ні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17" name="TextBox 716"/>
          <p:cNvSpPr txBox="1"/>
          <p:nvPr/>
        </p:nvSpPr>
        <p:spPr>
          <a:xfrm>
            <a:off x="500000" y="5808000"/>
            <a:ext cx="11192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i="1">
                <a:solidFill>
                  <a:srgbClr val="555566"/>
                </a:solidFill>
              </a:rPr>
              <a:t>WOTS+ — будівельний блок. XMSS і SPHINCS+ — практично використовувані багаторазові схеми.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2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Як працює дерево Меркла</a:t>
            </a:r>
          </a:p>
          <a:p>
            <a:endParaRPr lang="uk-UA" dirty="0"/>
          </a:p>
        </p:txBody>
      </p:sp>
      <p:sp>
        <p:nvSpPr>
          <p:cNvPr id="721" name="Rounded Rectangle 720"/>
          <p:cNvSpPr/>
          <p:nvPr/>
        </p:nvSpPr>
        <p:spPr>
          <a:xfrm>
            <a:off x="600000" y="1400000"/>
            <a:ext cx="1918400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1. Згенерувати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2^h OTS-ключів</a:t>
            </a:r>
          </a:p>
        </p:txBody>
      </p:sp>
      <p:sp>
        <p:nvSpPr>
          <p:cNvPr id="722" name="Right Arrow 721"/>
          <p:cNvSpPr/>
          <p:nvPr/>
        </p:nvSpPr>
        <p:spPr>
          <a:xfrm>
            <a:off x="2518400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Rounded Rectangle 722"/>
          <p:cNvSpPr/>
          <p:nvPr/>
        </p:nvSpPr>
        <p:spPr>
          <a:xfrm>
            <a:off x="2868400" y="1400000"/>
            <a:ext cx="1918400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2. Хешувати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leaf_j = H(pk_j)</a:t>
            </a:r>
          </a:p>
        </p:txBody>
      </p:sp>
      <p:sp>
        <p:nvSpPr>
          <p:cNvPr id="724" name="Right Arrow 723"/>
          <p:cNvSpPr/>
          <p:nvPr/>
        </p:nvSpPr>
        <p:spPr>
          <a:xfrm>
            <a:off x="4786800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5" name="Rounded Rectangle 724"/>
          <p:cNvSpPr/>
          <p:nvPr/>
        </p:nvSpPr>
        <p:spPr>
          <a:xfrm>
            <a:off x="5136800" y="1400000"/>
            <a:ext cx="1918400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3. Будувати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node = H(L ‖ R)</a:t>
            </a:r>
          </a:p>
        </p:txBody>
      </p:sp>
      <p:sp>
        <p:nvSpPr>
          <p:cNvPr id="726" name="Right Arrow 725"/>
          <p:cNvSpPr/>
          <p:nvPr/>
        </p:nvSpPr>
        <p:spPr>
          <a:xfrm>
            <a:off x="7055200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7" name="Rounded Rectangle 726"/>
          <p:cNvSpPr/>
          <p:nvPr/>
        </p:nvSpPr>
        <p:spPr>
          <a:xfrm>
            <a:off x="7405200" y="1400000"/>
            <a:ext cx="1918400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4. Корінь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PK дерева</a:t>
            </a:r>
          </a:p>
        </p:txBody>
      </p:sp>
      <p:sp>
        <p:nvSpPr>
          <p:cNvPr id="728" name="Right Arrow 727"/>
          <p:cNvSpPr/>
          <p:nvPr/>
        </p:nvSpPr>
        <p:spPr>
          <a:xfrm>
            <a:off x="9323600" y="2000000"/>
            <a:ext cx="350000" cy="300000"/>
          </a:xfrm>
          <a:prstGeom prst="rightArrow">
            <a:avLst/>
          </a:prstGeom>
          <a:solidFill>
            <a:srgbClr val="9B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Rounded Rectangle 728"/>
          <p:cNvSpPr/>
          <p:nvPr/>
        </p:nvSpPr>
        <p:spPr>
          <a:xfrm>
            <a:off x="9673600" y="1400000"/>
            <a:ext cx="1918400" cy="150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100000" rIns="80000" bIns="10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5. Підпис</a:t>
            </a:r>
          </a:p>
          <a:p>
            <a:pPr algn="ctr"/>
            <a:r>
              <a:rPr sz="1400">
                <a:solidFill>
                  <a:srgbClr val="E8EEF9"/>
                </a:solidFill>
              </a:rPr>
              <a:t>σ + auth.path</a:t>
            </a:r>
          </a:p>
        </p:txBody>
      </p:sp>
      <p:sp>
        <p:nvSpPr>
          <p:cNvPr id="730" name="TextBox 729"/>
          <p:cNvSpPr txBox="1"/>
          <p:nvPr/>
        </p:nvSpPr>
        <p:spPr>
          <a:xfrm>
            <a:off x="600000" y="3150000"/>
            <a:ext cx="10992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i="1">
                <a:solidFill>
                  <a:srgbClr val="445577"/>
                </a:solidFill>
              </a:rPr>
              <a:t>Один корінь = публічний ключ для 2^h підписів. Auth.path — h хешів братів вузлів на шляху до кореня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600000" y="3850000"/>
            <a:ext cx="10992000" cy="1900000"/>
          </a:xfrm>
          <a:prstGeom prst="rect">
            <a:avLst/>
          </a:prstGeom>
          <a:solidFill>
            <a:srgbClr val="F2F5FB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150000" rIns="250000" bIns="150000" rtlCol="0" anchor="ctr"/>
          <a:lstStyle/>
          <a:p>
            <a:r>
              <a:rPr sz="1600">
                <a:solidFill>
                  <a:srgbClr val="222233"/>
                </a:solidFill>
              </a:rPr>
              <a:t>•  Висота h = 10 → 1 024 підписи; h = 20 → ~1 М підписів; h = 60 (XMSS-MT) → ~10¹⁸</a:t>
            </a:r>
          </a:p>
          <a:p>
            <a:r>
              <a:rPr sz="1600">
                <a:solidFill>
                  <a:srgbClr val="222233"/>
                </a:solidFill>
              </a:rPr>
              <a:t>•  Розмір PK = n байт (32 для SHA-256) — найкомпактніший серед усіх постквантових схем</a:t>
            </a:r>
          </a:p>
          <a:p>
            <a:r>
              <a:rPr sz="1600">
                <a:solidFill>
                  <a:srgbClr val="222233"/>
                </a:solidFill>
              </a:rPr>
              <a:t>•  Auth.path = h × n байт (320 байт для h=10), додається до OTS-підпису</a:t>
            </a:r>
          </a:p>
          <a:p>
            <a:r>
              <a:rPr sz="1600">
                <a:solidFill>
                  <a:srgbClr val="222233"/>
                </a:solidFill>
              </a:rPr>
              <a:t>•  Перевірка: реконструювати корінь з листка + auth.path → порівняти з PK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2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SPHINCS+ / SLH-DSA: параметри FIPS 205</a:t>
            </a:r>
          </a:p>
          <a:p>
            <a:endParaRPr lang="uk-UA" dirty="0"/>
          </a:p>
        </p:txBody>
      </p:sp>
      <p:graphicFrame>
        <p:nvGraphicFramePr>
          <p:cNvPr id="726" name="Table 725"/>
          <p:cNvGraphicFramePr>
            <a:graphicFrameLocks noGrp="1"/>
          </p:cNvGraphicFramePr>
          <p:nvPr/>
        </p:nvGraphicFramePr>
        <p:xfrm>
          <a:off x="500000" y="1200000"/>
          <a:ext cx="11191998" cy="45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5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5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5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Варіант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σ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Sign (мс)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Verify (мс)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Рівень NIST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SLH-DSA-SHA2-128s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7 856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Level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SLH-DSA-SHA2-128f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17 088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~25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~7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Level 1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SLH-DSA-SHA2-192s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16 224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~1 200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Level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SLH-DSA-SHA2-192f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35 664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~50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~10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Level 3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SLH-DSA-SHA2-256s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29 792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~1 800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Level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SLH-DSA-SHA2-256f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49 856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~120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~14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Level 5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SLH-DSA-SHAKE-128f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17 088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~390 M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~22 M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Level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7" name="TextBox 726"/>
          <p:cNvSpPr txBox="1"/>
          <p:nvPr/>
        </p:nvSpPr>
        <p:spPr>
          <a:xfrm>
            <a:off x="500000" y="5808000"/>
            <a:ext cx="11192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i="1">
                <a:solidFill>
                  <a:srgbClr val="555566"/>
                </a:solidFill>
              </a:rPr>
              <a:t>12 варіантів: {SHA-2, SHAKE} × {128, 192, 256-біт} × {small, fast}. Default: SLH-DSA-SHA2-128s.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3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NIST PQC підписи: SLH-DSA vs ML-DSA vs FN-DSA</a:t>
            </a:r>
          </a:p>
          <a:p>
            <a:endParaRPr lang="uk-UA" dirty="0"/>
          </a:p>
        </p:txBody>
      </p:sp>
      <p:sp>
        <p:nvSpPr>
          <p:cNvPr id="731" name="Rounded Rectangle 730"/>
          <p:cNvSpPr/>
          <p:nvPr/>
        </p:nvSpPr>
        <p:spPr>
          <a:xfrm>
            <a:off x="700000" y="1250000"/>
            <a:ext cx="5246000" cy="7500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SLH-DSA (FIPS 205)</a:t>
            </a:r>
          </a:p>
        </p:txBody>
      </p:sp>
      <p:sp>
        <p:nvSpPr>
          <p:cNvPr id="732" name="Rectangle 731"/>
          <p:cNvSpPr/>
          <p:nvPr/>
        </p:nvSpPr>
        <p:spPr>
          <a:xfrm>
            <a:off x="700000" y="2100000"/>
            <a:ext cx="5246000" cy="405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Основа: лише хеш-функції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PK = 32 Б, σ = 7–50 КБ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Дуже консервативна безпека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Повільний sign (small), помірний (fast)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Backup для критичних артефактів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Code signing, root-CA, firmware</a:t>
            </a:r>
          </a:p>
        </p:txBody>
      </p:sp>
      <p:sp>
        <p:nvSpPr>
          <p:cNvPr id="733" name="Rounded Rectangle 732"/>
          <p:cNvSpPr/>
          <p:nvPr/>
        </p:nvSpPr>
        <p:spPr>
          <a:xfrm>
            <a:off x="6246000" y="1250000"/>
            <a:ext cx="5246000" cy="75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ML-DSA / FN-DSA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6246000" y="2100000"/>
            <a:ext cx="5246000" cy="405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Основа: решітки (LWE / NTRU)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PK = 0.9–1.3 КБ, σ = 0.7–2.5 КБ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Алгебраїчні припущення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Швидкий sign та verify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Default для більшості сценаріїв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TLS, документообіг, mobile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700000" y="6330000"/>
            <a:ext cx="10792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45577"/>
                </a:solidFill>
              </a:rPr>
              <a:t>SLH-DSA — консервативний резерв; ML-DSA — повсякденне використання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35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Сценарії застосування hash-based підписів</a:t>
            </a:r>
          </a:p>
          <a:p>
            <a:endParaRPr lang="uk-UA" dirty="0"/>
          </a:p>
        </p:txBody>
      </p:sp>
      <p:graphicFrame>
        <p:nvGraphicFramePr>
          <p:cNvPr id="736" name="Table 735"/>
          <p:cNvGraphicFramePr>
            <a:graphicFrameLocks noGrp="1"/>
          </p:cNvGraphicFramePr>
          <p:nvPr/>
        </p:nvGraphicFramePr>
        <p:xfrm>
          <a:off x="500000" y="1200000"/>
          <a:ext cx="11191999" cy="45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8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Сценарій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Рекомендована схема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Обґрунтування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Firmware signing (IoT, 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XMSS / 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Малі частоти, stateful керовано HSM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Root-CA сертифікати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SLH-DSA-256s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Довгий термін дії (10+ років)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TLS server certificates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ML-DSA + SLH-DSA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Швидкий handshake + захист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Code signing (OS updates)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SLH-DSA-128f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Stateless, висока довіра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DNSSEC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ML-DSA / FN-DSA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Малий σ для UDP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Smart-card транзакції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FN-DSA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Мінімальний PK + σ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Blockchain (post-Q rollup)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SLH-DSA-128f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Stateless, без state-management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89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Документи (30+ років архіву)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SLH-DSA-256s + XMSS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1F2E"/>
                          </a:solidFill>
                        </a:rPr>
                        <a:t>Максимум консервативності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37" name="TextBox 736"/>
          <p:cNvSpPr txBox="1"/>
          <p:nvPr/>
        </p:nvSpPr>
        <p:spPr>
          <a:xfrm>
            <a:off x="500000" y="5808000"/>
            <a:ext cx="11192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i="1">
                <a:solidFill>
                  <a:srgbClr val="555566"/>
                </a:solidFill>
              </a:rPr>
              <a:t>Cloudflare, Microsoft, Apple, Linux Kernel вже інтегрують hash-based схеми у production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suppress_None"/>
          <p:cNvSpPr>
            <a:spLocks noGrp="1"/>
          </p:cNvSpPr>
          <p:nvPr>
            <p:ph type="title"/>
          </p:nvPr>
        </p:nvSpPr>
        <p:spPr>
          <a:xfrm>
            <a:off x="-10000000" y="-10000000"/>
            <a:ext cx="100" cy="100"/>
          </a:xfrm>
        </p:spPr>
        <p:txBody>
          <a:bodyPr wrap="none">
            <a:normAutofit fontScale="90000"/>
          </a:bodyPr>
          <a:lstStyle/>
          <a:p>
            <a:endParaRPr/>
          </a:p>
        </p:txBody>
      </p:sp>
      <p:sp>
        <p:nvSpPr>
          <p:cNvPr id="740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/>
        </p:nvSpPr>
        <p:spPr/>
        <p:txBody>
          <a:bodyPr/>
          <a:lstStyle/>
          <a:p>
            <a:r>
              <a:rPr lang="en-US" sz="3200" dirty="0"/>
              <a:t>Підсумки лекції 7</a:t>
            </a:r>
          </a:p>
          <a:p>
            <a:endParaRPr lang="uk-UA" dirty="0"/>
          </a:p>
        </p:txBody>
      </p:sp>
      <p:sp>
        <p:nvSpPr>
          <p:cNvPr id="741" name="Rounded Rectangle 740"/>
          <p:cNvSpPr/>
          <p:nvPr/>
        </p:nvSpPr>
        <p:spPr>
          <a:xfrm>
            <a:off x="700000" y="1250000"/>
            <a:ext cx="5246000" cy="7500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Що вивчили</a:t>
            </a:r>
          </a:p>
        </p:txBody>
      </p:sp>
      <p:sp>
        <p:nvSpPr>
          <p:cNvPr id="742" name="Rectangle 741"/>
          <p:cNvSpPr/>
          <p:nvPr/>
        </p:nvSpPr>
        <p:spPr>
          <a:xfrm>
            <a:off x="700000" y="2100000"/>
            <a:ext cx="5246000" cy="405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Lamport OTS — перший hash-based підпис (1979)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WOTS+ — компактний OTS з ланцюгом хешів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Дерево Меркла — багато OTS під одним PK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XMSS / LMS — stateful, RFC 8391 / 8554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SPHINCS+ — stateless, гіпердерево + FORS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SLH-DSA — стандарт NIST FIPS 205 (2024)</a:t>
            </a:r>
          </a:p>
        </p:txBody>
      </p:sp>
      <p:sp>
        <p:nvSpPr>
          <p:cNvPr id="743" name="Rounded Rectangle 742"/>
          <p:cNvSpPr/>
          <p:nvPr/>
        </p:nvSpPr>
        <p:spPr>
          <a:xfrm>
            <a:off x="6246000" y="1250000"/>
            <a:ext cx="5246000" cy="75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Практичні висновки</a:t>
            </a:r>
          </a:p>
        </p:txBody>
      </p:sp>
      <p:sp>
        <p:nvSpPr>
          <p:cNvPr id="744" name="Rectangle 743"/>
          <p:cNvSpPr/>
          <p:nvPr/>
        </p:nvSpPr>
        <p:spPr>
          <a:xfrm>
            <a:off x="6246000" y="2100000"/>
            <a:ext cx="5246000" cy="4050000"/>
          </a:xfrm>
          <a:prstGeom prst="rect">
            <a:avLst/>
          </a:prstGeom>
          <a:solidFill>
            <a:srgbClr val="F7F9FD"/>
          </a:solidFill>
          <a:ln>
            <a:solidFill>
              <a:srgbClr val="CD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00000" bIns="200000" rtlCol="0" anchor="ctr"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Безпека лише на хеш-функції — мінімум припущень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σ великий (8–50 КБ), PK дуже малий (32–64 Б)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XMSS/LMS — для firmware signing з HSM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SLH-DSA — для довгострокових артефактів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ML-DSA — default для більшості випадків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33"/>
                </a:solidFill>
              </a:rPr>
              <a:t>•  Гібрид ECDSA + SLH-DSA — best practice</a:t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700000" y="6330000"/>
            <a:ext cx="10792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445577"/>
                </a:solidFill>
              </a:rPr>
              <a:t>Hash-based підпис — найконсервативніший постквантовий вибір для критичної інфраструктури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745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2304</Words>
  <Application>Microsoft Macintosh PowerPoint</Application>
  <PresentationFormat>Widescreen</PresentationFormat>
  <Paragraphs>391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Cambria Math</vt:lpstr>
      <vt:lpstr>Symbol</vt:lpstr>
      <vt:lpstr>Тема Office</vt:lpstr>
      <vt:lpstr>Квантова та постквантова безпека № 7</vt:lpstr>
      <vt:lpstr>Мотивація</vt:lpstr>
      <vt:lpstr>ЦИФРОВИЙ ПІДПИС ЛАМПОРТА </vt:lpstr>
      <vt:lpstr>Генерація ключів</vt:lpstr>
      <vt:lpstr>Формування цифрового підпису</vt:lpstr>
      <vt:lpstr>ПЕРЕВІРКА ПІДПИСУ</vt:lpstr>
      <vt:lpstr>Чому LOTS є одноразовим </vt:lpstr>
      <vt:lpstr>Одноразовий підпис Вінтерніца</vt:lpstr>
      <vt:lpstr>ХЕШ-ЛАНЦЮГ</vt:lpstr>
      <vt:lpstr>Генерація ключів</vt:lpstr>
      <vt:lpstr>Генерація підпису</vt:lpstr>
      <vt:lpstr>Перевірка підпису</vt:lpstr>
      <vt:lpstr>Чому WOTS є одноразовим </vt:lpstr>
      <vt:lpstr>PowerPoint Presentation</vt:lpstr>
      <vt:lpstr>ГЕНЕРАЦІЯ КЛЮЧІВ</vt:lpstr>
      <vt:lpstr>СТВОРЕННЯ ТА ПЕРЕВІРКА ПІДПИСУ</vt:lpstr>
      <vt:lpstr>Дерева Меркла</vt:lpstr>
      <vt:lpstr>XMSS^MT (мультидерево)</vt:lpstr>
      <vt:lpstr>SPHINCS+</vt:lpstr>
      <vt:lpstr>Міркування безпеки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Квантова та постквантова безпека № 1</dc:title>
  <dc:creator>Dmytro Bilozor</dc:creator>
  <cp:keywords>, docId:9A0E76D41C9A51B842CA243D69D03AE1</cp:keywords>
  <cp:lastModifiedBy>Dima Bil</cp:lastModifiedBy>
  <cp:revision>121</cp:revision>
  <dcterms:created xsi:type="dcterms:W3CDTF">2025-07-11T12:38:56Z</dcterms:created>
  <dcterms:modified xsi:type="dcterms:W3CDTF">2026-05-07T13:28:14Z</dcterms:modified>
</cp:coreProperties>
</file>