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5.svg" ContentType="image/svg+xml"/>
  <Override PartName="/ppt/media/image7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1" r:id="rId2"/>
    <p:sldId id="292" r:id="rId3"/>
    <p:sldId id="293" r:id="rId4"/>
    <p:sldId id="294" r:id="rId5"/>
    <p:sldId id="295" r:id="rId6"/>
    <p:sldId id="296" r:id="rId7"/>
    <p:sldId id="297" r:id="rId8"/>
    <p:sldId id="298" r:id="rId9"/>
    <p:sldId id="379" r:id="rId10"/>
    <p:sldId id="380" r:id="rId11"/>
    <p:sldId id="381" r:id="rId12"/>
    <p:sldId id="382" r:id="rId13"/>
    <p:sldId id="383" r:id="rId14"/>
    <p:sldId id="384" r:id="rId15"/>
    <p:sldId id="385" r:id="rId16"/>
    <p:sldId id="386" r:id="rId17"/>
    <p:sldId id="378" r:id="rId18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38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57" autoAdjust="0"/>
    <p:restoredTop sz="94694"/>
  </p:normalViewPr>
  <p:slideViewPr>
    <p:cSldViewPr snapToGrid="0">
      <p:cViewPr varScale="1">
        <p:scale>
          <a:sx n="121" d="100"/>
          <a:sy n="121" d="100"/>
        </p:scale>
        <p:origin x="8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05DBC626-4DD8-95BD-2906-E62D73E83E1B}"/>
              </a:ext>
            </a:extLst>
          </p:cNvPr>
          <p:cNvSpPr/>
          <p:nvPr userDrawn="1"/>
        </p:nvSpPr>
        <p:spPr>
          <a:xfrm>
            <a:off x="6920801" y="-3295"/>
            <a:ext cx="6541199" cy="6861295"/>
          </a:xfrm>
          <a:custGeom>
            <a:avLst/>
            <a:gdLst/>
            <a:ahLst/>
            <a:cxnLst/>
            <a:rect l="l" t="t" r="r" b="b"/>
            <a:pathLst>
              <a:path w="10580914" h="10287000">
                <a:moveTo>
                  <a:pt x="0" y="0"/>
                </a:moveTo>
                <a:lnTo>
                  <a:pt x="10580914" y="0"/>
                </a:lnTo>
                <a:lnTo>
                  <a:pt x="1058091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</a:blip>
            <a:stretch>
              <a:fillRect/>
            </a:stretch>
          </a:blipFill>
        </p:spPr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2F4F4B-645B-AE4E-2BF4-F7E94EEF370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30363" y="2077401"/>
            <a:ext cx="9144000" cy="750852"/>
          </a:xfrm>
        </p:spPr>
        <p:txBody>
          <a:bodyPr anchor="b">
            <a:normAutofit/>
          </a:bodyPr>
          <a:lstStyle>
            <a:lvl1pPr algn="ctr">
              <a:defRPr sz="4400" b="1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COURSE NAME</a:t>
            </a:r>
            <a:endParaRPr lang="uk-UA" dirty="0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2F5CA641-4378-FFF4-6C63-FE20A7AB188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6843" y="4323334"/>
            <a:ext cx="11298314" cy="92405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Teacher:</a:t>
            </a:r>
          </a:p>
          <a:p>
            <a:r>
              <a:rPr lang="en-US" dirty="0"/>
              <a:t>First name, Last name, academic degree, academic title, position</a:t>
            </a:r>
          </a:p>
        </p:txBody>
      </p:sp>
      <p:sp>
        <p:nvSpPr>
          <p:cNvPr id="8" name="Freeform 4">
            <a:extLst>
              <a:ext uri="{FF2B5EF4-FFF2-40B4-BE49-F238E27FC236}">
                <a16:creationId xmlns:a16="http://schemas.microsoft.com/office/drawing/2014/main" id="{4D8244C4-6C89-A133-852B-C8FC03F1D08E}"/>
              </a:ext>
            </a:extLst>
          </p:cNvPr>
          <p:cNvSpPr/>
          <p:nvPr userDrawn="1"/>
        </p:nvSpPr>
        <p:spPr>
          <a:xfrm>
            <a:off x="9455450" y="5909845"/>
            <a:ext cx="2289707" cy="561979"/>
          </a:xfrm>
          <a:custGeom>
            <a:avLst/>
            <a:gdLst/>
            <a:ahLst/>
            <a:cxnLst/>
            <a:rect l="l" t="t" r="r" b="b"/>
            <a:pathLst>
              <a:path w="3304721" h="832124">
                <a:moveTo>
                  <a:pt x="0" y="0"/>
                </a:moveTo>
                <a:lnTo>
                  <a:pt x="3304721" y="0"/>
                </a:lnTo>
                <a:lnTo>
                  <a:pt x="3304721" y="832124"/>
                </a:lnTo>
                <a:lnTo>
                  <a:pt x="0" y="8321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pic>
        <p:nvPicPr>
          <p:cNvPr id="1026" name="Picture 2" descr="COMAI - Ulysseus">
            <a:extLst>
              <a:ext uri="{FF2B5EF4-FFF2-40B4-BE49-F238E27FC236}">
                <a16:creationId xmlns:a16="http://schemas.microsoft.com/office/drawing/2014/main" id="{C12C8155-5617-3A68-F4D7-AAD08BB06DE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843" y="5909845"/>
            <a:ext cx="2867487" cy="582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Місце для зображення 12">
            <a:extLst>
              <a:ext uri="{FF2B5EF4-FFF2-40B4-BE49-F238E27FC236}">
                <a16:creationId xmlns:a16="http://schemas.microsoft.com/office/drawing/2014/main" id="{E815AE2E-6725-7927-4881-DA2D2C5A4F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46088" y="328613"/>
            <a:ext cx="2368550" cy="923925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r>
              <a:rPr lang="en-US" dirty="0"/>
              <a:t>University logo</a:t>
            </a:r>
            <a:endParaRPr lang="uk-UA" dirty="0"/>
          </a:p>
        </p:txBody>
      </p:sp>
      <p:sp>
        <p:nvSpPr>
          <p:cNvPr id="14" name="Місце для зображення 12">
            <a:extLst>
              <a:ext uri="{FF2B5EF4-FFF2-40B4-BE49-F238E27FC236}">
                <a16:creationId xmlns:a16="http://schemas.microsoft.com/office/drawing/2014/main" id="{62658F34-B66C-A1D3-B3B4-DF50825EA16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9376607" y="328612"/>
            <a:ext cx="2368550" cy="923925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 dirty="0"/>
              <a:t>Department logo</a:t>
            </a:r>
            <a:endParaRPr lang="uk-UA" dirty="0"/>
          </a:p>
        </p:txBody>
      </p:sp>
      <p:sp>
        <p:nvSpPr>
          <p:cNvPr id="19" name="Місце для тексту 18">
            <a:extLst>
              <a:ext uri="{FF2B5EF4-FFF2-40B4-BE49-F238E27FC236}">
                <a16:creationId xmlns:a16="http://schemas.microsoft.com/office/drawing/2014/main" id="{B10AEEDB-6C49-4C16-1AB4-353507F3945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30363" y="3033506"/>
            <a:ext cx="9144000" cy="750852"/>
          </a:xfrm>
        </p:spPr>
        <p:txBody>
          <a:bodyPr>
            <a:normAutofit/>
          </a:bodyPr>
          <a:lstStyle>
            <a:lvl1pPr marL="0" indent="0" algn="ctr">
              <a:buNone/>
              <a:defRPr sz="3600"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Lecture #. “Title”</a:t>
            </a:r>
            <a:endParaRPr lang="uk-UA" dirty="0"/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C46E11E8-C94E-4AE7-ADB5-FDEAADAE04C0}"/>
              </a:ext>
            </a:extLst>
          </p:cNvPr>
          <p:cNvSpPr txBox="1"/>
          <p:nvPr userDrawn="1"/>
        </p:nvSpPr>
        <p:spPr>
          <a:xfrm>
            <a:off x="4079519" y="5820282"/>
            <a:ext cx="5967043" cy="651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9"/>
              </a:lnSpc>
              <a:spcBef>
                <a:spcPct val="0"/>
              </a:spcBef>
            </a:pPr>
            <a:r>
              <a:rPr lang="en-US" sz="1000" b="1" dirty="0">
                <a:solidFill>
                  <a:srgbClr val="023399"/>
                </a:solidFill>
                <a:latin typeface="Aptos" panose="020B0004020202020204" pitchFamily="34" charset="0"/>
                <a:ea typeface="Arial Bold"/>
                <a:cs typeface="Arial Bold"/>
                <a:sym typeface="Arial Bold"/>
              </a:rPr>
              <a:t>SECURE ERASMUS-EDU-2024-CBHE</a:t>
            </a:r>
          </a:p>
          <a:p>
            <a:pPr algn="l">
              <a:lnSpc>
                <a:spcPts val="1689"/>
              </a:lnSpc>
              <a:spcBef>
                <a:spcPct val="0"/>
              </a:spcBef>
            </a:pPr>
            <a:r>
              <a:rPr lang="en-US" sz="1000" dirty="0">
                <a:solidFill>
                  <a:srgbClr val="023399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This project has received funding from the European Union’s Erasmus + </a:t>
            </a:r>
            <a:r>
              <a:rPr lang="en-US" sz="1000" dirty="0" err="1">
                <a:solidFill>
                  <a:srgbClr val="023399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Programme</a:t>
            </a:r>
            <a:r>
              <a:rPr lang="en-US" sz="1000" dirty="0">
                <a:solidFill>
                  <a:srgbClr val="023399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 </a:t>
            </a:r>
          </a:p>
          <a:p>
            <a:pPr algn="l">
              <a:lnSpc>
                <a:spcPts val="1689"/>
              </a:lnSpc>
              <a:spcBef>
                <a:spcPct val="0"/>
              </a:spcBef>
            </a:pPr>
            <a:r>
              <a:rPr lang="en-US" sz="1000" dirty="0">
                <a:solidFill>
                  <a:srgbClr val="023399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"Capacity building in the field of higher education", project id 101179818</a:t>
            </a:r>
          </a:p>
        </p:txBody>
      </p:sp>
    </p:spTree>
    <p:extLst>
      <p:ext uri="{BB962C8B-B14F-4D97-AF65-F5344CB8AC3E}">
        <p14:creationId xmlns:p14="http://schemas.microsoft.com/office/powerpoint/2010/main" val="859439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2">
            <a:extLst>
              <a:ext uri="{FF2B5EF4-FFF2-40B4-BE49-F238E27FC236}">
                <a16:creationId xmlns:a16="http://schemas.microsoft.com/office/drawing/2014/main" id="{20CB3192-52DB-1C4F-CDF1-2C5834701427}"/>
              </a:ext>
            </a:extLst>
          </p:cNvPr>
          <p:cNvSpPr/>
          <p:nvPr userDrawn="1"/>
        </p:nvSpPr>
        <p:spPr>
          <a:xfrm>
            <a:off x="6920801" y="-3295"/>
            <a:ext cx="6541199" cy="6861295"/>
          </a:xfrm>
          <a:custGeom>
            <a:avLst/>
            <a:gdLst/>
            <a:ahLst/>
            <a:cxnLst/>
            <a:rect l="l" t="t" r="r" b="b"/>
            <a:pathLst>
              <a:path w="10580914" h="10287000">
                <a:moveTo>
                  <a:pt x="0" y="0"/>
                </a:moveTo>
                <a:lnTo>
                  <a:pt x="10580914" y="0"/>
                </a:lnTo>
                <a:lnTo>
                  <a:pt x="1058091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</a:blip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9" name="Місце для тексту 8">
            <a:extLst>
              <a:ext uri="{FF2B5EF4-FFF2-40B4-BE49-F238E27FC236}">
                <a16:creationId xmlns:a16="http://schemas.microsoft.com/office/drawing/2014/main" id="{8DA5757D-9772-C9F6-1941-FA9F1C1F97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44066" y="2392077"/>
            <a:ext cx="4321115" cy="537555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  <a:endParaRPr lang="uk-UA" dirty="0"/>
          </a:p>
        </p:txBody>
      </p:sp>
      <p:sp>
        <p:nvSpPr>
          <p:cNvPr id="13" name="Заголовок 12">
            <a:extLst>
              <a:ext uri="{FF2B5EF4-FFF2-40B4-BE49-F238E27FC236}">
                <a16:creationId xmlns:a16="http://schemas.microsoft.com/office/drawing/2014/main" id="{B648F94A-93CF-5554-B9EC-99C1603543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>
                <a:solidFill>
                  <a:srgbClr val="203864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LECTURE PLAN</a:t>
            </a:r>
            <a:endParaRPr lang="uk-UA" dirty="0"/>
          </a:p>
        </p:txBody>
      </p:sp>
      <p:sp>
        <p:nvSpPr>
          <p:cNvPr id="18" name="Місце для тексту 8">
            <a:extLst>
              <a:ext uri="{FF2B5EF4-FFF2-40B4-BE49-F238E27FC236}">
                <a16:creationId xmlns:a16="http://schemas.microsoft.com/office/drawing/2014/main" id="{2C4AAD83-F098-467E-30E8-5B1DBFBB92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44065" y="3267036"/>
            <a:ext cx="4321115" cy="537555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  <a:endParaRPr lang="uk-UA" dirty="0"/>
          </a:p>
        </p:txBody>
      </p:sp>
      <p:sp>
        <p:nvSpPr>
          <p:cNvPr id="19" name="Місце для тексту 8">
            <a:extLst>
              <a:ext uri="{FF2B5EF4-FFF2-40B4-BE49-F238E27FC236}">
                <a16:creationId xmlns:a16="http://schemas.microsoft.com/office/drawing/2014/main" id="{E19B8F13-7D27-6CB4-C4E2-740F7D45DE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44066" y="4141995"/>
            <a:ext cx="4321115" cy="537555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  <a:endParaRPr lang="uk-UA" dirty="0"/>
          </a:p>
        </p:txBody>
      </p:sp>
      <p:sp>
        <p:nvSpPr>
          <p:cNvPr id="20" name="Місце для тексту 8">
            <a:extLst>
              <a:ext uri="{FF2B5EF4-FFF2-40B4-BE49-F238E27FC236}">
                <a16:creationId xmlns:a16="http://schemas.microsoft.com/office/drawing/2014/main" id="{478A70D7-9C17-6A3A-7307-37FCE7F9DE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44065" y="5016954"/>
            <a:ext cx="4321115" cy="537555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  <a:endParaRPr lang="uk-UA" dirty="0"/>
          </a:p>
        </p:txBody>
      </p:sp>
      <p:sp>
        <p:nvSpPr>
          <p:cNvPr id="21" name="Місце для тексту 8">
            <a:extLst>
              <a:ext uri="{FF2B5EF4-FFF2-40B4-BE49-F238E27FC236}">
                <a16:creationId xmlns:a16="http://schemas.microsoft.com/office/drawing/2014/main" id="{6C85C806-5D99-80B3-1B5C-C1F8654380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32685" y="2392077"/>
            <a:ext cx="4321115" cy="537555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  <a:endParaRPr lang="uk-UA" dirty="0"/>
          </a:p>
        </p:txBody>
      </p:sp>
      <p:sp>
        <p:nvSpPr>
          <p:cNvPr id="22" name="Місце для тексту 8">
            <a:extLst>
              <a:ext uri="{FF2B5EF4-FFF2-40B4-BE49-F238E27FC236}">
                <a16:creationId xmlns:a16="http://schemas.microsoft.com/office/drawing/2014/main" id="{A9DE4B24-321A-7699-D368-923ABAFA73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32684" y="3267036"/>
            <a:ext cx="4321115" cy="537555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  <a:endParaRPr lang="uk-UA" dirty="0"/>
          </a:p>
        </p:txBody>
      </p:sp>
      <p:sp>
        <p:nvSpPr>
          <p:cNvPr id="23" name="Місце для тексту 8">
            <a:extLst>
              <a:ext uri="{FF2B5EF4-FFF2-40B4-BE49-F238E27FC236}">
                <a16:creationId xmlns:a16="http://schemas.microsoft.com/office/drawing/2014/main" id="{AFA89644-FB9E-ABAF-F0D3-EA41087639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032685" y="4141995"/>
            <a:ext cx="4321115" cy="537555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  <a:endParaRPr lang="uk-UA" dirty="0"/>
          </a:p>
        </p:txBody>
      </p:sp>
      <p:sp>
        <p:nvSpPr>
          <p:cNvPr id="24" name="Місце для тексту 8">
            <a:extLst>
              <a:ext uri="{FF2B5EF4-FFF2-40B4-BE49-F238E27FC236}">
                <a16:creationId xmlns:a16="http://schemas.microsoft.com/office/drawing/2014/main" id="{E4A3D9BF-973C-0418-3024-30595EBA45F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032684" y="5016954"/>
            <a:ext cx="4321115" cy="537555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997676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5A07F23F-4277-FC4D-97B7-3E341B68F917}"/>
              </a:ext>
            </a:extLst>
          </p:cNvPr>
          <p:cNvSpPr/>
          <p:nvPr userDrawn="1"/>
        </p:nvSpPr>
        <p:spPr>
          <a:xfrm rot="19833573">
            <a:off x="4329829" y="-375306"/>
            <a:ext cx="9880718" cy="7608613"/>
          </a:xfrm>
          <a:custGeom>
            <a:avLst/>
            <a:gdLst/>
            <a:ahLst/>
            <a:cxnLst/>
            <a:rect l="l" t="t" r="r" b="b"/>
            <a:pathLst>
              <a:path w="13347232" h="10847660">
                <a:moveTo>
                  <a:pt x="0" y="0"/>
                </a:moveTo>
                <a:lnTo>
                  <a:pt x="13347232" y="0"/>
                </a:lnTo>
                <a:lnTo>
                  <a:pt x="13347232" y="10847660"/>
                </a:lnTo>
                <a:lnTo>
                  <a:pt x="0" y="108476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897EB8-BC56-C8CD-3070-C9ACA13EC0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ctr">
            <a:normAutofit/>
          </a:bodyPr>
          <a:lstStyle>
            <a:lvl1pPr algn="ctr">
              <a:defRPr sz="5000" b="1">
                <a:solidFill>
                  <a:srgbClr val="203864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 OF THE # POINT FROM THE LECTURE PLAN</a:t>
            </a:r>
            <a:endParaRPr lang="uk-UA" dirty="0"/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27D60B2F-9685-26A3-EC21-6D22D8A4D04B}"/>
              </a:ext>
            </a:extLst>
          </p:cNvPr>
          <p:cNvGrpSpPr/>
          <p:nvPr userDrawn="1"/>
        </p:nvGrpSpPr>
        <p:grpSpPr>
          <a:xfrm>
            <a:off x="8794071" y="468052"/>
            <a:ext cx="3397929" cy="417760"/>
            <a:chOff x="0" y="0"/>
            <a:chExt cx="1239574" cy="152400"/>
          </a:xfrm>
        </p:grpSpPr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FBD412A2-E641-132E-78FF-02F60B95DF11}"/>
                </a:ext>
              </a:extLst>
            </p:cNvPr>
            <p:cNvSpPr/>
            <p:nvPr/>
          </p:nvSpPr>
          <p:spPr>
            <a:xfrm>
              <a:off x="0" y="0"/>
              <a:ext cx="1239574" cy="152400"/>
            </a:xfrm>
            <a:custGeom>
              <a:avLst/>
              <a:gdLst/>
              <a:ahLst/>
              <a:cxnLst/>
              <a:rect l="l" t="t" r="r" b="b"/>
              <a:pathLst>
                <a:path w="1239574" h="152400">
                  <a:moveTo>
                    <a:pt x="0" y="0"/>
                  </a:moveTo>
                  <a:lnTo>
                    <a:pt x="1239574" y="0"/>
                  </a:lnTo>
                  <a:lnTo>
                    <a:pt x="1239574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0D2A59"/>
            </a:solidFill>
          </p:spPr>
        </p:sp>
      </p:grpSp>
      <p:sp>
        <p:nvSpPr>
          <p:cNvPr id="11" name="Freeform 4">
            <a:extLst>
              <a:ext uri="{FF2B5EF4-FFF2-40B4-BE49-F238E27FC236}">
                <a16:creationId xmlns:a16="http://schemas.microsoft.com/office/drawing/2014/main" id="{F07C4348-D2BB-5FEF-BFDE-ED24D7871E6A}"/>
              </a:ext>
            </a:extLst>
          </p:cNvPr>
          <p:cNvSpPr/>
          <p:nvPr userDrawn="1"/>
        </p:nvSpPr>
        <p:spPr>
          <a:xfrm>
            <a:off x="9455450" y="5909845"/>
            <a:ext cx="2289707" cy="561979"/>
          </a:xfrm>
          <a:custGeom>
            <a:avLst/>
            <a:gdLst/>
            <a:ahLst/>
            <a:cxnLst/>
            <a:rect l="l" t="t" r="r" b="b"/>
            <a:pathLst>
              <a:path w="3304721" h="832124">
                <a:moveTo>
                  <a:pt x="0" y="0"/>
                </a:moveTo>
                <a:lnTo>
                  <a:pt x="3304721" y="0"/>
                </a:lnTo>
                <a:lnTo>
                  <a:pt x="3304721" y="832124"/>
                </a:lnTo>
                <a:lnTo>
                  <a:pt x="0" y="83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323636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2">
            <a:extLst>
              <a:ext uri="{FF2B5EF4-FFF2-40B4-BE49-F238E27FC236}">
                <a16:creationId xmlns:a16="http://schemas.microsoft.com/office/drawing/2014/main" id="{438A861F-723B-32BD-123D-23AB50C1E9DF}"/>
              </a:ext>
            </a:extLst>
          </p:cNvPr>
          <p:cNvSpPr/>
          <p:nvPr userDrawn="1"/>
        </p:nvSpPr>
        <p:spPr>
          <a:xfrm rot="6517973">
            <a:off x="-1650001" y="805883"/>
            <a:ext cx="9663726" cy="6609046"/>
          </a:xfrm>
          <a:custGeom>
            <a:avLst/>
            <a:gdLst/>
            <a:ahLst/>
            <a:cxnLst/>
            <a:rect l="l" t="t" r="r" b="b"/>
            <a:pathLst>
              <a:path w="13347232" h="10847660">
                <a:moveTo>
                  <a:pt x="0" y="0"/>
                </a:moveTo>
                <a:lnTo>
                  <a:pt x="13347232" y="0"/>
                </a:lnTo>
                <a:lnTo>
                  <a:pt x="13347232" y="10847660"/>
                </a:lnTo>
                <a:lnTo>
                  <a:pt x="0" y="108476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7D33B1-0CDC-ED77-635F-731BCFBFA5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>
                <a:solidFill>
                  <a:srgbClr val="203864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710261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91339ECB-7836-56BF-C31D-3BAEBCA8FA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 b="1">
                <a:solidFill>
                  <a:srgbClr val="203864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  <a:endParaRPr lang="uk-UA" dirty="0"/>
          </a:p>
        </p:txBody>
      </p:sp>
      <p:sp>
        <p:nvSpPr>
          <p:cNvPr id="7" name="Місце для тексту 6">
            <a:extLst>
              <a:ext uri="{FF2B5EF4-FFF2-40B4-BE49-F238E27FC236}">
                <a16:creationId xmlns:a16="http://schemas.microsoft.com/office/drawing/2014/main" id="{8E8B18C6-9CBB-DF5A-5A27-4791831B80B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870075"/>
            <a:ext cx="5532120" cy="842963"/>
          </a:xfrm>
        </p:spPr>
        <p:txBody>
          <a:bodyPr/>
          <a:lstStyle>
            <a:lvl1pPr marL="0" indent="0">
              <a:buNone/>
              <a:defRPr b="1">
                <a:solidFill>
                  <a:srgbClr val="203864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  <a:endParaRPr lang="uk-UA" dirty="0"/>
          </a:p>
        </p:txBody>
      </p:sp>
      <p:sp>
        <p:nvSpPr>
          <p:cNvPr id="8" name="Місце для тексту 6">
            <a:extLst>
              <a:ext uri="{FF2B5EF4-FFF2-40B4-BE49-F238E27FC236}">
                <a16:creationId xmlns:a16="http://schemas.microsoft.com/office/drawing/2014/main" id="{6CBD2B82-584E-B922-D53A-B6F456C8652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2892424"/>
            <a:ext cx="5532120" cy="3467736"/>
          </a:xfrm>
        </p:spPr>
        <p:txBody>
          <a:bodyPr>
            <a:normAutofit/>
          </a:bodyPr>
          <a:lstStyle>
            <a:lvl1pPr marL="0" indent="0">
              <a:buNone/>
              <a:defRPr sz="2500" b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  <a:endParaRPr lang="uk-UA" dirty="0"/>
          </a:p>
        </p:txBody>
      </p:sp>
      <p:sp>
        <p:nvSpPr>
          <p:cNvPr id="11" name="Місце для зображення 10">
            <a:extLst>
              <a:ext uri="{FF2B5EF4-FFF2-40B4-BE49-F238E27FC236}">
                <a16:creationId xmlns:a16="http://schemas.microsoft.com/office/drawing/2014/main" id="{A33FF4F4-EFEE-BFD1-375F-648CA393F5E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624638" y="1870074"/>
            <a:ext cx="4729162" cy="4490085"/>
          </a:xfrm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87533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2">
            <a:extLst>
              <a:ext uri="{FF2B5EF4-FFF2-40B4-BE49-F238E27FC236}">
                <a16:creationId xmlns:a16="http://schemas.microsoft.com/office/drawing/2014/main" id="{70C13FFF-F513-4654-24F8-20B9F6D33240}"/>
              </a:ext>
            </a:extLst>
          </p:cNvPr>
          <p:cNvSpPr/>
          <p:nvPr userDrawn="1"/>
        </p:nvSpPr>
        <p:spPr>
          <a:xfrm rot="8411302" flipH="1" flipV="1">
            <a:off x="4748439" y="-391160"/>
            <a:ext cx="9459568" cy="8276884"/>
          </a:xfrm>
          <a:custGeom>
            <a:avLst/>
            <a:gdLst/>
            <a:ahLst/>
            <a:cxnLst/>
            <a:rect l="l" t="t" r="r" b="b"/>
            <a:pathLst>
              <a:path w="13347232" h="10847660">
                <a:moveTo>
                  <a:pt x="0" y="0"/>
                </a:moveTo>
                <a:lnTo>
                  <a:pt x="13347232" y="0"/>
                </a:lnTo>
                <a:lnTo>
                  <a:pt x="13347232" y="10847660"/>
                </a:lnTo>
                <a:lnTo>
                  <a:pt x="0" y="108476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2FB564-C2AF-2A39-32F5-C8AE625BFF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ctr"/>
          <a:lstStyle>
            <a:lvl1pPr>
              <a:defRPr sz="3200" b="1">
                <a:solidFill>
                  <a:srgbClr val="203864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  <a:endParaRPr lang="uk-UA" dirty="0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6E35D1EC-A30B-2B54-1BAD-F7B1C813CE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57200"/>
            <a:ext cx="6172200" cy="574706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D619E5F8-83B6-C4B1-CDE6-E2576A5D97D9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39268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788718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E60F5C-0E3F-B81E-3874-5DFE7B95B6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>
                <a:solidFill>
                  <a:srgbClr val="203864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43C40CA-D14D-1220-C849-3E91200A184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 marL="0" indent="0">
              <a:buNone/>
              <a:defRPr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text/assets</a:t>
            </a:r>
            <a:endParaRPr lang="uk-UA" dirty="0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6A858D7C-35A5-2A50-602A-248A2D961DA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latin typeface="Aptos" panose="020B00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text/assets</a:t>
            </a:r>
            <a:endParaRPr lang="uk-UA" dirty="0"/>
          </a:p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12613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C437F139-DD75-BFB8-2FA9-97A05C2AE574}"/>
              </a:ext>
            </a:extLst>
          </p:cNvPr>
          <p:cNvSpPr/>
          <p:nvPr userDrawn="1"/>
        </p:nvSpPr>
        <p:spPr>
          <a:xfrm rot="3018939" flipV="1">
            <a:off x="1616475" y="-3063601"/>
            <a:ext cx="8959050" cy="6857449"/>
          </a:xfrm>
          <a:custGeom>
            <a:avLst/>
            <a:gdLst/>
            <a:ahLst/>
            <a:cxnLst/>
            <a:rect l="l" t="t" r="r" b="b"/>
            <a:pathLst>
              <a:path w="13347232" h="10847660">
                <a:moveTo>
                  <a:pt x="0" y="10847659"/>
                </a:moveTo>
                <a:lnTo>
                  <a:pt x="13347232" y="10847659"/>
                </a:lnTo>
                <a:lnTo>
                  <a:pt x="13347232" y="0"/>
                </a:lnTo>
                <a:lnTo>
                  <a:pt x="0" y="0"/>
                </a:lnTo>
                <a:lnTo>
                  <a:pt x="0" y="1084765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481017-89BE-29C2-1A48-1CA1E40695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>
                <a:solidFill>
                  <a:srgbClr val="203864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CONCLUSIONS</a:t>
            </a:r>
            <a:endParaRPr lang="uk-UA" dirty="0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7286543E-9BBE-1534-1F22-48AB59E465DB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4"/>
            <a:ext cx="10515600" cy="4544695"/>
          </a:xfrm>
        </p:spPr>
        <p:txBody>
          <a:bodyPr vert="horz"/>
          <a:lstStyle>
            <a:lvl1pPr marL="0" indent="0">
              <a:buNone/>
              <a:defRPr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  <a:endParaRPr lang="uk-UA" dirty="0"/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95BE0E7F-0198-EA12-056F-87B0F57B8966}"/>
              </a:ext>
            </a:extLst>
          </p:cNvPr>
          <p:cNvGrpSpPr/>
          <p:nvPr userDrawn="1"/>
        </p:nvGrpSpPr>
        <p:grpSpPr>
          <a:xfrm>
            <a:off x="8794071" y="468052"/>
            <a:ext cx="3397929" cy="417760"/>
            <a:chOff x="0" y="0"/>
            <a:chExt cx="1239574" cy="152400"/>
          </a:xfrm>
        </p:grpSpPr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195A661F-45EA-3984-9BEC-BC9C3B1A31E6}"/>
                </a:ext>
              </a:extLst>
            </p:cNvPr>
            <p:cNvSpPr/>
            <p:nvPr/>
          </p:nvSpPr>
          <p:spPr>
            <a:xfrm>
              <a:off x="0" y="0"/>
              <a:ext cx="1239574" cy="152400"/>
            </a:xfrm>
            <a:custGeom>
              <a:avLst/>
              <a:gdLst/>
              <a:ahLst/>
              <a:cxnLst/>
              <a:rect l="l" t="t" r="r" b="b"/>
              <a:pathLst>
                <a:path w="1239574" h="152400">
                  <a:moveTo>
                    <a:pt x="0" y="0"/>
                  </a:moveTo>
                  <a:lnTo>
                    <a:pt x="1239574" y="0"/>
                  </a:lnTo>
                  <a:lnTo>
                    <a:pt x="1239574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0D2A59"/>
            </a:solidFill>
          </p:spPr>
        </p:sp>
      </p:grpSp>
    </p:spTree>
    <p:extLst>
      <p:ext uri="{BB962C8B-B14F-4D97-AF65-F5344CB8AC3E}">
        <p14:creationId xmlns:p14="http://schemas.microsoft.com/office/powerpoint/2010/main" val="3543415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1_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C437F139-DD75-BFB8-2FA9-97A05C2AE574}"/>
              </a:ext>
            </a:extLst>
          </p:cNvPr>
          <p:cNvSpPr/>
          <p:nvPr userDrawn="1"/>
        </p:nvSpPr>
        <p:spPr>
          <a:xfrm rot="3018939" flipV="1">
            <a:off x="1616475" y="-3063601"/>
            <a:ext cx="8959050" cy="6857449"/>
          </a:xfrm>
          <a:custGeom>
            <a:avLst/>
            <a:gdLst/>
            <a:ahLst/>
            <a:cxnLst/>
            <a:rect l="l" t="t" r="r" b="b"/>
            <a:pathLst>
              <a:path w="13347232" h="10847660">
                <a:moveTo>
                  <a:pt x="0" y="10847659"/>
                </a:moveTo>
                <a:lnTo>
                  <a:pt x="13347232" y="10847659"/>
                </a:lnTo>
                <a:lnTo>
                  <a:pt x="13347232" y="0"/>
                </a:lnTo>
                <a:lnTo>
                  <a:pt x="0" y="0"/>
                </a:lnTo>
                <a:lnTo>
                  <a:pt x="0" y="1084765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481017-89BE-29C2-1A48-1CA1E40695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>
                <a:solidFill>
                  <a:srgbClr val="203864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ADDITIONALS MATERIALS</a:t>
            </a:r>
            <a:endParaRPr lang="uk-UA" dirty="0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7286543E-9BBE-1534-1F22-48AB59E465DB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4"/>
            <a:ext cx="10515600" cy="4544695"/>
          </a:xfrm>
        </p:spPr>
        <p:txBody>
          <a:bodyPr vert="horz"/>
          <a:lstStyle>
            <a:lvl1pPr marL="0" indent="0">
              <a:buNone/>
              <a:defRPr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  <a:endParaRPr lang="uk-UA" dirty="0"/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95BE0E7F-0198-EA12-056F-87B0F57B8966}"/>
              </a:ext>
            </a:extLst>
          </p:cNvPr>
          <p:cNvGrpSpPr/>
          <p:nvPr userDrawn="1"/>
        </p:nvGrpSpPr>
        <p:grpSpPr>
          <a:xfrm>
            <a:off x="8794071" y="468052"/>
            <a:ext cx="3397929" cy="417760"/>
            <a:chOff x="0" y="0"/>
            <a:chExt cx="1239574" cy="152400"/>
          </a:xfrm>
        </p:grpSpPr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195A661F-45EA-3984-9BEC-BC9C3B1A31E6}"/>
                </a:ext>
              </a:extLst>
            </p:cNvPr>
            <p:cNvSpPr/>
            <p:nvPr/>
          </p:nvSpPr>
          <p:spPr>
            <a:xfrm>
              <a:off x="0" y="0"/>
              <a:ext cx="1239574" cy="152400"/>
            </a:xfrm>
            <a:custGeom>
              <a:avLst/>
              <a:gdLst/>
              <a:ahLst/>
              <a:cxnLst/>
              <a:rect l="l" t="t" r="r" b="b"/>
              <a:pathLst>
                <a:path w="1239574" h="152400">
                  <a:moveTo>
                    <a:pt x="0" y="0"/>
                  </a:moveTo>
                  <a:lnTo>
                    <a:pt x="1239574" y="0"/>
                  </a:lnTo>
                  <a:lnTo>
                    <a:pt x="1239574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0D2A59"/>
            </a:solidFill>
          </p:spPr>
        </p:sp>
      </p:grpSp>
    </p:spTree>
    <p:extLst>
      <p:ext uri="{BB962C8B-B14F-4D97-AF65-F5344CB8AC3E}">
        <p14:creationId xmlns:p14="http://schemas.microsoft.com/office/powerpoint/2010/main" val="1577605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8CD1E789-90A0-FE6B-0F10-C15EB3FD5B16}"/>
              </a:ext>
            </a:extLst>
          </p:cNvPr>
          <p:cNvSpPr/>
          <p:nvPr userDrawn="1"/>
        </p:nvSpPr>
        <p:spPr>
          <a:xfrm>
            <a:off x="6920801" y="-3295"/>
            <a:ext cx="6541199" cy="6861295"/>
          </a:xfrm>
          <a:custGeom>
            <a:avLst/>
            <a:gdLst/>
            <a:ahLst/>
            <a:cxnLst/>
            <a:rect l="l" t="t" r="r" b="b"/>
            <a:pathLst>
              <a:path w="10580914" h="10287000">
                <a:moveTo>
                  <a:pt x="0" y="0"/>
                </a:moveTo>
                <a:lnTo>
                  <a:pt x="10580914" y="0"/>
                </a:lnTo>
                <a:lnTo>
                  <a:pt x="1058091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</a:blip>
            <a:stretch>
              <a:fillRect/>
            </a:stretch>
          </a:blipFill>
        </p:spPr>
      </p:sp>
      <p:sp>
        <p:nvSpPr>
          <p:cNvPr id="8" name="Freeform 4">
            <a:extLst>
              <a:ext uri="{FF2B5EF4-FFF2-40B4-BE49-F238E27FC236}">
                <a16:creationId xmlns:a16="http://schemas.microsoft.com/office/drawing/2014/main" id="{C1D3FF62-D606-B90B-7956-E3AB4C912B48}"/>
              </a:ext>
            </a:extLst>
          </p:cNvPr>
          <p:cNvSpPr/>
          <p:nvPr userDrawn="1"/>
        </p:nvSpPr>
        <p:spPr>
          <a:xfrm>
            <a:off x="9455450" y="5909845"/>
            <a:ext cx="2289707" cy="561979"/>
          </a:xfrm>
          <a:custGeom>
            <a:avLst/>
            <a:gdLst/>
            <a:ahLst/>
            <a:cxnLst/>
            <a:rect l="l" t="t" r="r" b="b"/>
            <a:pathLst>
              <a:path w="3304721" h="832124">
                <a:moveTo>
                  <a:pt x="0" y="0"/>
                </a:moveTo>
                <a:lnTo>
                  <a:pt x="3304721" y="0"/>
                </a:lnTo>
                <a:lnTo>
                  <a:pt x="3304721" y="832124"/>
                </a:lnTo>
                <a:lnTo>
                  <a:pt x="0" y="8321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pic>
        <p:nvPicPr>
          <p:cNvPr id="9" name="Picture 2" descr="COMAI - Ulysseus">
            <a:extLst>
              <a:ext uri="{FF2B5EF4-FFF2-40B4-BE49-F238E27FC236}">
                <a16:creationId xmlns:a16="http://schemas.microsoft.com/office/drawing/2014/main" id="{E4A298BE-4D28-41A3-FCCC-78D6F73C5D2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843" y="5909845"/>
            <a:ext cx="2867487" cy="582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Місце для зображення 12">
            <a:extLst>
              <a:ext uri="{FF2B5EF4-FFF2-40B4-BE49-F238E27FC236}">
                <a16:creationId xmlns:a16="http://schemas.microsoft.com/office/drawing/2014/main" id="{E0592F16-BCB5-9327-78F3-B2E92935A21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46088" y="328613"/>
            <a:ext cx="2368550" cy="923925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r>
              <a:rPr lang="en-US" dirty="0"/>
              <a:t>University logo</a:t>
            </a:r>
            <a:endParaRPr lang="uk-UA" dirty="0"/>
          </a:p>
        </p:txBody>
      </p:sp>
      <p:sp>
        <p:nvSpPr>
          <p:cNvPr id="11" name="Місце для зображення 12">
            <a:extLst>
              <a:ext uri="{FF2B5EF4-FFF2-40B4-BE49-F238E27FC236}">
                <a16:creationId xmlns:a16="http://schemas.microsoft.com/office/drawing/2014/main" id="{9C30DA7F-596D-B59E-26DA-3B0C3F4C065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9376607" y="328612"/>
            <a:ext cx="2368550" cy="923925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 dirty="0"/>
              <a:t>Department logo</a:t>
            </a:r>
            <a:endParaRPr lang="uk-UA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8C1CC2-B9AD-AB54-C17A-8D901E5C744E}"/>
              </a:ext>
            </a:extLst>
          </p:cNvPr>
          <p:cNvSpPr txBox="1"/>
          <p:nvPr userDrawn="1"/>
        </p:nvSpPr>
        <p:spPr>
          <a:xfrm>
            <a:off x="446088" y="2682240"/>
            <a:ext cx="92839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>
                <a:solidFill>
                  <a:srgbClr val="203864"/>
                </a:solidFill>
                <a:latin typeface="Aptos" panose="020B0004020202020204" pitchFamily="34" charset="0"/>
              </a:rPr>
              <a:t>THANK YOU FOR ATTENTION!</a:t>
            </a:r>
            <a:endParaRPr lang="uk-UA" sz="5400" b="1" dirty="0">
              <a:solidFill>
                <a:srgbClr val="203864"/>
              </a:solidFill>
              <a:latin typeface="Aptos" panose="020B00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9BA098-B1CD-0269-8D35-42A582493920}"/>
              </a:ext>
            </a:extLst>
          </p:cNvPr>
          <p:cNvSpPr txBox="1"/>
          <p:nvPr userDrawn="1"/>
        </p:nvSpPr>
        <p:spPr>
          <a:xfrm>
            <a:off x="446088" y="3556813"/>
            <a:ext cx="28714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Any questions?</a:t>
            </a:r>
            <a:endParaRPr lang="uk-UA" sz="3200" b="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" name="TextBox 8">
            <a:extLst>
              <a:ext uri="{FF2B5EF4-FFF2-40B4-BE49-F238E27FC236}">
                <a16:creationId xmlns:a16="http://schemas.microsoft.com/office/drawing/2014/main" id="{5163F224-4127-B18E-51F9-39EA8647CB63}"/>
              </a:ext>
            </a:extLst>
          </p:cNvPr>
          <p:cNvSpPr txBox="1"/>
          <p:nvPr userDrawn="1"/>
        </p:nvSpPr>
        <p:spPr>
          <a:xfrm>
            <a:off x="3934029" y="5820282"/>
            <a:ext cx="5967043" cy="651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9"/>
              </a:lnSpc>
              <a:spcBef>
                <a:spcPct val="0"/>
              </a:spcBef>
            </a:pPr>
            <a:r>
              <a:rPr lang="en-US" sz="1000" b="1" dirty="0">
                <a:solidFill>
                  <a:srgbClr val="023399"/>
                </a:solidFill>
                <a:latin typeface="Aptos" panose="020B0004020202020204" pitchFamily="34" charset="0"/>
                <a:ea typeface="Arial Bold"/>
                <a:cs typeface="Arial Bold"/>
                <a:sym typeface="Arial Bold"/>
              </a:rPr>
              <a:t>SECURE ERASMUS-EDU-2024-CBHE</a:t>
            </a:r>
          </a:p>
          <a:p>
            <a:pPr algn="l">
              <a:lnSpc>
                <a:spcPts val="1689"/>
              </a:lnSpc>
              <a:spcBef>
                <a:spcPct val="0"/>
              </a:spcBef>
            </a:pPr>
            <a:r>
              <a:rPr lang="en-US" sz="1000" dirty="0">
                <a:solidFill>
                  <a:srgbClr val="023399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This project has received funding from the European Union’s Erasmus + </a:t>
            </a:r>
            <a:r>
              <a:rPr lang="en-US" sz="1000" dirty="0" err="1">
                <a:solidFill>
                  <a:srgbClr val="023399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Programme</a:t>
            </a:r>
            <a:r>
              <a:rPr lang="en-US" sz="1000" dirty="0">
                <a:solidFill>
                  <a:srgbClr val="023399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 </a:t>
            </a:r>
          </a:p>
          <a:p>
            <a:pPr algn="l">
              <a:lnSpc>
                <a:spcPts val="1689"/>
              </a:lnSpc>
              <a:spcBef>
                <a:spcPct val="0"/>
              </a:spcBef>
            </a:pPr>
            <a:r>
              <a:rPr lang="en-US" sz="1000" dirty="0">
                <a:solidFill>
                  <a:srgbClr val="023399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"Capacity building in the field of higher education", project id 101179818</a:t>
            </a:r>
          </a:p>
        </p:txBody>
      </p:sp>
    </p:spTree>
    <p:extLst>
      <p:ext uri="{BB962C8B-B14F-4D97-AF65-F5344CB8AC3E}">
        <p14:creationId xmlns:p14="http://schemas.microsoft.com/office/powerpoint/2010/main" val="1834359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38C6A-C972-4D9E-AA74-333EB6C38D98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532CD-2E3F-4A7F-B8A0-E5258AB21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17867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262A46F7-AE3D-FE17-716F-BD0735588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440003CE-35D9-0D22-9697-103258AF72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99D95934-CB61-23CC-5A3B-CAE88FF8F7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B528A8-01FA-4E19-966E-6D8EBDB87570}" type="datetimeFigureOut">
              <a:rPr lang="uk-UA" smtClean="0"/>
              <a:t>18.04.26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5C9D978F-CE49-2A2D-0742-4A82CA25FA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8D4B8B66-57F6-0E1C-BC7E-F1BC1A8B0E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4FF707-F803-4672-B2C0-069A27EADB59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87627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4"/>
    <p:sldLayoutId id="2147483655" r:id="rId5"/>
    <p:sldLayoutId id="2147483657" r:id="rId6"/>
    <p:sldLayoutId id="2147483652" r:id="rId7"/>
    <p:sldLayoutId id="2147483658" r:id="rId8"/>
    <p:sldLayoutId id="2147483660" r:id="rId9"/>
    <p:sldLayoutId id="2147483659" r:id="rId10"/>
    <p:sldLayoutId id="214748366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eg"/><Relationship Id="rId3" Type="http://schemas.openxmlformats.org/officeDocument/2006/relationships/image" Target="../media/image9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0.png"/><Relationship Id="rId3" Type="http://schemas.openxmlformats.org/officeDocument/2006/relationships/image" Target="../media/image10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4.png"/><Relationship Id="rId3" Type="http://schemas.openxmlformats.org/officeDocument/2006/relationships/image" Target="../media/image55.png"/><Relationship Id="rId4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8.png"/><Relationship Id="rId3" Type="http://schemas.openxmlformats.org/officeDocument/2006/relationships/image" Target="../media/image14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8.jpeg"/><Relationship Id="rId3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3D7EDF-EC43-C3F4-B3FA-A3653E0A30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2054" y="2077401"/>
            <a:ext cx="9992310" cy="750852"/>
          </a:xfrm>
        </p:spPr>
        <p:txBody>
          <a:bodyPr>
            <a:normAutofit fontScale="90000"/>
          </a:bodyPr>
          <a:lstStyle/>
          <a:p>
            <a:r>
              <a:rPr lang="en-US" dirty="0"/>
              <a:t>Квантова та постквантова безпека № 4</a:t>
            </a:r>
            <a:endParaRPr lang="uk-UA" dirty="0"/>
          </a:p>
        </p:txBody>
      </p:sp>
      <p:sp>
        <p:nvSpPr>
          <p:cNvPr id="6" name="Місце для тексту 5">
            <a:extLst>
              <a:ext uri="{FF2B5EF4-FFF2-40B4-BE49-F238E27FC236}">
                <a16:creationId xmlns:a16="http://schemas.microsoft.com/office/drawing/2014/main" id="{5865D50E-67FD-0929-0A83-003F307A0EB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92008" y="3097741"/>
            <a:ext cx="9144000" cy="924058"/>
          </a:xfrm>
        </p:spPr>
        <p:txBody>
          <a:bodyPr>
            <a:normAutofit/>
          </a:bodyPr>
          <a:lstStyle/>
          <a:p>
            <a:r>
              <a:rPr lang="en-US" b="1" dirty="0"/>
              <a:t>Квантовий розподіл ключів (QKD)</a:t>
            </a:r>
            <a:endParaRPr lang="uk-UA" b="1" dirty="0"/>
          </a:p>
        </p:txBody>
      </p:sp>
      <p:pic>
        <p:nvPicPr>
          <p:cNvPr id="12" name="Picture 11" descr="Image result for caucasus university">
            <a:extLst>
              <a:ext uri="{FF2B5EF4-FFF2-40B4-BE49-F238E27FC236}">
                <a16:creationId xmlns:a16="http://schemas.microsoft.com/office/drawing/2014/main" id="{E09FF6E2-F06E-14E7-8874-F4EC4069A0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788" y="230687"/>
            <a:ext cx="1541081" cy="1577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5FEC94D-E8A1-53EF-6760-B84C3A4D2E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7931" y="89794"/>
            <a:ext cx="1852863" cy="185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868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6E16CF-568A-DB52-A3EB-6D4FADCDD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7720" y="349225"/>
            <a:ext cx="3571240" cy="1325563"/>
          </a:xfrm>
        </p:spPr>
        <p:txBody>
          <a:bodyPr/>
          <a:lstStyle/>
          <a:p>
            <a:r>
              <a:rPr lang="en-US" dirty="0"/>
              <a:t>Чому QKD?</a:t>
            </a:r>
            <a:endParaRPr lang="uk-UA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3FA9BA9F-8C4C-88AD-B29B-B3CEF6C8A913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687912" y="1766028"/>
            <a:ext cx="5718959" cy="2223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sz="1800" dirty="0"/>
              <a:t>Класична криптографія базується на </a:t>
            </a:r>
            <a:r>
              <a:rPr lang="en-US" sz="1800" dirty="0" err="1"/>
              <a:t>обчислювальних</a:t>
            </a:r>
            <a:r>
              <a:rPr lang="en-US" sz="1800" dirty="0"/>
              <a:t> </a:t>
            </a:r>
            <a:r>
              <a:rPr lang="en-US" sz="1800" dirty="0" err="1"/>
              <a:t>припущеннях</a:t>
            </a:r>
            <a:endParaRPr lang="en-US" sz="1800" dirty="0"/>
          </a:p>
          <a:p>
            <a:pPr lvl="0"/>
            <a:r>
              <a:rPr lang="en-US" sz="1800" dirty="0"/>
              <a:t>Квантова криптографія базується на </a:t>
            </a:r>
            <a:r>
              <a:rPr lang="en-US" sz="1800" dirty="0" err="1"/>
              <a:t>фізичних</a:t>
            </a:r>
            <a:r>
              <a:rPr lang="en-US" sz="1800" dirty="0"/>
              <a:t> </a:t>
            </a:r>
            <a:r>
              <a:rPr lang="en-US" sz="1800" dirty="0" err="1"/>
              <a:t>законах</a:t>
            </a:r>
            <a:endParaRPr lang="en-US" sz="1800" dirty="0"/>
          </a:p>
          <a:p>
            <a:pPr lvl="0"/>
            <a:r>
              <a:rPr lang="en-US" sz="1800" dirty="0"/>
              <a:t>Теорема про неможливість клонування забезпечує безпечний </a:t>
            </a:r>
            <a:r>
              <a:rPr lang="en-US" sz="1800" dirty="0" err="1"/>
              <a:t>обмін</a:t>
            </a:r>
            <a:r>
              <a:rPr lang="en-US" sz="1800" dirty="0"/>
              <a:t> </a:t>
            </a:r>
            <a:r>
              <a:rPr lang="en-US" sz="1800" dirty="0" err="1"/>
              <a:t>ключами</a:t>
            </a:r>
            <a:endParaRPr lang="en-US" sz="18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3">
                <a:extLst>
                  <a:ext uri="{FF2B5EF4-FFF2-40B4-BE49-F238E27FC236}">
                    <a16:creationId xmlns:a16="http://schemas.microsoft.com/office/drawing/2014/main" id="{CFE92BDB-2FA7-C92E-6761-85B37EB7944F}"/>
                  </a:ext>
                </a:extLst>
              </p:cNvPr>
              <p:cNvSpPr>
                <a:spLocks noGrp="1" noChangeArrowheads="1"/>
              </p:cNvSpPr>
              <p:nvPr>
                <p:ph type="body" sz="quarter" idx="11"/>
              </p:nvPr>
            </p:nvSpPr>
            <p:spPr bwMode="auto">
              <a:xfrm>
                <a:off x="448051" y="4732649"/>
                <a:ext cx="5718959" cy="3416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800"/>
                        <m:t>No</m:t>
                      </m:r>
                      <m:r>
                        <m:rPr>
                          <m:nor/>
                        </m:rPr>
                        <a:rPr lang="en-US" sz="1800" i="1"/>
                        <m:t>−</m:t>
                      </m:r>
                      <m:r>
                        <m:rPr>
                          <m:nor/>
                        </m:rPr>
                        <a:rPr lang="en-US" sz="1800"/>
                        <m:t>cloning</m:t>
                      </m:r>
                      <m:r>
                        <m:rPr>
                          <m:nor/>
                        </m:rPr>
                        <a:rPr lang="en-US" sz="1800"/>
                        <m:t> </m:t>
                      </m:r>
                      <m:r>
                        <m:rPr>
                          <m:nor/>
                        </m:rPr>
                        <a:rPr lang="en-US" sz="1800"/>
                        <m:t>theorem</m:t>
                      </m:r>
                      <m:r>
                        <m:rPr>
                          <m:nor/>
                        </m:rPr>
                        <a:rPr lang="en-US" sz="1800"/>
                        <m:t>:</m:t>
                      </m:r>
                      <m:r>
                        <m:rPr>
                          <m:nor/>
                        </m:rPr>
                        <a:rPr lang="en-US" sz="1800" i="1"/>
                        <m:t> 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∄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𝑈</m:t>
                      </m:r>
                      <m:r>
                        <m:rPr>
                          <m:nor/>
                        </m:rPr>
                        <a:rPr lang="en-US" sz="1800" i="1"/>
                        <m:t> </m:t>
                      </m:r>
                      <m:r>
                        <m:rPr>
                          <m:nor/>
                        </m:rPr>
                        <a:rPr lang="en-US" sz="1800"/>
                        <m:t>s</m:t>
                      </m:r>
                      <m:r>
                        <m:rPr>
                          <m:nor/>
                        </m:rPr>
                        <a:rPr lang="en-US" sz="1800"/>
                        <m:t>.</m:t>
                      </m:r>
                      <m:r>
                        <m:rPr>
                          <m:nor/>
                        </m:rPr>
                        <a:rPr lang="en-US" sz="1800"/>
                        <m:t>t</m:t>
                      </m:r>
                      <m:r>
                        <m:rPr>
                          <m:nor/>
                        </m:rPr>
                        <a:rPr lang="en-US" sz="1800"/>
                        <m:t>.</m:t>
                      </m:r>
                      <m:r>
                        <m:rPr>
                          <m:nor/>
                        </m:rPr>
                        <a:rPr lang="en-US" sz="1800" i="1"/>
                        <m:t> 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sz="180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n-US" sz="1800">
                          <a:latin typeface="Cambria Math" panose="02040503050406030204" pitchFamily="18" charset="0"/>
                        </a:rPr>
                        <m:t>⟩|0⟩=|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n-US" sz="1800">
                          <a:latin typeface="Cambria Math" panose="02040503050406030204" pitchFamily="18" charset="0"/>
                        </a:rPr>
                        <m:t>⟩|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n-US" sz="1800">
                          <a:latin typeface="Cambria Math" panose="02040503050406030204" pitchFamily="18" charset="0"/>
                        </a:rPr>
                        <m:t>⟩ ∀|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n-US" sz="1800"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8" name="Rectangle 3">
                <a:extLst>
                  <a:ext uri="{FF2B5EF4-FFF2-40B4-BE49-F238E27FC236}">
                    <a16:creationId xmlns:a16="http://schemas.microsoft.com/office/drawing/2014/main" id="{CFE92BDB-2FA7-C92E-6761-85B37EB794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 bwMode="auto">
              <a:xfrm>
                <a:off x="448051" y="4732649"/>
                <a:ext cx="5718959" cy="341632"/>
              </a:xfrm>
              <a:prstGeom prst="rect">
                <a:avLst/>
              </a:prstGeom>
              <a:blipFill>
                <a:blip r:embed="rId2"/>
                <a:stretch>
                  <a:fillRect b="-1428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8" name="Picture 4" descr="Quantum Key Distribution (QKD) - Quantum Technology | Quantum Flagship">
            <a:extLst>
              <a:ext uri="{FF2B5EF4-FFF2-40B4-BE49-F238E27FC236}">
                <a16:creationId xmlns:a16="http://schemas.microsoft.com/office/drawing/2014/main" id="{2EFAEF31-4077-EBD7-E6D3-24B9E434FF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6871" y="2354530"/>
            <a:ext cx="4781389" cy="2148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537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05408-BF07-86A4-1EB2-3D75386B2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881434-6EB2-6415-2271-FE6756458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Ключова ідея QKD</a:t>
            </a:r>
            <a:endParaRPr lang="uk-UA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FFF56EF-4F8E-D5B5-E50B-8C6C8184B1B8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759031" y="1907813"/>
            <a:ext cx="5336969" cy="17251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sz="1800" dirty="0"/>
              <a:t>Alice кодує біти в </a:t>
            </a:r>
            <a:r>
              <a:rPr lang="en-US" sz="1800" dirty="0" err="1"/>
              <a:t>квантових</a:t>
            </a:r>
            <a:r>
              <a:rPr lang="en-US" sz="1800" dirty="0"/>
              <a:t> </a:t>
            </a:r>
            <a:r>
              <a:rPr lang="en-US" sz="1800" dirty="0" err="1"/>
              <a:t>станах</a:t>
            </a:r>
            <a:endParaRPr lang="en-US" sz="1800" dirty="0"/>
          </a:p>
          <a:p>
            <a:pPr lvl="0"/>
            <a:r>
              <a:rPr lang="en-US" sz="1800" dirty="0"/>
              <a:t>Bob вимірює у </a:t>
            </a:r>
            <a:r>
              <a:rPr lang="en-US" sz="1800" dirty="0" err="1"/>
              <a:t>випадкових</a:t>
            </a:r>
            <a:r>
              <a:rPr lang="en-US" sz="1800" dirty="0"/>
              <a:t> </a:t>
            </a:r>
            <a:r>
              <a:rPr lang="uk-UA" sz="1800" dirty="0"/>
              <a:t>базисах</a:t>
            </a:r>
            <a:endParaRPr lang="en-US" sz="1800" dirty="0"/>
          </a:p>
          <a:p>
            <a:pPr lvl="0"/>
            <a:r>
              <a:rPr lang="en-US" sz="1800" dirty="0"/>
              <a:t>Безпека: втручання Єви завжди можна виявити.</a:t>
            </a:r>
          </a:p>
          <a:p>
            <a:pPr lvl="0"/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248EAC4D-A731-55B1-EBCC-76DF9FA7B516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759031" y="4180221"/>
            <a:ext cx="5225988" cy="8418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«Безпека гарантується квантовою механікою, а не обчислювальною складністю».</a:t>
            </a:r>
            <a:br>
              <a:rPr lang="en-US" sz="1800" dirty="0"/>
            </a:br>
            <a:endParaRPr lang="en-US" sz="1800" dirty="0">
              <a:solidFill>
                <a:schemeClr val="tx1"/>
              </a:solidFill>
            </a:endParaRPr>
          </a:p>
        </p:txBody>
      </p:sp>
      <p:pic>
        <p:nvPicPr>
          <p:cNvPr id="2052" name="Picture 4" descr="Communication between Alice and Bob intercepted by Eve. Here, channel... |  Download Scientific Diagram">
            <a:extLst>
              <a:ext uri="{FF2B5EF4-FFF2-40B4-BE49-F238E27FC236}">
                <a16:creationId xmlns:a16="http://schemas.microsoft.com/office/drawing/2014/main" id="{FE58C7F9-E7CD-1AA2-1189-F7174FB48D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640680"/>
            <a:ext cx="4762500" cy="3381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1745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AE9E4-FC53-632B-3AF1-0AD4CA26F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CF2055-1298-0CE9-51D9-45994C438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80" y="615347"/>
            <a:ext cx="10515600" cy="1325563"/>
          </a:xfrm>
        </p:spPr>
        <p:txBody>
          <a:bodyPr/>
          <a:lstStyle/>
          <a:p>
            <a:r>
              <a:rPr lang="en-US" dirty="0"/>
              <a:t>Стани поляризації фотонів</a:t>
            </a:r>
            <a:br>
              <a:rPr lang="en-US" dirty="0"/>
            </a:br>
            <a:endParaRPr lang="uk-U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88BE2268-93C9-88B4-6AC3-ABDF9115FF2A}"/>
                  </a:ext>
                </a:extLst>
              </p:cNvPr>
              <p:cNvSpPr>
                <a:spLocks noGrp="1" noChangeArrowheads="1"/>
              </p:cNvSpPr>
              <p:nvPr>
                <p:ph type="body" sz="quarter" idx="10"/>
              </p:nvPr>
            </p:nvSpPr>
            <p:spPr bwMode="auto">
              <a:xfrm>
                <a:off x="614680" y="1694880"/>
                <a:ext cx="7669721" cy="99617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lvl="0"/>
                <a:r>
                  <a:rPr lang="en-US" sz="1800" dirty="0" err="1"/>
                  <a:t>Обчислювальн</a:t>
                </a:r>
                <a:r>
                  <a:rPr lang="uk-UA" sz="1800" dirty="0" err="1"/>
                  <a:t>ий</a:t>
                </a:r>
                <a:r>
                  <a:rPr lang="en-US" sz="1800" dirty="0"/>
                  <a:t> </a:t>
                </a:r>
                <a:r>
                  <a:rPr lang="uk-UA" sz="1800" dirty="0"/>
                  <a:t>базис</a:t>
                </a:r>
                <a:r>
                  <a:rPr lang="en-US" sz="1800" dirty="0"/>
                  <a:t>:</a:t>
                </a:r>
                <a:r>
                  <a:rPr lang="uk-UA" sz="1800" dirty="0"/>
                  <a:t> </a:t>
                </a:r>
                <a14:m>
                  <m:oMath xmlns:m="http://schemas.openxmlformats.org/officeDocument/2006/math">
                    <m:r>
                      <a:rPr lang="en-US" sz="1800" smtClean="0">
                        <a:latin typeface="Cambria Math" panose="02040503050406030204" pitchFamily="18" charset="0"/>
                      </a:rPr>
                      <m:t>|0⟩,|1⟩</m:t>
                    </m:r>
                  </m:oMath>
                </a14:m>
                <a:r>
                  <a:rPr lang="uk-UA" sz="1800" dirty="0"/>
                  <a:t> </a:t>
                </a:r>
                <a:r>
                  <a:rPr lang="en-US" sz="1800" dirty="0"/>
                  <a:t> (</a:t>
                </a:r>
                <a:r>
                  <a:rPr lang="en-US" sz="1800" dirty="0" err="1"/>
                  <a:t>вертикальн</a:t>
                </a:r>
                <a:r>
                  <a:rPr lang="uk-UA" sz="1800" dirty="0" err="1"/>
                  <a:t>ий</a:t>
                </a:r>
                <a:r>
                  <a:rPr lang="en-US" sz="1800" dirty="0"/>
                  <a:t>, </a:t>
                </a:r>
                <a:r>
                  <a:rPr lang="en-US" sz="1800" dirty="0" err="1"/>
                  <a:t>горизонтальн</a:t>
                </a:r>
                <a:r>
                  <a:rPr lang="uk-UA" sz="1800" dirty="0" err="1"/>
                  <a:t>ий</a:t>
                </a:r>
                <a:r>
                  <a:rPr lang="en-US" sz="1800" dirty="0"/>
                  <a:t>).</a:t>
                </a:r>
              </a:p>
              <a:p>
                <a:pPr lvl="0"/>
                <a:r>
                  <a:rPr lang="en-US" sz="1800" dirty="0"/>
                  <a:t>Діагональна основа: </a:t>
                </a:r>
                <a14:m>
                  <m:oMath xmlns:m="http://schemas.openxmlformats.org/officeDocument/2006/math">
                    <m:r>
                      <a:rPr lang="en-US" sz="1800" smtClean="0">
                        <a:latin typeface="Cambria Math" panose="02040503050406030204" pitchFamily="18" charset="0"/>
                      </a:rPr>
                      <m:t>|+⟩,|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⟩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>
                                <a:latin typeface="Cambria Math" panose="02040503050406030204" pitchFamily="18" charset="0"/>
                              </a:rPr>
                              <m:t>45</m:t>
                            </m:r>
                          </m:e>
                          <m:sup>
                            <m:r>
                              <a:rPr lang="en-US" sz="1800"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a:rPr lang="en-US" sz="180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>
                                <a:latin typeface="Cambria Math" panose="02040503050406030204" pitchFamily="18" charset="0"/>
                              </a:rPr>
                              <m:t>135</m:t>
                            </m:r>
                          </m:e>
                          <m:sup>
                            <m:r>
                              <a:rPr lang="en-US" sz="1800"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e>
                    </m:d>
                  </m:oMath>
                </a14:m>
                <a:endParaRPr lang="en-US" sz="1800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88BE2268-93C9-88B4-6AC3-ABDF9115FF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 bwMode="auto">
              <a:xfrm>
                <a:off x="614680" y="1694880"/>
                <a:ext cx="7669721" cy="996170"/>
              </a:xfrm>
              <a:prstGeom prst="rect">
                <a:avLst/>
              </a:prstGeom>
              <a:blipFill>
                <a:blip r:embed="rId2"/>
                <a:stretch>
                  <a:fillRect l="-715" t="-552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4">
                <a:extLst>
                  <a:ext uri="{FF2B5EF4-FFF2-40B4-BE49-F238E27FC236}">
                    <a16:creationId xmlns:a16="http://schemas.microsoft.com/office/drawing/2014/main" id="{8D42B780-DDD1-CDEF-54D1-CA1E52481B89}"/>
                  </a:ext>
                </a:extLst>
              </p:cNvPr>
              <p:cNvSpPr>
                <a:spLocks noGrp="1" noChangeArrowheads="1"/>
              </p:cNvSpPr>
              <p:nvPr>
                <p:ph type="body" sz="quarter" idx="11"/>
              </p:nvPr>
            </p:nvSpPr>
            <p:spPr bwMode="auto">
              <a:xfrm>
                <a:off x="614680" y="3429000"/>
                <a:ext cx="5225988" cy="11928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|+⟩=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>
                              <a:latin typeface="Cambria Math" panose="02040503050406030204" pitchFamily="18" charset="0"/>
                            </a:rPr>
                            <m:t>|0⟩+|1⟩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US">
                          <a:latin typeface="Cambria Math" panose="02040503050406030204" pitchFamily="18" charset="0"/>
                        </a:rPr>
                        <m:t>, |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⟩=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>
                              <a:latin typeface="Cambria Math" panose="02040503050406030204" pitchFamily="18" charset="0"/>
                            </a:rPr>
                            <m:t>|0⟩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|1⟩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dirty="0"/>
              </a:p>
              <a:p>
                <a:pPr lvl="0"/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Rectangle 4">
                <a:extLst>
                  <a:ext uri="{FF2B5EF4-FFF2-40B4-BE49-F238E27FC236}">
                    <a16:creationId xmlns:a16="http://schemas.microsoft.com/office/drawing/2014/main" id="{8D42B780-DDD1-CDEF-54D1-CA1E52481B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 bwMode="auto">
              <a:xfrm>
                <a:off x="614680" y="3429000"/>
                <a:ext cx="5225988" cy="11928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8" name="Picture 6" descr="Classification of Polarization">
            <a:extLst>
              <a:ext uri="{FF2B5EF4-FFF2-40B4-BE49-F238E27FC236}">
                <a16:creationId xmlns:a16="http://schemas.microsoft.com/office/drawing/2014/main" id="{C16D1089-0476-0889-1A27-9133D10019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1334" y="2583466"/>
            <a:ext cx="4876800" cy="2333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2872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29666-F5F7-5849-7B61-C95D92B8F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AF909F-C420-5487-0150-B67BDA376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Огляд протоколу BB84</a:t>
            </a:r>
            <a:endParaRPr lang="uk-UA" dirty="0"/>
          </a:p>
        </p:txBody>
      </p:sp>
      <p:sp>
        <p:nvSpPr>
          <p:cNvPr id="11" name="Rectangle 12">
            <a:extLst>
              <a:ext uri="{FF2B5EF4-FFF2-40B4-BE49-F238E27FC236}">
                <a16:creationId xmlns:a16="http://schemas.microsoft.com/office/drawing/2014/main" id="{C4461A07-7549-45FE-97F7-11844066ED32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838200" y="1690688"/>
            <a:ext cx="6497320" cy="2354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000" dirty="0"/>
              <a:t>Alice </a:t>
            </a:r>
            <a:r>
              <a:rPr lang="uk-UA" sz="2000" dirty="0"/>
              <a:t>обирає</a:t>
            </a:r>
            <a:r>
              <a:rPr lang="en-US" sz="2000" dirty="0"/>
              <a:t> випадкові біти + </a:t>
            </a:r>
            <a:r>
              <a:rPr lang="en-US" sz="2000" dirty="0" err="1"/>
              <a:t>бази</a:t>
            </a:r>
            <a:r>
              <a:rPr lang="uk-UA" sz="2000" dirty="0" err="1"/>
              <a:t>си</a:t>
            </a:r>
            <a:endParaRPr lang="en-US" sz="200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000" dirty="0"/>
              <a:t>Відправляє фотони </a:t>
            </a:r>
            <a:r>
              <a:rPr lang="en-US" sz="2000" dirty="0" err="1"/>
              <a:t>через</a:t>
            </a:r>
            <a:r>
              <a:rPr lang="en-US" sz="2000" dirty="0"/>
              <a:t> </a:t>
            </a:r>
            <a:r>
              <a:rPr lang="en-US" sz="2000" dirty="0" err="1"/>
              <a:t>канал</a:t>
            </a:r>
            <a:endParaRPr lang="en-US" sz="200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000" dirty="0"/>
              <a:t>Bob вимірює за допомогою </a:t>
            </a:r>
            <a:r>
              <a:rPr lang="en-US" sz="2000" dirty="0" err="1"/>
              <a:t>випадкових</a:t>
            </a:r>
            <a:r>
              <a:rPr lang="en-US" sz="2000" dirty="0"/>
              <a:t> </a:t>
            </a:r>
            <a:r>
              <a:rPr lang="en-US" sz="2000" dirty="0" err="1"/>
              <a:t>баз</a:t>
            </a:r>
            <a:r>
              <a:rPr lang="uk-UA" sz="2000" dirty="0" err="1"/>
              <a:t>исів</a:t>
            </a:r>
            <a:endParaRPr lang="en-US" sz="200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000" dirty="0" err="1"/>
              <a:t>Бази</a:t>
            </a:r>
            <a:r>
              <a:rPr lang="uk-UA" sz="2000" dirty="0" err="1"/>
              <a:t>си</a:t>
            </a:r>
            <a:r>
              <a:rPr lang="en-US" sz="2000" dirty="0"/>
              <a:t> порівнюються через </a:t>
            </a:r>
            <a:r>
              <a:rPr lang="en-US" sz="2000" dirty="0" err="1"/>
              <a:t>публічний</a:t>
            </a:r>
            <a:r>
              <a:rPr lang="en-US" sz="2000" dirty="0"/>
              <a:t> </a:t>
            </a:r>
            <a:r>
              <a:rPr lang="en-US" sz="2000" dirty="0" err="1"/>
              <a:t>канал</a:t>
            </a:r>
            <a:endParaRPr lang="en-US" sz="200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000" dirty="0"/>
              <a:t>Збережено відібраний ключ.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4" name="Picture 4" descr="An Enhanced Architecture to Resolve Public-Key Cryptographic Issues in the  Internet of Things (IoT), Employing Quantum Computing Supremacy">
            <a:extLst>
              <a:ext uri="{FF2B5EF4-FFF2-40B4-BE49-F238E27FC236}">
                <a16:creationId xmlns:a16="http://schemas.microsoft.com/office/drawing/2014/main" id="{7B3E36B8-F594-59D8-C0BA-FA65570D9A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7163" y="3746399"/>
            <a:ext cx="4642707" cy="1624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0897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E93BC-6CE8-2E55-4C78-2A3F112A9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F0B427-8EF1-53DC-B11C-E026A39FF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7394" y="195271"/>
            <a:ext cx="7371080" cy="1325563"/>
          </a:xfrm>
        </p:spPr>
        <p:txBody>
          <a:bodyPr/>
          <a:lstStyle/>
          <a:p>
            <a:r>
              <a:rPr lang="en-US" dirty="0"/>
              <a:t>Імовірності вимірювання</a:t>
            </a:r>
            <a:endParaRPr lang="uk-UA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5D54772-3E61-30BA-5773-CB1913F67225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725385" y="1789693"/>
            <a:ext cx="7669721" cy="1245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sz="1800" dirty="0"/>
              <a:t>Вимірювання є правильним лише в тому випадку, </a:t>
            </a:r>
            <a:r>
              <a:rPr lang="en-US" sz="1800" dirty="0" err="1"/>
              <a:t>якщо</a:t>
            </a:r>
            <a:r>
              <a:rPr lang="en-US" sz="1800" dirty="0"/>
              <a:t> </a:t>
            </a:r>
            <a:r>
              <a:rPr lang="uk-UA" sz="1800" dirty="0"/>
              <a:t>базис</a:t>
            </a:r>
            <a:r>
              <a:rPr lang="en-US" sz="1800" dirty="0"/>
              <a:t> Bob збігається з </a:t>
            </a:r>
            <a:r>
              <a:rPr lang="ru-RU" sz="1800" dirty="0"/>
              <a:t>базисом</a:t>
            </a:r>
            <a:r>
              <a:rPr lang="en-US" sz="1800" dirty="0"/>
              <a:t> Alice.</a:t>
            </a:r>
          </a:p>
          <a:p>
            <a:pPr lvl="0"/>
            <a:r>
              <a:rPr lang="en-US" sz="1800" dirty="0" err="1"/>
              <a:t>Якщо</a:t>
            </a:r>
            <a:r>
              <a:rPr lang="en-US" sz="1800" dirty="0"/>
              <a:t> </a:t>
            </a:r>
            <a:r>
              <a:rPr lang="en-US" sz="1800" dirty="0" err="1"/>
              <a:t>бази</a:t>
            </a:r>
            <a:r>
              <a:rPr lang="ru-RU" sz="1800" dirty="0"/>
              <a:t>си</a:t>
            </a:r>
            <a:r>
              <a:rPr lang="en-US" sz="1800" dirty="0"/>
              <a:t> відрізняються , результати будуть випадковими.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4">
                <a:extLst>
                  <a:ext uri="{FF2B5EF4-FFF2-40B4-BE49-F238E27FC236}">
                    <a16:creationId xmlns:a16="http://schemas.microsoft.com/office/drawing/2014/main" id="{BDA3F2A2-6F52-1B47-EBBD-910B589E811F}"/>
                  </a:ext>
                </a:extLst>
              </p:cNvPr>
              <p:cNvSpPr>
                <a:spLocks noGrp="1" noChangeArrowheads="1"/>
              </p:cNvSpPr>
              <p:nvPr>
                <p:ph type="body" sz="quarter" idx="11"/>
              </p:nvPr>
            </p:nvSpPr>
            <p:spPr bwMode="auto">
              <a:xfrm>
                <a:off x="725385" y="3572879"/>
                <a:ext cx="5225988" cy="11181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i="1"/>
                        <m:t> </m:t>
                      </m:r>
                      <m:r>
                        <m:rPr>
                          <m:nor/>
                        </m:rPr>
                        <a:rPr lang="en-US"/>
                        <m:t>correct</m:t>
                      </m:r>
                      <m:r>
                        <m:rPr>
                          <m:nor/>
                        </m:rPr>
                        <a:rPr lang="en-US" i="1"/>
                        <m:t> 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)=1,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i="1"/>
                        <m:t> </m:t>
                      </m:r>
                      <m:r>
                        <m:rPr>
                          <m:nor/>
                        </m:rPr>
                        <a:rPr lang="en-US"/>
                        <m:t>error</m:t>
                      </m:r>
                      <m:r>
                        <m:rPr>
                          <m:nor/>
                        </m:rPr>
                        <a:rPr lang="en-US" i="1"/>
                        <m:t> 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lvl="0"/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Rectangle 4">
                <a:extLst>
                  <a:ext uri="{FF2B5EF4-FFF2-40B4-BE49-F238E27FC236}">
                    <a16:creationId xmlns:a16="http://schemas.microsoft.com/office/drawing/2014/main" id="{BDA3F2A2-6F52-1B47-EBBD-910B589E81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 bwMode="auto">
              <a:xfrm>
                <a:off x="725385" y="3572879"/>
                <a:ext cx="5225988" cy="111812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100" name="Picture 4" descr="Amazon.com: GDMINLO Soft Tape Measure Double Scale Body Sewing Flexible  Tailor Craft Vinyl Ruler for Weight Loss Medical Body Measurement, Has  Centimetre Scale on Reverse Side 60-inch（White）">
            <a:extLst>
              <a:ext uri="{FF2B5EF4-FFF2-40B4-BE49-F238E27FC236}">
                <a16:creationId xmlns:a16="http://schemas.microsoft.com/office/drawing/2014/main" id="{F487B356-339B-0579-F4D4-244311D1FF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9528" y="3134166"/>
            <a:ext cx="4377892" cy="3113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7011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CEE1E-940F-FAE5-2F1F-801C976A8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4B4947-6499-129F-08D9-B05C19421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Виправлення помилок</a:t>
            </a:r>
            <a:endParaRPr lang="uk-UA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3E884AA-27DC-891B-0C4D-FB459973205F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838200" y="1826941"/>
            <a:ext cx="8448040" cy="1245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/>
              <a:t>Alice і Bob виправляють невідповідні біти за допомогою класичних протоколів.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/>
              <a:t>Перевірка парності, каскадні коди, коди LDPC.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4">
                <a:extLst>
                  <a:ext uri="{FF2B5EF4-FFF2-40B4-BE49-F238E27FC236}">
                    <a16:creationId xmlns:a16="http://schemas.microsoft.com/office/drawing/2014/main" id="{DF5B8AD2-0454-2D77-376C-4F2A7E6F1DD5}"/>
                  </a:ext>
                </a:extLst>
              </p:cNvPr>
              <p:cNvSpPr>
                <a:spLocks noGrp="1" noChangeArrowheads="1"/>
              </p:cNvSpPr>
              <p:nvPr>
                <p:ph type="body" sz="quarter" idx="11"/>
              </p:nvPr>
            </p:nvSpPr>
            <p:spPr bwMode="auto">
              <a:xfrm>
                <a:off x="2229460" y="3910241"/>
                <a:ext cx="6892636" cy="8298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/>
                            <m:t>corrected</m:t>
                          </m:r>
                          <m:r>
                            <m:rPr>
                              <m:nor/>
                            </m:rPr>
                            <a:rPr lang="en-US" i="1"/>
                            <m:t> 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/>
                            <m:t>Alice</m:t>
                          </m:r>
                          <m:r>
                            <m:rPr>
                              <m:nor/>
                            </m:rPr>
                            <a:rPr lang="en-US" i="1"/>
                            <m:t> 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⊕</m:t>
                      </m:r>
                      <m:r>
                        <m:rPr>
                          <m:nor/>
                        </m:rPr>
                        <a:rPr lang="en-US" i="1"/>
                        <m:t> </m:t>
                      </m:r>
                      <m:r>
                        <m:rPr>
                          <m:nor/>
                        </m:rPr>
                        <a:rPr lang="en-US"/>
                        <m:t>Error</m:t>
                      </m:r>
                      <m:r>
                        <m:rPr>
                          <m:nor/>
                        </m:rPr>
                        <a:rPr lang="en-US"/>
                        <m:t>_</m:t>
                      </m:r>
                      <m:r>
                        <m:rPr>
                          <m:nor/>
                        </m:rPr>
                        <a:rPr lang="en-US"/>
                        <m:t>correction</m:t>
                      </m:r>
                      <m:r>
                        <m:rPr>
                          <m:nor/>
                        </m:rPr>
                        <a:rPr lang="en-US"/>
                        <m:t>_</m:t>
                      </m:r>
                      <m:r>
                        <m:rPr>
                          <m:nor/>
                        </m:rPr>
                        <a:rPr lang="en-US"/>
                        <m:t>info</m:t>
                      </m:r>
                      <m:r>
                        <m:rPr>
                          <m:nor/>
                        </m:rPr>
                        <a:rPr lang="en-US" i="1"/>
                        <m:t> </m:t>
                      </m:r>
                    </m:oMath>
                  </m:oMathPara>
                </a14:m>
                <a:endParaRPr lang="en-US" dirty="0"/>
              </a:p>
              <a:p>
                <a:pPr lvl="0"/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Rectangle 4">
                <a:extLst>
                  <a:ext uri="{FF2B5EF4-FFF2-40B4-BE49-F238E27FC236}">
                    <a16:creationId xmlns:a16="http://schemas.microsoft.com/office/drawing/2014/main" id="{DF5B8AD2-0454-2D77-376C-4F2A7E6F1D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 bwMode="auto">
              <a:xfrm>
                <a:off x="2229460" y="3910241"/>
                <a:ext cx="6892636" cy="8298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4962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7B322-B9EE-D24E-6D42-D776CB46D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49DB5A-0D1A-C39D-1D50-19B70B9E3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Посилення конфіденційності</a:t>
            </a:r>
            <a:endParaRPr lang="uk-UA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70DE8A6-8B32-B364-45E4-597D9DA06A3D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741363" y="2188019"/>
            <a:ext cx="4857420" cy="10833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sz="1800" dirty="0"/>
              <a:t>Видалити можливу </a:t>
            </a:r>
            <a:r>
              <a:rPr lang="en-US" sz="1800" dirty="0" err="1"/>
              <a:t>інформацію</a:t>
            </a:r>
            <a:r>
              <a:rPr lang="en-US" sz="1800" dirty="0"/>
              <a:t> </a:t>
            </a:r>
            <a:r>
              <a:rPr lang="ru-RU" sz="1800" dirty="0"/>
              <a:t> </a:t>
            </a:r>
            <a:r>
              <a:rPr lang="en-US" sz="1800" dirty="0"/>
              <a:t>Eve.</a:t>
            </a:r>
          </a:p>
          <a:p>
            <a:pPr lvl="0"/>
            <a:r>
              <a:rPr lang="en-US" sz="1800" dirty="0"/>
              <a:t>Використовуйте універсальні хеш-функції.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7">
                <a:extLst>
                  <a:ext uri="{FF2B5EF4-FFF2-40B4-BE49-F238E27FC236}">
                    <a16:creationId xmlns:a16="http://schemas.microsoft.com/office/drawing/2014/main" id="{EDC684D2-4EA6-D64A-7F71-0EA4802BDC23}"/>
                  </a:ext>
                </a:extLst>
              </p:cNvPr>
              <p:cNvSpPr>
                <a:spLocks noGrp="1" noChangeArrowheads="1"/>
              </p:cNvSpPr>
              <p:nvPr>
                <p:ph type="body" sz="quarter" idx="11"/>
              </p:nvPr>
            </p:nvSpPr>
            <p:spPr bwMode="auto">
              <a:xfrm>
                <a:off x="741363" y="3768724"/>
                <a:ext cx="4197688" cy="152336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/>
                            <m:t>final</m:t>
                          </m:r>
                          <m:r>
                            <m:rPr>
                              <m:nor/>
                            </m:rPr>
                            <a:rPr lang="en-US" i="1"/>
                            <m:t> 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Hash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/>
                                <m:t>corrected</m:t>
                              </m:r>
                              <m:r>
                                <m:rPr>
                                  <m:nor/>
                                </m:rPr>
                                <a:rPr lang="en-US" i="1"/>
                                <m:t> 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800" dirty="0"/>
              </a:p>
              <a:p>
                <a:pPr marR="0" lvl="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Rectangle 7">
                <a:extLst>
                  <a:ext uri="{FF2B5EF4-FFF2-40B4-BE49-F238E27FC236}">
                    <a16:creationId xmlns:a16="http://schemas.microsoft.com/office/drawing/2014/main" id="{EDC684D2-4EA6-D64A-7F71-0EA4802BDC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 bwMode="auto">
              <a:xfrm>
                <a:off x="741363" y="3768724"/>
                <a:ext cx="4197688" cy="152336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7ECB6A36-4BE1-A594-2500-0A01892A835C}"/>
              </a:ext>
            </a:extLst>
          </p:cNvPr>
          <p:cNvSpPr txBox="1"/>
          <p:nvPr/>
        </p:nvSpPr>
        <p:spPr>
          <a:xfrm>
            <a:off x="5883760" y="1959886"/>
            <a:ext cx="6095010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Остаточний секретний ключ: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Захист від необмеженої обчислювальної потужності.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Безпека на основі квантової фізики + теорії інформації.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F0DB60-6264-6602-811E-1A49D85B21FE}"/>
              </a:ext>
            </a:extLst>
          </p:cNvPr>
          <p:cNvSpPr txBox="1"/>
          <p:nvPr/>
        </p:nvSpPr>
        <p:spPr>
          <a:xfrm>
            <a:off x="5274992" y="3977399"/>
            <a:ext cx="6388688" cy="1703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50000"/>
              </a:lnSpc>
              <a:spcAft>
                <a:spcPts val="1100"/>
              </a:spcAft>
              <a:buNone/>
            </a:pPr>
            <a:r>
              <a:rPr lang="en-US" sz="1800" dirty="0" err="1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Навіть</a:t>
            </a:r>
            <a:r>
              <a:rPr lang="en-US" sz="18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Georgia" panose="02040502050405020303" pitchFamily="18" charset="0"/>
                <a:cs typeface="Times New Roman" panose="02020603050405020304" pitchFamily="18" charset="0"/>
              </a:rPr>
              <a:t>за допомогою </a:t>
            </a:r>
            <a:r>
              <a:rPr lang="en-US" dirty="0" err="1">
                <a:latin typeface="Georgia" panose="02040502050405020303" pitchFamily="18" charset="0"/>
                <a:cs typeface="Times New Roman" panose="02020603050405020304" pitchFamily="18" charset="0"/>
              </a:rPr>
              <a:t>квантового</a:t>
            </a:r>
            <a:r>
              <a:rPr lang="en-US" dirty="0">
                <a:latin typeface="Georgia" panose="02040502050405020303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Georgia" panose="02040502050405020303" pitchFamily="18" charset="0"/>
                <a:cs typeface="Times New Roman" panose="02020603050405020304" pitchFamily="18" charset="0"/>
              </a:rPr>
              <a:t>комп'ютера</a:t>
            </a:r>
            <a:r>
              <a:rPr lang="en-US" dirty="0">
                <a:latin typeface="Georgia" panose="02040502050405020303" pitchFamily="18" charset="0"/>
                <a:cs typeface="Times New Roman" panose="02020603050405020304" pitchFamily="18" charset="0"/>
              </a:rPr>
              <a:t> Eve не може дізнатися остаточний ключ, не будучи виявленою.</a:t>
            </a:r>
            <a:br>
              <a:rPr lang="en-US" dirty="0">
                <a:latin typeface="Georgia" panose="02040502050405020303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Georgia" panose="02040502050405020303" pitchFamily="18" charset="0"/>
                <a:cs typeface="Times New Roman" panose="02020603050405020304" pitchFamily="18" charset="0"/>
              </a:rPr>
              <a:t>Зображення: Alice</a:t>
            </a:r>
            <a:r>
              <a:rPr lang="ru-RU" dirty="0">
                <a:latin typeface="Georgia" panose="02040502050405020303" pitchFamily="18" charset="0"/>
                <a:cs typeface="Times New Roman" panose="02020603050405020304" pitchFamily="18" charset="0"/>
              </a:rPr>
              <a:t> </a:t>
            </a:r>
            <a:r>
              <a:rPr lang="uk-UA" dirty="0">
                <a:latin typeface="Georgia" panose="02040502050405020303" pitchFamily="18" charset="0"/>
                <a:cs typeface="Times New Roman" panose="02020603050405020304" pitchFamily="18" charset="0"/>
              </a:rPr>
              <a:t>і</a:t>
            </a:r>
            <a:r>
              <a:rPr lang="en-US" dirty="0">
                <a:latin typeface="Georgia" panose="02040502050405020303" pitchFamily="18" charset="0"/>
                <a:cs typeface="Times New Roman" panose="02020603050405020304" pitchFamily="18" charset="0"/>
              </a:rPr>
              <a:t>  Bob з відповідними секретними ключами, Eve виключена.</a:t>
            </a:r>
          </a:p>
        </p:txBody>
      </p:sp>
    </p:spTree>
    <p:extLst>
      <p:ext uri="{BB962C8B-B14F-4D97-AF65-F5344CB8AC3E}">
        <p14:creationId xmlns:p14="http://schemas.microsoft.com/office/powerpoint/2010/main" val="585168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suppress_None"/>
          <p:cNvSpPr>
            <a:spLocks noGrp="1"/>
          </p:cNvSpPr>
          <p:nvPr>
            <p:ph type="title"/>
          </p:nvPr>
        </p:nvSpPr>
        <p:spPr>
          <a:xfrm>
            <a:off x="-10000000" y="-10000000"/>
            <a:ext cx="100" cy="100"/>
          </a:xfrm>
        </p:spPr>
        <p:txBody>
          <a:bodyPr wrap="none"/>
          <a:lstStyle/>
          <a:p>
            <a:endParaRPr/>
          </a:p>
        </p:txBody>
      </p:sp>
      <p:sp>
        <p:nvSpPr>
          <p:cNvPr id="402" name="suppress_10"/>
          <p:cNvSpPr>
            <a:spLocks noGrp="1"/>
          </p:cNvSpPr>
          <p:nvPr>
            <p:ph type="body" idx="10"/>
          </p:nvPr>
        </p:nvSpPr>
        <p:spPr>
          <a:xfrm>
            <a:off x="-10000000" y="-10000000"/>
            <a:ext cx="100" cy="100"/>
          </a:xfrm>
        </p:spPr>
        <p:txBody>
          <a:bodyPr wrap="none"/>
          <a:lstStyle/>
          <a:p>
            <a:endParaRPr/>
          </a:p>
        </p:txBody>
      </p:sp>
      <p:sp>
        <p:nvSpPr>
          <p:cNvPr id="403" name="suppress_11"/>
          <p:cNvSpPr>
            <a:spLocks noGrp="1"/>
          </p:cNvSpPr>
          <p:nvPr>
            <p:ph type="body" idx="11"/>
          </p:nvPr>
        </p:nvSpPr>
        <p:spPr>
          <a:xfrm>
            <a:off x="-10000000" y="-10000000"/>
            <a:ext cx="100" cy="100"/>
          </a:xfrm>
        </p:spPr>
        <p:txBody>
          <a:bodyPr wrap="none"/>
          <a:lstStyle/>
          <a:p>
            <a:endParaRPr/>
          </a:p>
        </p:txBody>
      </p:sp>
      <p:sp>
        <p:nvSpPr>
          <p:cNvPr id="404" name="suppress_12"/>
          <p:cNvSpPr>
            <a:spLocks noGrp="1"/>
          </p:cNvSpPr>
          <p:nvPr>
            <p:ph type="body" idx="12"/>
          </p:nvPr>
        </p:nvSpPr>
        <p:spPr>
          <a:xfrm>
            <a:off x="-10000000" y="-10000000"/>
            <a:ext cx="100" cy="100"/>
          </a:xfrm>
        </p:spPr>
        <p:txBody>
          <a:bodyPr wrap="none"/>
          <a:lstStyle/>
          <a:p>
            <a:endParaRPr/>
          </a:p>
        </p:txBody>
      </p:sp>
      <p:sp>
        <p:nvSpPr>
          <p:cNvPr id="405" name="Заголовок 1">
            <a:extLst>
              <a:ext uri="{FF2B5EF4-FFF2-40B4-BE49-F238E27FC236}">
                <a16:creationId xmlns:a16="http://schemas.microsoft.com/office/drawing/2014/main" id="{1B6E16CF-568A-DB52-A3EB-6D4FADCDD95D}"/>
              </a:ext>
            </a:extLst>
          </p:cNvPr>
          <p:cNvSpPr>
            <a:spLocks noGrp="1"/>
          </p:cNvSpPr>
          <p:nvPr/>
        </p:nvSpPr>
        <p:spPr>
          <a:xfrm>
            <a:off x="2077720" y="349225"/>
            <a:ext cx="3571240" cy="1325563"/>
          </a:xfrm>
        </p:spPr>
        <p:txBody>
          <a:bodyPr/>
          <a:lstStyle/>
          <a:p>
            <a:r>
              <a:rPr lang="en-US" sz="3200" dirty="0"/>
              <a:t>QKD vs PQC: два підходи</a:t>
            </a:r>
          </a:p>
          <a:p>
            <a:endParaRPr lang="uk-UA" dirty="0"/>
          </a:p>
        </p:txBody>
      </p:sp>
      <p:sp>
        <p:nvSpPr>
          <p:cNvPr id="406" name="Rounded Rectangle 405"/>
          <p:cNvSpPr/>
          <p:nvPr/>
        </p:nvSpPr>
        <p:spPr>
          <a:xfrm>
            <a:off x="700000" y="1750000"/>
            <a:ext cx="5246000" cy="700000"/>
          </a:xfrm>
          <a:prstGeom prst="roundRect">
            <a:avLst/>
          </a:prstGeom>
          <a:solidFill>
            <a:srgbClr val="C0504D"/>
          </a:solidFill>
          <a:ln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QKD (квантовий розподіл ключів)</a:t>
            </a:r>
          </a:p>
        </p:txBody>
      </p:sp>
      <p:sp>
        <p:nvSpPr>
          <p:cNvPr id="407" name="Rectangle 406"/>
          <p:cNvSpPr/>
          <p:nvPr/>
        </p:nvSpPr>
        <p:spPr>
          <a:xfrm>
            <a:off x="700000" y="2550000"/>
            <a:ext cx="5246000" cy="3500000"/>
          </a:xfrm>
          <a:prstGeom prst="rect">
            <a:avLst/>
          </a:prstGeom>
          <a:solidFill>
            <a:srgbClr val="F7F9FD"/>
          </a:solidFill>
          <a:ln>
            <a:solidFill>
              <a:srgbClr val="CDD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0000" tIns="200000" rIns="200000" bIns="200000" rtlCol="0" anchor="ctr"/>
          <a:lstStyle/>
          <a:p>
            <a:r>
              <a:rPr sz="1300">
                <a:solidFill>
                  <a:srgbClr val="222233"/>
                </a:solidFill>
              </a:rPr>
              <a:t>•  Безпека: закони квантової фізики</a:t>
            </a:r>
          </a:p>
          <a:p>
            <a:r>
              <a:rPr sz="1300">
                <a:solidFill>
                  <a:srgbClr val="222233"/>
                </a:solidFill>
              </a:rPr>
              <a:t>•  Потребує фізичний квантовий канал</a:t>
            </a:r>
          </a:p>
          <a:p>
            <a:r>
              <a:rPr sz="1300">
                <a:solidFill>
                  <a:srgbClr val="222233"/>
                </a:solidFill>
              </a:rPr>
              <a:t>•  Дальність: до ~400 км (оптика), супутник</a:t>
            </a:r>
          </a:p>
          <a:p>
            <a:r>
              <a:rPr sz="1300">
                <a:solidFill>
                  <a:srgbClr val="222233"/>
                </a:solidFill>
              </a:rPr>
              <a:t>•  Швидкість: десятки кбіт/с — Мбіт/с</a:t>
            </a:r>
          </a:p>
          <a:p>
            <a:r>
              <a:rPr sz="1300">
                <a:solidFill>
                  <a:srgbClr val="222233"/>
                </a:solidFill>
              </a:rPr>
              <a:t>•  Інфраструктура: спец. обладнання, $$$</a:t>
            </a:r>
          </a:p>
          <a:p>
            <a:r>
              <a:rPr sz="1300">
                <a:solidFill>
                  <a:srgbClr val="222233"/>
                </a:solidFill>
              </a:rPr>
              <a:t>•  Застосування: бекбон, держсектор</a:t>
            </a:r>
          </a:p>
        </p:txBody>
      </p:sp>
      <p:sp>
        <p:nvSpPr>
          <p:cNvPr id="408" name="Rounded Rectangle 407"/>
          <p:cNvSpPr/>
          <p:nvPr/>
        </p:nvSpPr>
        <p:spPr>
          <a:xfrm>
            <a:off x="6246000" y="1750000"/>
            <a:ext cx="5246000" cy="700000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PQC (постквантова криптографія)</a:t>
            </a:r>
          </a:p>
        </p:txBody>
      </p:sp>
      <p:sp>
        <p:nvSpPr>
          <p:cNvPr id="409" name="Rectangle 408"/>
          <p:cNvSpPr/>
          <p:nvPr/>
        </p:nvSpPr>
        <p:spPr>
          <a:xfrm>
            <a:off x="6246000" y="2550000"/>
            <a:ext cx="5246000" cy="3500000"/>
          </a:xfrm>
          <a:prstGeom prst="rect">
            <a:avLst/>
          </a:prstGeom>
          <a:solidFill>
            <a:srgbClr val="F7F9FD"/>
          </a:solidFill>
          <a:ln>
            <a:solidFill>
              <a:srgbClr val="CDD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0000" tIns="200000" rIns="200000" bIns="200000" rtlCol="0" anchor="ctr"/>
          <a:lstStyle/>
          <a:p>
            <a:r>
              <a:rPr sz="1300">
                <a:solidFill>
                  <a:srgbClr val="222233"/>
                </a:solidFill>
              </a:rPr>
              <a:t>•  Безпека: обчислювальна складність задач</a:t>
            </a:r>
          </a:p>
          <a:p>
            <a:r>
              <a:rPr sz="1300">
                <a:solidFill>
                  <a:srgbClr val="222233"/>
                </a:solidFill>
              </a:rPr>
              <a:t>•  Працює на звичайних комп'ютерах</a:t>
            </a:r>
          </a:p>
          <a:p>
            <a:r>
              <a:rPr sz="1300">
                <a:solidFill>
                  <a:srgbClr val="222233"/>
                </a:solidFill>
              </a:rPr>
              <a:t>•  Інтернет-масштаб, будь-який канал</a:t>
            </a:r>
          </a:p>
          <a:p>
            <a:r>
              <a:rPr sz="1300">
                <a:solidFill>
                  <a:srgbClr val="222233"/>
                </a:solidFill>
              </a:rPr>
              <a:t>•  Швидкість: зіставна з класикою</a:t>
            </a:r>
          </a:p>
          <a:p>
            <a:r>
              <a:rPr sz="1300">
                <a:solidFill>
                  <a:srgbClr val="222233"/>
                </a:solidFill>
              </a:rPr>
              <a:t>•  Програмне оновлення (TLS, VPN, PKI)</a:t>
            </a:r>
          </a:p>
          <a:p>
            <a:r>
              <a:rPr sz="1300">
                <a:solidFill>
                  <a:srgbClr val="222233"/>
                </a:solidFill>
              </a:rPr>
              <a:t>•  NIST 2024: ML-KEM, ML-DSA, SLH-DSA</a:t>
            </a:r>
          </a:p>
        </p:txBody>
      </p:sp>
      <p:sp>
        <p:nvSpPr>
          <p:cNvPr id="410" name="TextBox 409"/>
          <p:cNvSpPr txBox="1"/>
          <p:nvPr/>
        </p:nvSpPr>
        <p:spPr>
          <a:xfrm>
            <a:off x="700000" y="6230000"/>
            <a:ext cx="1079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445577"/>
                </a:solidFill>
              </a:rPr>
              <a:t>Гібрид QKD + PQC — оптимум для критичної інфраструктури (NSA CNSA 2.0)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suppress_None"/>
          <p:cNvSpPr>
            <a:spLocks noGrp="1"/>
          </p:cNvSpPr>
          <p:nvPr>
            <p:ph type="title"/>
          </p:nvPr>
        </p:nvSpPr>
        <p:spPr>
          <a:xfrm>
            <a:off x="-10000000" y="-10000000"/>
            <a:ext cx="100" cy="100"/>
          </a:xfrm>
        </p:spPr>
        <p:txBody>
          <a:bodyPr wrap="none"/>
          <a:lstStyle/>
          <a:p>
            <a:endParaRPr/>
          </a:p>
        </p:txBody>
      </p:sp>
      <p:sp>
        <p:nvSpPr>
          <p:cNvPr id="407" name="suppress_10"/>
          <p:cNvSpPr>
            <a:spLocks noGrp="1"/>
          </p:cNvSpPr>
          <p:nvPr>
            <p:ph type="body" idx="10"/>
          </p:nvPr>
        </p:nvSpPr>
        <p:spPr>
          <a:xfrm>
            <a:off x="-10000000" y="-10000000"/>
            <a:ext cx="100" cy="100"/>
          </a:xfrm>
        </p:spPr>
        <p:txBody>
          <a:bodyPr wrap="none"/>
          <a:lstStyle/>
          <a:p>
            <a:endParaRPr/>
          </a:p>
        </p:txBody>
      </p:sp>
      <p:sp>
        <p:nvSpPr>
          <p:cNvPr id="408" name="suppress_11"/>
          <p:cNvSpPr>
            <a:spLocks noGrp="1"/>
          </p:cNvSpPr>
          <p:nvPr>
            <p:ph type="body" idx="11"/>
          </p:nvPr>
        </p:nvSpPr>
        <p:spPr>
          <a:xfrm>
            <a:off x="-10000000" y="-10000000"/>
            <a:ext cx="100" cy="100"/>
          </a:xfrm>
        </p:spPr>
        <p:txBody>
          <a:bodyPr wrap="none"/>
          <a:lstStyle/>
          <a:p>
            <a:endParaRPr/>
          </a:p>
        </p:txBody>
      </p:sp>
      <p:sp>
        <p:nvSpPr>
          <p:cNvPr id="409" name="suppress_12"/>
          <p:cNvSpPr>
            <a:spLocks noGrp="1"/>
          </p:cNvSpPr>
          <p:nvPr>
            <p:ph type="body" idx="12"/>
          </p:nvPr>
        </p:nvSpPr>
        <p:spPr>
          <a:xfrm>
            <a:off x="-10000000" y="-10000000"/>
            <a:ext cx="100" cy="100"/>
          </a:xfrm>
        </p:spPr>
        <p:txBody>
          <a:bodyPr wrap="none"/>
          <a:lstStyle/>
          <a:p>
            <a:endParaRPr/>
          </a:p>
        </p:txBody>
      </p:sp>
      <p:sp>
        <p:nvSpPr>
          <p:cNvPr id="410" name="Заголовок 1">
            <a:extLst>
              <a:ext uri="{FF2B5EF4-FFF2-40B4-BE49-F238E27FC236}">
                <a16:creationId xmlns:a16="http://schemas.microsoft.com/office/drawing/2014/main" id="{1B6E16CF-568A-DB52-A3EB-6D4FADCDD95D}"/>
              </a:ext>
            </a:extLst>
          </p:cNvPr>
          <p:cNvSpPr>
            <a:spLocks noGrp="1"/>
          </p:cNvSpPr>
          <p:nvPr/>
        </p:nvSpPr>
        <p:spPr>
          <a:xfrm>
            <a:off x="2077720" y="349225"/>
            <a:ext cx="3571240" cy="1325563"/>
          </a:xfrm>
        </p:spPr>
        <p:txBody>
          <a:bodyPr/>
          <a:lstStyle/>
          <a:p>
            <a:r>
              <a:rPr lang="en-US" sz="3200" dirty="0"/>
              <a:t>BB84: потік протоколу</a:t>
            </a:r>
          </a:p>
          <a:p>
            <a:endParaRPr lang="uk-UA" dirty="0"/>
          </a:p>
        </p:txBody>
      </p:sp>
      <p:sp>
        <p:nvSpPr>
          <p:cNvPr id="411" name="Rounded Rectangle 410"/>
          <p:cNvSpPr/>
          <p:nvPr/>
        </p:nvSpPr>
        <p:spPr>
          <a:xfrm>
            <a:off x="600000" y="2000000"/>
            <a:ext cx="1540333" cy="1400000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100000" rIns="80000" bIns="10000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1. Підготовка</a:t>
            </a:r>
          </a:p>
          <a:p>
            <a:pPr algn="ctr"/>
            <a:r>
              <a:rPr sz="1000">
                <a:solidFill>
                  <a:srgbClr val="E8EEF9"/>
                </a:solidFill>
              </a:rPr>
              <a:t>Alice: біт + базис</a:t>
            </a:r>
          </a:p>
        </p:txBody>
      </p:sp>
      <p:sp>
        <p:nvSpPr>
          <p:cNvPr id="412" name="Right Arrow 411"/>
          <p:cNvSpPr/>
          <p:nvPr/>
        </p:nvSpPr>
        <p:spPr>
          <a:xfrm>
            <a:off x="2140333" y="2550000"/>
            <a:ext cx="350000" cy="300000"/>
          </a:xfrm>
          <a:prstGeom prst="rightArrow">
            <a:avLst/>
          </a:prstGeom>
          <a:solidFill>
            <a:srgbClr val="9BB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3" name="Rounded Rectangle 412"/>
          <p:cNvSpPr/>
          <p:nvPr/>
        </p:nvSpPr>
        <p:spPr>
          <a:xfrm>
            <a:off x="2490333" y="2000000"/>
            <a:ext cx="1540333" cy="1400000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100000" rIns="80000" bIns="10000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2. Передача</a:t>
            </a:r>
          </a:p>
          <a:p>
            <a:pPr algn="ctr"/>
            <a:r>
              <a:rPr sz="1000">
                <a:solidFill>
                  <a:srgbClr val="E8EEF9"/>
                </a:solidFill>
              </a:rPr>
              <a:t>фотон → канал</a:t>
            </a:r>
          </a:p>
        </p:txBody>
      </p:sp>
      <p:sp>
        <p:nvSpPr>
          <p:cNvPr id="414" name="Right Arrow 413"/>
          <p:cNvSpPr/>
          <p:nvPr/>
        </p:nvSpPr>
        <p:spPr>
          <a:xfrm>
            <a:off x="4030666" y="2550000"/>
            <a:ext cx="350000" cy="300000"/>
          </a:xfrm>
          <a:prstGeom prst="rightArrow">
            <a:avLst/>
          </a:prstGeom>
          <a:solidFill>
            <a:srgbClr val="9BB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5" name="Rounded Rectangle 414"/>
          <p:cNvSpPr/>
          <p:nvPr/>
        </p:nvSpPr>
        <p:spPr>
          <a:xfrm>
            <a:off x="4380666" y="2000000"/>
            <a:ext cx="1540333" cy="1400000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100000" rIns="80000" bIns="10000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3. Вимірювання</a:t>
            </a:r>
          </a:p>
          <a:p>
            <a:pPr algn="ctr"/>
            <a:r>
              <a:rPr sz="1000">
                <a:solidFill>
                  <a:srgbClr val="E8EEF9"/>
                </a:solidFill>
              </a:rPr>
              <a:t>Bob: вип. базис</a:t>
            </a:r>
          </a:p>
        </p:txBody>
      </p:sp>
      <p:sp>
        <p:nvSpPr>
          <p:cNvPr id="416" name="Right Arrow 415"/>
          <p:cNvSpPr/>
          <p:nvPr/>
        </p:nvSpPr>
        <p:spPr>
          <a:xfrm>
            <a:off x="5920999" y="2550000"/>
            <a:ext cx="350000" cy="300000"/>
          </a:xfrm>
          <a:prstGeom prst="rightArrow">
            <a:avLst/>
          </a:prstGeom>
          <a:solidFill>
            <a:srgbClr val="9BB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7" name="Rounded Rectangle 416"/>
          <p:cNvSpPr/>
          <p:nvPr/>
        </p:nvSpPr>
        <p:spPr>
          <a:xfrm>
            <a:off x="6270999" y="2000000"/>
            <a:ext cx="1540333" cy="1400000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100000" rIns="80000" bIns="10000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4. Сифтинг</a:t>
            </a:r>
          </a:p>
          <a:p>
            <a:pPr algn="ctr"/>
            <a:r>
              <a:rPr sz="1000">
                <a:solidFill>
                  <a:srgbClr val="E8EEF9"/>
                </a:solidFill>
              </a:rPr>
              <a:t>публ. базиси</a:t>
            </a:r>
          </a:p>
        </p:txBody>
      </p:sp>
      <p:sp>
        <p:nvSpPr>
          <p:cNvPr id="418" name="Right Arrow 417"/>
          <p:cNvSpPr/>
          <p:nvPr/>
        </p:nvSpPr>
        <p:spPr>
          <a:xfrm>
            <a:off x="7811332" y="2550000"/>
            <a:ext cx="350000" cy="300000"/>
          </a:xfrm>
          <a:prstGeom prst="rightArrow">
            <a:avLst/>
          </a:prstGeom>
          <a:solidFill>
            <a:srgbClr val="9BB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9" name="Rounded Rectangle 418"/>
          <p:cNvSpPr/>
          <p:nvPr/>
        </p:nvSpPr>
        <p:spPr>
          <a:xfrm>
            <a:off x="8161332" y="2000000"/>
            <a:ext cx="1540333" cy="1400000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100000" rIns="80000" bIns="10000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5. QBER</a:t>
            </a:r>
          </a:p>
          <a:p>
            <a:pPr algn="ctr"/>
            <a:r>
              <a:rPr sz="1000">
                <a:solidFill>
                  <a:srgbClr val="E8EEF9"/>
                </a:solidFill>
              </a:rPr>
              <a:t>оцінка помилок</a:t>
            </a:r>
          </a:p>
        </p:txBody>
      </p:sp>
      <p:sp>
        <p:nvSpPr>
          <p:cNvPr id="420" name="Right Arrow 419"/>
          <p:cNvSpPr/>
          <p:nvPr/>
        </p:nvSpPr>
        <p:spPr>
          <a:xfrm>
            <a:off x="9701665" y="2550000"/>
            <a:ext cx="350000" cy="300000"/>
          </a:xfrm>
          <a:prstGeom prst="rightArrow">
            <a:avLst/>
          </a:prstGeom>
          <a:solidFill>
            <a:srgbClr val="9BB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1" name="Rounded Rectangle 420"/>
          <p:cNvSpPr/>
          <p:nvPr/>
        </p:nvSpPr>
        <p:spPr>
          <a:xfrm>
            <a:off x="10051665" y="2000000"/>
            <a:ext cx="1540333" cy="1400000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100000" rIns="80000" bIns="10000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6. Ключ</a:t>
            </a:r>
          </a:p>
          <a:p>
            <a:pPr algn="ctr"/>
            <a:r>
              <a:rPr sz="1000">
                <a:solidFill>
                  <a:srgbClr val="E8EEF9"/>
                </a:solidFill>
              </a:rPr>
              <a:t>EC + PA</a:t>
            </a:r>
          </a:p>
        </p:txBody>
      </p:sp>
      <p:sp>
        <p:nvSpPr>
          <p:cNvPr id="422" name="TextBox 421"/>
          <p:cNvSpPr txBox="1"/>
          <p:nvPr/>
        </p:nvSpPr>
        <p:spPr>
          <a:xfrm>
            <a:off x="600000" y="3650000"/>
            <a:ext cx="1099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i="1">
                <a:solidFill>
                  <a:srgbClr val="445577"/>
                </a:solidFill>
              </a:rPr>
              <a:t>Очікуваний QBER ≈ 0% без Eve; ≥ 25% при intercept-resend; поріг безпеки ~11%</a:t>
            </a:r>
          </a:p>
        </p:txBody>
      </p:sp>
      <p:sp>
        <p:nvSpPr>
          <p:cNvPr id="423" name="Rectangle 422"/>
          <p:cNvSpPr/>
          <p:nvPr/>
        </p:nvSpPr>
        <p:spPr>
          <a:xfrm>
            <a:off x="600000" y="4300000"/>
            <a:ext cx="10992000" cy="1800000"/>
          </a:xfrm>
          <a:prstGeom prst="rect">
            <a:avLst/>
          </a:prstGeom>
          <a:solidFill>
            <a:srgbClr val="F2F5FB"/>
          </a:solidFill>
          <a:ln>
            <a:solidFill>
              <a:srgbClr val="CDD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0000" tIns="150000" rIns="250000" bIns="150000" rtlCol="0" anchor="ctr"/>
          <a:lstStyle/>
          <a:p>
            <a:r>
              <a:rPr sz="1300">
                <a:solidFill>
                  <a:srgbClr val="222233"/>
                </a:solidFill>
              </a:rPr>
              <a:t>•  Джерело: ослаблений лазер або SPDC, μ ≈ 0.1–0.5 фотона/імпульс</a:t>
            </a:r>
          </a:p>
          <a:p>
            <a:r>
              <a:rPr sz="1300">
                <a:solidFill>
                  <a:srgbClr val="222233"/>
                </a:solidFill>
              </a:rPr>
              <a:t>•  Канал: оптоволокно ≤ 400 км (загасання ~0.2 дБ/км) або супутник</a:t>
            </a:r>
          </a:p>
          <a:p>
            <a:r>
              <a:rPr sz="1300">
                <a:solidFill>
                  <a:srgbClr val="222233"/>
                </a:solidFill>
              </a:rPr>
              <a:t>•  Детектори: SPAD / SNSPD з dark-count rate ~10⁻⁶</a:t>
            </a:r>
          </a:p>
          <a:p>
            <a:r>
              <a:rPr sz="1300">
                <a:solidFill>
                  <a:srgbClr val="222233"/>
                </a:solidFill>
              </a:rPr>
              <a:t>•  Сифтинг: Alice і Bob оголошують базиси → ~50% ключа зберігається</a:t>
            </a:r>
          </a:p>
          <a:p>
            <a:r>
              <a:rPr sz="1300">
                <a:solidFill>
                  <a:srgbClr val="222233"/>
                </a:solidFill>
              </a:rPr>
              <a:t>•  Error correction: Cascade / LDPC; Privacy amplification: universal hash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suppress_None"/>
          <p:cNvSpPr>
            <a:spLocks noGrp="1"/>
          </p:cNvSpPr>
          <p:nvPr>
            <p:ph type="title"/>
          </p:nvPr>
        </p:nvSpPr>
        <p:spPr>
          <a:xfrm>
            <a:off x="-10000000" y="-10000000"/>
            <a:ext cx="100" cy="100"/>
          </a:xfrm>
        </p:spPr>
        <p:txBody>
          <a:bodyPr wrap="none"/>
          <a:lstStyle/>
          <a:p>
            <a:endParaRPr/>
          </a:p>
        </p:txBody>
      </p:sp>
      <p:sp>
        <p:nvSpPr>
          <p:cNvPr id="412" name="suppress_10"/>
          <p:cNvSpPr>
            <a:spLocks noGrp="1"/>
          </p:cNvSpPr>
          <p:nvPr>
            <p:ph type="body" idx="10"/>
          </p:nvPr>
        </p:nvSpPr>
        <p:spPr>
          <a:xfrm>
            <a:off x="-10000000" y="-10000000"/>
            <a:ext cx="100" cy="100"/>
          </a:xfrm>
        </p:spPr>
        <p:txBody>
          <a:bodyPr wrap="none"/>
          <a:lstStyle/>
          <a:p>
            <a:endParaRPr/>
          </a:p>
        </p:txBody>
      </p:sp>
      <p:sp>
        <p:nvSpPr>
          <p:cNvPr id="413" name="suppress_11"/>
          <p:cNvSpPr>
            <a:spLocks noGrp="1"/>
          </p:cNvSpPr>
          <p:nvPr>
            <p:ph type="body" idx="11"/>
          </p:nvPr>
        </p:nvSpPr>
        <p:spPr>
          <a:xfrm>
            <a:off x="-10000000" y="-10000000"/>
            <a:ext cx="100" cy="100"/>
          </a:xfrm>
        </p:spPr>
        <p:txBody>
          <a:bodyPr wrap="none"/>
          <a:lstStyle/>
          <a:p>
            <a:endParaRPr/>
          </a:p>
        </p:txBody>
      </p:sp>
      <p:sp>
        <p:nvSpPr>
          <p:cNvPr id="414" name="suppress_12"/>
          <p:cNvSpPr>
            <a:spLocks noGrp="1"/>
          </p:cNvSpPr>
          <p:nvPr>
            <p:ph type="body" idx="12"/>
          </p:nvPr>
        </p:nvSpPr>
        <p:spPr>
          <a:xfrm>
            <a:off x="-10000000" y="-10000000"/>
            <a:ext cx="100" cy="100"/>
          </a:xfrm>
        </p:spPr>
        <p:txBody>
          <a:bodyPr wrap="none"/>
          <a:lstStyle/>
          <a:p>
            <a:endParaRPr/>
          </a:p>
        </p:txBody>
      </p:sp>
      <p:sp>
        <p:nvSpPr>
          <p:cNvPr id="415" name="Заголовок 1">
            <a:extLst>
              <a:ext uri="{FF2B5EF4-FFF2-40B4-BE49-F238E27FC236}">
                <a16:creationId xmlns:a16="http://schemas.microsoft.com/office/drawing/2014/main" id="{1B6E16CF-568A-DB52-A3EB-6D4FADCDD95D}"/>
              </a:ext>
            </a:extLst>
          </p:cNvPr>
          <p:cNvSpPr>
            <a:spLocks noGrp="1"/>
          </p:cNvSpPr>
          <p:nvPr/>
        </p:nvSpPr>
        <p:spPr>
          <a:xfrm>
            <a:off x="2077720" y="349225"/>
            <a:ext cx="3571240" cy="1325563"/>
          </a:xfrm>
        </p:spPr>
        <p:txBody>
          <a:bodyPr/>
          <a:lstStyle/>
          <a:p>
            <a:r>
              <a:rPr lang="en-US" sz="3200" dirty="0"/>
              <a:t>BB84: чотири стани (MUB)</a:t>
            </a:r>
          </a:p>
          <a:p>
            <a:endParaRPr lang="uk-UA" dirty="0"/>
          </a:p>
        </p:txBody>
      </p:sp>
      <p:graphicFrame>
        <p:nvGraphicFramePr>
          <p:cNvPr id="416" name="Table 415"/>
          <p:cNvGraphicFramePr>
            <a:graphicFrameLocks noGrp="1"/>
          </p:cNvGraphicFramePr>
          <p:nvPr/>
        </p:nvGraphicFramePr>
        <p:xfrm>
          <a:off x="500000" y="1750000"/>
          <a:ext cx="11192000" cy="40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116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Біт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Базис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Стан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Поляризація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Позначення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16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+ (Z, прямий)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|0⟩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горизонтальна 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16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+ (Z, прямий)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|1⟩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вертикальна ↑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16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× (X, діаг.)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|+⟩ = (|0⟩+|1⟩)/√2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діагональ 45°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16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× (X, діаг.)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|−⟩ = (|0⟩−|1⟩)/√2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антидіагональ 135°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17" name="TextBox 416"/>
          <p:cNvSpPr txBox="1"/>
          <p:nvPr/>
        </p:nvSpPr>
        <p:spPr>
          <a:xfrm>
            <a:off x="500000" y="5908000"/>
            <a:ext cx="111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555566"/>
                </a:solidFill>
              </a:rPr>
              <a:t>Базиси Z та X — взаємно незміщені (|⟨0|+⟩|² = 1/2). Вимір у "чужому" базисі → випадковий результат.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suppress_None"/>
          <p:cNvSpPr>
            <a:spLocks noGrp="1"/>
          </p:cNvSpPr>
          <p:nvPr>
            <p:ph type="title"/>
          </p:nvPr>
        </p:nvSpPr>
        <p:spPr>
          <a:xfrm>
            <a:off x="-10000000" y="-10000000"/>
            <a:ext cx="100" cy="100"/>
          </a:xfrm>
        </p:spPr>
        <p:txBody>
          <a:bodyPr wrap="none"/>
          <a:lstStyle/>
          <a:p>
            <a:endParaRPr/>
          </a:p>
        </p:txBody>
      </p:sp>
      <p:sp>
        <p:nvSpPr>
          <p:cNvPr id="417" name="suppress_10"/>
          <p:cNvSpPr>
            <a:spLocks noGrp="1"/>
          </p:cNvSpPr>
          <p:nvPr>
            <p:ph type="body" idx="10"/>
          </p:nvPr>
        </p:nvSpPr>
        <p:spPr>
          <a:xfrm>
            <a:off x="-10000000" y="-10000000"/>
            <a:ext cx="100" cy="100"/>
          </a:xfrm>
        </p:spPr>
        <p:txBody>
          <a:bodyPr wrap="none"/>
          <a:lstStyle/>
          <a:p>
            <a:endParaRPr/>
          </a:p>
        </p:txBody>
      </p:sp>
      <p:sp>
        <p:nvSpPr>
          <p:cNvPr id="418" name="suppress_11"/>
          <p:cNvSpPr>
            <a:spLocks noGrp="1"/>
          </p:cNvSpPr>
          <p:nvPr>
            <p:ph type="body" idx="11"/>
          </p:nvPr>
        </p:nvSpPr>
        <p:spPr>
          <a:xfrm>
            <a:off x="-10000000" y="-10000000"/>
            <a:ext cx="100" cy="100"/>
          </a:xfrm>
        </p:spPr>
        <p:txBody>
          <a:bodyPr wrap="none"/>
          <a:lstStyle/>
          <a:p>
            <a:endParaRPr/>
          </a:p>
        </p:txBody>
      </p:sp>
      <p:sp>
        <p:nvSpPr>
          <p:cNvPr id="419" name="suppress_12"/>
          <p:cNvSpPr>
            <a:spLocks noGrp="1"/>
          </p:cNvSpPr>
          <p:nvPr>
            <p:ph type="body" idx="12"/>
          </p:nvPr>
        </p:nvSpPr>
        <p:spPr>
          <a:xfrm>
            <a:off x="-10000000" y="-10000000"/>
            <a:ext cx="100" cy="100"/>
          </a:xfrm>
        </p:spPr>
        <p:txBody>
          <a:bodyPr wrap="none"/>
          <a:lstStyle/>
          <a:p>
            <a:endParaRPr/>
          </a:p>
        </p:txBody>
      </p:sp>
      <p:sp>
        <p:nvSpPr>
          <p:cNvPr id="420" name="Заголовок 1">
            <a:extLst>
              <a:ext uri="{FF2B5EF4-FFF2-40B4-BE49-F238E27FC236}">
                <a16:creationId xmlns:a16="http://schemas.microsoft.com/office/drawing/2014/main" id="{1B6E16CF-568A-DB52-A3EB-6D4FADCDD95D}"/>
              </a:ext>
            </a:extLst>
          </p:cNvPr>
          <p:cNvSpPr>
            <a:spLocks noGrp="1"/>
          </p:cNvSpPr>
          <p:nvPr/>
        </p:nvSpPr>
        <p:spPr>
          <a:xfrm>
            <a:off x="2077720" y="349225"/>
            <a:ext cx="3571240" cy="1325563"/>
          </a:xfrm>
        </p:spPr>
        <p:txBody>
          <a:bodyPr/>
          <a:lstStyle/>
          <a:p>
            <a:r>
              <a:rPr lang="en-US" sz="3200" dirty="0"/>
              <a:t>QBER — ключова метрика безпеки</a:t>
            </a:r>
          </a:p>
          <a:p>
            <a:endParaRPr lang="uk-UA" dirty="0"/>
          </a:p>
        </p:txBody>
      </p:sp>
      <p:sp>
        <p:nvSpPr>
          <p:cNvPr id="421" name="Rounded Rectangle 420"/>
          <p:cNvSpPr/>
          <p:nvPr/>
        </p:nvSpPr>
        <p:spPr>
          <a:xfrm>
            <a:off x="700000" y="1750000"/>
            <a:ext cx="5246000" cy="700000"/>
          </a:xfrm>
          <a:prstGeom prst="roundRect">
            <a:avLst/>
          </a:prstGeom>
          <a:solidFill>
            <a:srgbClr val="C0504D"/>
          </a:solidFill>
          <a:ln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Оцінка QBER</a:t>
            </a:r>
          </a:p>
        </p:txBody>
      </p:sp>
      <p:sp>
        <p:nvSpPr>
          <p:cNvPr id="422" name="Rectangle 421"/>
          <p:cNvSpPr/>
          <p:nvPr/>
        </p:nvSpPr>
        <p:spPr>
          <a:xfrm>
            <a:off x="700000" y="2550000"/>
            <a:ext cx="5246000" cy="3500000"/>
          </a:xfrm>
          <a:prstGeom prst="rect">
            <a:avLst/>
          </a:prstGeom>
          <a:solidFill>
            <a:srgbClr val="F7F9FD"/>
          </a:solidFill>
          <a:ln>
            <a:solidFill>
              <a:srgbClr val="CDD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0000" tIns="200000" rIns="200000" bIns="200000" rtlCol="0" anchor="ctr"/>
          <a:lstStyle/>
          <a:p>
            <a:r>
              <a:rPr sz="1300">
                <a:solidFill>
                  <a:srgbClr val="222233"/>
                </a:solidFill>
              </a:rPr>
              <a:t>•  QBER = помилкові біти / тестова вибірка</a:t>
            </a:r>
          </a:p>
          <a:p>
            <a:r>
              <a:rPr sz="1300">
                <a:solidFill>
                  <a:srgbClr val="222233"/>
                </a:solidFill>
              </a:rPr>
              <a:t>•  Без Eve: QBER ≈ dark counts + optics ≈ 1–3%</a:t>
            </a:r>
          </a:p>
          <a:p>
            <a:r>
              <a:rPr sz="1300">
                <a:solidFill>
                  <a:srgbClr val="222233"/>
                </a:solidFill>
              </a:rPr>
              <a:t>•  Intercept-resend Eve: QBER = 25%</a:t>
            </a:r>
          </a:p>
          <a:p>
            <a:r>
              <a:rPr sz="1300">
                <a:solidFill>
                  <a:srgbClr val="222233"/>
                </a:solidFill>
              </a:rPr>
              <a:t>•  Beam-splitter (PNS): QBER = 0%, але знижена швидкість</a:t>
            </a:r>
          </a:p>
          <a:p>
            <a:r>
              <a:rPr sz="1300">
                <a:solidFill>
                  <a:srgbClr val="222233"/>
                </a:solidFill>
              </a:rPr>
              <a:t>•  Тестова вибірка: розкриваються ~50% сифтованих</a:t>
            </a:r>
          </a:p>
        </p:txBody>
      </p:sp>
      <p:sp>
        <p:nvSpPr>
          <p:cNvPr id="423" name="Rounded Rectangle 422"/>
          <p:cNvSpPr/>
          <p:nvPr/>
        </p:nvSpPr>
        <p:spPr>
          <a:xfrm>
            <a:off x="6246000" y="1750000"/>
            <a:ext cx="5246000" cy="700000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Пороги безпеки</a:t>
            </a:r>
          </a:p>
        </p:txBody>
      </p:sp>
      <p:sp>
        <p:nvSpPr>
          <p:cNvPr id="424" name="Rectangle 423"/>
          <p:cNvSpPr/>
          <p:nvPr/>
        </p:nvSpPr>
        <p:spPr>
          <a:xfrm>
            <a:off x="6246000" y="2550000"/>
            <a:ext cx="5246000" cy="3500000"/>
          </a:xfrm>
          <a:prstGeom prst="rect">
            <a:avLst/>
          </a:prstGeom>
          <a:solidFill>
            <a:srgbClr val="F7F9FD"/>
          </a:solidFill>
          <a:ln>
            <a:solidFill>
              <a:srgbClr val="CDD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0000" tIns="200000" rIns="200000" bIns="200000" rtlCol="0" anchor="ctr"/>
          <a:lstStyle/>
          <a:p>
            <a:r>
              <a:rPr sz="1300">
                <a:solidFill>
                  <a:srgbClr val="222233"/>
                </a:solidFill>
              </a:rPr>
              <a:t>•  QBER &lt; 11%: безпека доведена (Shor-Preskill)</a:t>
            </a:r>
          </a:p>
          <a:p>
            <a:r>
              <a:rPr sz="1300">
                <a:solidFill>
                  <a:srgbClr val="222233"/>
                </a:solidFill>
              </a:rPr>
              <a:t>•  11% ≤ QBER &lt; 15%: граничний режим</a:t>
            </a:r>
          </a:p>
          <a:p>
            <a:r>
              <a:rPr sz="1300">
                <a:solidFill>
                  <a:srgbClr val="222233"/>
                </a:solidFill>
              </a:rPr>
              <a:t>•  QBER ≥ 15%: ABORT — ключ не виробляється</a:t>
            </a:r>
          </a:p>
          <a:p>
            <a:r>
              <a:rPr sz="1300">
                <a:solidFill>
                  <a:srgbClr val="222233"/>
                </a:solidFill>
              </a:rPr>
              <a:t>•  Finite-key: додаткові поправки (ε-безпека)</a:t>
            </a:r>
          </a:p>
          <a:p>
            <a:r>
              <a:rPr sz="1300">
                <a:solidFill>
                  <a:srgbClr val="222233"/>
                </a:solidFill>
              </a:rPr>
              <a:t>•  Decoy states: дозволяють ~11% навіть зі слабкими ім. станами</a:t>
            </a:r>
          </a:p>
        </p:txBody>
      </p:sp>
      <p:sp>
        <p:nvSpPr>
          <p:cNvPr id="425" name="TextBox 424"/>
          <p:cNvSpPr txBox="1"/>
          <p:nvPr/>
        </p:nvSpPr>
        <p:spPr>
          <a:xfrm>
            <a:off x="700000" y="6230000"/>
            <a:ext cx="1079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445577"/>
                </a:solidFill>
              </a:rPr>
              <a:t>Безпека QKD = закони фізики + статистичний тест QBER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suppress_None"/>
          <p:cNvSpPr>
            <a:spLocks noGrp="1"/>
          </p:cNvSpPr>
          <p:nvPr>
            <p:ph type="title"/>
          </p:nvPr>
        </p:nvSpPr>
        <p:spPr>
          <a:xfrm>
            <a:off x="-10000000" y="-10000000"/>
            <a:ext cx="100" cy="100"/>
          </a:xfrm>
        </p:spPr>
        <p:txBody>
          <a:bodyPr wrap="none"/>
          <a:lstStyle/>
          <a:p>
            <a:endParaRPr/>
          </a:p>
        </p:txBody>
      </p:sp>
      <p:sp>
        <p:nvSpPr>
          <p:cNvPr id="422" name="suppress_10"/>
          <p:cNvSpPr>
            <a:spLocks noGrp="1"/>
          </p:cNvSpPr>
          <p:nvPr>
            <p:ph type="body" idx="10"/>
          </p:nvPr>
        </p:nvSpPr>
        <p:spPr>
          <a:xfrm>
            <a:off x="-10000000" y="-10000000"/>
            <a:ext cx="100" cy="100"/>
          </a:xfrm>
        </p:spPr>
        <p:txBody>
          <a:bodyPr wrap="none"/>
          <a:lstStyle/>
          <a:p>
            <a:endParaRPr/>
          </a:p>
        </p:txBody>
      </p:sp>
      <p:sp>
        <p:nvSpPr>
          <p:cNvPr id="423" name="suppress_11"/>
          <p:cNvSpPr>
            <a:spLocks noGrp="1"/>
          </p:cNvSpPr>
          <p:nvPr>
            <p:ph type="body" idx="11"/>
          </p:nvPr>
        </p:nvSpPr>
        <p:spPr>
          <a:xfrm>
            <a:off x="-10000000" y="-10000000"/>
            <a:ext cx="100" cy="100"/>
          </a:xfrm>
        </p:spPr>
        <p:txBody>
          <a:bodyPr wrap="none"/>
          <a:lstStyle/>
          <a:p>
            <a:endParaRPr/>
          </a:p>
        </p:txBody>
      </p:sp>
      <p:sp>
        <p:nvSpPr>
          <p:cNvPr id="424" name="suppress_12"/>
          <p:cNvSpPr>
            <a:spLocks noGrp="1"/>
          </p:cNvSpPr>
          <p:nvPr>
            <p:ph type="body" idx="12"/>
          </p:nvPr>
        </p:nvSpPr>
        <p:spPr>
          <a:xfrm>
            <a:off x="-10000000" y="-10000000"/>
            <a:ext cx="100" cy="100"/>
          </a:xfrm>
        </p:spPr>
        <p:txBody>
          <a:bodyPr wrap="none"/>
          <a:lstStyle/>
          <a:p>
            <a:endParaRPr/>
          </a:p>
        </p:txBody>
      </p:sp>
      <p:sp>
        <p:nvSpPr>
          <p:cNvPr id="425" name="Заголовок 1">
            <a:extLst>
              <a:ext uri="{FF2B5EF4-FFF2-40B4-BE49-F238E27FC236}">
                <a16:creationId xmlns:a16="http://schemas.microsoft.com/office/drawing/2014/main" id="{1B6E16CF-568A-DB52-A3EB-6D4FADCDD95D}"/>
              </a:ext>
            </a:extLst>
          </p:cNvPr>
          <p:cNvSpPr>
            <a:spLocks noGrp="1"/>
          </p:cNvSpPr>
          <p:nvPr/>
        </p:nvSpPr>
        <p:spPr>
          <a:xfrm>
            <a:off x="2077720" y="349225"/>
            <a:ext cx="3571240" cy="1325563"/>
          </a:xfrm>
        </p:spPr>
        <p:txBody>
          <a:bodyPr/>
          <a:lstStyle/>
          <a:p>
            <a:r>
              <a:rPr lang="en-US" sz="3200" dirty="0"/>
              <a:t>Порівняння протоколів QKD</a:t>
            </a:r>
          </a:p>
          <a:p>
            <a:endParaRPr lang="uk-UA" dirty="0"/>
          </a:p>
        </p:txBody>
      </p:sp>
      <p:graphicFrame>
        <p:nvGraphicFramePr>
          <p:cNvPr id="426" name="Table 425"/>
          <p:cNvGraphicFramePr>
            <a:graphicFrameLocks noGrp="1"/>
          </p:cNvGraphicFramePr>
          <p:nvPr/>
        </p:nvGraphicFramePr>
        <p:xfrm>
          <a:off x="500000" y="1750000"/>
          <a:ext cx="11191998" cy="40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49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74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523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49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523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08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Протокол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Рік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Основа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Кодування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Особливість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8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BB84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1984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No-cloning, MUB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Поляризація / фаза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Базовий, найпоширеніший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8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B92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1992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2 неортогон. стани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Поляризація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Спрощений, менше станів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8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E91 (Ekert)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1991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Заплутаність (Bell)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EPR-пари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Тест нерівності Белла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8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SARG04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2004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BB84 + нова сифтація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Поляризація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Стійкіший до PNS-атак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08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Decoy-state BB84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2003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BB84 + слабкі ім.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Поляризація / фаза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Захист від PNS, масовий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08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CV-QKD (GG02)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2002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Гаусові когерентні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Квадратури X, P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Гомодинне детект., телеком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08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MDI-QKD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2012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Bell-state measurement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Time-bin / фаза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Усуває detector side-channels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089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TF-QKD (Twin-Field)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2018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Single-photon interf.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Фаза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Дальність &gt; 500 км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27" name="TextBox 426"/>
          <p:cNvSpPr txBox="1"/>
          <p:nvPr/>
        </p:nvSpPr>
        <p:spPr>
          <a:xfrm>
            <a:off x="500000" y="5908000"/>
            <a:ext cx="111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555566"/>
                </a:solidFill>
              </a:rPr>
              <a:t>BB84 + decoy states — домінуючий стандарт ITU-T Y.3800, ETSI QKD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suppress_None"/>
          <p:cNvSpPr>
            <a:spLocks noGrp="1"/>
          </p:cNvSpPr>
          <p:nvPr>
            <p:ph type="title"/>
          </p:nvPr>
        </p:nvSpPr>
        <p:spPr>
          <a:xfrm>
            <a:off x="-10000000" y="-10000000"/>
            <a:ext cx="100" cy="100"/>
          </a:xfrm>
        </p:spPr>
        <p:txBody>
          <a:bodyPr wrap="none"/>
          <a:lstStyle/>
          <a:p>
            <a:endParaRPr/>
          </a:p>
        </p:txBody>
      </p:sp>
      <p:sp>
        <p:nvSpPr>
          <p:cNvPr id="427" name="suppress_10"/>
          <p:cNvSpPr>
            <a:spLocks noGrp="1"/>
          </p:cNvSpPr>
          <p:nvPr>
            <p:ph type="body" idx="10"/>
          </p:nvPr>
        </p:nvSpPr>
        <p:spPr>
          <a:xfrm>
            <a:off x="-10000000" y="-10000000"/>
            <a:ext cx="100" cy="100"/>
          </a:xfrm>
        </p:spPr>
        <p:txBody>
          <a:bodyPr wrap="none"/>
          <a:lstStyle/>
          <a:p>
            <a:endParaRPr/>
          </a:p>
        </p:txBody>
      </p:sp>
      <p:sp>
        <p:nvSpPr>
          <p:cNvPr id="428" name="suppress_11"/>
          <p:cNvSpPr>
            <a:spLocks noGrp="1"/>
          </p:cNvSpPr>
          <p:nvPr>
            <p:ph type="body" idx="11"/>
          </p:nvPr>
        </p:nvSpPr>
        <p:spPr>
          <a:xfrm>
            <a:off x="-10000000" y="-10000000"/>
            <a:ext cx="100" cy="100"/>
          </a:xfrm>
        </p:spPr>
        <p:txBody>
          <a:bodyPr wrap="none"/>
          <a:lstStyle/>
          <a:p>
            <a:endParaRPr/>
          </a:p>
        </p:txBody>
      </p:sp>
      <p:sp>
        <p:nvSpPr>
          <p:cNvPr id="429" name="suppress_12"/>
          <p:cNvSpPr>
            <a:spLocks noGrp="1"/>
          </p:cNvSpPr>
          <p:nvPr>
            <p:ph type="body" idx="12"/>
          </p:nvPr>
        </p:nvSpPr>
        <p:spPr>
          <a:xfrm>
            <a:off x="-10000000" y="-10000000"/>
            <a:ext cx="100" cy="100"/>
          </a:xfrm>
        </p:spPr>
        <p:txBody>
          <a:bodyPr wrap="none"/>
          <a:lstStyle/>
          <a:p>
            <a:endParaRPr/>
          </a:p>
        </p:txBody>
      </p:sp>
      <p:sp>
        <p:nvSpPr>
          <p:cNvPr id="430" name="Заголовок 1">
            <a:extLst>
              <a:ext uri="{FF2B5EF4-FFF2-40B4-BE49-F238E27FC236}">
                <a16:creationId xmlns:a16="http://schemas.microsoft.com/office/drawing/2014/main" id="{1B6E16CF-568A-DB52-A3EB-6D4FADCDD95D}"/>
              </a:ext>
            </a:extLst>
          </p:cNvPr>
          <p:cNvSpPr>
            <a:spLocks noGrp="1"/>
          </p:cNvSpPr>
          <p:nvPr/>
        </p:nvSpPr>
        <p:spPr>
          <a:xfrm>
            <a:off x="2077720" y="349225"/>
            <a:ext cx="3571240" cy="1325563"/>
          </a:xfrm>
        </p:spPr>
        <p:txBody>
          <a:bodyPr/>
          <a:lstStyle/>
          <a:p>
            <a:r>
              <a:rPr lang="en-US" sz="3200" dirty="0"/>
              <a:t>Side-channel атаки на QKD</a:t>
            </a:r>
          </a:p>
          <a:p>
            <a:endParaRPr lang="uk-UA" dirty="0"/>
          </a:p>
        </p:txBody>
      </p:sp>
      <p:graphicFrame>
        <p:nvGraphicFramePr>
          <p:cNvPr id="431" name="Table 430"/>
          <p:cNvGraphicFramePr>
            <a:graphicFrameLocks noGrp="1"/>
          </p:cNvGraphicFramePr>
          <p:nvPr/>
        </p:nvGraphicFramePr>
        <p:xfrm>
          <a:off x="500000" y="1750000"/>
          <a:ext cx="11191999" cy="40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23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4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9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49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725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Атака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Ціль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Вектор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Захист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725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Photon-Number-Splitting (PNS)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WCP-джерело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Багатофотонні імпульси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Decoy states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725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Detector blinding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SPAD-детектор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Яскраве світло → лінійний режим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Моніторинг струму, MDI-QKD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725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Time-shift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Детектори D0 / D1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Зсув у часі → різна чутливість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Temporal calibration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725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Trojan-horse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Оптичний модулятор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Зондуюче світло в канал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Ізолятори, атенюатори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725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Phase-remapping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Фазовий модулятор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Зміщення фаз → Bell-стан розрив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Active phase randomization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725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Wavelength-dependent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BS, поляр. ел-ти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λ-залежний split ratio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Bandpass filters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725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Laser seeding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Laser Alice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Інжекція світла → фазова корел.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Optical isolators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32" name="TextBox 431"/>
          <p:cNvSpPr txBox="1"/>
          <p:nvPr/>
        </p:nvSpPr>
        <p:spPr>
          <a:xfrm>
            <a:off x="500000" y="5908000"/>
            <a:ext cx="111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555566"/>
                </a:solidFill>
              </a:rPr>
              <a:t>MDI-QKD (Measurement-Device-Independent) усуває усі атаки на детектори — центральний вузол недовірений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suppress_None"/>
          <p:cNvSpPr>
            <a:spLocks noGrp="1"/>
          </p:cNvSpPr>
          <p:nvPr>
            <p:ph type="title"/>
          </p:nvPr>
        </p:nvSpPr>
        <p:spPr>
          <a:xfrm>
            <a:off x="-10000000" y="-10000000"/>
            <a:ext cx="100" cy="100"/>
          </a:xfrm>
        </p:spPr>
        <p:txBody>
          <a:bodyPr wrap="none"/>
          <a:lstStyle/>
          <a:p>
            <a:endParaRPr/>
          </a:p>
        </p:txBody>
      </p:sp>
      <p:sp>
        <p:nvSpPr>
          <p:cNvPr id="432" name="suppress_10"/>
          <p:cNvSpPr>
            <a:spLocks noGrp="1"/>
          </p:cNvSpPr>
          <p:nvPr>
            <p:ph type="body" idx="10"/>
          </p:nvPr>
        </p:nvSpPr>
        <p:spPr>
          <a:xfrm>
            <a:off x="-10000000" y="-10000000"/>
            <a:ext cx="100" cy="100"/>
          </a:xfrm>
        </p:spPr>
        <p:txBody>
          <a:bodyPr wrap="none"/>
          <a:lstStyle/>
          <a:p>
            <a:endParaRPr/>
          </a:p>
        </p:txBody>
      </p:sp>
      <p:sp>
        <p:nvSpPr>
          <p:cNvPr id="433" name="suppress_11"/>
          <p:cNvSpPr>
            <a:spLocks noGrp="1"/>
          </p:cNvSpPr>
          <p:nvPr>
            <p:ph type="body" idx="11"/>
          </p:nvPr>
        </p:nvSpPr>
        <p:spPr>
          <a:xfrm>
            <a:off x="-10000000" y="-10000000"/>
            <a:ext cx="100" cy="100"/>
          </a:xfrm>
        </p:spPr>
        <p:txBody>
          <a:bodyPr wrap="none"/>
          <a:lstStyle/>
          <a:p>
            <a:endParaRPr/>
          </a:p>
        </p:txBody>
      </p:sp>
      <p:sp>
        <p:nvSpPr>
          <p:cNvPr id="434" name="suppress_12"/>
          <p:cNvSpPr>
            <a:spLocks noGrp="1"/>
          </p:cNvSpPr>
          <p:nvPr>
            <p:ph type="body" idx="12"/>
          </p:nvPr>
        </p:nvSpPr>
        <p:spPr>
          <a:xfrm>
            <a:off x="-10000000" y="-10000000"/>
            <a:ext cx="100" cy="100"/>
          </a:xfrm>
        </p:spPr>
        <p:txBody>
          <a:bodyPr wrap="none"/>
          <a:lstStyle/>
          <a:p>
            <a:endParaRPr/>
          </a:p>
        </p:txBody>
      </p:sp>
      <p:sp>
        <p:nvSpPr>
          <p:cNvPr id="435" name="Заголовок 1">
            <a:extLst>
              <a:ext uri="{FF2B5EF4-FFF2-40B4-BE49-F238E27FC236}">
                <a16:creationId xmlns:a16="http://schemas.microsoft.com/office/drawing/2014/main" id="{1B6E16CF-568A-DB52-A3EB-6D4FADCDD95D}"/>
              </a:ext>
            </a:extLst>
          </p:cNvPr>
          <p:cNvSpPr>
            <a:spLocks noGrp="1"/>
          </p:cNvSpPr>
          <p:nvPr/>
        </p:nvSpPr>
        <p:spPr>
          <a:xfrm>
            <a:off x="2077720" y="349225"/>
            <a:ext cx="3571240" cy="1325563"/>
          </a:xfrm>
        </p:spPr>
        <p:txBody>
          <a:bodyPr/>
          <a:lstStyle/>
          <a:p>
            <a:r>
              <a:rPr lang="en-US" sz="3200" dirty="0"/>
              <a:t>Комерційні QKD-системи (2024)</a:t>
            </a:r>
          </a:p>
          <a:p>
            <a:endParaRPr lang="uk-UA" dirty="0"/>
          </a:p>
        </p:txBody>
      </p:sp>
      <p:graphicFrame>
        <p:nvGraphicFramePr>
          <p:cNvPr id="436" name="Table 435"/>
          <p:cNvGraphicFramePr>
            <a:graphicFrameLocks noGrp="1"/>
          </p:cNvGraphicFramePr>
          <p:nvPr/>
        </p:nvGraphicFramePr>
        <p:xfrm>
          <a:off x="500000" y="1750000"/>
          <a:ext cx="11191999" cy="40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5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65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65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08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Виробник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Модель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Протокол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Дальність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Швидкість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8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ID Quantique (CH)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Cerberis XGR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BB84 + decoy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~70 км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~10 кбіт/с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8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Toshiba (UK/JP)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LongDistance QKD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T12 (decoy)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~600 км (lab)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~Мбіт/с @&lt;50км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8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QuantumCTek (CN)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QKD-POL1250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BB84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міський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~100 кбіт/с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8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MagiQ Tech (US)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QPN-8505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BB84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до 140 км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кбіт/с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08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QNu Labs (IN)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Armos QKD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BB84 + decoy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~150 км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~кбіт/с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08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KT / SK Tel. (KR)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QKD-M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BB84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~80 км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~кбіт/с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08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Pekin U / Micius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Супутник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BB84 decoy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1200 км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біт/с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089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Beijing–Shanghai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QKD-бекбон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Trusted-node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2000 км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2E"/>
                          </a:solidFill>
                        </a:rPr>
                        <a:t>серверний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37" name="TextBox 436"/>
          <p:cNvSpPr txBox="1"/>
          <p:nvPr/>
        </p:nvSpPr>
        <p:spPr>
          <a:xfrm>
            <a:off x="500000" y="5908000"/>
            <a:ext cx="111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555566"/>
                </a:solidFill>
              </a:rPr>
              <a:t>Стандарти: ETSI ISG-QKD, ITU-T Y.3800 (QKDN). Мережі: EuroQCI, Tokyo QKD, Beijing-Shanghai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suppress_None"/>
          <p:cNvSpPr>
            <a:spLocks noGrp="1"/>
          </p:cNvSpPr>
          <p:nvPr>
            <p:ph type="title"/>
          </p:nvPr>
        </p:nvSpPr>
        <p:spPr>
          <a:xfrm>
            <a:off x="-10000000" y="-10000000"/>
            <a:ext cx="100" cy="100"/>
          </a:xfrm>
        </p:spPr>
        <p:txBody>
          <a:bodyPr wrap="none"/>
          <a:lstStyle/>
          <a:p>
            <a:endParaRPr/>
          </a:p>
        </p:txBody>
      </p:sp>
      <p:sp>
        <p:nvSpPr>
          <p:cNvPr id="437" name="suppress_10"/>
          <p:cNvSpPr>
            <a:spLocks noGrp="1"/>
          </p:cNvSpPr>
          <p:nvPr>
            <p:ph type="body" idx="10"/>
          </p:nvPr>
        </p:nvSpPr>
        <p:spPr>
          <a:xfrm>
            <a:off x="-10000000" y="-10000000"/>
            <a:ext cx="100" cy="100"/>
          </a:xfrm>
        </p:spPr>
        <p:txBody>
          <a:bodyPr wrap="none"/>
          <a:lstStyle/>
          <a:p>
            <a:endParaRPr/>
          </a:p>
        </p:txBody>
      </p:sp>
      <p:sp>
        <p:nvSpPr>
          <p:cNvPr id="438" name="suppress_11"/>
          <p:cNvSpPr>
            <a:spLocks noGrp="1"/>
          </p:cNvSpPr>
          <p:nvPr>
            <p:ph type="body" idx="11"/>
          </p:nvPr>
        </p:nvSpPr>
        <p:spPr>
          <a:xfrm>
            <a:off x="-10000000" y="-10000000"/>
            <a:ext cx="100" cy="100"/>
          </a:xfrm>
        </p:spPr>
        <p:txBody>
          <a:bodyPr wrap="none"/>
          <a:lstStyle/>
          <a:p>
            <a:endParaRPr/>
          </a:p>
        </p:txBody>
      </p:sp>
      <p:sp>
        <p:nvSpPr>
          <p:cNvPr id="439" name="suppress_12"/>
          <p:cNvSpPr>
            <a:spLocks noGrp="1"/>
          </p:cNvSpPr>
          <p:nvPr>
            <p:ph type="body" idx="12"/>
          </p:nvPr>
        </p:nvSpPr>
        <p:spPr>
          <a:xfrm>
            <a:off x="-10000000" y="-10000000"/>
            <a:ext cx="100" cy="100"/>
          </a:xfrm>
        </p:spPr>
        <p:txBody>
          <a:bodyPr wrap="none"/>
          <a:lstStyle/>
          <a:p>
            <a:endParaRPr/>
          </a:p>
        </p:txBody>
      </p:sp>
      <p:sp>
        <p:nvSpPr>
          <p:cNvPr id="440" name="Заголовок 1">
            <a:extLst>
              <a:ext uri="{FF2B5EF4-FFF2-40B4-BE49-F238E27FC236}">
                <a16:creationId xmlns:a16="http://schemas.microsoft.com/office/drawing/2014/main" id="{1B6E16CF-568A-DB52-A3EB-6D4FADCDD95D}"/>
              </a:ext>
            </a:extLst>
          </p:cNvPr>
          <p:cNvSpPr>
            <a:spLocks noGrp="1"/>
          </p:cNvSpPr>
          <p:nvPr/>
        </p:nvSpPr>
        <p:spPr>
          <a:xfrm>
            <a:off x="2077720" y="349225"/>
            <a:ext cx="3571240" cy="1325563"/>
          </a:xfrm>
        </p:spPr>
        <p:txBody>
          <a:bodyPr/>
          <a:lstStyle/>
          <a:p>
            <a:r>
              <a:rPr lang="en-US" sz="3200" dirty="0"/>
              <a:t>Підсумки лекції 4</a:t>
            </a:r>
          </a:p>
          <a:p>
            <a:endParaRPr lang="uk-UA" dirty="0"/>
          </a:p>
        </p:txBody>
      </p:sp>
      <p:sp>
        <p:nvSpPr>
          <p:cNvPr id="441" name="Rounded Rectangle 440"/>
          <p:cNvSpPr/>
          <p:nvPr/>
        </p:nvSpPr>
        <p:spPr>
          <a:xfrm>
            <a:off x="700000" y="1750000"/>
            <a:ext cx="5246000" cy="700000"/>
          </a:xfrm>
          <a:prstGeom prst="roundRect">
            <a:avLst/>
          </a:prstGeom>
          <a:solidFill>
            <a:srgbClr val="C0504D"/>
          </a:solidFill>
          <a:ln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Що вивчили</a:t>
            </a:r>
          </a:p>
        </p:txBody>
      </p:sp>
      <p:sp>
        <p:nvSpPr>
          <p:cNvPr id="442" name="Rectangle 441"/>
          <p:cNvSpPr/>
          <p:nvPr/>
        </p:nvSpPr>
        <p:spPr>
          <a:xfrm>
            <a:off x="700000" y="2550000"/>
            <a:ext cx="5246000" cy="3500000"/>
          </a:xfrm>
          <a:prstGeom prst="rect">
            <a:avLst/>
          </a:prstGeom>
          <a:solidFill>
            <a:srgbClr val="F7F9FD"/>
          </a:solidFill>
          <a:ln>
            <a:solidFill>
              <a:srgbClr val="CDD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0000" tIns="200000" rIns="200000" bIns="200000" rtlCol="0" anchor="ctr"/>
          <a:lstStyle/>
          <a:p>
            <a:r>
              <a:rPr sz="1300">
                <a:solidFill>
                  <a:srgbClr val="222233"/>
                </a:solidFill>
              </a:rPr>
              <a:t>•  Принципи QKD: no-cloning, MUB</a:t>
            </a:r>
          </a:p>
          <a:p>
            <a:r>
              <a:rPr sz="1300">
                <a:solidFill>
                  <a:srgbClr val="222233"/>
                </a:solidFill>
              </a:rPr>
              <a:t>•  BB84: 4 стани, 8 кроків</a:t>
            </a:r>
          </a:p>
          <a:p>
            <a:r>
              <a:rPr sz="1300">
                <a:solidFill>
                  <a:srgbClr val="222233"/>
                </a:solidFill>
              </a:rPr>
              <a:t>•  QBER, Eve-detection, безпека</a:t>
            </a:r>
          </a:p>
          <a:p>
            <a:r>
              <a:rPr sz="1300">
                <a:solidFill>
                  <a:srgbClr val="222233"/>
                </a:solidFill>
              </a:rPr>
              <a:t>•  Error correction (Cascade/LDPC)</a:t>
            </a:r>
          </a:p>
          <a:p>
            <a:r>
              <a:rPr sz="1300">
                <a:solidFill>
                  <a:srgbClr val="222233"/>
                </a:solidFill>
              </a:rPr>
              <a:t>•  Privacy amplification (хеш-функції)</a:t>
            </a:r>
          </a:p>
          <a:p>
            <a:r>
              <a:rPr sz="1300">
                <a:solidFill>
                  <a:srgbClr val="222233"/>
                </a:solidFill>
              </a:rPr>
              <a:t>•  E91, B92, decoy-state, MDI, TF-QKD</a:t>
            </a:r>
          </a:p>
        </p:txBody>
      </p:sp>
      <p:sp>
        <p:nvSpPr>
          <p:cNvPr id="443" name="Rounded Rectangle 442"/>
          <p:cNvSpPr/>
          <p:nvPr/>
        </p:nvSpPr>
        <p:spPr>
          <a:xfrm>
            <a:off x="6246000" y="1750000"/>
            <a:ext cx="5246000" cy="700000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Практичні висновки</a:t>
            </a:r>
          </a:p>
        </p:txBody>
      </p:sp>
      <p:sp>
        <p:nvSpPr>
          <p:cNvPr id="444" name="Rectangle 443"/>
          <p:cNvSpPr/>
          <p:nvPr/>
        </p:nvSpPr>
        <p:spPr>
          <a:xfrm>
            <a:off x="6246000" y="2550000"/>
            <a:ext cx="5246000" cy="3500000"/>
          </a:xfrm>
          <a:prstGeom prst="rect">
            <a:avLst/>
          </a:prstGeom>
          <a:solidFill>
            <a:srgbClr val="F7F9FD"/>
          </a:solidFill>
          <a:ln>
            <a:solidFill>
              <a:srgbClr val="CDD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0000" tIns="200000" rIns="200000" bIns="200000" rtlCol="0" anchor="ctr"/>
          <a:lstStyle/>
          <a:p>
            <a:r>
              <a:rPr sz="1300">
                <a:solidFill>
                  <a:srgbClr val="222233"/>
                </a:solidFill>
              </a:rPr>
              <a:t>•  QKD — information-theoretic security</a:t>
            </a:r>
          </a:p>
          <a:p>
            <a:r>
              <a:rPr sz="1300">
                <a:solidFill>
                  <a:srgbClr val="222233"/>
                </a:solidFill>
              </a:rPr>
              <a:t>•  Обмеження: дальність, вартість, довірені вузли</a:t>
            </a:r>
          </a:p>
          <a:p>
            <a:r>
              <a:rPr sz="1300">
                <a:solidFill>
                  <a:srgbClr val="222233"/>
                </a:solidFill>
              </a:rPr>
              <a:t>•  PQC + QKD = гібридний захист</a:t>
            </a:r>
          </a:p>
          <a:p>
            <a:r>
              <a:rPr sz="1300">
                <a:solidFill>
                  <a:srgbClr val="222233"/>
                </a:solidFill>
              </a:rPr>
              <a:t>•  Стандарти: ETSI, ITU-T Y.3800</a:t>
            </a:r>
          </a:p>
          <a:p>
            <a:r>
              <a:rPr sz="1300">
                <a:solidFill>
                  <a:srgbClr val="222233"/>
                </a:solidFill>
              </a:rPr>
              <a:t>•  Мережі: EuroQCI, Micius, Tokyo QKD</a:t>
            </a:r>
          </a:p>
          <a:p>
            <a:r>
              <a:rPr sz="1300">
                <a:solidFill>
                  <a:srgbClr val="222233"/>
                </a:solidFill>
              </a:rPr>
              <a:t>•  Наступна лекція: постквантові алгоритми на решітках</a:t>
            </a:r>
          </a:p>
        </p:txBody>
      </p:sp>
      <p:sp>
        <p:nvSpPr>
          <p:cNvPr id="445" name="TextBox 444"/>
          <p:cNvSpPr txBox="1"/>
          <p:nvPr/>
        </p:nvSpPr>
        <p:spPr>
          <a:xfrm>
            <a:off x="700000" y="6230000"/>
            <a:ext cx="1079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445577"/>
                </a:solidFill>
              </a:rPr>
              <a:t>QKD захищає ключ фізикою; PQC захищає ключ математикою — разом це захист у глибину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 result for caucasus university">
            <a:extLst>
              <a:ext uri="{FF2B5EF4-FFF2-40B4-BE49-F238E27FC236}">
                <a16:creationId xmlns:a16="http://schemas.microsoft.com/office/drawing/2014/main" id="{41160F76-96C7-DC1E-EEA7-A487296883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788" y="230687"/>
            <a:ext cx="1541081" cy="1577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EDA0928-EB30-F39D-6A09-83ED624004E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7931" y="89794"/>
            <a:ext cx="1852863" cy="185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31244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1719</TotalTime>
  <Words>1266</Words>
  <Application>Microsoft Macintosh PowerPoint</Application>
  <PresentationFormat>Widescreen</PresentationFormat>
  <Paragraphs>258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Aptos</vt:lpstr>
      <vt:lpstr>Arial</vt:lpstr>
      <vt:lpstr>Calibri</vt:lpstr>
      <vt:lpstr>Calibri Light</vt:lpstr>
      <vt:lpstr>Cambria Math</vt:lpstr>
      <vt:lpstr>Georgia</vt:lpstr>
      <vt:lpstr>Тема Office</vt:lpstr>
      <vt:lpstr>Квантова та постквантова безпека № 4</vt:lpstr>
      <vt:lpstr>Чому QKD?</vt:lpstr>
      <vt:lpstr>Ключова ідея QKD</vt:lpstr>
      <vt:lpstr>Стани поляризації фотонів </vt:lpstr>
      <vt:lpstr>Огляд протоколу BB84</vt:lpstr>
      <vt:lpstr>Імовірності вимірювання</vt:lpstr>
      <vt:lpstr>Виправлення помилок</vt:lpstr>
      <vt:lpstr>Посилення конфіденційності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Квантова та постквантова безпека № 1</dc:title>
  <dc:creator>Dmytro Bilozor</dc:creator>
  <cp:keywords>, docId:9A0E76D41C9A51B842CA243D69D03AE1</cp:keywords>
  <cp:lastModifiedBy>Dmytro Bilozor</cp:lastModifiedBy>
  <cp:revision>119</cp:revision>
  <dcterms:created xsi:type="dcterms:W3CDTF">2025-07-11T12:38:56Z</dcterms:created>
  <dcterms:modified xsi:type="dcterms:W3CDTF">2026-04-18T15:27:55Z</dcterms:modified>
</cp:coreProperties>
</file>