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4" r:id="rId4"/>
    <p:sldId id="265" r:id="rId5"/>
    <p:sldId id="266" r:id="rId6"/>
    <p:sldId id="267" r:id="rId7"/>
    <p:sldId id="268" r:id="rId8"/>
    <p:sldId id="263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32" r:id="rId66"/>
    <p:sldId id="333" r:id="rId67"/>
    <p:sldId id="334" r:id="rId68"/>
    <p:sldId id="335" r:id="rId69"/>
    <p:sldId id="336" r:id="rId70"/>
    <p:sldId id="326" r:id="rId71"/>
    <p:sldId id="327" r:id="rId72"/>
    <p:sldId id="328" r:id="rId73"/>
    <p:sldId id="329" r:id="rId74"/>
    <p:sldId id="330" r:id="rId75"/>
    <p:sldId id="331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1" r:id="rId111"/>
    <p:sldId id="372" r:id="rId112"/>
    <p:sldId id="373" r:id="rId113"/>
    <p:sldId id="374" r:id="rId114"/>
    <p:sldId id="375" r:id="rId115"/>
    <p:sldId id="376" r:id="rId116"/>
    <p:sldId id="377" r:id="rId117"/>
    <p:sldId id="378" r:id="rId11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370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5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05DBC626-4DD8-95BD-2906-E62D73E83E1B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F4F4B-645B-AE4E-2BF4-F7E94EEF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30363" y="2077401"/>
            <a:ext cx="9144000" cy="750852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COURSE NAME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F5CA641-4378-FFF4-6C63-FE20A7AB1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6843" y="4323334"/>
            <a:ext cx="11298314" cy="92405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Teacher:</a:t>
            </a:r>
          </a:p>
          <a:p>
            <a:r>
              <a:rPr lang="en-US" dirty="0"/>
              <a:t>First name, Last name, academic degree, academic title, position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D8244C4-6C89-A133-852B-C8FC03F1D08E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26" name="Picture 2" descr="COMAI - Ulysseus">
            <a:extLst>
              <a:ext uri="{FF2B5EF4-FFF2-40B4-BE49-F238E27FC236}">
                <a16:creationId xmlns:a16="http://schemas.microsoft.com/office/drawing/2014/main" id="{C12C8155-5617-3A68-F4D7-AAD08BB06D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Місце для зображення 12">
            <a:extLst>
              <a:ext uri="{FF2B5EF4-FFF2-40B4-BE49-F238E27FC236}">
                <a16:creationId xmlns:a16="http://schemas.microsoft.com/office/drawing/2014/main" id="{E815AE2E-6725-7927-4881-DA2D2C5A4F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4" name="Місце для зображення 12">
            <a:extLst>
              <a:ext uri="{FF2B5EF4-FFF2-40B4-BE49-F238E27FC236}">
                <a16:creationId xmlns:a16="http://schemas.microsoft.com/office/drawing/2014/main" id="{62658F34-B66C-A1D3-B3B4-DF50825EA1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9" name="Місце для тексту 18">
            <a:extLst>
              <a:ext uri="{FF2B5EF4-FFF2-40B4-BE49-F238E27FC236}">
                <a16:creationId xmlns:a16="http://schemas.microsoft.com/office/drawing/2014/main" id="{B10AEEDB-6C49-4C16-1AB4-353507F394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0363" y="3033506"/>
            <a:ext cx="9144000" cy="75085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Lecture #. “Title”</a:t>
            </a:r>
            <a:endParaRPr lang="uk-UA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46E11E8-C94E-4AE7-ADB5-FDEAADAE04C0}"/>
              </a:ext>
            </a:extLst>
          </p:cNvPr>
          <p:cNvSpPr txBox="1"/>
          <p:nvPr userDrawn="1"/>
        </p:nvSpPr>
        <p:spPr>
          <a:xfrm>
            <a:off x="407951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85943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20CB3192-52DB-1C4F-CDF1-2C5834701427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Місце для тексту 8">
            <a:extLst>
              <a:ext uri="{FF2B5EF4-FFF2-40B4-BE49-F238E27FC236}">
                <a16:creationId xmlns:a16="http://schemas.microsoft.com/office/drawing/2014/main" id="{8DA5757D-9772-C9F6-1941-FA9F1C1F97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066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B648F94A-93CF-5554-B9EC-99C160354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LECTURE PLAN</a:t>
            </a:r>
            <a:endParaRPr lang="uk-UA" dirty="0"/>
          </a:p>
        </p:txBody>
      </p:sp>
      <p:sp>
        <p:nvSpPr>
          <p:cNvPr id="18" name="Місце для тексту 8">
            <a:extLst>
              <a:ext uri="{FF2B5EF4-FFF2-40B4-BE49-F238E27FC236}">
                <a16:creationId xmlns:a16="http://schemas.microsoft.com/office/drawing/2014/main" id="{2C4AAD83-F098-467E-30E8-5B1DBFBB92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065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9" name="Місце для тексту 8">
            <a:extLst>
              <a:ext uri="{FF2B5EF4-FFF2-40B4-BE49-F238E27FC236}">
                <a16:creationId xmlns:a16="http://schemas.microsoft.com/office/drawing/2014/main" id="{E19B8F13-7D27-6CB4-C4E2-740F7D45DE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4066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0" name="Місце для тексту 8">
            <a:extLst>
              <a:ext uri="{FF2B5EF4-FFF2-40B4-BE49-F238E27FC236}">
                <a16:creationId xmlns:a16="http://schemas.microsoft.com/office/drawing/2014/main" id="{478A70D7-9C17-6A3A-7307-37FCE7F9D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4065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1" name="Місце для тексту 8">
            <a:extLst>
              <a:ext uri="{FF2B5EF4-FFF2-40B4-BE49-F238E27FC236}">
                <a16:creationId xmlns:a16="http://schemas.microsoft.com/office/drawing/2014/main" id="{6C85C806-5D99-80B3-1B5C-C1F8654380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2685" y="2392077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2" name="Місце для тексту 8">
            <a:extLst>
              <a:ext uri="{FF2B5EF4-FFF2-40B4-BE49-F238E27FC236}">
                <a16:creationId xmlns:a16="http://schemas.microsoft.com/office/drawing/2014/main" id="{A9DE4B24-321A-7699-D368-923ABAFA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2684" y="3267036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3" name="Місце для тексту 8">
            <a:extLst>
              <a:ext uri="{FF2B5EF4-FFF2-40B4-BE49-F238E27FC236}">
                <a16:creationId xmlns:a16="http://schemas.microsoft.com/office/drawing/2014/main" id="{AFA89644-FB9E-ABAF-F0D3-EA41087639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2685" y="4141995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24" name="Місце для тексту 8">
            <a:extLst>
              <a:ext uri="{FF2B5EF4-FFF2-40B4-BE49-F238E27FC236}">
                <a16:creationId xmlns:a16="http://schemas.microsoft.com/office/drawing/2014/main" id="{E4A3D9BF-973C-0418-3024-30595EBA45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32684" y="5016954"/>
            <a:ext cx="4321115" cy="53755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767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5A07F23F-4277-FC4D-97B7-3E341B68F917}"/>
              </a:ext>
            </a:extLst>
          </p:cNvPr>
          <p:cNvSpPr/>
          <p:nvPr userDrawn="1"/>
        </p:nvSpPr>
        <p:spPr>
          <a:xfrm rot="19833573">
            <a:off x="4329829" y="-375306"/>
            <a:ext cx="9880718" cy="7608613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97EB8-BC56-C8CD-3070-C9ACA13EC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 OF THE # POINT FROM THE LECTURE PLAN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27D60B2F-9685-26A3-EC21-6D22D8A4D04B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BD412A2-E641-132E-78FF-02F60B95DF11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  <p:sp>
        <p:nvSpPr>
          <p:cNvPr id="11" name="Freeform 4">
            <a:extLst>
              <a:ext uri="{FF2B5EF4-FFF2-40B4-BE49-F238E27FC236}">
                <a16:creationId xmlns:a16="http://schemas.microsoft.com/office/drawing/2014/main" id="{F07C4348-D2BB-5FEF-BFDE-ED24D7871E6A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2363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438A861F-723B-32BD-123D-23AB50C1E9DF}"/>
              </a:ext>
            </a:extLst>
          </p:cNvPr>
          <p:cNvSpPr/>
          <p:nvPr userDrawn="1"/>
        </p:nvSpPr>
        <p:spPr>
          <a:xfrm rot="6517973">
            <a:off x="-1650001" y="805883"/>
            <a:ext cx="9663726" cy="6609046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33B1-0CDC-ED77-635F-731BCFBFA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1026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1339ECB-7836-56BF-C31D-3BAEBCA8F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8E8B18C6-9CBB-DF5A-5A27-4791831B8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870075"/>
            <a:ext cx="5532120" cy="842963"/>
          </a:xfrm>
        </p:spPr>
        <p:txBody>
          <a:bodyPr/>
          <a:lstStyle>
            <a:lvl1pPr marL="0" indent="0">
              <a:buNone/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8" name="Місце для тексту 6">
            <a:extLst>
              <a:ext uri="{FF2B5EF4-FFF2-40B4-BE49-F238E27FC236}">
                <a16:creationId xmlns:a16="http://schemas.microsoft.com/office/drawing/2014/main" id="{6CBD2B82-584E-B922-D53A-B6F456C86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892424"/>
            <a:ext cx="5532120" cy="3467736"/>
          </a:xfrm>
        </p:spPr>
        <p:txBody>
          <a:bodyPr>
            <a:normAutofit/>
          </a:bodyPr>
          <a:lstStyle>
            <a:lvl1pPr marL="0" indent="0">
              <a:buNone/>
              <a:defRPr sz="2500" b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sp>
        <p:nvSpPr>
          <p:cNvPr id="11" name="Місце для зображення 10">
            <a:extLst>
              <a:ext uri="{FF2B5EF4-FFF2-40B4-BE49-F238E27FC236}">
                <a16:creationId xmlns:a16="http://schemas.microsoft.com/office/drawing/2014/main" id="{A33FF4F4-EFEE-BFD1-375F-648CA393F5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24638" y="1870074"/>
            <a:ext cx="4729162" cy="4490085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875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70C13FFF-F513-4654-24F8-20B9F6D33240}"/>
              </a:ext>
            </a:extLst>
          </p:cNvPr>
          <p:cNvSpPr/>
          <p:nvPr userDrawn="1"/>
        </p:nvSpPr>
        <p:spPr>
          <a:xfrm rot="8411302" flipH="1" flipV="1">
            <a:off x="4748439" y="-391160"/>
            <a:ext cx="9459568" cy="8276884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0"/>
                </a:moveTo>
                <a:lnTo>
                  <a:pt x="13347232" y="0"/>
                </a:lnTo>
                <a:lnTo>
                  <a:pt x="13347232" y="10847660"/>
                </a:lnTo>
                <a:lnTo>
                  <a:pt x="0" y="1084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FB564-C2AF-2A39-32F5-C8AE625B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E35D1EC-A30B-2B54-1BAD-F7B1C813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7470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619E5F8-83B6-C4B1-CDE6-E2576A5D97D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9268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8871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60F5C-0E3F-B81E-3874-5DFE7B95B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3C40CA-D14D-1220-C849-3E91200A18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text/assets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A858D7C-35A5-2A50-602A-248A2D961DA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text/assets</a:t>
            </a:r>
            <a:endParaRPr lang="uk-UA" dirty="0"/>
          </a:p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26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CONCLUSIONS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354341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437F139-DD75-BFB8-2FA9-97A05C2AE574}"/>
              </a:ext>
            </a:extLst>
          </p:cNvPr>
          <p:cNvSpPr/>
          <p:nvPr userDrawn="1"/>
        </p:nvSpPr>
        <p:spPr>
          <a:xfrm rot="3018939" flipV="1">
            <a:off x="1616475" y="-3063601"/>
            <a:ext cx="8959050" cy="6857449"/>
          </a:xfrm>
          <a:custGeom>
            <a:avLst/>
            <a:gdLst/>
            <a:ahLst/>
            <a:cxnLst/>
            <a:rect l="l" t="t" r="r" b="b"/>
            <a:pathLst>
              <a:path w="13347232" h="10847660">
                <a:moveTo>
                  <a:pt x="0" y="10847659"/>
                </a:moveTo>
                <a:lnTo>
                  <a:pt x="13347232" y="10847659"/>
                </a:lnTo>
                <a:lnTo>
                  <a:pt x="13347232" y="0"/>
                </a:lnTo>
                <a:lnTo>
                  <a:pt x="0" y="0"/>
                </a:lnTo>
                <a:lnTo>
                  <a:pt x="0" y="108476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017-89BE-29C2-1A48-1CA1E4069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rgbClr val="20386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ADDITIONALS MATERIALS</a:t>
            </a:r>
            <a:endParaRPr lang="uk-UA" dirty="0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286543E-9BBE-1534-1F22-48AB59E465D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4"/>
            <a:ext cx="10515600" cy="4544695"/>
          </a:xfrm>
        </p:spPr>
        <p:txBody>
          <a:bodyPr vert="horz"/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uk-UA" dirty="0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95BE0E7F-0198-EA12-056F-87B0F57B8966}"/>
              </a:ext>
            </a:extLst>
          </p:cNvPr>
          <p:cNvGrpSpPr/>
          <p:nvPr userDrawn="1"/>
        </p:nvGrpSpPr>
        <p:grpSpPr>
          <a:xfrm>
            <a:off x="8794071" y="468052"/>
            <a:ext cx="3397929" cy="417760"/>
            <a:chOff x="0" y="0"/>
            <a:chExt cx="1239574" cy="152400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95A661F-45EA-3984-9BEC-BC9C3B1A31E6}"/>
                </a:ext>
              </a:extLst>
            </p:cNvPr>
            <p:cNvSpPr/>
            <p:nvPr/>
          </p:nvSpPr>
          <p:spPr>
            <a:xfrm>
              <a:off x="0" y="0"/>
              <a:ext cx="1239574" cy="152400"/>
            </a:xfrm>
            <a:custGeom>
              <a:avLst/>
              <a:gdLst/>
              <a:ahLst/>
              <a:cxnLst/>
              <a:rect l="l" t="t" r="r" b="b"/>
              <a:pathLst>
                <a:path w="1239574" h="152400">
                  <a:moveTo>
                    <a:pt x="0" y="0"/>
                  </a:moveTo>
                  <a:lnTo>
                    <a:pt x="1239574" y="0"/>
                  </a:lnTo>
                  <a:lnTo>
                    <a:pt x="1239574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D2A59"/>
            </a:solidFill>
          </p:spPr>
        </p:sp>
      </p:grpSp>
    </p:spTree>
    <p:extLst>
      <p:ext uri="{BB962C8B-B14F-4D97-AF65-F5344CB8AC3E}">
        <p14:creationId xmlns:p14="http://schemas.microsoft.com/office/powerpoint/2010/main" val="157760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CD1E789-90A0-FE6B-0F10-C15EB3FD5B16}"/>
              </a:ext>
            </a:extLst>
          </p:cNvPr>
          <p:cNvSpPr/>
          <p:nvPr userDrawn="1"/>
        </p:nvSpPr>
        <p:spPr>
          <a:xfrm>
            <a:off x="6920801" y="-3295"/>
            <a:ext cx="6541199" cy="6861295"/>
          </a:xfrm>
          <a:custGeom>
            <a:avLst/>
            <a:gdLst/>
            <a:ahLst/>
            <a:cxnLst/>
            <a:rect l="l" t="t" r="r" b="b"/>
            <a:pathLst>
              <a:path w="10580914" h="10287000">
                <a:moveTo>
                  <a:pt x="0" y="0"/>
                </a:moveTo>
                <a:lnTo>
                  <a:pt x="10580914" y="0"/>
                </a:lnTo>
                <a:lnTo>
                  <a:pt x="10580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1D3FF62-D606-B90B-7956-E3AB4C912B48}"/>
              </a:ext>
            </a:extLst>
          </p:cNvPr>
          <p:cNvSpPr/>
          <p:nvPr userDrawn="1"/>
        </p:nvSpPr>
        <p:spPr>
          <a:xfrm>
            <a:off x="9455450" y="5909845"/>
            <a:ext cx="2289707" cy="561979"/>
          </a:xfrm>
          <a:custGeom>
            <a:avLst/>
            <a:gdLst/>
            <a:ahLst/>
            <a:cxnLst/>
            <a:rect l="l" t="t" r="r" b="b"/>
            <a:pathLst>
              <a:path w="3304721" h="832124">
                <a:moveTo>
                  <a:pt x="0" y="0"/>
                </a:moveTo>
                <a:lnTo>
                  <a:pt x="3304721" y="0"/>
                </a:lnTo>
                <a:lnTo>
                  <a:pt x="3304721" y="832124"/>
                </a:lnTo>
                <a:lnTo>
                  <a:pt x="0" y="83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2" descr="COMAI - Ulysseus">
            <a:extLst>
              <a:ext uri="{FF2B5EF4-FFF2-40B4-BE49-F238E27FC236}">
                <a16:creationId xmlns:a16="http://schemas.microsoft.com/office/drawing/2014/main" id="{E4A298BE-4D28-41A3-FCCC-78D6F73C5D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43" y="5909845"/>
            <a:ext cx="2867487" cy="58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Місце для зображення 12">
            <a:extLst>
              <a:ext uri="{FF2B5EF4-FFF2-40B4-BE49-F238E27FC236}">
                <a16:creationId xmlns:a16="http://schemas.microsoft.com/office/drawing/2014/main" id="{E0592F16-BCB5-9327-78F3-B2E92935A2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088" y="328613"/>
            <a:ext cx="2368550" cy="9239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University logo</a:t>
            </a:r>
            <a:endParaRPr lang="uk-UA" dirty="0"/>
          </a:p>
        </p:txBody>
      </p:sp>
      <p:sp>
        <p:nvSpPr>
          <p:cNvPr id="11" name="Місце для зображення 12">
            <a:extLst>
              <a:ext uri="{FF2B5EF4-FFF2-40B4-BE49-F238E27FC236}">
                <a16:creationId xmlns:a16="http://schemas.microsoft.com/office/drawing/2014/main" id="{9C30DA7F-596D-B59E-26DA-3B0C3F4C06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376607" y="328612"/>
            <a:ext cx="2368550" cy="9239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Department logo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C1CC2-B9AD-AB54-C17A-8D901E5C744E}"/>
              </a:ext>
            </a:extLst>
          </p:cNvPr>
          <p:cNvSpPr txBox="1"/>
          <p:nvPr userDrawn="1"/>
        </p:nvSpPr>
        <p:spPr>
          <a:xfrm>
            <a:off x="446088" y="2682240"/>
            <a:ext cx="9283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03864"/>
                </a:solidFill>
                <a:latin typeface="Aptos" panose="020B0004020202020204" pitchFamily="34" charset="0"/>
              </a:rPr>
              <a:t>THANK YOU FOR ATTENTION!</a:t>
            </a:r>
            <a:endParaRPr lang="uk-UA" sz="5400" b="1" dirty="0">
              <a:solidFill>
                <a:srgbClr val="203864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BA098-B1CD-0269-8D35-42A582493920}"/>
              </a:ext>
            </a:extLst>
          </p:cNvPr>
          <p:cNvSpPr txBox="1"/>
          <p:nvPr userDrawn="1"/>
        </p:nvSpPr>
        <p:spPr>
          <a:xfrm>
            <a:off x="446088" y="3556813"/>
            <a:ext cx="2871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Any questions?</a:t>
            </a:r>
            <a:endParaRPr lang="uk-UA" sz="3200"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5163F224-4127-B18E-51F9-39EA8647CB63}"/>
              </a:ext>
            </a:extLst>
          </p:cNvPr>
          <p:cNvSpPr txBox="1"/>
          <p:nvPr userDrawn="1"/>
        </p:nvSpPr>
        <p:spPr>
          <a:xfrm>
            <a:off x="3934029" y="5820282"/>
            <a:ext cx="5967043" cy="65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23399"/>
                </a:solidFill>
                <a:latin typeface="Aptos" panose="020B0004020202020204" pitchFamily="34" charset="0"/>
                <a:ea typeface="Arial Bold"/>
                <a:cs typeface="Arial Bold"/>
                <a:sym typeface="Arial Bold"/>
              </a:rPr>
              <a:t>SECURE ERASMUS-EDU-2024-CBHE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This project has received funding from the European Union’s Erasmus + </a:t>
            </a:r>
            <a:r>
              <a:rPr lang="en-US" sz="1000" dirty="0" err="1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Programme</a:t>
            </a: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1689"/>
              </a:lnSpc>
              <a:spcBef>
                <a:spcPct val="0"/>
              </a:spcBef>
            </a:pPr>
            <a:r>
              <a:rPr lang="en-US" sz="1000" dirty="0">
                <a:solidFill>
                  <a:srgbClr val="023399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"Capacity building in the field of higher education", project id 101179818</a:t>
            </a:r>
          </a:p>
        </p:txBody>
      </p:sp>
    </p:spTree>
    <p:extLst>
      <p:ext uri="{BB962C8B-B14F-4D97-AF65-F5344CB8AC3E}">
        <p14:creationId xmlns:p14="http://schemas.microsoft.com/office/powerpoint/2010/main" val="183435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8C6A-C972-4D9E-AA74-333EB6C38D9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32CD-2E3F-4A7F-B8A0-E5258AB211E8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7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62A46F7-AE3D-FE17-716F-BD073558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40003CE-35D9-0D22-9697-103258AF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D95934-CB61-23CC-5A3B-CAE88FF8F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528A8-01FA-4E19-966E-6D8EBDB87570}" type="datetimeFigureOut">
              <a:rPr lang="uk-UA" smtClean="0"/>
              <a:t>13.10.2025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9D978F-CE49-2A2D-0742-4A82CA25F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D4B8B66-57F6-0E1C-BC7E-F1BC1A8B0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FF707-F803-4672-B2C0-069A27EADB5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762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7" r:id="rId6"/>
    <p:sldLayoutId id="2147483652" r:id="rId7"/>
    <p:sldLayoutId id="2147483658" r:id="rId8"/>
    <p:sldLayoutId id="2147483660" r:id="rId9"/>
    <p:sldLayoutId id="2147483659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497" y="2077401"/>
            <a:ext cx="9614866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1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Основи квантових обчислень </a:t>
            </a:r>
            <a:endParaRPr lang="uk-UA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5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549"/>
          </a:xfrm>
        </p:spPr>
        <p:txBody>
          <a:bodyPr/>
          <a:lstStyle/>
          <a:p>
            <a:pPr algn="ctr"/>
            <a:r>
              <a:rPr lang="en-US" dirty="0"/>
              <a:t>Основи класичних обчислень</a:t>
            </a:r>
            <a:endParaRPr lang="uk-U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632" y="1481674"/>
            <a:ext cx="931312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Біт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найменша одиниця інформації,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0 або 1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Базується 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логічних елементах Булевої логіки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(AND, OR, NOT)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Детерміновані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операції: однаковий вхід → однаковий вихід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Послідовна обробка з обмеженим паралелізмом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Обмежені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класичним масштабуванням апаратного забезпечення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(закон Мура)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6632" y="4004495"/>
            <a:ext cx="571895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Використовується в повсякденних пристроях: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ПК, смартфонах, серверах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Застосування: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бази даних, моделювання, криптографія (RSA, ECC)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Обмеження: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експоненціальне зростання часу обчислення для певних задач</a:t>
            </a:r>
          </a:p>
        </p:txBody>
      </p:sp>
      <p:pic>
        <p:nvPicPr>
          <p:cNvPr id="2053" name="Picture 5" descr="Binary code. Printed circuit board back side. Digital electronic background.  Hardware component. Abstract green texture of PCB detail. Blue 0, 1 digit  Stock Photo - Alamy">
            <a:extLst>
              <a:ext uri="{FF2B5EF4-FFF2-40B4-BE49-F238E27FC236}">
                <a16:creationId xmlns:a16="http://schemas.microsoft.com/office/drawing/2014/main" id="{F54E57CE-BF9F-ED9C-6F6D-7418AB3192C0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7" r="11267"/>
          <a:stretch>
            <a:fillRect/>
          </a:stretch>
        </p:blipFill>
        <p:spPr bwMode="auto">
          <a:xfrm>
            <a:off x="7305775" y="3732919"/>
            <a:ext cx="3652100" cy="275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07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852" y="150957"/>
            <a:ext cx="5478379" cy="1074412"/>
          </a:xfrm>
        </p:spPr>
        <p:txBody>
          <a:bodyPr/>
          <a:lstStyle/>
          <a:p>
            <a:r>
              <a:rPr lang="en-US" dirty="0"/>
              <a:t>Квантовий стрибок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217" y="1162339"/>
            <a:ext cx="533696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Кіббіт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квантова версія біта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 квантову механіку: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суперпозицію, заплутаність, інтерференцію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Працює з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амплітудами ймовірності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замість фіксованих станів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170542"/>
            <a:ext cx="522598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Потенціал для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експоненціального зростання простору станів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Може швидше вирішувати конкретні проблеми (наприклад, розкладання на множники, пошук)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Руйнує сучасні криптографічні системи</a:t>
            </a:r>
          </a:p>
        </p:txBody>
      </p:sp>
      <p:pic>
        <p:nvPicPr>
          <p:cNvPr id="3090" name="Picture 18" descr="Representation of a bit from classical as well as quantum... | Download  Scientific Diagram">
            <a:extLst>
              <a:ext uri="{FF2B5EF4-FFF2-40B4-BE49-F238E27FC236}">
                <a16:creationId xmlns:a16="http://schemas.microsoft.com/office/drawing/2014/main" id="{44FB6515-125C-0D11-2778-96D4A7592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226" y="1535907"/>
            <a:ext cx="46101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02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631" y="172620"/>
            <a:ext cx="2374232" cy="1325563"/>
          </a:xfrm>
        </p:spPr>
        <p:txBody>
          <a:bodyPr/>
          <a:lstStyle/>
          <a:p>
            <a:r>
              <a:rPr lang="en-US" dirty="0"/>
              <a:t>Кубіти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741363" y="1377848"/>
                <a:ext cx="5336969" cy="2703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Стан: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⟩=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|0⟩+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є комплексними амплітудами з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Вимірювання зводиться до 0 або 1 на основі ймовірностей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741363" y="1377848"/>
                <a:ext cx="5336969" cy="2703304"/>
              </a:xfrm>
              <a:prstGeom prst="rect">
                <a:avLst/>
              </a:prstGeom>
              <a:blipFill>
                <a:blip r:embed="rId2"/>
                <a:stretch>
                  <a:fillRect l="-8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3" y="4473604"/>
                <a:ext cx="5225988" cy="10969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Сфера Блоха візуалізує стани кубітів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Операції = обертання на сфері Блоха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Базові стани: </a:t>
                </a:r>
                <a14:m>
                  <m:oMath xmlns:m="http://schemas.openxmlformats.org/officeDocument/2006/math">
                    <m:r>
                      <a:rPr lang="en-US" sz="1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3" y="4473604"/>
                <a:ext cx="5225988" cy="1096903"/>
              </a:xfrm>
              <a:prstGeom prst="rect">
                <a:avLst/>
              </a:prstGeom>
              <a:blipFill>
                <a:blip r:embed="rId3"/>
                <a:stretch>
                  <a:fillRect l="-817" t="-5000" b="-88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2" name="Picture 10" descr="A quarter century ago, the qubit was born">
            <a:extLst>
              <a:ext uri="{FF2B5EF4-FFF2-40B4-BE49-F238E27FC236}">
                <a16:creationId xmlns:a16="http://schemas.microsoft.com/office/drawing/2014/main" id="{183D4C7D-CC65-9653-990B-733C8FFCA58A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182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588" y="166945"/>
            <a:ext cx="4038600" cy="1325563"/>
          </a:xfrm>
        </p:spPr>
        <p:txBody>
          <a:bodyPr/>
          <a:lstStyle/>
          <a:p>
            <a:r>
              <a:rPr lang="en-US" dirty="0"/>
              <a:t>Суперпозиція</a:t>
            </a:r>
            <a:endParaRPr lang="uk-UA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D8291D-A0B5-99AF-470C-D7BC5EAFB8E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944563" y="1324045"/>
            <a:ext cx="5883275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Кіббіт може перебувати в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лінійній комбінації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∣0</a:t>
            </a: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⟩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та ∣1⟩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Дозволяє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квантовий паралелізм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3 кубіти → 23=82^3 = 823=8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станів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одночасно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51C37E-CA40-8225-B015-005F5994813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3962793"/>
            <a:ext cx="5883275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Неможливо прочитати всі стани безпосередньо — вимірювання обмежує інформацію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Використовується в алгоритмах, таких як пошук Гровера та факторизація Шора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Контрольована інтерференція підсилює правильні результати</a:t>
            </a:r>
          </a:p>
        </p:txBody>
      </p:sp>
      <p:pic>
        <p:nvPicPr>
          <p:cNvPr id="5131" name="Picture 11" descr="What is quantum entanglement? Part 3: Entanglement, at last | Skulls in the  Stars">
            <a:extLst>
              <a:ext uri="{FF2B5EF4-FFF2-40B4-BE49-F238E27FC236}">
                <a16:creationId xmlns:a16="http://schemas.microsoft.com/office/drawing/2014/main" id="{90A9E6DC-7F24-4E6B-8EE7-72B880C9B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2591059"/>
            <a:ext cx="5259508" cy="277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1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115" y="418341"/>
            <a:ext cx="3937000" cy="1325563"/>
          </a:xfrm>
        </p:spPr>
        <p:txBody>
          <a:bodyPr/>
          <a:lstStyle/>
          <a:p>
            <a:r>
              <a:rPr lang="en-US" dirty="0"/>
              <a:t>Заплутаність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EBB10B96-FBDB-F83B-7AC0-C3012087F2F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741363" y="1770758"/>
                <a:ext cx="5883275" cy="19178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4400" lvl="0" indent="-2844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Сильна кореляція між кубітами</a:t>
                </a:r>
              </a:p>
              <a:p>
                <a:pPr marL="284400" lvl="0" indent="-28440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Приклад стану Белла: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|00⟩+|11⟩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uk-UA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4400" lvl="0" indent="-284400">
                  <a:lnSpc>
                    <a:spcPct val="15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Вимірювання одного миттєво впливає на інший</a:t>
                </a: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EBB10B96-FBDB-F83B-7AC0-C3012087F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741363" y="1770758"/>
                <a:ext cx="5883275" cy="1917897"/>
              </a:xfrm>
              <a:prstGeom prst="rect">
                <a:avLst/>
              </a:prstGeom>
              <a:blipFill>
                <a:blip r:embed="rId2"/>
                <a:stretch>
                  <a:fillRect l="-725" b="-476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Quantum Entanglement | Brilliant Math &amp; Science Wiki">
            <a:extLst>
              <a:ext uri="{FF2B5EF4-FFF2-40B4-BE49-F238E27FC236}">
                <a16:creationId xmlns:a16="http://schemas.microsoft.com/office/drawing/2014/main" id="{CA36A087-AB13-24A3-AD04-1D4503BD8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41" y="2497460"/>
            <a:ext cx="4071374" cy="119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8AC69-DE8E-3E35-6C76-8DFBABAF1D2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8291"/>
            <a:ext cx="700704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Базис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QKD та багатьох квантових алгоритмів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Перевірено експериментально (наприклад, тести Белла)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Ресурс для квантової телепортації</a:t>
            </a:r>
          </a:p>
        </p:txBody>
      </p:sp>
    </p:spTree>
    <p:extLst>
      <p:ext uri="{BB962C8B-B14F-4D97-AF65-F5344CB8AC3E}">
        <p14:creationId xmlns:p14="http://schemas.microsoft.com/office/powerpoint/2010/main" val="427862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911-B9AF-2657-5339-351D9A00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33BA-C993-030F-6FAD-B0CF1B73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Стан дзвоника в </a:t>
            </a:r>
            <a:r>
              <a:rPr lang="en-US" dirty="0" err="1"/>
              <a:t>Qiskit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DE71452D-FF3B-AE45-2879-31D988C2D05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725970"/>
            <a:ext cx="374776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Створити 2-кубітну схему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Застосувати H до кубіта 0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Застосувати CNOT (0 → 1)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Виміряйте обидва кубіти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1C9C9F1-FB78-2C6F-1FBA-9B5143390F5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8291"/>
            <a:ext cx="448712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Очікувані результати: ~50%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~50%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Демонструє заплутаність на практиці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Інструмент: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(бібліотека Python)</a:t>
            </a:r>
          </a:p>
        </p:txBody>
      </p:sp>
      <p:pic>
        <p:nvPicPr>
          <p:cNvPr id="7180" name="Picture 12" descr="Visualize circuits | IBM Quantum Documentation">
            <a:extLst>
              <a:ext uri="{FF2B5EF4-FFF2-40B4-BE49-F238E27FC236}">
                <a16:creationId xmlns:a16="http://schemas.microsoft.com/office/drawing/2014/main" id="{F33DA1BD-9863-C030-0AF4-D117B21B6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252" y="1763153"/>
            <a:ext cx="4987389" cy="346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8668" y="2077401"/>
            <a:ext cx="9765695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2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Алгоритм Гровера та його застосування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97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Проблема неструктурованого пошуку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3FA9BA9F-8C4C-88AD-B29B-B3CEF6C8A913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448052" y="1743186"/>
                <a:ext cx="5877540" cy="15955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За умови наявності можливих вхідних даних, знайти те, що має певну властивість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Класичний підхід: перевіряти кожен елемент по черзі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Часовий обсяг: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3FA9BA9F-8C4C-88AD-B29B-B3CEF6C8A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448052" y="1743186"/>
                <a:ext cx="5877540" cy="1595501"/>
              </a:xfrm>
              <a:prstGeom prst="rect">
                <a:avLst/>
              </a:prstGeom>
              <a:blipFill>
                <a:blip r:embed="rId2"/>
                <a:stretch>
                  <a:fillRect l="-622" t="-3053" b="-57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448052" y="4229658"/>
                <a:ext cx="6094988" cy="1347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Приклад: пошук у базі даних без індексації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Якщо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=1,000,000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класичний пошук потребує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∼500,000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uk-UA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в середньому перевірок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У криптографії: пошук ключа методом грубої сили</a:t>
                </a: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448052" y="4229658"/>
                <a:ext cx="6094988" cy="1347613"/>
              </a:xfrm>
              <a:prstGeom prst="rect">
                <a:avLst/>
              </a:prstGeom>
              <a:blipFill>
                <a:blip r:embed="rId3"/>
                <a:stretch>
                  <a:fillRect l="-600" t="-4072" b="-72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4" name="Picture 16" descr="Unstructured search problem | Quantum Computing Class Notes | Fiveable |  Fiveable">
            <a:extLst>
              <a:ext uri="{FF2B5EF4-FFF2-40B4-BE49-F238E27FC236}">
                <a16:creationId xmlns:a16="http://schemas.microsoft.com/office/drawing/2014/main" id="{294F920D-4661-9E93-50A0-DD49D4277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579" y="2003886"/>
            <a:ext cx="4553823" cy="364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244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Квантова перевага Гровера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217" y="1630896"/>
            <a:ext cx="5336969" cy="15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Алгоритм Гровера: </a:t>
            </a:r>
            <a:r>
              <a:rPr lang="ru-RU" sz="1800" dirty="0" err="1">
                <a:solidFill>
                  <a:schemeClr val="tx1"/>
                </a:solidFill>
              </a:rPr>
              <a:t>квантовий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пошук</a:t>
            </a:r>
            <a:r>
              <a:rPr lang="ru-RU" sz="1800" dirty="0">
                <a:solidFill>
                  <a:schemeClr val="tx1"/>
                </a:solidFill>
              </a:rPr>
              <a:t> по </a:t>
            </a:r>
            <a:r>
              <a:rPr lang="ru-RU" sz="1800" b="0" dirty="0">
                <a:solidFill>
                  <a:schemeClr val="tx1"/>
                </a:solidFill>
              </a:rPr>
              <a:t>𝑁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елементах</a:t>
            </a:r>
            <a:r>
              <a:rPr lang="ru-RU" sz="1800" dirty="0">
                <a:solidFill>
                  <a:schemeClr val="tx1"/>
                </a:solidFill>
              </a:rPr>
              <a:t> за </a:t>
            </a:r>
            <a:r>
              <a:rPr lang="ru-RU" sz="1800" b="0" dirty="0">
                <a:solidFill>
                  <a:schemeClr val="tx1"/>
                </a:solidFill>
              </a:rPr>
              <a:t>𝑂(√𝑁) </a:t>
            </a:r>
            <a:r>
              <a:rPr lang="ru-RU" sz="1800" dirty="0">
                <a:solidFill>
                  <a:schemeClr val="tx1"/>
                </a:solidFill>
              </a:rPr>
              <a:t>час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Квадратичне</a:t>
            </a:r>
            <a:r>
              <a:rPr lang="en-US" sz="1800" dirty="0">
                <a:solidFill>
                  <a:schemeClr val="tx1"/>
                </a:solidFill>
              </a:rPr>
              <a:t> прискорення порівняно з класичним пошуком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Використовує підсилення амплітуди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248EAC4D-A731-55B1-EBCC-76DF9FA7B516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3" y="4223600"/>
                <a:ext cx="5225988" cy="15969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1800" dirty="0">
                    <a:solidFill>
                      <a:schemeClr val="tx1"/>
                    </a:solidFill>
                  </a:rPr>
                  <a:t>Приклад: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=1,000,000→∼1,000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  <a:r>
                  <a:rPr lang="uk-UA" sz="1800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</a:rPr>
                  <a:t>кроків замість 500 000</a:t>
                </a:r>
              </a:p>
              <a:p>
                <a:pPr lvl="0"/>
                <a:r>
                  <a:rPr lang="en-US" sz="1800" dirty="0">
                    <a:solidFill>
                      <a:schemeClr val="tx1"/>
                    </a:solidFill>
                  </a:rPr>
                  <a:t>Не експоненціальне, але значне для великих </a:t>
                </a:r>
              </a:p>
              <a:p>
                <a:pPr lvl="0"/>
                <a:r>
                  <a:rPr lang="en-US" sz="1800" dirty="0">
                    <a:solidFill>
                      <a:schemeClr val="tx1"/>
                    </a:solidFill>
                  </a:rPr>
                  <a:t>Загрожує симетричній криптографії шляхом зменшення ефективної довжини ключа</a:t>
                </a: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248EAC4D-A731-55B1-EBCC-76DF9FA7B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3" y="4223600"/>
                <a:ext cx="5225988" cy="1596912"/>
              </a:xfrm>
              <a:prstGeom prst="rect">
                <a:avLst/>
              </a:prstGeom>
              <a:blipFill>
                <a:blip r:embed="rId2"/>
                <a:stretch>
                  <a:fillRect l="-1050" t="-3053" b="-57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92" name="Picture 20" descr="Comparison between classical and quantum computation time for a various...  | Download Scientific Diagram">
            <a:extLst>
              <a:ext uri="{FF2B5EF4-FFF2-40B4-BE49-F238E27FC236}">
                <a16:creationId xmlns:a16="http://schemas.microsoft.com/office/drawing/2014/main" id="{BBC31DC1-4B64-1671-76EA-1921DE8E6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155" y="1922270"/>
            <a:ext cx="5269482" cy="342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Ідея підсилення амплітуди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741363" y="1853874"/>
                <a:ext cx="7669721" cy="1751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Почніть з суперпозиції всіх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uk-UA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станів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Oracle змінює фазу «позначеного» стану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Оператор дифузії збільшує його ймовірність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b="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Повторю</a:t>
                </a:r>
                <a:r>
                  <a:rPr lang="uk-UA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вати</a:t>
                </a: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800" b="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поки</a:t>
                </a: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b="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досягне</a:t>
                </a: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800" b="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ймовірності</a:t>
                </a:r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741363" y="1853874"/>
                <a:ext cx="7669721" cy="1751249"/>
              </a:xfrm>
              <a:prstGeom prst="rect">
                <a:avLst/>
              </a:prstGeom>
              <a:blipFill>
                <a:blip r:embed="rId2"/>
                <a:stretch>
                  <a:fillRect l="-556" t="-27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838200" y="4256204"/>
                <a:ext cx="5225988" cy="16771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Аналогія: обертання вектора в напрямку бажаного стану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Кількість ітерацій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8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Працює для одиночних і множинних позначених станів</a:t>
                </a: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838200" y="4256204"/>
                <a:ext cx="5225988" cy="1677126"/>
              </a:xfrm>
              <a:prstGeom prst="rect">
                <a:avLst/>
              </a:prstGeom>
              <a:blipFill>
                <a:blip r:embed="rId3"/>
                <a:stretch>
                  <a:fillRect l="-817" t="-2909" b="-58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1" name="Picture 5" descr="Variational Amplitude Amplification for Solving QUBO Problems">
            <a:extLst>
              <a:ext uri="{FF2B5EF4-FFF2-40B4-BE49-F238E27FC236}">
                <a16:creationId xmlns:a16="http://schemas.microsoft.com/office/drawing/2014/main" id="{5869CAB4-695B-88E3-8294-1E07F3105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88" y="2271066"/>
            <a:ext cx="4682349" cy="29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462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080" y="205580"/>
            <a:ext cx="4465320" cy="1325563"/>
          </a:xfrm>
        </p:spPr>
        <p:txBody>
          <a:bodyPr/>
          <a:lstStyle/>
          <a:p>
            <a:r>
              <a:rPr lang="en-US" dirty="0"/>
              <a:t>Схема Гровера</a:t>
            </a:r>
            <a:endParaRPr lang="uk-UA" dirty="0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C4461A07-7549-45FE-97F7-11844066ED32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1878192"/>
            <a:ext cx="576683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Ініціалізація: Hadamard на всіх кубітах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: інверсія фази, специфічна для задачі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Дифузія: інверсія відносно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середнього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значення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Вимірювання: виявляє позначений елемент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921C316-ACCA-AE3B-E63F-7C2ADEB09C4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3867"/>
            <a:ext cx="5117748" cy="1296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 з 3 кубітами (8 станів)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позначає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101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Після 2 ітерацій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101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має високу ймовірність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5" descr="Schematic circuit for Grover's algorithm | Download Scientific Diagram">
            <a:extLst>
              <a:ext uri="{FF2B5EF4-FFF2-40B4-BE49-F238E27FC236}">
                <a16:creationId xmlns:a16="http://schemas.microsoft.com/office/drawing/2014/main" id="{C180D1D9-9E52-0FC7-FBA8-F5174C9E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900" y="3177289"/>
            <a:ext cx="5588412" cy="239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21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880" y="418341"/>
            <a:ext cx="6131560" cy="1325563"/>
          </a:xfrm>
        </p:spPr>
        <p:txBody>
          <a:bodyPr/>
          <a:lstStyle/>
          <a:p>
            <a:r>
              <a:rPr lang="en-US" dirty="0"/>
              <a:t>Впровадження </a:t>
            </a:r>
            <a:r>
              <a:rPr lang="en-US" dirty="0" err="1"/>
              <a:t>Qiskit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0DE8A6-8B32-B364-45E4-597D9DA06A3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2085941"/>
            <a:ext cx="5755422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Визначити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oracle для позначеного стану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Застосувати ітерацію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Гровера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(oracle + дифузія)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Запуст</a:t>
            </a:r>
            <a:r>
              <a:rPr kumimoji="0" lang="uk-UA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ити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симуляторі,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виміря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результати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C684D2-4EA6-D64A-7F71-0EA4802BDC2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41363" y="4378291"/>
            <a:ext cx="5218095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Очікуйте ≈ високу ймовірність правильного стану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Демонструє квадратичне прискорення в симуляції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Реальне обладнання: обмежене шумом і кількістю кубітів</a:t>
            </a:r>
          </a:p>
        </p:txBody>
      </p:sp>
      <p:pic>
        <p:nvPicPr>
          <p:cNvPr id="6155" name="Picture 11" descr="Exploring Quantum Computing With IBM's Qiskit">
            <a:extLst>
              <a:ext uri="{FF2B5EF4-FFF2-40B4-BE49-F238E27FC236}">
                <a16:creationId xmlns:a16="http://schemas.microsoft.com/office/drawing/2014/main" id="{935DF714-9C32-B9FC-BEAC-00201C60B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85" y="2350064"/>
            <a:ext cx="5608226" cy="267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64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911-B9AF-2657-5339-351D9A00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33BA-C993-030F-6FAD-B0CF1B73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Криптографічні додатки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DE71452D-FF3B-AE45-2879-31D988C2D05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38052" y="1473593"/>
            <a:ext cx="7230857" cy="2287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uk-UA" sz="1800" dirty="0"/>
              <a:t>Швидкий </a:t>
            </a:r>
            <a:r>
              <a:rPr lang="en-US" sz="1800" dirty="0" err="1"/>
              <a:t>підб</a:t>
            </a:r>
            <a:r>
              <a:rPr lang="uk-UA" sz="1800" dirty="0"/>
              <a:t>і</a:t>
            </a:r>
            <a:r>
              <a:rPr lang="en-US" sz="1800" dirty="0"/>
              <a:t>р</a:t>
            </a:r>
            <a:r>
              <a:rPr lang="uk-UA" sz="1800" dirty="0"/>
              <a:t> </a:t>
            </a:r>
            <a:r>
              <a:rPr lang="en-US" sz="1800" dirty="0" err="1"/>
              <a:t>симетричних</a:t>
            </a:r>
            <a:r>
              <a:rPr lang="en-US" sz="1800" dirty="0"/>
              <a:t> ключів (AES, SHA-2)</a:t>
            </a:r>
          </a:p>
          <a:p>
            <a:pPr>
              <a:lnSpc>
                <a:spcPct val="150000"/>
              </a:lnSpc>
            </a:pPr>
            <a:r>
              <a:rPr lang="uk-UA" sz="1800" dirty="0"/>
              <a:t>Зменшення</a:t>
            </a:r>
            <a:r>
              <a:rPr lang="en-US" sz="1800" dirty="0"/>
              <a:t> </a:t>
            </a:r>
            <a:r>
              <a:rPr lang="en-US" sz="1800" dirty="0" err="1"/>
              <a:t>ефективн</a:t>
            </a:r>
            <a:r>
              <a:rPr lang="uk-UA" sz="1800" dirty="0" err="1"/>
              <a:t>ої</a:t>
            </a:r>
            <a:r>
              <a:rPr lang="en-US" sz="1800" dirty="0"/>
              <a:t> </a:t>
            </a:r>
            <a:r>
              <a:rPr lang="en-US" sz="1800" dirty="0" err="1"/>
              <a:t>довжин</a:t>
            </a:r>
            <a:r>
              <a:rPr lang="uk-UA" sz="1800" dirty="0"/>
              <a:t>и</a:t>
            </a:r>
            <a:r>
              <a:rPr lang="en-US" sz="1800" dirty="0"/>
              <a:t> ключа: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AES-256 → еквівалент безпеки AES-128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SHA-256 преобраз → еквівалент 128-бітної безпеки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082545A-6CAF-3B6F-565F-D70BD0D34AD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80673" y="4128661"/>
            <a:ext cx="62287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Симетричні алгоритми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залишаються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безпечними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 подвоєною довжиною ключа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рекомендує AES-256 для постквантової безпеки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Хеш-функції повинні враховувати вплив Гровера</a:t>
            </a:r>
          </a:p>
        </p:txBody>
      </p:sp>
      <p:pic>
        <p:nvPicPr>
          <p:cNvPr id="16" name="Picture 15" descr="Explainer: What is post-quantum cryptography? | MIT Technology Review">
            <a:extLst>
              <a:ext uri="{FF2B5EF4-FFF2-40B4-BE49-F238E27FC236}">
                <a16:creationId xmlns:a16="http://schemas.microsoft.com/office/drawing/2014/main" id="{688B4183-592A-F690-11D5-7BB451AAD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29" y="2386544"/>
            <a:ext cx="5228849" cy="294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076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EBC6-B652-CFB1-2080-9DC69120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D32373-9242-6F08-6AA2-8C6744B9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Обмеження алгоритму Гровера</a:t>
            </a:r>
            <a:endParaRPr lang="uk-UA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71642D2D-392B-A19B-01B3-19DDE52D386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38163" y="4309836"/>
            <a:ext cx="62287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Симетричні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алгоритми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залишаються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безпечними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при подвоєній довжині ключа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рекомендує AES-256 для постквантової безпеки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Хеш-функції повинні враховувати вплив Гровера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E37289A-2752-A7F4-B0A2-74168B60F348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538163" y="1557731"/>
                <a:ext cx="5733364" cy="2118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Потрібна хороша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функція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oracle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Квадратичне, а не експоненціальне прискорення</a:t>
                </a:r>
              </a:p>
              <a:p>
                <a:pPr marL="28575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Потрібне виправлення помилок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для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великих</a:t>
                </a:r>
                <a:r>
                  <a:rPr kumimoji="0" lang="uk-UA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Повторення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збільшують ризик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помилок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у</a:t>
                </a:r>
                <a:endParaRPr kumimoji="0" lang="uk-UA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uk-UA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р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еальному</a:t>
                </a:r>
                <a:r>
                  <a:rPr kumimoji="0" lang="uk-UA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квантовому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обладнанні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E37289A-2752-A7F4-B0A2-74168B60F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538163" y="1557731"/>
                <a:ext cx="5733364" cy="2118529"/>
              </a:xfrm>
              <a:prstGeom prst="rect">
                <a:avLst/>
              </a:prstGeom>
              <a:blipFill>
                <a:blip r:embed="rId2"/>
                <a:stretch>
                  <a:fillRect l="-850" r="-213" b="-432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9" name="Picture 3" descr="Embracing and Overcoming Limitations">
            <a:extLst>
              <a:ext uri="{FF2B5EF4-FFF2-40B4-BE49-F238E27FC236}">
                <a16:creationId xmlns:a16="http://schemas.microsoft.com/office/drawing/2014/main" id="{A4657036-3FE5-FEC2-2A4A-439E92924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361" y="2008590"/>
            <a:ext cx="5672439" cy="319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4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4149-1B09-9714-5AC0-5D8403DA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D8540-EF01-670D-92FC-D317D1532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967" y="426924"/>
            <a:ext cx="4810760" cy="1325563"/>
          </a:xfrm>
        </p:spPr>
        <p:txBody>
          <a:bodyPr/>
          <a:lstStyle/>
          <a:p>
            <a:r>
              <a:rPr lang="en-US" dirty="0"/>
              <a:t>Короткий зміст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1943ABF-2C1C-5ACC-8540-0EB6579FC3F4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538163" y="1745891"/>
                <a:ext cx="7149521" cy="1742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Гровер вирішує проблему неструктурованого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пошуку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в</a:t>
                </a:r>
                <a:r>
                  <a:rPr kumimoji="0" lang="uk-UA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marL="285750" lvl="0" indent="-28575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Ключова ідея: підсилення амплітуди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Криптографічна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релевантність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  <a:endParaRPr kumimoji="0" lang="uk-UA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uk-UA" altLang="en-US" sz="1800" b="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             </a:t>
                </a:r>
                <a:r>
                  <a:rPr kumimoji="0" lang="en-US" altLang="en-US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послаблює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безпеку симетричного ключа</a:t>
                </a: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C1943ABF-2C1C-5ACC-8540-0EB6579FC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538163" y="1745891"/>
                <a:ext cx="7149521" cy="1742208"/>
              </a:xfrm>
              <a:prstGeom prst="rect">
                <a:avLst/>
              </a:prstGeom>
              <a:blipFill>
                <a:blip r:embed="rId2"/>
                <a:stretch>
                  <a:fillRect l="-512" b="-52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>
            <a:extLst>
              <a:ext uri="{FF2B5EF4-FFF2-40B4-BE49-F238E27FC236}">
                <a16:creationId xmlns:a16="http://schemas.microsoft.com/office/drawing/2014/main" id="{EB6B4502-DED7-74EF-E741-6C3F4F6FC5C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90024" y="5443808"/>
            <a:ext cx="8756418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Наступна лекція: Алгоритм Шора — 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автоматичний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вимикач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RSA та ECC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Підготуйте середовище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демонстрації пошуку періоду</a:t>
            </a:r>
          </a:p>
        </p:txBody>
      </p:sp>
      <p:pic>
        <p:nvPicPr>
          <p:cNvPr id="10246" name="Picture 6" descr="Complete 3-Qubit Grover search on a programmable quantum computer | Nature  Communications">
            <a:extLst>
              <a:ext uri="{FF2B5EF4-FFF2-40B4-BE49-F238E27FC236}">
                <a16:creationId xmlns:a16="http://schemas.microsoft.com/office/drawing/2014/main" id="{EC44D28F-5E36-760F-53EC-A46C904DF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616995"/>
            <a:ext cx="4641044" cy="240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37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0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204" y="2077401"/>
            <a:ext cx="9577159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3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6843" y="3200366"/>
            <a:ext cx="10523575" cy="1257711"/>
          </a:xfrm>
        </p:spPr>
        <p:txBody>
          <a:bodyPr>
            <a:noAutofit/>
          </a:bodyPr>
          <a:lstStyle/>
          <a:p>
            <a:r>
              <a:rPr lang="en-US" b="1" dirty="0"/>
              <a:t>Алгоритм Шора та квантові загрози для криптографії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25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46819"/>
            <a:ext cx="6497800" cy="1325563"/>
          </a:xfrm>
        </p:spPr>
        <p:txBody>
          <a:bodyPr/>
          <a:lstStyle/>
          <a:p>
            <a:r>
              <a:rPr lang="uk-UA" dirty="0"/>
              <a:t>Проблема </a:t>
            </a:r>
            <a:r>
              <a:rPr lang="uk-UA" dirty="0" err="1"/>
              <a:t>факторизації</a:t>
            </a:r>
            <a:endParaRPr lang="uk-U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68635" y="1600444"/>
            <a:ext cx="5918245" cy="1974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Дано </a:t>
            </a:r>
            <a:r>
              <a:rPr lang="ru-RU" sz="1800" dirty="0" err="1">
                <a:solidFill>
                  <a:schemeClr val="tx1"/>
                </a:solidFill>
              </a:rPr>
              <a:t>складене</a:t>
            </a:r>
            <a:r>
              <a:rPr lang="ru-RU" sz="1800" dirty="0">
                <a:solidFill>
                  <a:schemeClr val="tx1"/>
                </a:solidFill>
              </a:rPr>
              <a:t> число 𝑁. </a:t>
            </a:r>
            <a:r>
              <a:rPr lang="ru-RU" sz="1800" dirty="0" err="1">
                <a:solidFill>
                  <a:schemeClr val="tx1"/>
                </a:solidFill>
              </a:rPr>
              <a:t>Знайти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його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прості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дільники</a:t>
            </a:r>
            <a:endParaRPr lang="ru-RU" sz="1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 err="1">
                <a:solidFill>
                  <a:schemeClr val="tx1"/>
                </a:solidFill>
              </a:rPr>
              <a:t>Класичні</a:t>
            </a:r>
            <a:r>
              <a:rPr lang="en-IE" sz="1800" dirty="0">
                <a:solidFill>
                  <a:schemeClr val="tx1"/>
                </a:solidFill>
              </a:rPr>
              <a:t> алгоритми: </a:t>
            </a:r>
            <a:r>
              <a:rPr lang="en-IE" sz="1800" dirty="0" err="1">
                <a:solidFill>
                  <a:schemeClr val="tx1"/>
                </a:solidFill>
              </a:rPr>
              <a:t>субекспоненціальний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час</a:t>
            </a:r>
            <a:endParaRPr lang="en-US" sz="1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tx1"/>
                </a:solidFill>
              </a:rPr>
              <a:t>Безпека RSA/ECC залежить від складності факторизації/</a:t>
            </a:r>
            <a:r>
              <a:rPr lang="en-IE" sz="1800" dirty="0" err="1">
                <a:solidFill>
                  <a:schemeClr val="tx1"/>
                </a:solidFill>
              </a:rPr>
              <a:t>дискретних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логарифмів</a:t>
            </a:r>
            <a:endParaRPr lang="en-US" sz="18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590291" y="4150137"/>
                <a:ext cx="5718959" cy="1107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IE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E" sz="1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E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E" sz="180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E" sz="1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E" sz="1800"/>
                                  <m:t>classical</m:t>
                                </m:r>
                                <m:r>
                                  <m:rPr>
                                    <m:nor/>
                                  </m:rPr>
                                  <a:rPr lang="en-IE" sz="1800" i="1"/>
                                  <m:t> </m:t>
                                </m:r>
                              </m:sub>
                            </m:sSub>
                            <m:r>
                              <a:rPr lang="en-IE" sz="1800">
                                <a:latin typeface="Cambria Math" panose="02040503050406030204" pitchFamily="18" charset="0"/>
                              </a:rPr>
                              <m:t>≈</m:t>
                            </m:r>
                            <m:r>
                              <m:rPr>
                                <m:sty m:val="p"/>
                              </m:rPr>
                              <a:rPr lang="en-IE" sz="18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IE" sz="1800">
                                    <a:latin typeface="Cambria Math" panose="02040503050406030204" pitchFamily="18" charset="0"/>
                                  </a:rPr>
                                  <m:t>⋅(</m:t>
                                </m:r>
                                <m:r>
                                  <m:rPr>
                                    <m:sty m:val="p"/>
                                  </m:rPr>
                                  <a:rPr lang="en-IE" sz="1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E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IE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E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E" sz="180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en-IE" sz="1800">
                                    <a:latin typeface="Cambria Math" panose="02040503050406030204" pitchFamily="18" charset="0"/>
                                  </a:rPr>
                                  <m:t>⋅(</m:t>
                                </m:r>
                                <m:r>
                                  <m:rPr>
                                    <m:sty m:val="p"/>
                                  </m:rPr>
                                  <a:rPr lang="en-IE" sz="1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E" sz="18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E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E" sz="18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E" sz="1800">
                                        <a:latin typeface="Cambria Math" panose="02040503050406030204" pitchFamily="18" charset="0"/>
                                      </a:rPr>
                                      <m:t>2/3</m:t>
                                    </m:r>
                                  </m:sup>
                                </m:sSup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  <a:p>
                <a:pPr lvl="0"/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590291" y="4150137"/>
                <a:ext cx="5718959" cy="11074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ombination Padlock, Large 4-Position Outdoor Waterproof resettable  Combination Padlock, 304 Stainless Steel Shackle, Suitable for Various  Outdoor Places (Black) : Amazon.co.uk: DIY &amp; Tools">
            <a:extLst>
              <a:ext uri="{FF2B5EF4-FFF2-40B4-BE49-F238E27FC236}">
                <a16:creationId xmlns:a16="http://schemas.microsoft.com/office/drawing/2014/main" id="{83DD73AD-AEED-DE27-3081-1738CD08B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880" y="1709786"/>
            <a:ext cx="4069502" cy="406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083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Квантова перевага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5872" y="1728296"/>
            <a:ext cx="5336969" cy="1974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/>
              <a:t>Алгоритм Шора працює в </a:t>
            </a:r>
            <a:r>
              <a:rPr lang="en-IE" sz="1800" dirty="0" err="1"/>
              <a:t>поліноміальному</a:t>
            </a:r>
            <a:r>
              <a:rPr lang="en-IE" sz="1800" dirty="0"/>
              <a:t> </a:t>
            </a:r>
            <a:r>
              <a:rPr lang="en-IE" sz="1800" dirty="0" err="1"/>
              <a:t>часі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/>
              <a:t>Зламує RSA, ECC, DH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/>
              <a:t>Робить постквантову </a:t>
            </a:r>
            <a:r>
              <a:rPr lang="en-IE" sz="1800" dirty="0" err="1"/>
              <a:t>криптографію</a:t>
            </a:r>
            <a:r>
              <a:rPr lang="en-IE" sz="1800" dirty="0"/>
              <a:t> </a:t>
            </a:r>
            <a:r>
              <a:rPr lang="en-IE" sz="1800" dirty="0" err="1"/>
              <a:t>необхідною</a:t>
            </a:r>
            <a:endParaRPr lang="en-US" sz="1800" dirty="0"/>
          </a:p>
          <a:p>
            <a:pPr lvl="0"/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248EAC4D-A731-55B1-EBCC-76DF9FA7B516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2" y="4096149"/>
                <a:ext cx="5225988" cy="8824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E"/>
                            <m:t>quantum</m:t>
                          </m:r>
                          <m:r>
                            <m:rPr>
                              <m:nor/>
                            </m:rPr>
                            <a:rPr lang="en-IE" i="1"/>
                            <m:t> </m:t>
                          </m:r>
                        </m:sub>
                      </m:sSub>
                      <m:r>
                        <a:rPr lang="en-I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E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248EAC4D-A731-55B1-EBCC-76DF9FA7B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2" y="4096149"/>
                <a:ext cx="5225988" cy="8824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Exponential versus polynomial fixed scale – GeoGebra">
            <a:extLst>
              <a:ext uri="{FF2B5EF4-FFF2-40B4-BE49-F238E27FC236}">
                <a16:creationId xmlns:a16="http://schemas.microsoft.com/office/drawing/2014/main" id="{89621AB0-9EC1-4EEC-CF54-1CB143DFF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350" y="2234380"/>
            <a:ext cx="4849748" cy="301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870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473"/>
            <a:ext cx="9789160" cy="1325563"/>
          </a:xfrm>
        </p:spPr>
        <p:txBody>
          <a:bodyPr/>
          <a:lstStyle/>
          <a:p>
            <a:r>
              <a:rPr lang="en-IE" dirty="0"/>
              <a:t>Проблема знаходження періоду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838200" y="1869161"/>
                <a:ext cx="7669721" cy="13737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IE" sz="1800" dirty="0"/>
                  <a:t>Суть алгоритму Шора: період модулярного піднесення </a:t>
                </a:r>
                <a:r>
                  <a:rPr lang="en-IE" sz="1800" dirty="0" err="1"/>
                  <a:t>до</a:t>
                </a:r>
                <a:r>
                  <a:rPr lang="en-IE" sz="1800" dirty="0"/>
                  <a:t> </a:t>
                </a:r>
                <a:r>
                  <a:rPr lang="en-IE" sz="1800" dirty="0" err="1"/>
                  <a:t>степеня</a:t>
                </a:r>
                <a:endParaRPr lang="en-US" sz="1800" dirty="0"/>
              </a:p>
              <a:p>
                <a:r>
                  <a:rPr lang="en-IE" sz="1800" dirty="0"/>
                  <a:t>Виберіть випадкове </a:t>
                </a:r>
                <a:r>
                  <a:rPr lang="en-IE" sz="1800" dirty="0" err="1"/>
                  <a:t>число</a:t>
                </a:r>
                <a:r>
                  <a:rPr lang="en-IE" sz="1800" dirty="0"/>
                  <a:t> </a:t>
                </a:r>
                <a14:m>
                  <m:oMath xmlns:m="http://schemas.openxmlformats.org/officeDocument/2006/math">
                    <m:r>
                      <a:rPr lang="en-IE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E" sz="18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E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E" sz="18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800" dirty="0"/>
              </a:p>
              <a:p>
                <a:pPr lvl="0"/>
                <a:r>
                  <a:rPr lang="en-IE" sz="1800" dirty="0" err="1"/>
                  <a:t>Знайдіть</a:t>
                </a:r>
                <a:r>
                  <a:rPr lang="en-IE" sz="1800" dirty="0"/>
                  <a:t> </a:t>
                </a:r>
                <a14:m>
                  <m:oMath xmlns:m="http://schemas.openxmlformats.org/officeDocument/2006/math">
                    <m:r>
                      <a:rPr lang="en-IE" sz="18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E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uk-UA" sz="1800" dirty="0"/>
                  <a:t>, для якого</a:t>
                </a:r>
                <a:r>
                  <a:rPr lang="en-IE" sz="1800" dirty="0"/>
                  <a:t>:</a:t>
                </a:r>
                <a:endParaRPr lang="en-US" sz="18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838200" y="1869161"/>
                <a:ext cx="7669721" cy="1373709"/>
              </a:xfrm>
              <a:prstGeom prst="rect">
                <a:avLst/>
              </a:prstGeom>
              <a:blipFill>
                <a:blip r:embed="rId2"/>
                <a:stretch>
                  <a:fillRect l="-715" t="-4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578812" y="3521663"/>
                <a:ext cx="5225988" cy="8161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E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578812" y="3521663"/>
                <a:ext cx="5225988" cy="8161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B976F319-26EB-D4E0-188F-808410669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60" y="2796381"/>
            <a:ext cx="5406242" cy="360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014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616" y="328506"/>
            <a:ext cx="5725160" cy="1325563"/>
          </a:xfrm>
        </p:spPr>
        <p:txBody>
          <a:bodyPr/>
          <a:lstStyle/>
          <a:p>
            <a:r>
              <a:rPr lang="uk-UA" dirty="0"/>
              <a:t>Вилучення факторів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2">
                <a:extLst>
                  <a:ext uri="{FF2B5EF4-FFF2-40B4-BE49-F238E27FC236}">
                    <a16:creationId xmlns:a16="http://schemas.microsoft.com/office/drawing/2014/main" id="{C4461A07-7549-45FE-97F7-11844066ED32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1459616" y="1958789"/>
                <a:ext cx="7161666" cy="14702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IE" sz="1800" dirty="0"/>
                  <a:t>Після </a:t>
                </a:r>
                <a:r>
                  <a:rPr lang="en-IE" sz="1800" dirty="0" err="1"/>
                  <a:t>визначення</a:t>
                </a:r>
                <a:r>
                  <a:rPr lang="en-IE" sz="1800" dirty="0"/>
                  <a:t> </a:t>
                </a:r>
                <a:r>
                  <a:rPr lang="en-IE" sz="1800" dirty="0" err="1"/>
                  <a:t>періоду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r>
                      <a:rPr lang="en-IE" sz="18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E" sz="1800" dirty="0"/>
                  <a:t> :</a:t>
                </a:r>
                <a:endParaRPr lang="en-US" sz="1800" dirty="0"/>
              </a:p>
              <a:p>
                <a:r>
                  <a:rPr lang="en-IE" sz="1800" dirty="0"/>
                  <a:t>Якщо </a:t>
                </a:r>
                <a14:m>
                  <m:oMath xmlns:m="http://schemas.openxmlformats.org/officeDocument/2006/math">
                    <m:r>
                      <a:rPr lang="en-IE" sz="18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E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800" dirty="0"/>
                  <a:t>парне і 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E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E" sz="180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IE" sz="18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E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IE" sz="1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E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E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E" sz="1800" dirty="0"/>
                  <a:t>,</a:t>
                </a:r>
                <a:endParaRPr lang="en-US" sz="1800" dirty="0"/>
              </a:p>
              <a:p>
                <a:pPr lvl="0"/>
                <a:r>
                  <a:rPr lang="en-IE" sz="1800" dirty="0" err="1"/>
                  <a:t>Фактори</a:t>
                </a:r>
                <a:r>
                  <a:rPr lang="en-IE" sz="1800" dirty="0"/>
                  <a:t> </a:t>
                </a:r>
                <a14:m>
                  <m:oMath xmlns:m="http://schemas.openxmlformats.org/officeDocument/2006/math">
                    <m:r>
                      <a:rPr lang="en-IE" sz="18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E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800" dirty="0" err="1"/>
                  <a:t>можна</a:t>
                </a:r>
                <a:r>
                  <a:rPr lang="en-IE" sz="1800" dirty="0"/>
                  <a:t> </a:t>
                </a:r>
                <a:r>
                  <a:rPr lang="uk-UA" sz="1800" dirty="0"/>
                  <a:t>вилучати</a:t>
                </a:r>
                <a:r>
                  <a:rPr lang="en-IE" sz="1800" dirty="0"/>
                  <a:t> за допомогою GCD.</a:t>
                </a:r>
                <a:endParaRPr lang="en-US" sz="1800" dirty="0"/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 12">
                <a:extLst>
                  <a:ext uri="{FF2B5EF4-FFF2-40B4-BE49-F238E27FC236}">
                    <a16:creationId xmlns:a16="http://schemas.microsoft.com/office/drawing/2014/main" id="{C4461A07-7549-45FE-97F7-11844066E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1459616" y="1958789"/>
                <a:ext cx="7161666" cy="1470211"/>
              </a:xfrm>
              <a:prstGeom prst="rect">
                <a:avLst/>
              </a:prstGeom>
              <a:blipFill>
                <a:blip r:embed="rId2"/>
                <a:stretch>
                  <a:fillRect l="-681" t="-330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F921C316-ACCA-AE3B-E63F-7C2ADEB09C41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3403283" y="3733720"/>
                <a:ext cx="4861652" cy="11078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E">
                          <a:latin typeface="Cambria Math" panose="02040503050406030204" pitchFamily="18" charset="0"/>
                        </a:rPr>
                        <m:t>gcd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E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E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IE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IE">
                          <a:latin typeface="Cambria Math" panose="02040503050406030204" pitchFamily="18" charset="0"/>
                        </a:rPr>
                        <m:t>gcd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E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IE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F921C316-ACCA-AE3B-E63F-7C2ADEB09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3403283" y="3733720"/>
                <a:ext cx="4861652" cy="11078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6478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3BC-6CE8-2E55-4C78-2A3F112A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0B427-8EF1-53DC-B11C-E026A39FF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Квантове перетворення Фур'є (QFT)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D54772-3E61-30BA-5773-CB1913F6722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690688"/>
            <a:ext cx="7669721" cy="137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Основний компонент алгоритму Шора</a:t>
            </a:r>
          </a:p>
          <a:p>
            <a:pPr lvl="0"/>
            <a:r>
              <a:rPr lang="en-US" sz="1800" dirty="0"/>
              <a:t>Відображає періодичну структуру у ймовірності вимірювання</a:t>
            </a:r>
          </a:p>
          <a:p>
            <a:pPr lvl="0"/>
            <a:r>
              <a:rPr lang="en-US" sz="1800" dirty="0"/>
              <a:t>Ефективний квантовий аналог дискретного перетворення Фур'є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870012" y="3608043"/>
                <a:ext cx="5225988" cy="1506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1800" dirty="0"/>
                  <a:t>Складність QFT:</a:t>
                </a:r>
                <a:r>
                  <a:rPr lang="uk-UA" sz="1800" dirty="0"/>
                  <a:t>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uk-UA" sz="1800" dirty="0"/>
                  <a:t> </a:t>
                </a:r>
                <a:r>
                  <a:rPr lang="en-US" sz="1800" dirty="0" err="1"/>
                  <a:t>для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uk-UA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-кубітного регістра</a:t>
                </a:r>
              </a:p>
              <a:p>
                <a:pPr lvl="0"/>
                <a:r>
                  <a:rPr lang="en-US" sz="1800" dirty="0"/>
                  <a:t>Складність класичного DFT: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lvl="0"/>
                <a:r>
                  <a:rPr lang="en-US" sz="1800" dirty="0"/>
                  <a:t>Дозволяє експоненціальне прискорення</a:t>
                </a:r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870012" y="3608043"/>
                <a:ext cx="5225988" cy="1506310"/>
              </a:xfrm>
              <a:prstGeom prst="rect">
                <a:avLst/>
              </a:prstGeom>
              <a:blipFill>
                <a:blip r:embed="rId2"/>
                <a:stretch>
                  <a:fillRect l="-1050" t="-2024" r="-3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A 4-qubit example of the QFT circuit, ie. Fn with n = 4, consisting of... |  Download Scientific Diagram">
            <a:extLst>
              <a:ext uri="{FF2B5EF4-FFF2-40B4-BE49-F238E27FC236}">
                <a16:creationId xmlns:a16="http://schemas.microsoft.com/office/drawing/2014/main" id="{67ED9510-30E1-00F2-BC7E-F7CC10FA4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187" y="3608043"/>
            <a:ext cx="4009468" cy="185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843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EE1E-940F-FAE5-2F1F-801C976A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4947-6499-129F-08D9-B05C1942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673"/>
            <a:ext cx="10515600" cy="1325563"/>
          </a:xfrm>
        </p:spPr>
        <p:txBody>
          <a:bodyPr/>
          <a:lstStyle/>
          <a:p>
            <a:r>
              <a:rPr lang="en-US" dirty="0"/>
              <a:t>Робочий процес алгоритму Шора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3E884AA-27DC-891B-0C4D-FB459973205F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486558" y="1487310"/>
                <a:ext cx="8956040" cy="1751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/>
                  <a:t>Виберіть випадкове ціле </a:t>
                </a:r>
                <a:r>
                  <a:rPr lang="en-US" sz="1800" dirty="0" err="1"/>
                  <a:t>число</a:t>
                </a:r>
                <a:r>
                  <a:rPr lang="en-US" sz="1800" dirty="0"/>
                  <a:t> </a:t>
                </a:r>
                <a:r>
                  <a:rPr lang="uk-UA" sz="1800" dirty="0"/>
                  <a:t> 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800" dirty="0"/>
              </a:p>
              <a:p>
                <a:r>
                  <a:rPr lang="en-US" sz="1800" dirty="0" err="1"/>
                  <a:t>Обчисліть</a:t>
                </a:r>
                <a:r>
                  <a:rPr lang="uk-UA" sz="1800" dirty="0"/>
                  <a:t>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180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)→</m:t>
                    </m:r>
                  </m:oMath>
                </a14:m>
                <a:r>
                  <a:rPr lang="en-US" sz="1800" dirty="0"/>
                  <a:t> тривіальний множник , </a:t>
                </a:r>
                <a:r>
                  <a:rPr lang="en-US" sz="1800" dirty="0" err="1"/>
                  <a:t>якщо</a:t>
                </a:r>
                <a:r>
                  <a:rPr lang="en-US" sz="1800" dirty="0"/>
                  <a:t> 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endParaRPr lang="en-US" sz="1800" dirty="0"/>
              </a:p>
              <a:p>
                <a:r>
                  <a:rPr lang="en-US" sz="1800" dirty="0" err="1"/>
                  <a:t>Використовуючи</a:t>
                </a:r>
                <a:r>
                  <a:rPr lang="en-US" sz="1800" dirty="0"/>
                  <a:t> квантовий комп'ютер, знайти період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 </a:t>
                </a:r>
                <a:r>
                  <a:rPr lang="uk-UA" sz="1800" dirty="0"/>
                  <a:t>функції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1800" dirty="0"/>
              </a:p>
              <a:p>
                <a:pPr lvl="0"/>
                <a:r>
                  <a:rPr lang="en-US" sz="1800" dirty="0" err="1"/>
                  <a:t>Якщо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 парне</a:t>
                </a:r>
                <a:r>
                  <a:rPr lang="uk-UA" sz="1800" dirty="0"/>
                  <a:t>,</a:t>
                </a:r>
                <a:r>
                  <a:rPr lang="en-US" sz="1800" dirty="0"/>
                  <a:t> обчислити множники за допомогою формул </a:t>
                </a:r>
                <a:r>
                  <a:rPr lang="en-US" sz="1800" dirty="0" err="1"/>
                  <a:t>gcd</a:t>
                </a:r>
                <a:endParaRPr lang="en-US" sz="18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3E884AA-27DC-891B-0C4D-FB4599732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486558" y="1487310"/>
                <a:ext cx="8956040" cy="1751249"/>
              </a:xfrm>
              <a:prstGeom prst="rect">
                <a:avLst/>
              </a:prstGeom>
              <a:blipFill>
                <a:blip r:embed="rId2"/>
                <a:stretch>
                  <a:fillRect l="-613" t="-27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4">
            <a:extLst>
              <a:ext uri="{FF2B5EF4-FFF2-40B4-BE49-F238E27FC236}">
                <a16:creationId xmlns:a16="http://schemas.microsoft.com/office/drawing/2014/main" id="{DF5B8AD2-0454-2D77-376C-4F2A7E6F1DD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38690" y="3687739"/>
            <a:ext cx="5225988" cy="134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Працює в поліноміальному часі з високою ймовірністю</a:t>
            </a:r>
          </a:p>
          <a:p>
            <a:pPr lvl="0"/>
            <a:r>
              <a:rPr lang="en-US" sz="1800" dirty="0"/>
              <a:t>Вимагає квантової + класичної постобробки</a:t>
            </a:r>
          </a:p>
          <a:p>
            <a:pPr lvl="0"/>
            <a:r>
              <a:rPr lang="uk-UA" sz="1800" dirty="0"/>
              <a:t>Принципово порушує </a:t>
            </a:r>
            <a:r>
              <a:rPr lang="en-US" sz="1800" dirty="0"/>
              <a:t>RSA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9517CE2D-8DD2-7C90-98D0-581044D61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958" y="2888714"/>
            <a:ext cx="5406242" cy="360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368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480" y="527685"/>
            <a:ext cx="4207803" cy="1325563"/>
          </a:xfrm>
        </p:spPr>
        <p:txBody>
          <a:bodyPr/>
          <a:lstStyle/>
          <a:p>
            <a:r>
              <a:rPr lang="en-US" dirty="0"/>
              <a:t>Факторинг 15</a:t>
            </a:r>
            <a:br>
              <a:rPr lang="en-US" dirty="0"/>
            </a:b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B70DE8A6-8B32-B364-45E4-597D9DA06A3D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894062" y="1685829"/>
                <a:ext cx="5201937" cy="20877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 err="1"/>
                  <a:t>Візьмемо</a:t>
                </a:r>
                <a:r>
                  <a:rPr lang="uk-UA" sz="1800" dirty="0"/>
                  <a:t>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=15,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0"/>
                <a:r>
                  <a:rPr lang="en-US" sz="1800" dirty="0" err="1"/>
                  <a:t>Обчисліть</a:t>
                </a:r>
                <a:r>
                  <a:rPr lang="en-US" sz="1800" dirty="0"/>
                  <a:t> степені за модулем 15: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=2,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=4,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=8,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=1 (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15)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 err="1"/>
                  <a:t>Період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0"/>
                <a:r>
                  <a:rPr lang="uk-UA" sz="1800" dirty="0"/>
                  <a:t>Фактори</a:t>
                </a:r>
                <a:r>
                  <a:rPr lang="en-US" sz="1800" dirty="0"/>
                  <a:t>: 3 і 5.</a:t>
                </a: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B70DE8A6-8B32-B364-45E4-597D9DA06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894062" y="1685829"/>
                <a:ext cx="5201937" cy="2087751"/>
              </a:xfrm>
              <a:prstGeom prst="rect">
                <a:avLst/>
              </a:prstGeom>
              <a:blipFill>
                <a:blip r:embed="rId2"/>
                <a:stretch>
                  <a:fillRect l="-1055" t="-23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1342710" y="3429000"/>
                <a:ext cx="4304640" cy="2230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)=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mr>
                        <m:m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=4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gcd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4/2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1,15</m:t>
                                </m:r>
                              </m:e>
                            </m:d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gcd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(3,15)=3</m:t>
                            </m:r>
                          </m:e>
                        </m:mr>
                        <m:m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gcd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4/2</m:t>
                                    </m:r>
                                  </m:sup>
                                </m:sSup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+1,15</m:t>
                                </m:r>
                              </m:e>
                            </m:d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gcd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(5,15)=5</m:t>
                            </m:r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1342710" y="3429000"/>
                <a:ext cx="4304640" cy="22304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Example - Free of Charge Creative Commons Handwriting image">
            <a:extLst>
              <a:ext uri="{FF2B5EF4-FFF2-40B4-BE49-F238E27FC236}">
                <a16:creationId xmlns:a16="http://schemas.microsoft.com/office/drawing/2014/main" id="{1F55ED79-9CF2-EC68-BBC5-348A91D9B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6" y="2411533"/>
            <a:ext cx="4094513" cy="272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251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911-B9AF-2657-5339-351D9A00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33BA-C993-030F-6FAD-B0CF1B73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Наслідки для криптографії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DE71452D-FF3B-AE45-2879-31D988C2D05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779716"/>
            <a:ext cx="8743682" cy="137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RSA буде зламано, якщо з'являться великомасштабні квантові комп'ютери.</a:t>
            </a:r>
          </a:p>
          <a:p>
            <a:pPr lvl="0"/>
            <a:r>
              <a:rPr lang="en-US" sz="1800" dirty="0"/>
              <a:t>ECC буде зламана за допомогою дискретного логарифмічного скорочення.</a:t>
            </a:r>
          </a:p>
          <a:p>
            <a:pPr lvl="0"/>
            <a:r>
              <a:rPr lang="en-US" sz="1800" dirty="0"/>
              <a:t>Потрібна постквантова криптографія (PQC).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082545A-6CAF-3B6F-565F-D70BD0D34AD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298760" y="3553650"/>
            <a:ext cx="4136453" cy="2593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Стандартизація NIST PQC вже триває.</a:t>
            </a:r>
          </a:p>
          <a:p>
            <a:pPr lvl="0"/>
            <a:r>
              <a:rPr lang="en-US" sz="1800" dirty="0"/>
              <a:t>Кандидати: </a:t>
            </a:r>
            <a:endParaRPr lang="uk-UA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на</a:t>
            </a:r>
            <a:r>
              <a:rPr lang="en-US" sz="1800" dirty="0"/>
              <a:t> основі </a:t>
            </a:r>
            <a:r>
              <a:rPr lang="en-US" sz="1800" dirty="0" err="1"/>
              <a:t>решітки</a:t>
            </a:r>
            <a:r>
              <a:rPr lang="en-US" sz="1800" dirty="0"/>
              <a:t>,</a:t>
            </a:r>
            <a:endParaRPr lang="uk-UA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на</a:t>
            </a:r>
            <a:r>
              <a:rPr lang="en-US" sz="1800" dirty="0"/>
              <a:t> основі </a:t>
            </a:r>
            <a:r>
              <a:rPr lang="en-US" sz="1800" dirty="0" err="1"/>
              <a:t>хешу</a:t>
            </a:r>
            <a:r>
              <a:rPr lang="en-US" sz="1800" dirty="0"/>
              <a:t>,</a:t>
            </a:r>
            <a:endParaRPr lang="uk-UA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на</a:t>
            </a:r>
            <a:r>
              <a:rPr lang="en-US" sz="1800" dirty="0"/>
              <a:t> основі коду,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багатовимірні</a:t>
            </a:r>
            <a:r>
              <a:rPr lang="en-US" sz="1800" dirty="0"/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 descr="Explainer: What is post-quantum cryptography? | MIT Technology Review">
            <a:extLst>
              <a:ext uri="{FF2B5EF4-FFF2-40B4-BE49-F238E27FC236}">
                <a16:creationId xmlns:a16="http://schemas.microsoft.com/office/drawing/2014/main" id="{688B4183-592A-F690-11D5-7BB451AAD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01466"/>
            <a:ext cx="5228849" cy="294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50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17A1-6980-CBF3-7C37-D9DFC36B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51E01-B315-86A3-B4AD-A46955DA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559" y="555333"/>
            <a:ext cx="4282440" cy="1325563"/>
          </a:xfrm>
        </p:spPr>
        <p:txBody>
          <a:bodyPr/>
          <a:lstStyle/>
          <a:p>
            <a:r>
              <a:rPr lang="en-US" dirty="0"/>
              <a:t>Поточний стан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049D127D-338D-6E9F-96A5-75373EA01CD2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47351" y="1943988"/>
            <a:ext cx="7230857" cy="187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spcAft>
                <a:spcPts val="1000"/>
              </a:spcAft>
            </a:pPr>
            <a:r>
              <a:rPr lang="en-US" sz="1800" dirty="0"/>
              <a:t>Алгоритм Шора </a:t>
            </a:r>
            <a:r>
              <a:rPr lang="en-US" sz="1800" dirty="0" err="1"/>
              <a:t>доведений</a:t>
            </a:r>
            <a:r>
              <a:rPr lang="en-US" sz="1800" dirty="0"/>
              <a:t> </a:t>
            </a:r>
            <a:r>
              <a:rPr lang="en-US" sz="1800" dirty="0" err="1"/>
              <a:t>теоретично</a:t>
            </a:r>
            <a:endParaRPr lang="en-US" sz="1800" dirty="0"/>
          </a:p>
          <a:p>
            <a:pPr lvl="0">
              <a:spcBef>
                <a:spcPts val="0"/>
              </a:spcBef>
            </a:pPr>
            <a:r>
              <a:rPr lang="en-US" sz="1800" dirty="0"/>
              <a:t>Реалізований для невеликих чисел з великою </a:t>
            </a:r>
            <a:r>
              <a:rPr lang="en-US" sz="1800" dirty="0" err="1"/>
              <a:t>кількістю</a:t>
            </a:r>
            <a:r>
              <a:rPr lang="en-US" sz="1800" dirty="0"/>
              <a:t> </a:t>
            </a:r>
            <a:endParaRPr lang="uk-UA" sz="1800" dirty="0"/>
          </a:p>
          <a:p>
            <a:pPr lvl="0">
              <a:spcBef>
                <a:spcPts val="0"/>
              </a:spcBef>
            </a:pPr>
            <a:r>
              <a:rPr lang="en-US" sz="1800" dirty="0" err="1"/>
              <a:t>простих</a:t>
            </a:r>
            <a:r>
              <a:rPr lang="en-US" sz="1800" dirty="0"/>
              <a:t> множників (наприклад, 21, 35, 56153)</a:t>
            </a:r>
          </a:p>
          <a:p>
            <a:pPr lvl="0"/>
            <a:r>
              <a:rPr lang="en-US" sz="1800" dirty="0"/>
              <a:t>Практичне розкладання RSA-2048 все ще неможливе через обмеження </a:t>
            </a:r>
            <a:r>
              <a:rPr lang="en-US" sz="1800" dirty="0" err="1"/>
              <a:t>апаратного</a:t>
            </a:r>
            <a:r>
              <a:rPr lang="en-US" sz="1800" dirty="0"/>
              <a:t> </a:t>
            </a:r>
            <a:r>
              <a:rPr lang="en-US" sz="1800" dirty="0" err="1"/>
              <a:t>забезпечення</a:t>
            </a:r>
            <a:endParaRPr lang="en-US" sz="1800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B4A4C6A1-85B8-C922-90E4-E57C758A3BA8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847351" y="4493561"/>
                <a:ext cx="8587607" cy="14609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1800" dirty="0"/>
                  <a:t>Потрібно ~20 мільйонів квантових бітів з корекцією помилок (оцінки варіюються)</a:t>
                </a:r>
              </a:p>
              <a:p>
                <a:pPr lvl="0"/>
                <a:r>
                  <a:rPr lang="en-US" sz="1800" dirty="0"/>
                  <a:t>Сучасні пристрої: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∼1,000</m:t>
                    </m:r>
                  </m:oMath>
                </a14:m>
                <a:r>
                  <a:rPr lang="en-US" sz="1800" dirty="0"/>
                  <a:t> </a:t>
                </a:r>
                <a:r>
                  <a:rPr lang="uk-UA" sz="1800" dirty="0"/>
                  <a:t> </a:t>
                </a:r>
                <a:r>
                  <a:rPr lang="en-US" sz="1800" dirty="0"/>
                  <a:t>шумні кубіти з низькою точністю</a:t>
                </a:r>
              </a:p>
              <a:p>
                <a:pPr lvl="0"/>
                <a:r>
                  <a:rPr lang="en-US" sz="1800" dirty="0"/>
                  <a:t>Все ще довгострокова, але неминуча загроза</a:t>
                </a: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B4A4C6A1-85B8-C922-90E4-E57C758A3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847351" y="4493561"/>
                <a:ext cx="8587607" cy="1460913"/>
              </a:xfrm>
              <a:prstGeom prst="rect">
                <a:avLst/>
              </a:prstGeom>
              <a:blipFill>
                <a:blip r:embed="rId2"/>
                <a:stretch>
                  <a:fillRect l="-568" t="-3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25FB21-0856-93FF-17C9-C41BE30A4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28" y="1880896"/>
            <a:ext cx="4159464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88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9663D-3938-8AEB-05DF-CE523E81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B7CDA-4D07-250F-9388-4454B5C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Підсумок</a:t>
            </a:r>
            <a:endParaRPr lang="uk-UA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45A4E8C-8789-2A22-90FF-878A5FD785B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38052" y="1930642"/>
            <a:ext cx="7230857" cy="137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Факторизація є складною в класичній фізиці, але легкою в квантовій</a:t>
            </a:r>
          </a:p>
          <a:p>
            <a:pPr lvl="0"/>
            <a:r>
              <a:rPr lang="en-US" sz="1800" dirty="0"/>
              <a:t>Алгоритм Шора використовує QFT і пошук періодів</a:t>
            </a:r>
          </a:p>
          <a:p>
            <a:pPr lvl="0"/>
            <a:r>
              <a:rPr lang="en-US" sz="1800" dirty="0"/>
              <a:t>Поліноміальна атака на RSA та ECC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EDB1BF22-2739-84C4-F116-A7716444096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374732" y="4859321"/>
            <a:ext cx="6171690" cy="146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Сьогодні: можливі невеликі демонстраційні симуляції</a:t>
            </a:r>
          </a:p>
          <a:p>
            <a:pPr lvl="0"/>
            <a:r>
              <a:rPr lang="en-US" sz="1800" dirty="0"/>
              <a:t>Майбутнє: криптографія повинна перейти на постквантові стандарти</a:t>
            </a:r>
          </a:p>
          <a:p>
            <a:pPr lvl="0"/>
            <a:r>
              <a:rPr lang="en-US" sz="1800" dirty="0"/>
              <a:t>Наступна лекція: Квантовий розподіл ключів (QKD)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Breaking RSA with Quantum Computing: A Major Step, But How Close Are We to  a Real">
            <a:extLst>
              <a:ext uri="{FF2B5EF4-FFF2-40B4-BE49-F238E27FC236}">
                <a16:creationId xmlns:a16="http://schemas.microsoft.com/office/drawing/2014/main" id="{CA371734-41A0-77C3-174F-E5790357C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781" y="2444450"/>
            <a:ext cx="4454567" cy="250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979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72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054" y="2077401"/>
            <a:ext cx="9992310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4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2008" y="3097741"/>
            <a:ext cx="9144000" cy="924058"/>
          </a:xfrm>
        </p:spPr>
        <p:txBody>
          <a:bodyPr>
            <a:normAutofit/>
          </a:bodyPr>
          <a:lstStyle/>
          <a:p>
            <a:r>
              <a:rPr lang="en-US" b="1" dirty="0"/>
              <a:t>Квантовий розподіл ключів (QKD)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68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720" y="349225"/>
            <a:ext cx="3571240" cy="1325563"/>
          </a:xfrm>
        </p:spPr>
        <p:txBody>
          <a:bodyPr/>
          <a:lstStyle/>
          <a:p>
            <a:r>
              <a:rPr lang="en-US" dirty="0"/>
              <a:t>Чому QKD?</a:t>
            </a:r>
            <a:endParaRPr lang="uk-UA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FA9BA9F-8C4C-88AD-B29B-B3CEF6C8A91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7912" y="1766028"/>
            <a:ext cx="5718959" cy="222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Класична криптографія базується на </a:t>
            </a:r>
            <a:r>
              <a:rPr lang="en-US" sz="1800" dirty="0" err="1"/>
              <a:t>обчислювальних</a:t>
            </a:r>
            <a:r>
              <a:rPr lang="en-US" sz="1800" dirty="0"/>
              <a:t> </a:t>
            </a:r>
            <a:r>
              <a:rPr lang="en-US" sz="1800" dirty="0" err="1"/>
              <a:t>припущеннях</a:t>
            </a:r>
            <a:endParaRPr lang="en-US" sz="1800" dirty="0"/>
          </a:p>
          <a:p>
            <a:pPr lvl="0"/>
            <a:r>
              <a:rPr lang="en-US" sz="1800" dirty="0"/>
              <a:t>Квантова криптографія базується на </a:t>
            </a:r>
            <a:r>
              <a:rPr lang="en-US" sz="1800" dirty="0" err="1"/>
              <a:t>фізичних</a:t>
            </a:r>
            <a:r>
              <a:rPr lang="en-US" sz="1800" dirty="0"/>
              <a:t> </a:t>
            </a:r>
            <a:r>
              <a:rPr lang="en-US" sz="1800" dirty="0" err="1"/>
              <a:t>законах</a:t>
            </a:r>
            <a:endParaRPr lang="en-US" sz="1800" dirty="0"/>
          </a:p>
          <a:p>
            <a:pPr lvl="0"/>
            <a:r>
              <a:rPr lang="en-US" sz="1800" dirty="0"/>
              <a:t>Теорема про неможливість клонування забезпечує безпечний </a:t>
            </a:r>
            <a:r>
              <a:rPr lang="en-US" sz="1800" dirty="0" err="1"/>
              <a:t>обмін</a:t>
            </a:r>
            <a:r>
              <a:rPr lang="en-US" sz="1800" dirty="0"/>
              <a:t> </a:t>
            </a:r>
            <a:r>
              <a:rPr lang="en-US" sz="1800" dirty="0" err="1"/>
              <a:t>ключами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448051" y="4732649"/>
                <a:ext cx="5718959" cy="341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/>
                        <m:t>No</m:t>
                      </m:r>
                      <m:r>
                        <m:rPr>
                          <m:nor/>
                        </m:rPr>
                        <a:rPr lang="en-US" sz="1800" i="1"/>
                        <m:t>−</m:t>
                      </m:r>
                      <m:r>
                        <m:rPr>
                          <m:nor/>
                        </m:rPr>
                        <a:rPr lang="en-US" sz="1800"/>
                        <m:t>cloning</m:t>
                      </m:r>
                      <m:r>
                        <m:rPr>
                          <m:nor/>
                        </m:rPr>
                        <a:rPr lang="en-US" sz="1800"/>
                        <m:t> </m:t>
                      </m:r>
                      <m:r>
                        <m:rPr>
                          <m:nor/>
                        </m:rPr>
                        <a:rPr lang="en-US" sz="1800"/>
                        <m:t>theorem</m:t>
                      </m:r>
                      <m:r>
                        <m:rPr>
                          <m:nor/>
                        </m:rPr>
                        <a:rPr lang="en-US" sz="1800"/>
                        <m:t>: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∄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m:rPr>
                          <m:nor/>
                        </m:rPr>
                        <a:rPr lang="en-US" sz="1800"/>
                        <m:t>s</m:t>
                      </m:r>
                      <m:r>
                        <m:rPr>
                          <m:nor/>
                        </m:rPr>
                        <a:rPr lang="en-US" sz="1800"/>
                        <m:t>.</m:t>
                      </m:r>
                      <m:r>
                        <m:rPr>
                          <m:nor/>
                        </m:rPr>
                        <a:rPr lang="en-US" sz="1800"/>
                        <m:t>t</m:t>
                      </m:r>
                      <m:r>
                        <m:rPr>
                          <m:nor/>
                        </m:rPr>
                        <a:rPr lang="en-US" sz="1800"/>
                        <m:t>.</m:t>
                      </m:r>
                      <m:r>
                        <m:rPr>
                          <m:nor/>
                        </m:rPr>
                        <a:rPr lang="en-US" sz="1800" i="1"/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⟩|0⟩=|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 ∀|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:p14="http://schemas.microsoft.com/office/powerpoint/2010/main" xmlns:a16="http://schemas.microsoft.com/office/drawing/2014/main"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CFE92BDB-2FA7-C92E-6761-85B37EB79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448051" y="4732649"/>
                <a:ext cx="5718959" cy="341632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Quantum Key Distribution (QKD) - Quantum Technology | Quantum Flagship">
            <a:extLst>
              <a:ext uri="{FF2B5EF4-FFF2-40B4-BE49-F238E27FC236}">
                <a16:creationId xmlns:a16="http://schemas.microsoft.com/office/drawing/2014/main" id="{2EFAEF31-4077-EBD7-E6D3-24B9E434F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871" y="2354530"/>
            <a:ext cx="4781389" cy="21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375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Ключова ідея QKD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F56EF-4F8E-D5B5-E50B-8C6C8184B1B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59031" y="1907813"/>
            <a:ext cx="5336969" cy="172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Alice кодує біти в </a:t>
            </a:r>
            <a:r>
              <a:rPr lang="en-US" sz="1800" dirty="0" err="1"/>
              <a:t>квантових</a:t>
            </a:r>
            <a:r>
              <a:rPr lang="en-US" sz="1800" dirty="0"/>
              <a:t> </a:t>
            </a:r>
            <a:r>
              <a:rPr lang="en-US" sz="1800" dirty="0" err="1"/>
              <a:t>станах</a:t>
            </a:r>
            <a:endParaRPr lang="en-US" sz="1800" dirty="0"/>
          </a:p>
          <a:p>
            <a:pPr lvl="0"/>
            <a:r>
              <a:rPr lang="en-US" sz="1800" dirty="0"/>
              <a:t>Bob вимірює у </a:t>
            </a:r>
            <a:r>
              <a:rPr lang="en-US" sz="1800" dirty="0" err="1"/>
              <a:t>випадкових</a:t>
            </a:r>
            <a:r>
              <a:rPr lang="en-US" sz="1800" dirty="0"/>
              <a:t> </a:t>
            </a:r>
            <a:r>
              <a:rPr lang="uk-UA" sz="1800" dirty="0"/>
              <a:t>базисах</a:t>
            </a:r>
            <a:endParaRPr lang="en-US" sz="1800" dirty="0"/>
          </a:p>
          <a:p>
            <a:pPr lvl="0"/>
            <a:r>
              <a:rPr lang="en-US" sz="1800" dirty="0"/>
              <a:t>Безпека: втручання Єви завжди можна виявити.</a:t>
            </a:r>
          </a:p>
          <a:p>
            <a:pPr lvl="0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59031" y="4180221"/>
            <a:ext cx="5225988" cy="84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«Безпека гарантується квантовою механікою, а не обчислювальною складністю».</a:t>
            </a:r>
            <a:br>
              <a:rPr lang="en-US" sz="1800" dirty="0"/>
            </a:b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2052" name="Picture 4" descr="Communication between Alice and Bob intercepted by Eve. Here, channel... |  Download Scientific Diagram">
            <a:extLst>
              <a:ext uri="{FF2B5EF4-FFF2-40B4-BE49-F238E27FC236}">
                <a16:creationId xmlns:a16="http://schemas.microsoft.com/office/drawing/2014/main" id="{FE58C7F9-E7CD-1AA2-1189-F7174FB48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40680"/>
            <a:ext cx="47625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745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615347"/>
            <a:ext cx="10515600" cy="1325563"/>
          </a:xfrm>
        </p:spPr>
        <p:txBody>
          <a:bodyPr/>
          <a:lstStyle/>
          <a:p>
            <a:r>
              <a:rPr lang="en-US" dirty="0"/>
              <a:t>Стани поляризації фотонів</a:t>
            </a:r>
            <a:br>
              <a:rPr lang="en-US" dirty="0"/>
            </a:b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ChangeArrowheads="1"/>
              </p:cNvSpPr>
              <p:nvPr>
                <p:ph type="body" sz="quarter" idx="10"/>
              </p:nvPr>
            </p:nvSpPr>
            <p:spPr bwMode="auto">
              <a:xfrm>
                <a:off x="614680" y="1694880"/>
                <a:ext cx="7669721" cy="9961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sz="1800" dirty="0" err="1"/>
                  <a:t>Обчислювальн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 </a:t>
                </a:r>
                <a:r>
                  <a:rPr lang="uk-UA" sz="1800" dirty="0"/>
                  <a:t>базис</a:t>
                </a:r>
                <a:r>
                  <a:rPr lang="en-US" sz="1800" dirty="0"/>
                  <a:t>:</a:t>
                </a:r>
                <a:r>
                  <a:rPr lang="uk-UA" sz="1800" dirty="0"/>
                  <a:t>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|0⟩,|1⟩</m:t>
                    </m:r>
                  </m:oMath>
                </a14:m>
                <a:r>
                  <a:rPr lang="uk-UA" sz="1800" dirty="0"/>
                  <a:t> </a:t>
                </a:r>
                <a:r>
                  <a:rPr lang="en-US" sz="1800" dirty="0"/>
                  <a:t> (</a:t>
                </a:r>
                <a:r>
                  <a:rPr lang="en-US" sz="1800" dirty="0" err="1"/>
                  <a:t>вертикальн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горизонтальн</a:t>
                </a:r>
                <a:r>
                  <a:rPr lang="uk-UA" sz="1800" dirty="0" err="1"/>
                  <a:t>ий</a:t>
                </a:r>
                <a:r>
                  <a:rPr lang="en-US" sz="1800" dirty="0"/>
                  <a:t>).</a:t>
                </a:r>
              </a:p>
              <a:p>
                <a:pPr lvl="0"/>
                <a:r>
                  <a:rPr lang="en-US" sz="1800" dirty="0"/>
                  <a:t>Діагональна основа: </a:t>
                </a:r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|+⟩,|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⟩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88BE2268-93C9-88B4-6AC3-ABDF9115FF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 bwMode="auto">
              <a:xfrm>
                <a:off x="614680" y="1694880"/>
                <a:ext cx="7669721" cy="996170"/>
              </a:xfrm>
              <a:prstGeom prst="rect">
                <a:avLst/>
              </a:prstGeom>
              <a:blipFill>
                <a:blip r:embed="rId2"/>
                <a:stretch>
                  <a:fillRect l="-715" t="-55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614680" y="3429000"/>
                <a:ext cx="5225988" cy="11928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|+⟩=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|0⟩+|1⟩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, 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⟩=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|0⟩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|1⟩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8D42B780-DDD1-CDEF-54D1-CA1E52481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614680" y="3429000"/>
                <a:ext cx="5225988" cy="1192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 descr="Classification of Polarization">
            <a:extLst>
              <a:ext uri="{FF2B5EF4-FFF2-40B4-BE49-F238E27FC236}">
                <a16:creationId xmlns:a16="http://schemas.microsoft.com/office/drawing/2014/main" id="{C16D1089-0476-0889-1A27-9133D1001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334" y="2583466"/>
            <a:ext cx="487680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872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Огляд протоколу BB84</a:t>
            </a:r>
            <a:endParaRPr lang="uk-UA" dirty="0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C4461A07-7549-45FE-97F7-11844066ED32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690688"/>
            <a:ext cx="6497320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Alice </a:t>
            </a:r>
            <a:r>
              <a:rPr lang="uk-UA" sz="2000" dirty="0"/>
              <a:t>обирає</a:t>
            </a:r>
            <a:r>
              <a:rPr lang="en-US" sz="2000" dirty="0"/>
              <a:t> випадкові біти + </a:t>
            </a:r>
            <a:r>
              <a:rPr lang="en-US" sz="2000" dirty="0" err="1"/>
              <a:t>бази</a:t>
            </a:r>
            <a:r>
              <a:rPr lang="uk-UA" sz="2000" dirty="0" err="1"/>
              <a:t>си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Відправляє фотони </a:t>
            </a:r>
            <a:r>
              <a:rPr lang="en-US" sz="2000" dirty="0" err="1"/>
              <a:t>через</a:t>
            </a:r>
            <a:r>
              <a:rPr lang="en-US" sz="2000" dirty="0"/>
              <a:t> </a:t>
            </a:r>
            <a:r>
              <a:rPr lang="en-US" sz="2000" dirty="0" err="1"/>
              <a:t>канал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Bob вимірює за допомогою </a:t>
            </a:r>
            <a:r>
              <a:rPr lang="en-US" sz="2000" dirty="0" err="1"/>
              <a:t>випадкових</a:t>
            </a:r>
            <a:r>
              <a:rPr lang="en-US" sz="2000" dirty="0"/>
              <a:t> </a:t>
            </a:r>
            <a:r>
              <a:rPr lang="en-US" sz="2000" dirty="0" err="1"/>
              <a:t>баз</a:t>
            </a:r>
            <a:r>
              <a:rPr lang="uk-UA" sz="2000" dirty="0" err="1"/>
              <a:t>исів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Бази</a:t>
            </a:r>
            <a:r>
              <a:rPr lang="uk-UA" sz="2000" dirty="0" err="1"/>
              <a:t>си</a:t>
            </a:r>
            <a:r>
              <a:rPr lang="en-US" sz="2000" dirty="0"/>
              <a:t> порівнюються через </a:t>
            </a:r>
            <a:r>
              <a:rPr lang="en-US" sz="2000" dirty="0" err="1"/>
              <a:t>публічний</a:t>
            </a:r>
            <a:r>
              <a:rPr lang="en-US" sz="2000" dirty="0"/>
              <a:t> </a:t>
            </a:r>
            <a:r>
              <a:rPr lang="en-US" sz="2000" dirty="0" err="1"/>
              <a:t>канал</a:t>
            </a: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Збережено відібраний ключ.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4" name="Picture 4" descr="An Enhanced Architecture to Resolve Public-Key Cryptographic Issues in the  Internet of Things (IoT), Employing Quantum Computing Supremacy">
            <a:extLst>
              <a:ext uri="{FF2B5EF4-FFF2-40B4-BE49-F238E27FC236}">
                <a16:creationId xmlns:a16="http://schemas.microsoft.com/office/drawing/2014/main" id="{7B3E36B8-F594-59D8-C0BA-FA65570D9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163" y="3746399"/>
            <a:ext cx="4642707" cy="162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897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3BC-6CE8-2E55-4C78-2A3F112A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0B427-8EF1-53DC-B11C-E026A39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394" y="195271"/>
            <a:ext cx="7371080" cy="1325563"/>
          </a:xfrm>
        </p:spPr>
        <p:txBody>
          <a:bodyPr/>
          <a:lstStyle/>
          <a:p>
            <a:r>
              <a:rPr lang="en-US" dirty="0"/>
              <a:t>Імовірності вимірювання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5D54772-3E61-30BA-5773-CB1913F6722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25385" y="1789693"/>
            <a:ext cx="7669721" cy="124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Вимірювання є правильним лише в тому випадку, </a:t>
            </a:r>
            <a:r>
              <a:rPr lang="en-US" sz="1800" dirty="0" err="1"/>
              <a:t>якщо</a:t>
            </a:r>
            <a:r>
              <a:rPr lang="en-US" sz="1800" dirty="0"/>
              <a:t> </a:t>
            </a:r>
            <a:r>
              <a:rPr lang="uk-UA" sz="1800" dirty="0"/>
              <a:t>базис</a:t>
            </a:r>
            <a:r>
              <a:rPr lang="en-US" sz="1800" dirty="0"/>
              <a:t> Bob збігається з </a:t>
            </a:r>
            <a:r>
              <a:rPr lang="ru-RU" sz="1800" dirty="0"/>
              <a:t>базисом</a:t>
            </a:r>
            <a:r>
              <a:rPr lang="en-US" sz="1800" dirty="0"/>
              <a:t> Alice.</a:t>
            </a:r>
          </a:p>
          <a:p>
            <a:pPr lvl="0"/>
            <a:r>
              <a:rPr lang="en-US" sz="1800" dirty="0" err="1"/>
              <a:t>Якщо</a:t>
            </a:r>
            <a:r>
              <a:rPr lang="en-US" sz="1800" dirty="0"/>
              <a:t> </a:t>
            </a:r>
            <a:r>
              <a:rPr lang="en-US" sz="1800" dirty="0" err="1"/>
              <a:t>бази</a:t>
            </a:r>
            <a:r>
              <a:rPr lang="ru-RU" sz="1800" dirty="0"/>
              <a:t>си</a:t>
            </a:r>
            <a:r>
              <a:rPr lang="en-US" sz="1800" dirty="0"/>
              <a:t> відрізняються , результати будуть випадковими.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25385" y="3572879"/>
                <a:ext cx="5225988" cy="1118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correct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)=1,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error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DA3F2A2-6F52-1B47-EBBD-910B589E8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25385" y="3572879"/>
                <a:ext cx="5225988" cy="11181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 descr="Amazon.com: GDMINLO Soft Tape Measure Double Scale Body Sewing Flexible  Tailor Craft Vinyl Ruler for Weight Loss Medical Body Measurement, Has  Centimetre Scale on Reverse Side 60-inch（White）">
            <a:extLst>
              <a:ext uri="{FF2B5EF4-FFF2-40B4-BE49-F238E27FC236}">
                <a16:creationId xmlns:a16="http://schemas.microsoft.com/office/drawing/2014/main" id="{F487B356-339B-0579-F4D4-244311D1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528" y="3134166"/>
            <a:ext cx="4377892" cy="311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11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EE1E-940F-FAE5-2F1F-801C976A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4947-6499-129F-08D9-B05C1942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Виправлення помилок</a:t>
            </a:r>
            <a:endParaRPr lang="uk-UA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E884AA-27DC-891B-0C4D-FB459973205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826941"/>
            <a:ext cx="8448040" cy="1245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Alice і Bob виправляють невідповідні біти за допомогою класичних протоколів.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Перевірка парності, каскадні коди, коди LDPC.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DF5B8AD2-0454-2D77-376C-4F2A7E6F1DD5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2229460" y="3910241"/>
                <a:ext cx="6892636" cy="8298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corrected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Alice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  <m:r>
                        <m:rPr>
                          <m:nor/>
                        </m:rPr>
                        <a:rPr lang="en-US"/>
                        <m:t>Error</m:t>
                      </m:r>
                      <m:r>
                        <m:rPr>
                          <m:nor/>
                        </m:rPr>
                        <a:rPr lang="en-US"/>
                        <m:t>_</m:t>
                      </m:r>
                      <m:r>
                        <m:rPr>
                          <m:nor/>
                        </m:rPr>
                        <a:rPr lang="en-US"/>
                        <m:t>correction</m:t>
                      </m:r>
                      <m:r>
                        <m:rPr>
                          <m:nor/>
                        </m:rPr>
                        <a:rPr lang="en-US"/>
                        <m:t>_</m:t>
                      </m:r>
                      <m:r>
                        <m:rPr>
                          <m:nor/>
                        </m:rPr>
                        <a:rPr lang="en-US"/>
                        <m:t>info</m:t>
                      </m:r>
                      <m:r>
                        <m:rPr>
                          <m:nor/>
                        </m:rPr>
                        <a:rPr lang="en-US" i="1"/>
                        <m:t> </m:t>
                      </m:r>
                    </m:oMath>
                  </m:oMathPara>
                </a14:m>
                <a:endParaRPr lang="en-US" dirty="0"/>
              </a:p>
              <a:p>
                <a:pPr lvl="0"/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DF5B8AD2-0454-2D77-376C-4F2A7E6F1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2229460" y="3910241"/>
                <a:ext cx="6892636" cy="8298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962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Посилення конфіденційності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0DE8A6-8B32-B364-45E4-597D9DA06A3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2188019"/>
            <a:ext cx="4857420" cy="108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Видалити можливу </a:t>
            </a:r>
            <a:r>
              <a:rPr lang="en-US" sz="1800" dirty="0" err="1"/>
              <a:t>інформацію</a:t>
            </a:r>
            <a:r>
              <a:rPr lang="en-US" sz="1800" dirty="0"/>
              <a:t> </a:t>
            </a:r>
            <a:r>
              <a:rPr lang="ru-RU" sz="1800" dirty="0"/>
              <a:t> </a:t>
            </a:r>
            <a:r>
              <a:rPr lang="en-US" sz="1800" dirty="0"/>
              <a:t>Eve.</a:t>
            </a:r>
          </a:p>
          <a:p>
            <a:pPr lvl="0"/>
            <a:r>
              <a:rPr lang="en-US" sz="1800" dirty="0"/>
              <a:t>Використовуйте універсальні хеш-функції.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741363" y="3768724"/>
                <a:ext cx="4197688" cy="1523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/>
                            <m:t>final</m:t>
                          </m:r>
                          <m:r>
                            <m:rPr>
                              <m:nor/>
                            </m:rPr>
                            <a:rPr lang="en-US" i="1"/>
                            <m:t> 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Hash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/>
                                <m:t>corrected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800" dirty="0"/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741363" y="3768724"/>
                <a:ext cx="4197688" cy="15233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ECB6A36-4BE1-A594-2500-0A01892A835C}"/>
              </a:ext>
            </a:extLst>
          </p:cNvPr>
          <p:cNvSpPr txBox="1"/>
          <p:nvPr/>
        </p:nvSpPr>
        <p:spPr>
          <a:xfrm>
            <a:off x="5883760" y="1959886"/>
            <a:ext cx="609501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Остаточний секретний ключ: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Захист від необмеженої обчислювальної потужності.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Безпека на основі квантової фізики + теорії інформації.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0DB60-6264-6602-811E-1A49D85B21FE}"/>
              </a:ext>
            </a:extLst>
          </p:cNvPr>
          <p:cNvSpPr txBox="1"/>
          <p:nvPr/>
        </p:nvSpPr>
        <p:spPr>
          <a:xfrm>
            <a:off x="5274992" y="3977399"/>
            <a:ext cx="6388688" cy="170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1100"/>
              </a:spcAft>
              <a:buNone/>
            </a:pPr>
            <a:r>
              <a:rPr lang="en-US" sz="1800" dirty="0" err="1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Навіть</a:t>
            </a: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за допомогою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квантового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комп'ютера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Eve не може дізнатися остаточний ключ, не будучи виявленою.</a:t>
            </a:r>
            <a:b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Зображення: Alice</a:t>
            </a:r>
            <a:r>
              <a:rPr lang="ru-RU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Georgia" panose="02040502050405020303" pitchFamily="18" charset="0"/>
                <a:cs typeface="Times New Roman" panose="02020603050405020304" pitchFamily="18" charset="0"/>
              </a:rPr>
              <a:t>і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  Bob з відповідними секретними ключами, Eve виключена.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58516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62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777" y="2077401"/>
            <a:ext cx="9586586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5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5655" y="3200367"/>
            <a:ext cx="10640690" cy="750852"/>
          </a:xfrm>
        </p:spPr>
        <p:txBody>
          <a:bodyPr>
            <a:noAutofit/>
          </a:bodyPr>
          <a:lstStyle/>
          <a:p>
            <a:r>
              <a:rPr lang="en-US" b="1" dirty="0"/>
              <a:t>Квантові генератори випадкових чисел (QRNG)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02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Чому випадковість має значення?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377041" y="4198647"/>
            <a:ext cx="5718959" cy="97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Без справжньої випадковості навіть найпотужніші криптографічні алгоритми можуть бути зламані.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8AB40C-2884-1645-33C9-DAB93309BB4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51391" y="1478406"/>
            <a:ext cx="10066282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Випадкові числа 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основою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криптографії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Вони використовуються для ключів, векторів ініціалізації,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одноразових значень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солей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безпечних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протоколів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Псевдовипадковість ≠ справжня випадковість: алгоритми можуть бути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передбачуваними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якщо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відома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початкова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величина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Age Verification in the European Union: The Commission's Age Verification  App | Electronic Frontier Foundation">
            <a:extLst>
              <a:ext uri="{FF2B5EF4-FFF2-40B4-BE49-F238E27FC236}">
                <a16:creationId xmlns:a16="http://schemas.microsoft.com/office/drawing/2014/main" id="{82F372DE-8FBE-DB0C-3F0D-CE172F2CF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491" y="3462136"/>
            <a:ext cx="5226118" cy="261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18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Класична випадковість проти квантової випадковості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46163" y="3930578"/>
            <a:ext cx="5225988" cy="84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Квантова механіка гарантує незнищенну випадковість, яку не може передбачити </a:t>
            </a:r>
            <a:r>
              <a:rPr lang="en-US" sz="1800" dirty="0" err="1"/>
              <a:t>жоден</a:t>
            </a:r>
            <a:r>
              <a:rPr lang="en-US" sz="1800" dirty="0"/>
              <a:t> </a:t>
            </a:r>
            <a:r>
              <a:rPr lang="en-US" sz="1800" dirty="0" err="1"/>
              <a:t>супротивник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2EBCAE-01DF-0E2D-23D7-8B11B131459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1920705"/>
            <a:ext cx="10436896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Класичні джерела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шум в електричних ланцюгах,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хаотичні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процеси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Слабкість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може бути змодельована та передбачена за наявності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достатньої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інформації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Квантові джерела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базуються на вимірюванні суперпозиції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принципово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непередбачувані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QRNG - Quantum Technology | Quantum Flagship">
            <a:extLst>
              <a:ext uri="{FF2B5EF4-FFF2-40B4-BE49-F238E27FC236}">
                <a16:creationId xmlns:a16="http://schemas.microsoft.com/office/drawing/2014/main" id="{16ADDF80-4968-8C4D-42FE-5E77BE4A4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151" y="3702888"/>
            <a:ext cx="42386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817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041" y="330925"/>
            <a:ext cx="4485640" cy="1325563"/>
          </a:xfrm>
        </p:spPr>
        <p:txBody>
          <a:bodyPr/>
          <a:lstStyle/>
          <a:p>
            <a:r>
              <a:rPr lang="en-US" dirty="0"/>
              <a:t>Принцип QRNG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D42B780-DDD1-CDEF-54D1-CA1E52481B89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70012" y="4023026"/>
            <a:ext cx="5225988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Випадковість походить від фізичного акту вимірювання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73E49C-D8D5-BEF0-5D1F-721633FC7F3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73405" y="1656488"/>
            <a:ext cx="91209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Квантова суперпозиція випадково руйнується під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вимірювання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поляризація фотона під кутом 45° → руйнується до H (горизонтально)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або V (вертикально) 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однаковою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ймовірністю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 безпосередньо відображається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бітах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Analysis of Polarization Detector Performance Parameters on Polarization 3D  Imaging Accuracy">
            <a:extLst>
              <a:ext uri="{FF2B5EF4-FFF2-40B4-BE49-F238E27FC236}">
                <a16:creationId xmlns:a16="http://schemas.microsoft.com/office/drawing/2014/main" id="{5C65E956-DC2A-AB2A-63A0-D29164E2F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681" y="3169553"/>
            <a:ext cx="4049473" cy="229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278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463575"/>
            <a:ext cx="5928360" cy="1325563"/>
          </a:xfrm>
        </p:spPr>
        <p:txBody>
          <a:bodyPr/>
          <a:lstStyle/>
          <a:p>
            <a:r>
              <a:rPr lang="en-US" dirty="0"/>
              <a:t>Архітектури QRNG</a:t>
            </a:r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9CC765D-8BA7-EBA9-0611-56E517D55C0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67166" y="1789138"/>
            <a:ext cx="1014534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Роздільник променя + детектори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вимірювання окремих фотонів після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розділення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50/50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Фазовий шум у лазерах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вимірювання непередбачуваного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фазового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зсуву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Вакуумні флуктуації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використання квантового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шуму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поля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D9446-0861-3A7F-7F04-F5932607F79D}"/>
              </a:ext>
            </a:extLst>
          </p:cNvPr>
          <p:cNvSpPr txBox="1"/>
          <p:nvPr/>
        </p:nvSpPr>
        <p:spPr>
          <a:xfrm>
            <a:off x="367166" y="5424928"/>
            <a:ext cx="609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Різні QRNG використовують різні квантові явища, але мають одну мету: </a:t>
            </a:r>
            <a:r>
              <a:rPr lang="en-US" dirty="0" err="1"/>
              <a:t>необ'єктивну</a:t>
            </a:r>
            <a:r>
              <a:rPr lang="en-US" dirty="0"/>
              <a:t> </a:t>
            </a:r>
            <a:r>
              <a:rPr lang="en-US" dirty="0" err="1"/>
              <a:t>випадковість</a:t>
            </a:r>
            <a:endParaRPr lang="en-US" dirty="0"/>
          </a:p>
        </p:txBody>
      </p:sp>
      <p:pic>
        <p:nvPicPr>
          <p:cNvPr id="4099" name="Picture 3" descr="Quantum random number cloud platform | npj Quantum Information">
            <a:extLst>
              <a:ext uri="{FF2B5EF4-FFF2-40B4-BE49-F238E27FC236}">
                <a16:creationId xmlns:a16="http://schemas.microsoft.com/office/drawing/2014/main" id="{A67AD144-B505-36AA-9936-5C894DEAE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397" y="3423920"/>
            <a:ext cx="4137637" cy="230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544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3BC-6CE8-2E55-4C78-2A3F112A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0B427-8EF1-53DC-B11C-E026A39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5" y="38966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Приклад QRNG з роздільником променя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DA3F2A2-6F52-1B47-EBBD-910B589E811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112137" y="5142772"/>
            <a:ext cx="5225988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Кожна подія виявлення → один випадковий біт. Багато фотонів = випадковий потік бітів.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D825E0-0A1E-8F3C-C6D3-C91796BD60C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112137" y="2007576"/>
            <a:ext cx="6206314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Фотон потрапляє на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світлодільник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50/50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Він має рівну ймовірність відхилитися вліво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або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вправо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Два детектори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фіксують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4" name="Picture 4" descr="Generated image">
            <a:extLst>
              <a:ext uri="{FF2B5EF4-FFF2-40B4-BE49-F238E27FC236}">
                <a16:creationId xmlns:a16="http://schemas.microsoft.com/office/drawing/2014/main" id="{5624068D-E0BB-ECAE-CC86-1FCE0B3CDD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4" t="16836" b="13625"/>
          <a:stretch/>
        </p:blipFill>
        <p:spPr bwMode="auto">
          <a:xfrm>
            <a:off x="6369938" y="2857597"/>
            <a:ext cx="4871047" cy="258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1788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974B-CDC2-0D2C-4F9E-9AD3E177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3172-6AE9-B0AC-354B-62111349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Недосконалості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упередженн</a:t>
            </a:r>
            <a:r>
              <a:rPr lang="uk-UA" dirty="0" err="1"/>
              <a:t>ість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906F90E-3C4C-89F3-0506-E1D3253E179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25385" y="4270891"/>
            <a:ext cx="5225988" cy="84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Для забезпечення криптографічної якості застосовується постобробка (екстрактори) для відновлення рівномірного розподілу.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7A7BFB-8582-5383-A197-393A88CE325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25385" y="1690688"/>
            <a:ext cx="5275803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Детектори мають різну ефективність.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Роздільники променів можуть не бути ідеально 50/50.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 призводить до відхилення (наприклад, 60% нулів, 40% одиниць).</a:t>
            </a:r>
          </a:p>
        </p:txBody>
      </p:sp>
      <p:pic>
        <p:nvPicPr>
          <p:cNvPr id="9219" name="Picture 3" descr="Histograms Unveiled: Analyzing Numeric Distributions | Atlassian">
            <a:extLst>
              <a:ext uri="{FF2B5EF4-FFF2-40B4-BE49-F238E27FC236}">
                <a16:creationId xmlns:a16="http://schemas.microsoft.com/office/drawing/2014/main" id="{AEF6C1A2-EAAD-911D-0551-00C07ED8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429000"/>
            <a:ext cx="4981575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71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EE1E-940F-FAE5-2F1F-801C976A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4947-6499-129F-08D9-B05C1942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178" y="204174"/>
            <a:ext cx="4925382" cy="1325563"/>
          </a:xfrm>
        </p:spPr>
        <p:txBody>
          <a:bodyPr/>
          <a:lstStyle/>
          <a:p>
            <a:r>
              <a:rPr lang="uk-UA" dirty="0" err="1"/>
              <a:t>Післяобробка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F5B8AD2-0454-2D77-376C-4F2A7E6F1DD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94756" y="5453492"/>
            <a:ext cx="7512924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«Сирі квантові дані → вилучення → сертифіковані випадкові числа.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CA9174-7732-92AB-4C48-C92CBE7D34A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94756" y="1477720"/>
            <a:ext cx="7954422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Екстрактори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випадковості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хеш-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функції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матриці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Тепліца</a:t>
            </a: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перетворення слабкої випадковості в рівномірні випадкові біти.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Ефективність залежить від оцінки ентропії.</a:t>
            </a:r>
          </a:p>
        </p:txBody>
      </p:sp>
      <p:pic>
        <p:nvPicPr>
          <p:cNvPr id="6148" name="Picture 4" descr="A Post-Processing Method for Quantum Random Number Generator Based on  Zero-Phase Component Analysis Whitening">
            <a:extLst>
              <a:ext uri="{FF2B5EF4-FFF2-40B4-BE49-F238E27FC236}">
                <a16:creationId xmlns:a16="http://schemas.microsoft.com/office/drawing/2014/main" id="{BBB6CC0B-02D3-81A0-DEDF-88DA7B6D4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778" y="3021761"/>
            <a:ext cx="5393377" cy="182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1864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Тестування випадковості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690880" y="5349413"/>
                <a:ext cx="10092828" cy="5078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800"/>
                        <m:t>Справжню випадковість необхідно перевірити шляхом ретельного статистичного тестування</m:t>
                      </m:r>
                    </m:oMath>
                  </m:oMathPara>
                </a14:m>
                <a:endParaRPr kumimoji="0" lang="en-US" altLang="en-US" sz="1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DC684D2-4EA6-D64A-7F71-0EA4802BD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690880" y="5349413"/>
                <a:ext cx="10092828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6232E124-E6DB-7452-B857-2EF66B95944C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690688"/>
            <a:ext cx="978916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Набір тестів NIST SP 800-22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тест частоти, тест пробігів, спектральний тест.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Тести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Diehard/Dieharder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Успішне проходження цих тестів підтверджує статистичну випадковість.</a:t>
            </a:r>
          </a:p>
        </p:txBody>
      </p:sp>
      <p:pic>
        <p:nvPicPr>
          <p:cNvPr id="7172" name="Picture 4" descr="NIST SP 800-22, A Statistical Test Suite for Random and Pseudorandom Number  Generators for Cryptographic Applications">
            <a:extLst>
              <a:ext uri="{FF2B5EF4-FFF2-40B4-BE49-F238E27FC236}">
                <a16:creationId xmlns:a16="http://schemas.microsoft.com/office/drawing/2014/main" id="{1240A142-D80C-659C-BCEB-51FC5312D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400" y="3597555"/>
            <a:ext cx="283845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9874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8F55-605C-611F-865B-81FE60EE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FB6C1-F7B3-A446-3F3C-E01A2681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Застосування QRNG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16CD87A0-705E-5964-E5D2-BEA841987B62}"/>
                  </a:ext>
                </a:extLst>
              </p:cNvPr>
              <p:cNvSpPr>
                <a:spLocks noGrp="1" noChangeArrowheads="1"/>
              </p:cNvSpPr>
              <p:nvPr>
                <p:ph type="body" sz="quarter" idx="11"/>
              </p:nvPr>
            </p:nvSpPr>
            <p:spPr bwMode="auto">
              <a:xfrm>
                <a:off x="639762" y="5471755"/>
                <a:ext cx="9161482" cy="5078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800" i="1"/>
                        <m:t>QRNG</m:t>
                      </m:r>
                      <m:r>
                        <m:rPr>
                          <m:nor/>
                        </m:rPr>
                        <a:rPr lang="ru-RU" sz="1800" i="1"/>
                        <m:t> забезпечує безпеку та </m:t>
                      </m:r>
                      <m:r>
                        <m:rPr>
                          <m:nor/>
                        </m:rPr>
                        <a:rPr lang="ru-RU" sz="1800"/>
                        <m:t>непередбачуваність</m:t>
                      </m:r>
                      <m:r>
                        <m:rPr>
                          <m:nor/>
                        </m:rPr>
                        <a:rPr lang="ru-RU" sz="1800" i="1"/>
                        <m:t> як у криптографії, так і в науці</m:t>
                      </m:r>
                      <m:r>
                        <m:rPr>
                          <m:nor/>
                        </m:rPr>
                        <a:rPr lang="uk-UA" sz="1800" b="0" i="1" smtClean="0"/>
                        <m:t>.</m:t>
                      </m:r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16CD87A0-705E-5964-E5D2-BEA841987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 bwMode="auto">
              <a:xfrm>
                <a:off x="639762" y="5471755"/>
                <a:ext cx="9161482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DA494A68-C8CA-03F9-C5CE-E200FD4D2BB4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39762" y="1878191"/>
            <a:ext cx="464343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Генерація криптографічних ключів.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Квантовий розподіл ключів (QKD).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Безпечні багатосторонні протоколи.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Моделювання методом Монте-Карло.</a:t>
            </a:r>
          </a:p>
        </p:txBody>
      </p:sp>
      <p:pic>
        <p:nvPicPr>
          <p:cNvPr id="8196" name="Picture 4" descr="Quantum Randomness in Cryptography—A Survey of Cryptosystems, RNG-Based  Ciphers, and QRNGs">
            <a:extLst>
              <a:ext uri="{FF2B5EF4-FFF2-40B4-BE49-F238E27FC236}">
                <a16:creationId xmlns:a16="http://schemas.microsoft.com/office/drawing/2014/main" id="{662FE9E2-26F0-D3F4-585C-580FF87F5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917" y="2123072"/>
            <a:ext cx="4813919" cy="291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6068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437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254" y="2077401"/>
            <a:ext cx="9841109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6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808" y="3053574"/>
            <a:ext cx="9144000" cy="750852"/>
          </a:xfrm>
        </p:spPr>
        <p:txBody>
          <a:bodyPr>
            <a:normAutofit/>
          </a:bodyPr>
          <a:lstStyle/>
          <a:p>
            <a:r>
              <a:rPr lang="en-US" b="1" dirty="0"/>
              <a:t>Постквантові PRNG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788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840" y="332705"/>
            <a:ext cx="5948680" cy="1325563"/>
          </a:xfrm>
        </p:spPr>
        <p:txBody>
          <a:bodyPr/>
          <a:lstStyle/>
          <a:p>
            <a:r>
              <a:rPr lang="en-US" dirty="0"/>
              <a:t>Що таке PRNG?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E92BDB-2FA7-C92E-6761-85B37EB7944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44780" y="4239116"/>
            <a:ext cx="5718959" cy="592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Лінійний конгруенційний генератор (LCG) – небезпечний 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криптографії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6B2E6-EF52-BEFC-2919-DA04E2C4AD6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1689280"/>
            <a:ext cx="729174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Вхідні дані: невелике випадкове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початкове значення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Вихідні дані: довга псевдовипадкова послідовність.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Повинна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бути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схожою 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справжн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ю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випадков</a:t>
            </a:r>
            <a:r>
              <a:rPr kumimoji="0" lang="uk-UA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Використовується в: генерації ключів, шифруванні, протоколах.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6A145-8BF4-CE3F-42F6-3948F8450C6B}"/>
              </a:ext>
            </a:extLst>
          </p:cNvPr>
          <p:cNvSpPr/>
          <p:nvPr/>
        </p:nvSpPr>
        <p:spPr>
          <a:xfrm>
            <a:off x="8346869" y="3519384"/>
            <a:ext cx="1752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початкове значення</a:t>
            </a:r>
            <a:endParaRPr lang="en-US" i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2E8468-7823-828B-21BB-E42B68F1C1EA}"/>
              </a:ext>
            </a:extLst>
          </p:cNvPr>
          <p:cNvCxnSpPr/>
          <p:nvPr/>
        </p:nvCxnSpPr>
        <p:spPr>
          <a:xfrm>
            <a:off x="9223169" y="4128984"/>
            <a:ext cx="0" cy="4064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A5FC977-C898-AF8A-24B7-47BE9F2A783E}"/>
              </a:ext>
            </a:extLst>
          </p:cNvPr>
          <p:cNvSpPr/>
          <p:nvPr/>
        </p:nvSpPr>
        <p:spPr>
          <a:xfrm>
            <a:off x="8918369" y="4535384"/>
            <a:ext cx="571500" cy="5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029F35-AB26-165B-87DD-07AB761FA63D}"/>
              </a:ext>
            </a:extLst>
          </p:cNvPr>
          <p:cNvCxnSpPr/>
          <p:nvPr/>
        </p:nvCxnSpPr>
        <p:spPr>
          <a:xfrm>
            <a:off x="9223169" y="5043384"/>
            <a:ext cx="0" cy="4064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55A37E-3BB6-7FA5-E203-2F338B871F6B}"/>
              </a:ext>
            </a:extLst>
          </p:cNvPr>
          <p:cNvSpPr/>
          <p:nvPr/>
        </p:nvSpPr>
        <p:spPr>
          <a:xfrm>
            <a:off x="7470569" y="5449784"/>
            <a:ext cx="35052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i="1" dirty="0"/>
              <a:t>вихід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8141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5408-BF07-86A4-1EB2-3D75386B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81434-6EB2-6415-2271-FE67564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Криптографічні вимоги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8EAC4D-A731-55B1-EBCC-76DF9FA7B51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70012" y="4499724"/>
            <a:ext cx="5225988" cy="34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Непередбачуваність та стійкість до атак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8A5166A-244B-CD42-FAAA-95066087B4C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538163" y="1566856"/>
            <a:ext cx="6994222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Непередбачуваність наступного біта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зловмисник не може передбачити наступний вихідний біт.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Пряма секретність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минулі виходи захищені, якщо стан скомпрометований.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Зворотна секретність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майбутні вихідні дані захищені після компрометації.</a:t>
            </a:r>
          </a:p>
        </p:txBody>
      </p:sp>
      <p:pic>
        <p:nvPicPr>
          <p:cNvPr id="2056" name="Picture 8" descr="Black outline of a checklist with a shield, symbolizing security and  organization 46044787 Vector Art at Vecteezy">
            <a:extLst>
              <a:ext uri="{FF2B5EF4-FFF2-40B4-BE49-F238E27FC236}">
                <a16:creationId xmlns:a16="http://schemas.microsoft.com/office/drawing/2014/main" id="{891D9463-124F-FCE3-2362-E6E08594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257" y="3029579"/>
            <a:ext cx="3283527" cy="328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316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E9E4-FC53-632B-3AF1-0AD4CA26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F2055-1298-0CE9-51D9-45994C43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Проблеми з класичними PRNG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D42B780-DDD1-CDEF-54D1-CA1E52481B89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874520" y="4226095"/>
            <a:ext cx="5225988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Передбачуваність і відновлення стану зловмисниками.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1B7646-459F-F996-C056-5BAE061E6FC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56115" y="1815782"/>
            <a:ext cx="703917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Недостатньо якісні PRNG → передбачувані результати.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Компрометація стану → всі майбутні результати розкриті.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Суперечка щодо NSA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Dual_EC_DRBG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приклад PRNG із задніми дверима.</a:t>
            </a:r>
          </a:p>
        </p:txBody>
      </p:sp>
      <p:pic>
        <p:nvPicPr>
          <p:cNvPr id="3079" name="Picture 7" descr="Security breach system hacked alert with red broken padlock icon showing  unsecure data under cyber | Premium AI-generated image">
            <a:extLst>
              <a:ext uri="{FF2B5EF4-FFF2-40B4-BE49-F238E27FC236}">
                <a16:creationId xmlns:a16="http://schemas.microsoft.com/office/drawing/2014/main" id="{9D78D3D4-5DE8-EB5C-9C90-774C5E1A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704" y="2793605"/>
            <a:ext cx="1803719" cy="320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2461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9666-F5F7-5849-7B61-C95D92B8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F909F-C420-5487-0150-B67BDA3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74057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Стандартні класичні криптографічні PRNG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D9446-0861-3A7F-7F04-F5932607F79D}"/>
              </a:ext>
            </a:extLst>
          </p:cNvPr>
          <p:cNvSpPr txBox="1"/>
          <p:nvPr/>
        </p:nvSpPr>
        <p:spPr>
          <a:xfrm>
            <a:off x="4153130" y="4711774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Широко використовуються в класичній криптографії.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3A1C4CD-929D-964E-AEE3-AB5B26C06AF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996632" y="2365341"/>
            <a:ext cx="908208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Hash_DRBG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використовує хеш-функції (SHA-2, SHA-3).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HMAC_DRBG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використовує конструкції HMAC.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CTR_DRBG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базується на блокових шифрах у режимі лічильника (AES).</a:t>
            </a:r>
          </a:p>
        </p:txBody>
      </p:sp>
    </p:spTree>
    <p:extLst>
      <p:ext uri="{BB962C8B-B14F-4D97-AF65-F5344CB8AC3E}">
        <p14:creationId xmlns:p14="http://schemas.microsoft.com/office/powerpoint/2010/main" val="1403585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3BC-6CE8-2E55-4C78-2A3F112A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0B427-8EF1-53DC-B11C-E026A39F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347208"/>
            <a:ext cx="7899400" cy="1325563"/>
          </a:xfrm>
        </p:spPr>
        <p:txBody>
          <a:bodyPr/>
          <a:lstStyle/>
          <a:p>
            <a:r>
              <a:rPr lang="en-US" dirty="0"/>
              <a:t>Чому постквантові PRNG?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DA3F2A2-6F52-1B47-EBBD-910B589E811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25385" y="4395540"/>
            <a:ext cx="5225988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Квантові комп'ютери послаблюють класичні конструкції.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8DEDEB-F2E8-6240-D3CC-C6949C11F1A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25385" y="1425493"/>
            <a:ext cx="886565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Алгоритм Гровера вдвічі знижує ефективну безпеку хеш-функцій/шифрів.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PRNG на основі решіток забезпечують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квантову стійкість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Потрібні PRNG, безпечні для квантових розрізнювачів.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Зображення: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Квантовий комп'ютер атакує класичний потік PRNG.</a:t>
            </a:r>
          </a:p>
        </p:txBody>
      </p:sp>
      <p:pic>
        <p:nvPicPr>
          <p:cNvPr id="5127" name="Picture 7" descr="Quantum computing RSA encryption: a threat and a solution - Freemindtronic">
            <a:extLst>
              <a:ext uri="{FF2B5EF4-FFF2-40B4-BE49-F238E27FC236}">
                <a16:creationId xmlns:a16="http://schemas.microsoft.com/office/drawing/2014/main" id="{A3EBFADD-2E25-CC5D-4039-250E82887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44026"/>
            <a:ext cx="4972792" cy="248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633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4974B-CDC2-0D2C-4F9E-9AD3E177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3172-6AE9-B0AC-354B-62111349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PRNG на основі решіток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906F90E-3C4C-89F3-0506-E1D3253E179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25385" y="4520190"/>
            <a:ext cx="5225988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Безпека на основі складних решіткових задач.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A0E4F-F76F-8493-E20D-474E831F526A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486295"/>
            <a:ext cx="844867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Конструкція: R=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A⋅s+e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mod q)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Непередбачуваність завдяки складності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навчання з помилками (LWE)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Основа для схем NIST PQC (наприклад, Kyber,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PRNG на основі решіток типу Alwen–Peikert.</a:t>
            </a:r>
          </a:p>
        </p:txBody>
      </p:sp>
      <p:pic>
        <p:nvPicPr>
          <p:cNvPr id="9222" name="Picture 6" descr="On Advances of Lattice-Based Cryptographic Schemes and Their Implementations">
            <a:extLst>
              <a:ext uri="{FF2B5EF4-FFF2-40B4-BE49-F238E27FC236}">
                <a16:creationId xmlns:a16="http://schemas.microsoft.com/office/drawing/2014/main" id="{7F1CBFD4-B522-D3F3-9823-CEC21D7B7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211" y="3197383"/>
            <a:ext cx="2674793" cy="264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770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EE1E-940F-FAE5-2F1F-801C976A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4947-6499-129F-08D9-B05C1942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Генератори випадкових чисел на основі хеш-функцій та XOF</a:t>
            </a:r>
            <a:endParaRPr lang="uk-UA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F5B8AD2-0454-2D77-376C-4F2A7E6F1DD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929120" y="4722234"/>
            <a:ext cx="3951712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800" dirty="0"/>
              <a:t>PRNG на основі SHA3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EE7367-25FE-8215-361F-F1F70619D22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300580" y="2033132"/>
            <a:ext cx="548098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SHAKE128, SHAKE256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Формула: Ri=SHAKE256(seed ∥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Постквантова безпека до межі Гровера.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Використовується в реалізаціях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Kyber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Falcon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207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B322-B9EE-D24E-6D42-D776CB46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9DB5A-0D1A-C39D-1D50-19B70B9E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280" y="344805"/>
            <a:ext cx="6456680" cy="1325563"/>
          </a:xfrm>
        </p:spPr>
        <p:txBody>
          <a:bodyPr/>
          <a:lstStyle/>
          <a:p>
            <a:r>
              <a:rPr lang="en-US" dirty="0"/>
              <a:t>Гібридні моделі PRNG</a:t>
            </a:r>
            <a:endParaRPr lang="uk-UA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DC684D2-4EA6-D64A-7F71-0EA4802BDC2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654483" y="4546513"/>
            <a:ext cx="2648482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Найкраще з обох світів.</a:t>
            </a: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EE4177-1397-8FDC-6D3A-8876EE938A1B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985203" y="1725970"/>
            <a:ext cx="726032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Справжня випадковість від QRNG-початкових значень.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PRNG ефективно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розширює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Зменшує упередженість/шум в QRNG.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гібридний RNG NIST (CTR_DRBG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значенням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QRNG).</a:t>
            </a:r>
          </a:p>
        </p:txBody>
      </p:sp>
    </p:spTree>
    <p:extLst>
      <p:ext uri="{BB962C8B-B14F-4D97-AF65-F5344CB8AC3E}">
        <p14:creationId xmlns:p14="http://schemas.microsoft.com/office/powerpoint/2010/main" val="19553558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8F55-605C-611F-865B-81FE60EE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FB6C1-F7B3-A446-3F3C-E01A2681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87647"/>
            <a:ext cx="6029960" cy="1325563"/>
          </a:xfrm>
        </p:spPr>
        <p:txBody>
          <a:bodyPr/>
          <a:lstStyle/>
          <a:p>
            <a:r>
              <a:rPr lang="en-US" dirty="0"/>
              <a:t>Застосування в PQC</a:t>
            </a:r>
            <a:endParaRPr lang="uk-UA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6CD87A0-705E-5964-E5D2-BEA841987B6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09650" y="5344790"/>
            <a:ext cx="4036682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Необхідні для криптографічних схем.</a:t>
            </a: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1AF0D4-86D1-B4E2-4100-3B80B40952D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80202" y="1513210"/>
            <a:ext cx="518026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Генерація ключів (RSA, ECC, решітки PQC).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Одноразові числа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 підписах.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Випадкове заповнення в шифруванні.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Випадковість протоколу (TLS, VPN, блокчейн).</a:t>
            </a:r>
          </a:p>
        </p:txBody>
      </p:sp>
      <p:pic>
        <p:nvPicPr>
          <p:cNvPr id="8199" name="Picture 7" descr="Introduction to Cryptography: Unlocking the Secrets of Secure  Communication🔐 | by Shivank Singh | Medium">
            <a:extLst>
              <a:ext uri="{FF2B5EF4-FFF2-40B4-BE49-F238E27FC236}">
                <a16:creationId xmlns:a16="http://schemas.microsoft.com/office/drawing/2014/main" id="{80C732EA-27C3-D515-3D08-7D36DC3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16240"/>
            <a:ext cx="508635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2101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7E35-B285-183D-DDFD-60447247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152AB-1054-878B-24E5-E7E4C547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760" y="324485"/>
            <a:ext cx="3164840" cy="1325563"/>
          </a:xfrm>
        </p:spPr>
        <p:txBody>
          <a:bodyPr/>
          <a:lstStyle/>
          <a:p>
            <a:r>
              <a:rPr lang="en-US" dirty="0"/>
              <a:t>Підсумок</a:t>
            </a:r>
            <a:endParaRPr lang="uk-UA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5A8F16F-F593-F642-B78B-AD8708442109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682497" y="5103618"/>
            <a:ext cx="5312993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Постквантова криптографія вимагає потужних PRNG.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2E5AC2-2EB4-4CD2-A1A3-AC047A512034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41363" y="1878192"/>
            <a:ext cx="656141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Класичні PRNG: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Hash_DRBG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HMAC_DRBG, CTR_DRBG.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Постквантові: на основі решітки, на основі SHAKE.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Гібридні: QRNG + розширення PRNG.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Безпечна випадковість = безпечна криптографія.</a:t>
            </a:r>
          </a:p>
        </p:txBody>
      </p:sp>
      <p:pic>
        <p:nvPicPr>
          <p:cNvPr id="10243" name="Picture 3" descr="How to Write a Press Release Summary and Why It Matters | Newswire">
            <a:extLst>
              <a:ext uri="{FF2B5EF4-FFF2-40B4-BE49-F238E27FC236}">
                <a16:creationId xmlns:a16="http://schemas.microsoft.com/office/drawing/2014/main" id="{AD386114-30DE-0568-8249-35C1BEB1D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230" y="2559133"/>
            <a:ext cx="4165765" cy="277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0716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107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2077401"/>
            <a:ext cx="9624293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7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6497" y="3053574"/>
            <a:ext cx="11159005" cy="750852"/>
          </a:xfrm>
        </p:spPr>
        <p:txBody>
          <a:bodyPr>
            <a:noAutofit/>
          </a:bodyPr>
          <a:lstStyle/>
          <a:p>
            <a:r>
              <a:rPr lang="en-US" b="1" dirty="0"/>
              <a:t>Схеми цифрового підпису на основі хеш-функцій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877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Мотивація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6B2E6-EF52-BEFC-2919-DA04E2C4AD6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4533357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i="1" dirty="0"/>
              <a:t>Чому саме хеш-підписи?</a:t>
            </a:r>
            <a:br>
              <a:rPr lang="en-US" sz="1800" dirty="0"/>
            </a:br>
            <a:r>
              <a:rPr lang="en-US" sz="1800" dirty="0"/>
              <a:t>Безпечні навіть проти квантових комп'ютерів.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41E25CA-E5AF-083F-B1CB-3CEB4B67935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47675" y="4260022"/>
            <a:ext cx="433965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Базуються виключно 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безпеці хеш-функції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Стійкі до алгоритму Шора.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Проста конструкція, добре вивчена з 1970-х років.</a:t>
            </a:r>
          </a:p>
        </p:txBody>
      </p:sp>
      <p:pic>
        <p:nvPicPr>
          <p:cNvPr id="1028" name="Picture 4" descr="7 Top Motivation Models To Use As a Leader">
            <a:extLst>
              <a:ext uri="{FF2B5EF4-FFF2-40B4-BE49-F238E27FC236}">
                <a16:creationId xmlns:a16="http://schemas.microsoft.com/office/drawing/2014/main" id="{B9BFC49E-0FA6-C776-DB31-1276BBD25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418" y="1447613"/>
            <a:ext cx="5595157" cy="345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1480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051B-F397-768C-04C8-682CD290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4372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ЦИФРОВИЙ ПІДПИС ЛАМПОРТА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21B6-C99A-6CF6-F8D0-289AC7456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4900931"/>
          </a:xfrm>
        </p:spPr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300" b="1" i="0" dirty="0" err="1">
                <a:effectLst/>
                <a:latin typeface="Inter"/>
              </a:rPr>
              <a:t>Схема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цифрового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підпису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на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основі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хеш-функції</a:t>
            </a:r>
            <a:endParaRPr lang="en-US" sz="3300" b="0" i="0" dirty="0"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300" b="0" i="0" dirty="0" err="1">
                <a:effectLst/>
                <a:latin typeface="Inter"/>
              </a:rPr>
              <a:t>Призначена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для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одноразового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використання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0" i="0" dirty="0">
                <a:effectLst/>
                <a:latin typeface="Inter"/>
              </a:rPr>
              <a:t>(</a:t>
            </a:r>
            <a:r>
              <a:rPr lang="en-US" sz="3300" b="0" i="0" dirty="0" err="1">
                <a:effectLst/>
                <a:latin typeface="Inter"/>
              </a:rPr>
              <a:t>кожна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пара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ключів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підписує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тільки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одне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повідомлення</a:t>
            </a:r>
            <a:r>
              <a:rPr lang="en-US" sz="3300" b="0" i="0" dirty="0">
                <a:effectLst/>
                <a:latin typeface="Inter"/>
              </a:rPr>
              <a:t>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300" b="0" i="0" dirty="0" err="1">
                <a:effectLst/>
                <a:latin typeface="Inter"/>
              </a:rPr>
              <a:t>Базується</a:t>
            </a:r>
            <a:r>
              <a:rPr lang="en-US" sz="3300" b="0" i="0" dirty="0">
                <a:effectLst/>
                <a:latin typeface="Inter"/>
              </a:rPr>
              <a:t> на безпеці криптографічних хеш-функцій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 err="1">
                <a:effectLst/>
                <a:latin typeface="Inter"/>
              </a:rPr>
              <a:t>Постквантова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безпека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Стійка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до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квантових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атак</a:t>
            </a:r>
            <a:r>
              <a:rPr lang="en-US" sz="3300" b="0" i="0" dirty="0">
                <a:effectLst/>
                <a:latin typeface="Inter"/>
              </a:rPr>
              <a:t> (</a:t>
            </a:r>
            <a:r>
              <a:rPr lang="en-US" sz="3300" b="0" i="0" dirty="0" err="1">
                <a:effectLst/>
                <a:latin typeface="Inter"/>
              </a:rPr>
              <a:t>базується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на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хеш-функціях</a:t>
            </a:r>
            <a:r>
              <a:rPr lang="en-US" sz="3300" b="0" i="0" dirty="0">
                <a:effectLst/>
                <a:latin typeface="Inter"/>
              </a:rPr>
              <a:t>, </a:t>
            </a:r>
            <a:r>
              <a:rPr lang="en-US" sz="3300" b="0" i="0" dirty="0" err="1">
                <a:effectLst/>
                <a:latin typeface="Inter"/>
              </a:rPr>
              <a:t>не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вразлива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до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алгоритму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Шора</a:t>
            </a:r>
            <a:r>
              <a:rPr lang="en-US" sz="3300" b="0" i="0" dirty="0">
                <a:effectLst/>
                <a:latin typeface="Inter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 err="1">
                <a:effectLst/>
                <a:latin typeface="Inter"/>
              </a:rPr>
              <a:t>Простота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Використовує</a:t>
            </a:r>
            <a:r>
              <a:rPr lang="en-US" sz="3300" b="0" i="0" dirty="0">
                <a:effectLst/>
                <a:latin typeface="Inter"/>
              </a:rPr>
              <a:t> тільки хеш-функції, уникаючи складних математичних операцій, таких як модульне піднесення </a:t>
            </a:r>
            <a:r>
              <a:rPr lang="en-US" sz="3300" b="0" i="0" dirty="0" err="1">
                <a:effectLst/>
                <a:latin typeface="Inter"/>
              </a:rPr>
              <a:t>до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степеня</a:t>
            </a:r>
            <a:endParaRPr lang="en-US" sz="3300" b="0" i="0" dirty="0"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Одноразове використання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Забезпечує</a:t>
            </a:r>
            <a:r>
              <a:rPr lang="en-US" sz="3300" b="0" i="0" dirty="0">
                <a:effectLst/>
                <a:latin typeface="Inter"/>
              </a:rPr>
              <a:t> безпеку для окремих транзакцій </a:t>
            </a:r>
            <a:r>
              <a:rPr lang="en-US" sz="3300" b="0" i="0" dirty="0" err="1">
                <a:effectLst/>
                <a:latin typeface="Inter"/>
              </a:rPr>
              <a:t>або</a:t>
            </a:r>
            <a:r>
              <a:rPr lang="en-US" sz="3300" b="0" i="0" dirty="0">
                <a:effectLst/>
                <a:latin typeface="Inter"/>
              </a:rPr>
              <a:t> </a:t>
            </a:r>
            <a:r>
              <a:rPr lang="en-US" sz="3300" b="0" i="0" dirty="0" err="1">
                <a:effectLst/>
                <a:latin typeface="Inter"/>
              </a:rPr>
              <a:t>комунікацій</a:t>
            </a:r>
            <a:endParaRPr lang="en-US" sz="3300" b="0" i="0" dirty="0"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Компактні підписи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just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Менші</a:t>
            </a:r>
            <a:r>
              <a:rPr lang="en-US" sz="3300" b="0" i="0" dirty="0">
                <a:effectLst/>
                <a:latin typeface="Inter"/>
              </a:rPr>
              <a:t> за інші схеми на основі хеш-функцій (наприклад, підписи </a:t>
            </a:r>
            <a:r>
              <a:rPr lang="en-US" sz="3300" b="0" i="0" dirty="0" err="1">
                <a:effectLst/>
                <a:latin typeface="Inter"/>
              </a:rPr>
              <a:t>Меркла</a:t>
            </a:r>
            <a:r>
              <a:rPr lang="en-US" sz="3300" b="0" i="0" dirty="0">
                <a:effectLst/>
                <a:latin typeface="Int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3709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4E76-A341-7076-042B-43CE4D5A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071" y="198437"/>
            <a:ext cx="544068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Генерація ключів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6B782-75E1-8FB0-250E-633C1C28B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24000"/>
                <a:ext cx="9905999" cy="4774531"/>
              </a:xfrm>
            </p:spPr>
            <p:txBody>
              <a:bodyPr>
                <a:normAutofit lnSpcReduction="10000"/>
              </a:bodyPr>
              <a:lstStyle/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Приватний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Згенеруйте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випадкові значення ,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де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— довжина хешу повідомлення.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Розділити на дві частини:</a:t>
                </a: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2,1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,0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1100"/>
                  </a:spcAf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Кожен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є випадковим значенням (наприклад, 256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бітів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).</a:t>
                </a:r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:b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Відкритий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Хешуйте кожен елемент приватного ключа:</a:t>
                </a:r>
              </a:p>
              <a:p>
                <a:pPr marL="0" marR="0" indent="0">
                  <a:lnSpc>
                    <a:spcPct val="1000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110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є криптографічною хеш-функцією (наприклад, SHA-256).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6B782-75E1-8FB0-250E-633C1C28B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24000"/>
                <a:ext cx="9905999" cy="4774531"/>
              </a:xfrm>
              <a:blipFill>
                <a:blip r:embed="rId2"/>
                <a:stretch>
                  <a:fillRect l="-492" t="-114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538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8EF1-A4C1-56E0-D78B-0326792F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179" y="283708"/>
            <a:ext cx="8757920" cy="1325563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Формування цифрового підпису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7A7F3-182C-4E96-A112-3911D09514F4}"/>
                  </a:ext>
                </a:extLst>
              </p:cNvPr>
              <p:cNvSpPr txBox="1"/>
              <p:nvPr/>
            </p:nvSpPr>
            <p:spPr>
              <a:xfrm>
                <a:off x="1584158" y="1237615"/>
                <a:ext cx="9023684" cy="5620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Хешування повідомлення: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щоб отримати дайджест фіксованої довжини: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Вибір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елементів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приватного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ключа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кожного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біта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виберіть відповідний елемент приватного ключа: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то: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2,0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…</m:t>
                      </m:r>
                    </m:oMath>
                  </m:oMathPara>
                </a14:m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Aft>
                    <a:spcPts val="1100"/>
                  </a:spcAft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3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Сформуйте підпис: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Підпис — це сукупність вибраних елементів приватного ключа: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Signature</m:t>
                      </m:r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07A7F3-182C-4E96-A112-3911D0951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158" y="1237615"/>
                <a:ext cx="9023684" cy="5620385"/>
              </a:xfrm>
              <a:prstGeom prst="rect">
                <a:avLst/>
              </a:prstGeom>
              <a:blipFill>
                <a:blip r:embed="rId2"/>
                <a:stretch>
                  <a:fillRect l="-608" t="-54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3103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3A67-72C6-3970-C465-D86E9FB8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ПЕРЕВІРКА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06D9C9-D913-10DA-35EC-0737953D5EDF}"/>
                  </a:ext>
                </a:extLst>
              </p:cNvPr>
              <p:cNvSpPr txBox="1"/>
              <p:nvPr/>
            </p:nvSpPr>
            <p:spPr>
              <a:xfrm>
                <a:off x="2632192" y="2101216"/>
                <a:ext cx="7873248" cy="2611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Перерахуйте відкритий ключ: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Виконайте хешування кожного елемента підпису: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Порівняйте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 відповідним елементом відкритого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ключа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Перевірка підпису: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 всі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підпис є дійсним.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06D9C9-D913-10DA-35EC-0737953D5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192" y="2101216"/>
                <a:ext cx="7873248" cy="2611741"/>
              </a:xfrm>
              <a:prstGeom prst="rect">
                <a:avLst/>
              </a:prstGeom>
              <a:blipFill>
                <a:blip r:embed="rId2"/>
                <a:stretch>
                  <a:fillRect l="-697" t="-1402" b="-186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1943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1B4F-0AF6-517B-18F3-54F3F4B26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80" y="386081"/>
            <a:ext cx="7432040" cy="14395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Чому LOTS є </a:t>
            </a:r>
            <a:r>
              <a:rPr lang="uk-UA" b="1" dirty="0">
                <a:solidFill>
                  <a:srgbClr val="203864"/>
                </a:solidFill>
                <a:latin typeface="Aptos" panose="020B0004020202020204" pitchFamily="34" charset="0"/>
              </a:rPr>
              <a:t>одноразовим</a:t>
            </a:r>
            <a:b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ECB8-2ACD-CE54-11F6-CDDD67D70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0000"/>
              </a:lnSpc>
              <a:spcAft>
                <a:spcPts val="600"/>
              </a:spcAft>
              <a:buNone/>
              <a:tabLst>
                <a:tab pos="6858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Часткове розкриття приватного ключа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Кожен підпис розкриває половину елементів приватного ключа (по одному для кожного біта хешу повідомлення).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Якщо ви підпишете друге повідомлення, новий підпис розкриє іншу половину елементів приватного ключа.</a:t>
            </a:r>
          </a:p>
          <a:p>
            <a:pPr marL="342900" marR="0" lvl="0" indent="-342900">
              <a:lnSpc>
                <a:spcPct val="10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en-US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Зловмисник може об'єднати два підписи, щоб відновити весь приватний ключ.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53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7BF3-7B9C-E8AA-633A-FB410864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Одноразовий підпис </a:t>
            </a:r>
            <a:r>
              <a:rPr lang="uk-UA" b="1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Вінтерніца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1040F-FAFD-26A3-8AD3-EEBC7A28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19"/>
            <a:ext cx="10820400" cy="4948555"/>
          </a:xfrm>
        </p:spPr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Схема цифрового підпису на </a:t>
            </a:r>
            <a:r>
              <a:rPr lang="en-US" sz="3300" b="1" i="0" dirty="0" err="1">
                <a:effectLst/>
                <a:latin typeface="Inter"/>
              </a:rPr>
              <a:t>основі</a:t>
            </a:r>
            <a:r>
              <a:rPr lang="en-US" sz="3300" b="1" i="0" dirty="0">
                <a:effectLst/>
                <a:latin typeface="Inter"/>
              </a:rPr>
              <a:t> </a:t>
            </a:r>
            <a:r>
              <a:rPr lang="en-US" sz="3300" b="1" i="0" dirty="0" err="1">
                <a:effectLst/>
                <a:latin typeface="Inter"/>
              </a:rPr>
              <a:t>хеш-функції</a:t>
            </a:r>
            <a:endParaRPr lang="en-US" sz="3300" b="0" i="0" dirty="0"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300" b="0" i="0" dirty="0">
                <a:effectLst/>
                <a:latin typeface="Inter"/>
              </a:rPr>
              <a:t>Призначена для </a:t>
            </a:r>
            <a:r>
              <a:rPr lang="en-US" sz="3300" b="1" i="0" dirty="0">
                <a:effectLst/>
                <a:latin typeface="Inter"/>
              </a:rPr>
              <a:t>одноразового використання </a:t>
            </a:r>
            <a:r>
              <a:rPr lang="en-US" sz="3300" b="0" i="0" dirty="0">
                <a:effectLst/>
                <a:latin typeface="Inter"/>
              </a:rPr>
              <a:t>(кожна пара ключів підписує тільки одне повідомлення).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300" b="0" i="0" dirty="0">
                <a:effectLst/>
                <a:latin typeface="Inter"/>
              </a:rPr>
              <a:t>Базується на безпеці криптографічних хеш-функцій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Постквантова безпека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 - </a:t>
            </a:r>
            <a:r>
              <a:rPr lang="en-US" sz="3300" b="0" i="0" dirty="0" err="1">
                <a:effectLst/>
                <a:latin typeface="Inter"/>
              </a:rPr>
              <a:t>Стійка</a:t>
            </a:r>
            <a:r>
              <a:rPr lang="en-US" sz="3300" b="0" i="0" dirty="0">
                <a:effectLst/>
                <a:latin typeface="Inter"/>
              </a:rPr>
              <a:t> до квантових атак (базується на хеш-функціях, не вразлива до алгоритму Шора).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Простота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Використовує</a:t>
            </a:r>
            <a:r>
              <a:rPr lang="en-US" sz="3300" b="0" i="0" dirty="0">
                <a:effectLst/>
                <a:latin typeface="Inter"/>
              </a:rPr>
              <a:t> тільки хеш-функції, уникаючи складних математичних операцій, </a:t>
            </a:r>
            <a:r>
              <a:rPr lang="en-US" sz="3300" b="0" i="0" dirty="0" err="1">
                <a:effectLst/>
                <a:latin typeface="Inter"/>
              </a:rPr>
              <a:t>таких</a:t>
            </a:r>
            <a:r>
              <a:rPr lang="en-US" sz="3300" b="0" i="0" dirty="0">
                <a:effectLst/>
                <a:latin typeface="Inter"/>
              </a:rPr>
              <a:t> як модульне піднесення до степеня.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Одноразове використання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Забезпечує</a:t>
            </a:r>
            <a:r>
              <a:rPr lang="en-US" sz="3300" b="0" i="0" dirty="0">
                <a:effectLst/>
                <a:latin typeface="Inter"/>
              </a:rPr>
              <a:t> безпеку для окремих транзакцій або комунікацій.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3300" b="1" i="0" dirty="0">
                <a:effectLst/>
                <a:latin typeface="Inter"/>
              </a:rPr>
              <a:t>Компактні підписи</a:t>
            </a:r>
            <a:r>
              <a:rPr lang="en-US" sz="3300" b="0" i="0" dirty="0">
                <a:effectLst/>
                <a:latin typeface="Inter"/>
              </a:rPr>
              <a:t>:</a:t>
            </a:r>
          </a:p>
          <a:p>
            <a:pPr marL="457200" lvl="1" indent="0" algn="l">
              <a:spcBef>
                <a:spcPts val="300"/>
              </a:spcBef>
              <a:buNone/>
            </a:pPr>
            <a:r>
              <a:rPr lang="uk-UA" sz="3300" b="0" i="0" dirty="0">
                <a:effectLst/>
                <a:latin typeface="Inter"/>
              </a:rPr>
              <a:t>- </a:t>
            </a:r>
            <a:r>
              <a:rPr lang="en-US" sz="3300" b="0" i="0" dirty="0" err="1">
                <a:effectLst/>
                <a:latin typeface="Inter"/>
              </a:rPr>
              <a:t>Менші</a:t>
            </a:r>
            <a:r>
              <a:rPr lang="en-US" sz="3300" b="0" i="0" dirty="0">
                <a:effectLst/>
                <a:latin typeface="Inter"/>
              </a:rPr>
              <a:t> за інші схеми на основі хеш-функцій (наприклад, підписи </a:t>
            </a:r>
            <a:r>
              <a:rPr lang="en-US" sz="3300" b="0" i="0" dirty="0" err="1">
                <a:effectLst/>
                <a:latin typeface="Inter"/>
              </a:rPr>
              <a:t>Меркла</a:t>
            </a:r>
            <a:r>
              <a:rPr lang="en-US" sz="3300" b="0" i="0" dirty="0">
                <a:effectLst/>
                <a:latin typeface="Inter"/>
              </a:rPr>
              <a:t>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1606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933B-E217-6775-DDDE-950A7702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ХЕШ-ЛАНЦЮГ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F9A20-2C09-11F6-4E7E-EEF1049C1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FEEB0-754B-E35F-DFA1-D11DB051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11" y="3338512"/>
            <a:ext cx="1010617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417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706C-8A51-C366-F59D-C8D08DDF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Генерація ключів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6B7EE6-B544-03BD-0F62-90C00428CD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3240" y="1690688"/>
                <a:ext cx="8305800" cy="4667250"/>
              </a:xfrm>
            </p:spPr>
            <p:txBody>
              <a:bodyPr/>
              <a:lstStyle/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Приватний ключ (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Набір випадкових значень: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Кожен є випадковим числом (наприклад, 256 бітів).</a:t>
                </a:r>
              </a:p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>
                  <a:lnSpc>
                    <a:spcPts val="1200"/>
                  </a:lnSpc>
                  <a:spcAft>
                    <a:spcPts val="600"/>
                  </a:spcAft>
                  <a:buNone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Відкритий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ключ (y):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12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Отримується шляхом застосування хеш-функції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 до кожного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6000" marR="0" indent="0">
                  <a:lnSpc>
                    <a:spcPts val="1200"/>
                  </a:lnSpc>
                  <a:spcAft>
                    <a:spcPts val="1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є криптографічною хеш-функцією (наприклад, SHA-256).</a:t>
                </a:r>
              </a:p>
              <a:p>
                <a:pPr marL="36000" marR="0" lvl="0" indent="-342900">
                  <a:lnSpc>
                    <a:spcPts val="12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є параметром (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наприклад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8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6B7EE6-B544-03BD-0F62-90C00428CD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3240" y="1690688"/>
                <a:ext cx="8305800" cy="4667250"/>
              </a:xfrm>
              <a:blipFill>
                <a:blip r:embed="rId2"/>
                <a:stretch>
                  <a:fillRect l="-587" t="-287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950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2A03-4CF5-71CA-4C7A-ABB86C0D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80" y="-147499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Генерація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41280-27B9-498F-665A-8173B37EB923}"/>
                  </a:ext>
                </a:extLst>
              </p:cNvPr>
              <p:cNvSpPr txBox="1"/>
              <p:nvPr/>
            </p:nvSpPr>
            <p:spPr>
              <a:xfrm>
                <a:off x="690880" y="899405"/>
                <a:ext cx="11277600" cy="601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0" marR="0">
                  <a:spcAft>
                    <a:spcPts val="1100"/>
                  </a:spcAft>
                </a:pPr>
                <a:r>
                  <a:rPr lang="en-US" sz="14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 1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Хешування повідомлення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щоб отримати дайджест фіксованої довжини:</a:t>
                </a:r>
              </a:p>
              <a:p>
                <a:pPr marL="36000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)=101101011100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, то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14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=101101011100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60000" marR="0">
                  <a:spcAft>
                    <a:spcPts val="1100"/>
                  </a:spcAft>
                </a:pPr>
                <a:endParaRPr lang="uk-UA" sz="1400" b="1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0" marR="0">
                  <a:spcAft>
                    <a:spcPts val="1100"/>
                  </a:spcAft>
                </a:pPr>
                <a:r>
                  <a:rPr lang="en-US" sz="1400" b="1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</a:t>
                </a:r>
                <a:r>
                  <a:rPr lang="en-US" sz="14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2: 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Розділіть дайджест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Розділіть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sz="14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частин, кожна з яких має розмір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4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бітів.</a:t>
                </a: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, то кожен фрагмент має розмір 4 біти:</a:t>
                </a:r>
              </a:p>
              <a:p>
                <a:pPr marL="36000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=1011=11, 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=0101=5, 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=1100=12</m:t>
                      </m:r>
                    </m:oMath>
                  </m:oMathPara>
                </a14:m>
                <a:endParaRPr lang="en-US" sz="14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0" marR="0">
                  <a:spcAft>
                    <a:spcPts val="1100"/>
                  </a:spcAft>
                </a:pPr>
                <a:r>
                  <a:rPr lang="en-US" sz="14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 3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Застосування хеш-ланцюгів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кожного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фрагмента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застосуйте хеш-функцію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до</a:t>
                </a:r>
                <a:r>
                  <a:rPr lang="uk-UA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36000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sSub>
                            <m:sSub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11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uk-UA" sz="1400" b="1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60000"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400" b="1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</a:t>
                </a:r>
                <a:r>
                  <a:rPr lang="en-US" sz="14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4: 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Сформуйте підпис</a:t>
                </a:r>
              </a:p>
              <a:p>
                <a:pPr marL="3600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Підпис —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це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сукупність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:</a:t>
                </a:r>
                <a:r>
                  <a:rPr lang="uk-UA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sz="14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n-US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Signature</m:t>
                    </m:r>
                    <m:r>
                      <m:rPr>
                        <m:nor/>
                      </m:rPr>
                      <a:rPr lang="en-US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4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641280-27B9-498F-665A-8173B37EB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" y="899405"/>
                <a:ext cx="11277600" cy="6019597"/>
              </a:xfrm>
              <a:prstGeom prst="rect">
                <a:avLst/>
              </a:prstGeom>
              <a:blipFill>
                <a:blip r:embed="rId2"/>
                <a:stretch>
                  <a:fillRect l="-162" t="-304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6322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9144-E1A8-0663-C7D1-FAA5E19D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Перевірка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5F1DE-220D-80BC-E6B6-CEB880082FD9}"/>
                  </a:ext>
                </a:extLst>
              </p:cNvPr>
              <p:cNvSpPr txBox="1"/>
              <p:nvPr/>
            </p:nvSpPr>
            <p:spPr>
              <a:xfrm>
                <a:off x="1341120" y="1690688"/>
                <a:ext cx="10012680" cy="4390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Aft>
                    <a:spcPts val="1100"/>
                  </a:spcAft>
                </a:pPr>
                <a:r>
                  <a:rPr lang="en-US" sz="18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 1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Перерахуйте відкритий ключ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кожного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хеш-функцію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разів: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11)=5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uk-UA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5)=11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застосуйте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(16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12)=4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800" b="1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Крок 2: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Порівняйте відкриті ключі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Порівняйте перерахований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відкритий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з оригінальним відкритим ключем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підпис є дійсним.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15F1DE-220D-80BC-E6B6-CEB88008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20" y="1690688"/>
                <a:ext cx="10012680" cy="4390561"/>
              </a:xfrm>
              <a:prstGeom prst="rect">
                <a:avLst/>
              </a:prstGeom>
              <a:blipFill>
                <a:blip r:embed="rId2"/>
                <a:stretch>
                  <a:fillRect l="-487" t="-693" b="-124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3750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11EE-480B-3261-C319-0BB2C142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89128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Чому WOTS є одноразовим</a:t>
            </a:r>
            <a:b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</a:br>
            <a:endParaRPr lang="en-US" b="1" dirty="0">
              <a:solidFill>
                <a:srgbClr val="203864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01482-E607-1956-2BCA-70382895B56C}"/>
                  </a:ext>
                </a:extLst>
              </p:cNvPr>
              <p:cNvSpPr txBox="1"/>
              <p:nvPr/>
            </p:nvSpPr>
            <p:spPr>
              <a:xfrm>
                <a:off x="223520" y="831670"/>
                <a:ext cx="11968480" cy="5810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Хеш-ланцюги витоку інформації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 WOTS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підпис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для повідомлення генерується шляхом застосування хеш-функції </a:t>
                </a:r>
                <a14:m>
                  <m:oMath xmlns:m="http://schemas.openxmlformats.org/officeDocument/2006/math">
                    <m:r>
                      <a:rPr lang="en-US" sz="15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15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5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разів до елемента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приватного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ключа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5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sSub>
                            <m:sSub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 ви підпишете два різних повідомлення, ви розкриєте дві різні точки в хеш-ланцюжку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кожного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k-UA" sz="1500" dirty="0"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Наприклад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повідомлення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bSup>
                    <m:r>
                      <a:rPr lang="en-US" sz="15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5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5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повідомлення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bSup>
                    <m:r>
                      <a:rPr lang="en-US" sz="15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sSubSup>
                          <m:sSubSupPr>
                            <m:ctrlP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5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(2)</m:t>
                            </m:r>
                          </m:sup>
                        </m:sSubSup>
                      </m:sup>
                    </m:sSup>
                    <m:d>
                      <m:dPr>
                        <m:ctrlP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15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bSup>
                    <m:r>
                      <a:rPr lang="en-US" sz="15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bSup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зловмисник може обчислити: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sSubSup>
                            <m:sSubSup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(1)</m:t>
                              </m:r>
                            </m:sup>
                          </m:sSubSup>
                        </m:sup>
                      </m:sSup>
                      <m:d>
                        <m:d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d>
                      <m:r>
                        <a:rPr lang="en-US" sz="15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sSubSup>
                            <m:sSubSup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(2)</m:t>
                              </m:r>
                            </m:sup>
                          </m:sSubSup>
                        </m:sup>
                      </m:sSup>
                      <m:d>
                        <m:d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5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5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5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Це розкриває підпис для другого повідомлення без знання приватного ключа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b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Часткове розкриття хеш-ланцюга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Кожен підпис розкриває частину хеш-ланцюга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кожного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. З часом підписання декількох повідомлень розкриває все більше і більше хеш-ланцюга, що полегшує зловмиснику відновлення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приватного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ключа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Наприклад: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uk-UA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bSup>
                    <m:r>
                      <a:rPr lang="en-US" sz="15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bSup>
                    <m:r>
                      <a:rPr lang="en-US" sz="15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зловмисник дізнається: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15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p>
                      </m:sSup>
                      <m:d>
                        <m:d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5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5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5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15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p>
                      </m:sSup>
                      <m:d>
                        <m:dPr>
                          <m:ctrlPr>
                            <a:rPr lang="en-US" sz="15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5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5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 основі цього він може обчислити проміжні значення, такі як </a:t>
                </a:r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7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</m:t>
                    </m:r>
                  </m:oMath>
                </a14:m>
                <a:r>
                  <a:rPr lang="en-US" sz="14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5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і зрештою розкрити весь хеш-ланцюжок.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01482-E607-1956-2BCA-70382895B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831670"/>
                <a:ext cx="11968480" cy="5810950"/>
              </a:xfrm>
              <a:prstGeom prst="rect">
                <a:avLst/>
              </a:prstGeom>
              <a:blipFill>
                <a:blip r:embed="rId2"/>
                <a:stretch>
                  <a:fillRect l="-255" t="-210" b="-21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4409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BE9B-58CC-92E9-D286-C42B04B8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Постквантова безпека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Стійка до квантових атак (базується на хеш-функціях, не вразлива до алгоритму Шора).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Менші підписи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Підписи менші за LOTS, що робить їх більш ефективними.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Нечасте використання</a:t>
            </a:r>
            <a:r>
              <a:rPr lang="en-US" b="0" i="0" dirty="0">
                <a:effectLst/>
                <a:latin typeface="Inter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Забезпечує безпеку для невеликої кількості транзакцій або комунікацій.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1533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0156-80AB-ED03-AFA2-BEDD94D4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ГЕНЕРАЦІЯ КЛЮЧІВ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9A9CAE-11FD-F95F-8EDB-1F18A44EB4A2}"/>
                  </a:ext>
                </a:extLst>
              </p:cNvPr>
              <p:cNvSpPr txBox="1"/>
              <p:nvPr/>
            </p:nvSpPr>
            <p:spPr>
              <a:xfrm>
                <a:off x="1044758" y="1287720"/>
                <a:ext cx="10309042" cy="4836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Хешування повідомлення: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Хешуйте повідомлення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щоб отримати дайджест фіксованої довжини: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=101101011100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Розділіть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дайджест: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Розділіть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uk-UA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частин, кожна з яких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має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розмір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бітів.</a:t>
                </a: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Приклад: Якщо </a:t>
                </a: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кожен фрагмент має розмір 4 біти: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=1011=11,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=0101=5, 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=1100=12</m:t>
                      </m:r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3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Виберіть елементи приватного ключа: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Для кожного фрагмента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виберіть відповідний елемент приватного ключа: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Приклад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uk-UA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9A9CAE-11FD-F95F-8EDB-1F18A44EB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58" y="1287720"/>
                <a:ext cx="10309042" cy="4836196"/>
              </a:xfrm>
              <a:prstGeom prst="rect">
                <a:avLst/>
              </a:prstGeom>
              <a:blipFill>
                <a:blip r:embed="rId2"/>
                <a:stretch>
                  <a:fillRect l="-473" t="-630" b="-100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4712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A9ED-14F9-5C07-A480-3A0A3CD6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203864"/>
                </a:solidFill>
                <a:latin typeface="Aptos" panose="020B0004020202020204" pitchFamily="34" charset="0"/>
              </a:rPr>
              <a:t>СТВОРЕННЯ ТА ПЕРЕВІРКА ПІДПИСУ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9466A9-DBCA-2D07-3CD1-90B07101DFB0}"/>
                  </a:ext>
                </a:extLst>
              </p:cNvPr>
              <p:cNvSpPr txBox="1"/>
              <p:nvPr/>
            </p:nvSpPr>
            <p:spPr>
              <a:xfrm>
                <a:off x="933517" y="1690688"/>
                <a:ext cx="10298363" cy="412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Формування підпису: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Підпис — це сукупність вибраних елементів приватного ключа: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Signature</m:t>
                      </m:r>
                      <m:r>
                        <m:rPr>
                          <m:nor/>
                        </m:rPr>
                        <a:rPr lang="en-US" sz="18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Aft>
                    <a:spcPts val="110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Перевірка підпису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Перерахунок відкритого ключа: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Виконайте хешування кожного елемента підпису:</a:t>
                </a:r>
              </a:p>
              <a:p>
                <a:pPr marL="0" marR="0">
                  <a:spcAft>
                    <a:spcPts val="1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Порівняйте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uk-UA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з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відповідним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елементом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відкритого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ключа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uk-UA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spcAft>
                    <a:spcPts val="600"/>
                  </a:spcAft>
                  <a:tabLst>
                    <a:tab pos="685800" algn="l"/>
                  </a:tabLst>
                </a:pPr>
                <a:endParaRPr lang="en-US" sz="18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Aft>
                    <a:spcPts val="600"/>
                  </a:spcAft>
                  <a:buFont typeface="+mj-lt"/>
                  <a:buAutoNum type="arabicPeriod" startAt="2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Перевірка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підпису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marR="0" lvl="0" indent="-342900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685800" algn="l"/>
                  </a:tabLst>
                </a:pPr>
                <a:r>
                  <a:rPr lang="en-US" sz="1800" dirty="0" err="1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Якщо</a:t>
                </a:r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всі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підпис є дійсним.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9466A9-DBCA-2D07-3CD1-90B07101D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17" y="1690688"/>
                <a:ext cx="10298363" cy="4128566"/>
              </a:xfrm>
              <a:prstGeom prst="rect">
                <a:avLst/>
              </a:prstGeom>
              <a:blipFill>
                <a:blip r:embed="rId2"/>
                <a:stretch>
                  <a:fillRect l="-473" t="-737" b="-132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5747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D819-3193-3D44-4671-C36FFB0B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F9557-8286-FB89-FA3C-064397BBC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366532"/>
            <a:ext cx="4668520" cy="1325563"/>
          </a:xfrm>
        </p:spPr>
        <p:txBody>
          <a:bodyPr/>
          <a:lstStyle/>
          <a:p>
            <a:pPr algn="ctr"/>
            <a:r>
              <a:rPr lang="en-US" dirty="0"/>
              <a:t>Дерева Меркла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AE6C2A-4253-C184-4C2B-A0878F6C8CF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54292" y="1644581"/>
            <a:ext cx="63304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Від OTS до багаторазових підписів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Деревоподібна </a:t>
            </a:r>
            <a:r>
              <a:rPr lang="en-US" sz="1800" dirty="0" err="1"/>
              <a:t>структура</a:t>
            </a:r>
            <a:r>
              <a:rPr lang="en-US" sz="1800" dirty="0"/>
              <a:t> 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багаторазових</a:t>
            </a:r>
            <a:endParaRPr lang="uk-UA" sz="18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uk-UA" sz="1800" dirty="0"/>
              <a:t>                                                                                                   </a:t>
            </a:r>
            <a:r>
              <a:rPr lang="en-US" sz="1800" dirty="0" err="1"/>
              <a:t>підписів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738430-D423-5DAF-BC83-7A416EC560A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53439" y="3510389"/>
            <a:ext cx="416011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Корінь = відкритий ключ.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Листя = відкриті ключі OTS.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Підпис включає шлях автентифікації.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Рисунок 3">
            <a:extLst>
              <a:ext uri="{FF2B5EF4-FFF2-40B4-BE49-F238E27FC236}">
                <a16:creationId xmlns:a16="http://schemas.microsoft.com/office/drawing/2014/main" id="{9189A7CC-F9F3-C316-B1C0-4C03DF766E5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 r="6969"/>
          <a:stretch/>
        </p:blipFill>
        <p:spPr>
          <a:xfrm>
            <a:off x="6096001" y="1029313"/>
            <a:ext cx="5242560" cy="41841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27587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5349-52B9-F12D-4B3C-B7DADDDF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50157-90BD-6C55-83C1-3213955C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XMSS^MT (</a:t>
            </a:r>
            <a:r>
              <a:rPr lang="uk-UA" dirty="0" err="1"/>
              <a:t>мультидерево</a:t>
            </a:r>
            <a:r>
              <a:rPr lang="en-US" dirty="0"/>
              <a:t>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7AB262-19FA-F4E0-E3BA-BFE0F344109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5111528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Масштабування XMSS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Зменшення розмірів підписів та управління станом.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3A6633B0-8F6B-0678-E0D7-16371126E48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06425" y="3876482"/>
            <a:ext cx="5365571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 багатодеревну конструкцію.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Менші шляхи автентифікації.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Краща продуктивність для великої кількості підписів.</a:t>
            </a:r>
          </a:p>
        </p:txBody>
      </p:sp>
      <p:pic>
        <p:nvPicPr>
          <p:cNvPr id="3083" name="Picture 11" descr="Hash-based signature revisited | Cybersecurity | Full Text">
            <a:extLst>
              <a:ext uri="{FF2B5EF4-FFF2-40B4-BE49-F238E27FC236}">
                <a16:creationId xmlns:a16="http://schemas.microsoft.com/office/drawing/2014/main" id="{67210A0D-7B95-26CB-6EBF-2B1D0036E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397" y="2168706"/>
            <a:ext cx="3990347" cy="341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4914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D0A1-808E-9B4B-5DBD-9F629633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829B9-6F17-203F-A730-70625100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SPHINCS+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CBA058-CF56-2AB4-3A90-E865D7AAAFF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4768550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Бездержавні підписи на основі хеш-функцій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Обрано стандартом NIST PQC (2022).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1F8180-8F2C-C373-31EE-9F0BEB4DDAB0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74955" y="4703385"/>
            <a:ext cx="75901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Усуває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залежність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немає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повторним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використанням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ключів).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Поєднує WOTS+, гіпердерева та схему FORS.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Безпека: базується виключно на хеш-функціях.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Фіналіст та обраний стандарт цифрового підпису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PQC.</a:t>
            </a:r>
          </a:p>
        </p:txBody>
      </p:sp>
      <p:pic>
        <p:nvPicPr>
          <p:cNvPr id="4100" name="Picture 4" descr="Hypertree structure used in SPHINCS: An illustration of stateless... |  Download Scientific Diagram">
            <a:extLst>
              <a:ext uri="{FF2B5EF4-FFF2-40B4-BE49-F238E27FC236}">
                <a16:creationId xmlns:a16="http://schemas.microsoft.com/office/drawing/2014/main" id="{A2F188CE-1E70-1426-D456-80CC00A4B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98" y="2085511"/>
            <a:ext cx="5288777" cy="296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4731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51B5-167D-27A6-4C3C-FDA53688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CF1E1-BF6E-8DCF-7666-EA9EA58F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Міркування безпеки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6E8616-9862-C1C6-CE27-72B16A4500E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87705" y="1741544"/>
            <a:ext cx="4370492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Залежить тільки від безпеки хеш-функції.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076AFA-DF74-5500-8531-4D2AECEEB52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05391" y="3633229"/>
            <a:ext cx="730430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Стійкість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перетворення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Стійкість до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другого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перетворення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Стійкість до колізій.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Алгоритм Гровера: знижує бітову безпеку (наприклад, 256 → 128).</a:t>
            </a:r>
          </a:p>
        </p:txBody>
      </p:sp>
      <p:pic>
        <p:nvPicPr>
          <p:cNvPr id="5124" name="Picture 4" descr="Cloud Security Considerations for General Industry – Co-ops + Careers |  Wentworth Institute of Technology">
            <a:extLst>
              <a:ext uri="{FF2B5EF4-FFF2-40B4-BE49-F238E27FC236}">
                <a16:creationId xmlns:a16="http://schemas.microsoft.com/office/drawing/2014/main" id="{7B21D90E-9D94-D5E1-9786-13661DEEA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065" y="1741544"/>
            <a:ext cx="45720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0830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745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827" y="2077401"/>
            <a:ext cx="9850536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8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7095" y="3053574"/>
            <a:ext cx="9144000" cy="750852"/>
          </a:xfrm>
        </p:spPr>
        <p:txBody>
          <a:bodyPr>
            <a:normAutofit/>
          </a:bodyPr>
          <a:lstStyle/>
          <a:p>
            <a:r>
              <a:rPr lang="en-US" b="1" dirty="0"/>
              <a:t>Криптографія на основі решіток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242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39651" cy="1325563"/>
          </a:xfrm>
        </p:spPr>
        <p:txBody>
          <a:bodyPr/>
          <a:lstStyle/>
          <a:p>
            <a:pPr algn="ctr"/>
            <a:r>
              <a:rPr lang="en-US" dirty="0"/>
              <a:t>Мотивація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86B2E6-EF52-BEFC-2919-DA04E2C4AD6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3639651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Чому саме решітки?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Квантостійкі та універсальні.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7 Top Motivation Models To Use As a Leader">
            <a:extLst>
              <a:ext uri="{FF2B5EF4-FFF2-40B4-BE49-F238E27FC236}">
                <a16:creationId xmlns:a16="http://schemas.microsoft.com/office/drawing/2014/main" id="{B9BFC49E-0FA6-C776-DB31-1276BBD25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347" y="812706"/>
            <a:ext cx="5595157" cy="345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77ECDA0F-D61F-6DDD-9EA7-0D77ABED24B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03763" y="4713636"/>
            <a:ext cx="801031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Базуються на найгірших випадках проблем решіток (SVP, CVP).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Ефективні алгоритми для шифрування, підписів, KEM.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Стандарти NIST PQC (Kyber,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Falcon).</a:t>
            </a:r>
          </a:p>
        </p:txBody>
      </p:sp>
    </p:spTree>
    <p:extLst>
      <p:ext uri="{BB962C8B-B14F-4D97-AF65-F5344CB8AC3E}">
        <p14:creationId xmlns:p14="http://schemas.microsoft.com/office/powerpoint/2010/main" val="12334819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3A66-D786-5F0D-32F5-F278071C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04F59-340B-6B6E-200D-AA8BE306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Що таке решітка?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8E14B0-5589-AD7F-E945-E7F9C7839BDA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358265" y="1690688"/>
            <a:ext cx="2820067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Математичне визначення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i="1" dirty="0"/>
              <a:t>Дискретна підгрупа </a:t>
            </a:r>
            <a:r>
              <a:rPr lang="en-US" sz="1800" i="1" dirty="0" err="1"/>
              <a:t>R^n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CE61E42-9FC0-DD8A-1F23-57591C2A8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358" y="1654228"/>
            <a:ext cx="599122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3C538-E22D-1382-E012-DF657DDEEF4F}"/>
              </a:ext>
            </a:extLst>
          </p:cNvPr>
          <p:cNvSpPr txBox="1"/>
          <p:nvPr/>
        </p:nvSpPr>
        <p:spPr>
          <a:xfrm>
            <a:off x="1143000" y="4603607"/>
            <a:ext cx="8935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Aptos" panose="020B0004020202020204" pitchFamily="34" charset="0"/>
              </a:rPr>
              <a:t>Генерується цілими комбінаціями базисних векторів.</a:t>
            </a:r>
          </a:p>
          <a:p>
            <a:r>
              <a:rPr lang="uk-UA" dirty="0">
                <a:latin typeface="Aptos" panose="020B0004020202020204" pitchFamily="34" charset="0"/>
              </a:rPr>
              <a:t>Приклад: двовимірна решітка = сітка точок.</a:t>
            </a:r>
          </a:p>
          <a:p>
            <a:r>
              <a:rPr lang="uk-UA" dirty="0">
                <a:latin typeface="Aptos" panose="020B0004020202020204" pitchFamily="34" charset="0"/>
              </a:rPr>
              <a:t>Вибір базису впливає на «якість» (короткі чи довгі вектори).</a:t>
            </a:r>
          </a:p>
          <a:p>
            <a:r>
              <a:rPr lang="uk-UA" dirty="0">
                <a:latin typeface="Aptos" panose="020B0004020202020204" pitchFamily="34" charset="0"/>
              </a:rPr>
              <a:t>Формула:  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BDAE224-9488-69AA-6B16-327E711DBA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01" t="80674" r="26514" b="2246"/>
          <a:stretch/>
        </p:blipFill>
        <p:spPr>
          <a:xfrm>
            <a:off x="2278379" y="5517545"/>
            <a:ext cx="3332481" cy="26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982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BF304-7DBE-F74E-D919-7F1A2400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015EF-EEC1-095E-800A-45BA773F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Складні</a:t>
            </a:r>
            <a:r>
              <a:rPr lang="en-US" dirty="0"/>
              <a:t> </a:t>
            </a:r>
            <a:r>
              <a:rPr lang="uk-UA" dirty="0"/>
              <a:t>задачі</a:t>
            </a:r>
            <a:r>
              <a:rPr lang="en-US" dirty="0"/>
              <a:t> решітки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1F79A5-B34D-A481-1D41-4F82D40A61A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8200" y="1648972"/>
            <a:ext cx="7167880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Нерозв'язні навіть за допомогою квантових комп'ютерів.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48CA9C-3C55-5A55-8DD3-D9A28C95725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16752" y="3616131"/>
            <a:ext cx="673908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(проблема найкоротшого вектора).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(проблема найближчого вектора).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Навіть наближені версії залишаються складними.</a:t>
            </a:r>
          </a:p>
        </p:txBody>
      </p:sp>
      <p:pic>
        <p:nvPicPr>
          <p:cNvPr id="7172" name="Picture 4" descr="Lattice problem - Wikipedia">
            <a:extLst>
              <a:ext uri="{FF2B5EF4-FFF2-40B4-BE49-F238E27FC236}">
                <a16:creationId xmlns:a16="http://schemas.microsoft.com/office/drawing/2014/main" id="{442B5AF1-3486-B024-F616-C124D105D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514" y="2310074"/>
            <a:ext cx="3808248" cy="1949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2603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B5BA-0412-8C19-F47D-E58D1846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3F121-5E47-338A-6226-DBD1C471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Навчання з помилками (LWE)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6E3205-53BC-7330-F086-6F302F9006D0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561465" y="1983320"/>
            <a:ext cx="6017895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Ключове припущення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Шум ускладнює вирішення задачі.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D8106B3-8C01-446D-F345-16B0A4DAFEE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956492" y="3464560"/>
            <a:ext cx="669798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Рівняння: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b=As+e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 q.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Без помилок — проста лінійна алгебра.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 помилками, вважається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квантово-стійким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4441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B0F4-91C7-DC49-3524-65895D1F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52808-CD01-E8B0-997B-9C89FA2B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Ring-LWE &amp; Module-LWE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3B7E05-455A-972C-8FFF-EDD780574F87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703705" y="1964038"/>
            <a:ext cx="3063211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Шум ускладнює проблему.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Структуровані версії LWE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3FB67F-F649-07F9-2C5D-BB0FB8ACEF88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403827" y="4193592"/>
            <a:ext cx="846582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Ring-LWE: використовує поліноміальні кільця.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Module-LWE: компроміс між ефективністю та безпекою.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Використовується в Kyber,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4" descr="5.4. Ring lattice — On Complexity">
            <a:extLst>
              <a:ext uri="{FF2B5EF4-FFF2-40B4-BE49-F238E27FC236}">
                <a16:creationId xmlns:a16="http://schemas.microsoft.com/office/drawing/2014/main" id="{B794A399-119B-6943-D49A-1AC95DE9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558" y="1960580"/>
            <a:ext cx="33813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3727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1AC4-E4D3-F257-B17C-4EDDCE33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C5DA0-2781-0937-1C4A-EB8FA4BB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Шифрування з решітками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6FC0AA-8A3D-69FD-DEE6-2F81CCC931B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3292889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Шифрування з відкритим ключем і KEM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З припущень LWE.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256A85-FD9D-D48F-5CFA-03338A5E56C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34350" y="3399969"/>
            <a:ext cx="605967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Схема PKE Регева.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Kyber = KEM на основі решіток (стандарт NIST PQC).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Швидкий, невеликий розмір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ключів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порівняно</a:t>
            </a:r>
            <a:endParaRPr kumimoji="0" lang="uk-U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 іншими PQC.</a:t>
            </a:r>
          </a:p>
        </p:txBody>
      </p:sp>
      <p:pic>
        <p:nvPicPr>
          <p:cNvPr id="7" name="Picture 3" descr="Lattice-Based Post-Quantum Public Key Encryption Scheme Using ElGamal's  Principles">
            <a:extLst>
              <a:ext uri="{FF2B5EF4-FFF2-40B4-BE49-F238E27FC236}">
                <a16:creationId xmlns:a16="http://schemas.microsoft.com/office/drawing/2014/main" id="{14E95EEA-F523-38E1-58B1-C3F210F9F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900" y="1377950"/>
            <a:ext cx="523875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3965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7090-0F75-F44A-4FB8-183E2B42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A3348-7C09-1E46-B26C-64A6BD9A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Підписи з решіток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01894C-7798-556A-B7AB-D4E23DADEF0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724025" y="2162004"/>
            <a:ext cx="3611758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Постквантові цифрові підписи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 err="1"/>
              <a:t>Dilithium</a:t>
            </a:r>
            <a:r>
              <a:rPr lang="en-US" sz="1800" dirty="0"/>
              <a:t>, Falcon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5146AF9-1F05-CFDA-A8E2-0D9EB6057F5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900420" y="3241958"/>
            <a:ext cx="402757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на основі Module-LWE/SIS.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Falcon: на основі решіток NTRU.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Обидва стандартизовані NIST (2022).</a:t>
            </a:r>
          </a:p>
        </p:txBody>
      </p:sp>
    </p:spTree>
    <p:extLst>
      <p:ext uri="{BB962C8B-B14F-4D97-AF65-F5344CB8AC3E}">
        <p14:creationId xmlns:p14="http://schemas.microsoft.com/office/powerpoint/2010/main" val="23524103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EA4F-AA1C-B8B1-F885-62046813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39E11-2D80-E659-6B75-A31BEF6F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Міркування безпеки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4974A5-29D1-56E3-BF64-2796B95D0A2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100353"/>
            <a:ext cx="4329583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i="1" dirty="0"/>
              <a:t>Чому решітки вважаються складними</a:t>
            </a:r>
            <a:br>
              <a:rPr lang="en-US" sz="1800" dirty="0"/>
            </a:br>
            <a:r>
              <a:rPr lang="en-US" sz="1800" dirty="0"/>
              <a:t>Зниження від найгіршого до середнього випадку.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D0411F9-5A56-5183-738E-EAEF5EF7BECE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698500" y="4087842"/>
            <a:ext cx="4754378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Складність LWE → складність SVP у найгіршому випадку.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Квантові алгоритми не вирішують ефективно.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 безпеки потрібні великі параметри.</a:t>
            </a:r>
          </a:p>
        </p:txBody>
      </p:sp>
      <p:pic>
        <p:nvPicPr>
          <p:cNvPr id="7" name="Picture 4" descr="3d mesh web red security icon isolated on white background, colorful lattice  shield symbol, dimensional tech protection object with black connected  lines, clear eps 8 vector illustration, bright persp | Premium Vector">
            <a:extLst>
              <a:ext uri="{FF2B5EF4-FFF2-40B4-BE49-F238E27FC236}">
                <a16:creationId xmlns:a16="http://schemas.microsoft.com/office/drawing/2014/main" id="{1403C2E8-7482-8885-2E78-D1B56CFC8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94" y="1697809"/>
            <a:ext cx="3711388" cy="346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8616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CB1C-6B8C-98AD-35E7-4AB45E20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3E66B-32B7-494F-D168-29AACBC5B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Застосування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863584-4A26-43DB-87A3-55F1C300CE06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022032" y="2066426"/>
            <a:ext cx="6911975" cy="880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Практичне використання криптографії на основі решіток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Вже в стандартах.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08E2DF-35AB-7892-1BB6-DCF9CAF03D2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478020" y="3323046"/>
            <a:ext cx="641350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PQC: Kyber (KEM), Dilithium/Falcon (підписи).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Гомоморфне шифрування.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Докази з нульовим розкриттям інформації.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Зобов'язання (векторні, поліноміальні)</a:t>
            </a:r>
          </a:p>
        </p:txBody>
      </p:sp>
    </p:spTree>
    <p:extLst>
      <p:ext uri="{BB962C8B-B14F-4D97-AF65-F5344CB8AC3E}">
        <p14:creationId xmlns:p14="http://schemas.microsoft.com/office/powerpoint/2010/main" val="39741890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2125-3A3C-3E65-F1C8-2E0D22B3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6AA11-8211-7EB6-88AF-4DA7D75D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06920" cy="1325563"/>
          </a:xfrm>
        </p:spPr>
        <p:txBody>
          <a:bodyPr/>
          <a:lstStyle/>
          <a:p>
            <a:pPr algn="ctr"/>
            <a:r>
              <a:rPr lang="en-US" dirty="0"/>
              <a:t>Підсумок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B4B371-FA2D-96D1-4D23-4CA94382A83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606425" y="2308102"/>
            <a:ext cx="3353097" cy="46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Решітки: основа PQC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2D8B14-8DFD-9902-32FF-733F0F00E76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64160" y="4087195"/>
            <a:ext cx="514762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основі SVP, CVP, LWE hardness.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Стандартизовані схеми: Kyber,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Falcon.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Ефективні, гнучкі, стійкі до квантових обчислень.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Основа постквантового майбутнього.</a:t>
            </a:r>
          </a:p>
        </p:txBody>
      </p:sp>
      <p:pic>
        <p:nvPicPr>
          <p:cNvPr id="14340" name="Picture 4" descr="How to Write a Summary of an Article - Udemy Blog">
            <a:extLst>
              <a:ext uri="{FF2B5EF4-FFF2-40B4-BE49-F238E27FC236}">
                <a16:creationId xmlns:a16="http://schemas.microsoft.com/office/drawing/2014/main" id="{C53C796B-EA1A-58F1-7E78-665C56908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960" y="1466549"/>
            <a:ext cx="6278880" cy="430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767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548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107" y="2077401"/>
            <a:ext cx="9822256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9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12328" y="3053574"/>
            <a:ext cx="9144000" cy="750852"/>
          </a:xfrm>
        </p:spPr>
        <p:txBody>
          <a:bodyPr>
            <a:normAutofit/>
          </a:bodyPr>
          <a:lstStyle/>
          <a:p>
            <a:r>
              <a:rPr lang="en-US" b="1" dirty="0"/>
              <a:t>Квантовий розподіл ключів (QKD)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442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83481" cy="1325563"/>
          </a:xfrm>
        </p:spPr>
        <p:txBody>
          <a:bodyPr/>
          <a:lstStyle/>
          <a:p>
            <a:pPr algn="ctr"/>
            <a:r>
              <a:rPr lang="en-US" dirty="0"/>
              <a:t>Мотивація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A8D495D-3F9E-26B4-5DCF-489A036DC3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4731" y="2513869"/>
            <a:ext cx="2900680" cy="842963"/>
          </a:xfrm>
        </p:spPr>
        <p:txBody>
          <a:bodyPr/>
          <a:lstStyle/>
          <a:p>
            <a:r>
              <a:rPr lang="en-US" dirty="0"/>
              <a:t>Чому QKD?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9E92B053-D3E2-6032-980A-215C6527634E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249452" y="4374957"/>
            <a:ext cx="935758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Класичний обмін ключами вразливий до квантових атак.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QKD забезпечує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інформаційно-теоретичну безпеку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Базується 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законах квантової фізики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а не на припущеннях.</a:t>
            </a:r>
          </a:p>
        </p:txBody>
      </p:sp>
      <p:pic>
        <p:nvPicPr>
          <p:cNvPr id="1035" name="Picture 11" descr="7 Top Motivation Models To Use As a Leader">
            <a:extLst>
              <a:ext uri="{FF2B5EF4-FFF2-40B4-BE49-F238E27FC236}">
                <a16:creationId xmlns:a16="http://schemas.microsoft.com/office/drawing/2014/main" id="{094E3A9C-6CEF-D172-F076-94AD375B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20" y="819980"/>
            <a:ext cx="4764629" cy="29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2948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6191-8A01-232F-2071-E9BD7C8A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81B61-549F-5918-4771-4F92C3F5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Основні принципи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16A904-3E5F-F06A-7AC0-94C7484C253C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38200" y="1467168"/>
            <a:ext cx="1077547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Теорема про неможливість клонування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невідомі квантові стани не можуть бути скопійовані.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Порушення вимірювання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спостереження за кубітом змінює його.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Стає можливим виявлення супротивника.</a:t>
            </a:r>
          </a:p>
        </p:txBody>
      </p:sp>
      <p:pic>
        <p:nvPicPr>
          <p:cNvPr id="15364" name="Picture 4" descr="Quantum Key Distribution (QKD): Secure Encryption Techniques | by  codebyankita | Medium">
            <a:extLst>
              <a:ext uri="{FF2B5EF4-FFF2-40B4-BE49-F238E27FC236}">
                <a16:creationId xmlns:a16="http://schemas.microsoft.com/office/drawing/2014/main" id="{20404961-63D9-98A8-AB4D-F446233F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293" y="3136832"/>
            <a:ext cx="8105414" cy="285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951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EF8D-ED35-D784-B795-3418604C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4DE90-DCAC-5516-4C28-54978484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Протокол BB84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0AF21-B769-CBE3-4D53-14B93A79D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86" y="1334161"/>
            <a:ext cx="5815871" cy="2266185"/>
          </a:xfrm>
          <a:prstGeom prst="rect">
            <a:avLst/>
          </a:prstGeom>
        </p:spPr>
      </p:pic>
      <p:pic>
        <p:nvPicPr>
          <p:cNvPr id="16387" name="Picture 3" descr="BB84 Protocol of quantum key distribution">
            <a:extLst>
              <a:ext uri="{FF2B5EF4-FFF2-40B4-BE49-F238E27FC236}">
                <a16:creationId xmlns:a16="http://schemas.microsoft.com/office/drawing/2014/main" id="{428D9CDD-96AD-02CD-F74A-389CB7238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69640"/>
            <a:ext cx="5907974" cy="332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1869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E8A1-58C1-C4BE-037C-A5749A3C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0A876-F581-06B3-2285-BBD0B241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Приклад BB84</a:t>
            </a:r>
          </a:p>
        </p:txBody>
      </p:sp>
      <p:pic>
        <p:nvPicPr>
          <p:cNvPr id="16387" name="Picture 3" descr="BB84 Protocol of quantum key distribution">
            <a:extLst>
              <a:ext uri="{FF2B5EF4-FFF2-40B4-BE49-F238E27FC236}">
                <a16:creationId xmlns:a16="http://schemas.microsoft.com/office/drawing/2014/main" id="{9A956DB8-CA4B-7252-E948-88A527AE3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239" y="2002313"/>
            <a:ext cx="5907974" cy="332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940A8-1824-BBAB-3AED-FB17DBD6FA9E}"/>
              </a:ext>
            </a:extLst>
          </p:cNvPr>
          <p:cNvSpPr txBox="1"/>
          <p:nvPr/>
        </p:nvSpPr>
        <p:spPr>
          <a:xfrm>
            <a:off x="629458" y="1532452"/>
            <a:ext cx="609501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Випадковий </a:t>
            </a:r>
            <a:r>
              <a:rPr lang="en-US" dirty="0" err="1"/>
              <a:t>рядок</a:t>
            </a:r>
            <a:r>
              <a:rPr lang="en-US" dirty="0"/>
              <a:t> </a:t>
            </a:r>
            <a:r>
              <a:rPr lang="uk-UA" dirty="0"/>
              <a:t> </a:t>
            </a:r>
            <a:r>
              <a:rPr lang="en-US" dirty="0"/>
              <a:t>Alice: 1010…</a:t>
            </a:r>
            <a:br>
              <a:rPr lang="en-US" dirty="0"/>
            </a:br>
            <a:r>
              <a:rPr lang="uk-UA" dirty="0"/>
              <a:t>Базис</a:t>
            </a:r>
            <a:r>
              <a:rPr lang="en-US" dirty="0"/>
              <a:t>: + × + × …</a:t>
            </a:r>
            <a:br>
              <a:rPr lang="en-US" dirty="0"/>
            </a:br>
            <a:r>
              <a:rPr lang="en-US" dirty="0"/>
              <a:t>Випадкові </a:t>
            </a:r>
            <a:r>
              <a:rPr lang="en-US" dirty="0" err="1"/>
              <a:t>основи</a:t>
            </a:r>
            <a:r>
              <a:rPr lang="en-US" dirty="0"/>
              <a:t> Bob: + + × × …</a:t>
            </a:r>
            <a:br>
              <a:rPr lang="en-US" dirty="0"/>
            </a:br>
            <a:r>
              <a:rPr lang="en-US" dirty="0"/>
              <a:t>→ Зберігаються </a:t>
            </a:r>
            <a:r>
              <a:rPr lang="en-US" dirty="0" err="1"/>
              <a:t>тільки</a:t>
            </a:r>
            <a:r>
              <a:rPr lang="en-US" dirty="0"/>
              <a:t> </a:t>
            </a:r>
            <a:r>
              <a:rPr lang="uk-UA" dirty="0"/>
              <a:t>збіжні </a:t>
            </a:r>
            <a:r>
              <a:rPr lang="en-US" dirty="0" err="1"/>
              <a:t>бази</a:t>
            </a:r>
            <a:r>
              <a:rPr lang="uk-UA" dirty="0" err="1"/>
              <a:t>си</a:t>
            </a:r>
            <a:r>
              <a:rPr lang="uk-UA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7836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39DB-77B1-06AB-E4DE-39A7CC8F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C3786-AF5F-3CA2-E9C6-C18354B2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Виявлення прослуховування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00D0EB-02D9-1070-C523-BB1DDEDF7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39" y="1874557"/>
            <a:ext cx="7658538" cy="919443"/>
          </a:xfrm>
          <a:prstGeom prst="rect">
            <a:avLst/>
          </a:prstGeom>
        </p:spPr>
      </p:pic>
      <p:pic>
        <p:nvPicPr>
          <p:cNvPr id="17418" name="Picture 10" descr="Impact of eavesdropping on a quantum channel. | Download Scientific Diagram">
            <a:extLst>
              <a:ext uri="{FF2B5EF4-FFF2-40B4-BE49-F238E27FC236}">
                <a16:creationId xmlns:a16="http://schemas.microsoft.com/office/drawing/2014/main" id="{D28E1115-BE3F-6122-2428-CA283237D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488" y="3232785"/>
            <a:ext cx="72009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6765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4781-42A8-455D-A1F0-3DD882E7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DB0EB-6F4D-5066-66B8-D2D75680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Інші протоколи QKD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5957C-C6A5-1E82-BD37-2CAE36468A65}"/>
              </a:ext>
            </a:extLst>
          </p:cNvPr>
          <p:cNvSpPr txBox="1"/>
          <p:nvPr/>
        </p:nvSpPr>
        <p:spPr>
          <a:xfrm>
            <a:off x="838200" y="1423727"/>
            <a:ext cx="1100836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E91 (Ekert, 1991)</a:t>
            </a:r>
            <a:r>
              <a:rPr lang="en-US" altLang="en-US" dirty="0">
                <a:latin typeface="Arial" panose="020B0604020202020204" pitchFamily="34" charset="0"/>
              </a:rPr>
              <a:t>: базується на заплутаності.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QKD з використанням стану-приманки</a:t>
            </a:r>
            <a:r>
              <a:rPr lang="en-US" altLang="en-US" dirty="0">
                <a:latin typeface="Arial" panose="020B0604020202020204" pitchFamily="34" charset="0"/>
              </a:rPr>
              <a:t>: захищає від атак з розщепленням кількості фотонів.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QKD, незалежний від пристрою</a:t>
            </a:r>
            <a:r>
              <a:rPr lang="en-US" altLang="en-US" dirty="0">
                <a:latin typeface="Arial" panose="020B0604020202020204" pitchFamily="34" charset="0"/>
              </a:rPr>
              <a:t>: захист від порушення нерівності Белла.</a:t>
            </a:r>
          </a:p>
        </p:txBody>
      </p:sp>
      <p:pic>
        <p:nvPicPr>
          <p:cNvPr id="18436" name="Picture 4" descr="Basic diagrammatic representation of Ekert's E91 protocol | Download  Scientific Diagram">
            <a:extLst>
              <a:ext uri="{FF2B5EF4-FFF2-40B4-BE49-F238E27FC236}">
                <a16:creationId xmlns:a16="http://schemas.microsoft.com/office/drawing/2014/main" id="{F2D3616A-92E9-2746-F3A9-68094D769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58381"/>
            <a:ext cx="4479925" cy="288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3368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401D-298F-CAD0-D3A1-B0B52D64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15A38-CD8B-C5BA-3CA4-82AD118E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Практичне застосування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BB94A-4431-D035-A1EA-455C0C56D13D}"/>
              </a:ext>
            </a:extLst>
          </p:cNvPr>
          <p:cNvSpPr txBox="1"/>
          <p:nvPr/>
        </p:nvSpPr>
        <p:spPr>
          <a:xfrm>
            <a:off x="1234016" y="1753194"/>
            <a:ext cx="5756064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360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Волоконно-оптичний QKD (до ~400 км).</a:t>
            </a:r>
          </a:p>
          <a:p>
            <a:pPr lvl="0" indent="360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Супутниковий QKD (</a:t>
            </a:r>
            <a:r>
              <a:rPr lang="en-US" altLang="en-US" dirty="0" err="1">
                <a:latin typeface="Arial" panose="020B0604020202020204" pitchFamily="34" charset="0"/>
              </a:rPr>
              <a:t>Micius</a:t>
            </a:r>
            <a:r>
              <a:rPr lang="en-US" altLang="en-US" dirty="0">
                <a:latin typeface="Arial" panose="020B0604020202020204" pitchFamily="34" charset="0"/>
              </a:rPr>
              <a:t>, 2017).</a:t>
            </a:r>
          </a:p>
          <a:p>
            <a:pPr lvl="0" indent="360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Комерційні системи (ID </a:t>
            </a:r>
            <a:r>
              <a:rPr lang="en-US" altLang="en-US" dirty="0" err="1">
                <a:latin typeface="Arial" panose="020B0604020202020204" pitchFamily="34" charset="0"/>
              </a:rPr>
              <a:t>Quantique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9460" name="Picture 4" descr="ID Quantique | Quantum Key Distribution | Cerberis XG QKD System">
            <a:extLst>
              <a:ext uri="{FF2B5EF4-FFF2-40B4-BE49-F238E27FC236}">
                <a16:creationId xmlns:a16="http://schemas.microsoft.com/office/drawing/2014/main" id="{4939F066-94B5-CD4F-3F23-C65B4BAB4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484" y="2573317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5413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87AF-8E07-46FB-6CFB-9CC2A795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EDACF-57E4-E852-FD02-5B9F65FF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Обмеження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BEDA8-6F06-1F31-8F63-86964D40C591}"/>
              </a:ext>
            </a:extLst>
          </p:cNvPr>
          <p:cNvSpPr txBox="1"/>
          <p:nvPr/>
        </p:nvSpPr>
        <p:spPr>
          <a:xfrm>
            <a:off x="1330960" y="1827243"/>
            <a:ext cx="600456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Потрібне спеціальне обладнання.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Обмеження щодо відстані та втрат.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Залишається можливість атак через бічні канали.</a:t>
            </a:r>
          </a:p>
        </p:txBody>
      </p:sp>
      <p:pic>
        <p:nvPicPr>
          <p:cNvPr id="20482" name="Picture 2" descr="Embracing and Overcoming Limitations">
            <a:extLst>
              <a:ext uri="{FF2B5EF4-FFF2-40B4-BE49-F238E27FC236}">
                <a16:creationId xmlns:a16="http://schemas.microsoft.com/office/drawing/2014/main" id="{7B566F2A-C8E3-3140-C423-83BCB7659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538" y="3123111"/>
            <a:ext cx="5387262" cy="303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07873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B6A3-18B8-3E03-0516-11D99A3C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9B323-4A86-DD3D-9CF8-588D48A5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Короткий зміст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68D6F-6778-B560-8F80-88F25E889D91}"/>
              </a:ext>
            </a:extLst>
          </p:cNvPr>
          <p:cNvSpPr txBox="1"/>
          <p:nvPr/>
        </p:nvSpPr>
        <p:spPr>
          <a:xfrm>
            <a:off x="838200" y="1690688"/>
            <a:ext cx="861060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QKD = квантово-безпечний розподіл ключів.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Базується на квантовій фізиці, а не на обчислювальних припущеннях.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Вже впроваджено в деяких мережах (Китай, Європа).</a:t>
            </a:r>
          </a:p>
        </p:txBody>
      </p:sp>
      <p:pic>
        <p:nvPicPr>
          <p:cNvPr id="21509" name="Picture 5" descr="How to write a summary for a business document">
            <a:extLst>
              <a:ext uri="{FF2B5EF4-FFF2-40B4-BE49-F238E27FC236}">
                <a16:creationId xmlns:a16="http://schemas.microsoft.com/office/drawing/2014/main" id="{B634C867-0668-58EF-3576-C3151563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344" y="2836545"/>
            <a:ext cx="47529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5523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9455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7EDF-EC43-C3F4-B3FA-A3653E0A3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839" y="2077401"/>
            <a:ext cx="9916524" cy="750852"/>
          </a:xfrm>
        </p:spPr>
        <p:txBody>
          <a:bodyPr>
            <a:normAutofit fontScale="90000"/>
          </a:bodyPr>
          <a:lstStyle/>
          <a:p>
            <a:r>
              <a:rPr lang="en-US" dirty="0"/>
              <a:t>Квантова та постквантова безпека № 10</a:t>
            </a:r>
            <a:endParaRPr lang="uk-UA" dirty="0"/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5865D50E-67FD-0929-0A83-003F307A0E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1788" y="3059652"/>
            <a:ext cx="11005097" cy="750852"/>
          </a:xfrm>
        </p:spPr>
        <p:txBody>
          <a:bodyPr>
            <a:noAutofit/>
          </a:bodyPr>
          <a:lstStyle/>
          <a:p>
            <a:r>
              <a:rPr lang="en-US" b="1" dirty="0"/>
              <a:t>Безпечна криптографія та стандартизація NIST</a:t>
            </a:r>
            <a:endParaRPr lang="uk-UA" b="1" dirty="0"/>
          </a:p>
        </p:txBody>
      </p:sp>
      <p:pic>
        <p:nvPicPr>
          <p:cNvPr id="12" name="Picture 11" descr="Image result for caucasus university">
            <a:extLst>
              <a:ext uri="{FF2B5EF4-FFF2-40B4-BE49-F238E27FC236}">
                <a16:creationId xmlns:a16="http://schemas.microsoft.com/office/drawing/2014/main" id="{E09FF6E2-F06E-14E7-8874-F4EC4069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EC94D-E8A1-53EF-6760-B84C3A4D2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801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E16CF-568A-DB52-A3EB-6D4FADCD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107454"/>
            <a:ext cx="6151880" cy="1325563"/>
          </a:xfrm>
        </p:spPr>
        <p:txBody>
          <a:bodyPr/>
          <a:lstStyle/>
          <a:p>
            <a:pPr algn="ctr"/>
            <a:r>
              <a:rPr lang="en-US" dirty="0"/>
              <a:t>Мотивація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9E92B053-D3E2-6032-980A-215C6527634E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03466" y="4493273"/>
            <a:ext cx="9942145" cy="1098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Два підходи: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Квантова криптографія </a:t>
            </a:r>
            <a:r>
              <a:rPr lang="en-US" sz="1800" dirty="0"/>
              <a:t>(QKD, QRNG).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Постквантова криптографія </a:t>
            </a:r>
            <a:r>
              <a:rPr lang="en-US" sz="1800" dirty="0"/>
              <a:t>(решіткова, хеш-криптографія, криптографія на основі кодів).</a:t>
            </a:r>
          </a:p>
        </p:txBody>
      </p:sp>
      <p:pic>
        <p:nvPicPr>
          <p:cNvPr id="1035" name="Picture 11" descr="7 Top Motivation Models To Use As a Leader">
            <a:extLst>
              <a:ext uri="{FF2B5EF4-FFF2-40B4-BE49-F238E27FC236}">
                <a16:creationId xmlns:a16="http://schemas.microsoft.com/office/drawing/2014/main" id="{094E3A9C-6CEF-D172-F076-94AD375B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905" y="1772403"/>
            <a:ext cx="4764629" cy="29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C05820EB-923C-822B-8C44-12D2A39EBB81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03466" y="1723908"/>
            <a:ext cx="440377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Квантові комп'ютери загрожують RSA, ECC.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Потрібна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квантово-безпечна криптографія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98541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89F5-5248-370A-357F-24C8AA8F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B67BD-641A-6ECE-8950-EAA36FC9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Процес NIST PQC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72402-C5CB-F47D-F7D4-E734DD8E12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3920" y="1845847"/>
            <a:ext cx="3262960" cy="842963"/>
          </a:xfrm>
        </p:spPr>
        <p:txBody>
          <a:bodyPr/>
          <a:lstStyle/>
          <a:p>
            <a:r>
              <a:rPr lang="en-US" b="0" dirty="0"/>
              <a:t>Стандартизація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6179DF-5CE1-0A9F-DF03-29FC72DEFFC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133920" y="3047811"/>
            <a:ext cx="4801314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Розпочато в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2016 році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 раунди.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Липень 2022 року: обрано перші стандарти.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Триває стандартизація для інших категорій.</a:t>
            </a:r>
          </a:p>
        </p:txBody>
      </p:sp>
      <p:pic>
        <p:nvPicPr>
          <p:cNvPr id="22531" name="Picture 3" descr="SD Elements &amp; NIST Cybersecurity Framework - Security Compass">
            <a:extLst>
              <a:ext uri="{FF2B5EF4-FFF2-40B4-BE49-F238E27FC236}">
                <a16:creationId xmlns:a16="http://schemas.microsoft.com/office/drawing/2014/main" id="{B1A3865A-30ED-3D85-4C8D-EE8CEBC54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16" b="29095"/>
          <a:stretch/>
        </p:blipFill>
        <p:spPr bwMode="auto">
          <a:xfrm>
            <a:off x="6839480" y="2540000"/>
            <a:ext cx="4666720" cy="179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49677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4997-C9CF-6D2D-57D4-A75E3DA2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2BB6E2-1AC8-9247-4648-7BF1B070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Остаточні стандарти (2022)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10849-C181-66FC-0D29-5333C5D4EE70}"/>
              </a:ext>
            </a:extLst>
          </p:cNvPr>
          <p:cNvSpPr txBox="1"/>
          <p:nvPr/>
        </p:nvSpPr>
        <p:spPr>
          <a:xfrm>
            <a:off x="1310640" y="2202438"/>
            <a:ext cx="887984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b="1" dirty="0">
                <a:latin typeface="Arial" panose="020B0604020202020204" pitchFamily="34" charset="0"/>
                <a:cs typeface="Arial" panose="020B0604020202020204" pitchFamily="34" charset="0"/>
              </a:rPr>
              <a:t>Шифрування/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Kyber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решітка,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Module-LWE).</a:t>
            </a:r>
            <a:endParaRPr lang="uk-U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uk-UA" b="1" dirty="0">
                <a:latin typeface="Arial" panose="020B0604020202020204" pitchFamily="34" charset="0"/>
                <a:cs typeface="Arial" panose="020B0604020202020204" pitchFamily="34" charset="0"/>
              </a:rPr>
              <a:t>Підписи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Dilithium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решітка),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Falcon (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решітка),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SPHINCS+ (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на основі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хеш-функції</a:t>
            </a:r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21004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B9EA-12C1-0BCD-CEDC-42CA746B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1790E-9817-CC47-C8AF-BD6007C4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Приклад: Kyber KEM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A571AF-2AA0-78B4-091F-248ABDAEE418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838200" y="1648818"/>
            <a:ext cx="698108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основі Module-LWE.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Відкритий ключ: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A,t=As+e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Шифрований текст: містить лінійні рівняння з шумом.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Спільний ключ, отриманий в результаті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узгодження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4582" name="Picture 6">
            <a:extLst>
              <a:ext uri="{FF2B5EF4-FFF2-40B4-BE49-F238E27FC236}">
                <a16:creationId xmlns:a16="http://schemas.microsoft.com/office/drawing/2014/main" id="{FD5AD1E4-BDEF-79B3-5BEB-0AFA2E93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742" y="3351848"/>
            <a:ext cx="7535333" cy="328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03430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0B5B-42DE-70D2-34C4-B754899B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1CC40-3F73-6575-4536-C7BE9953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Приклад: </a:t>
            </a:r>
            <a:r>
              <a:rPr lang="en-US" dirty="0" err="1"/>
              <a:t>Dilithium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89A2A4-E1E6-AB8F-8D2E-D63B1818A8D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64788" y="1690688"/>
            <a:ext cx="6309995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основі Module-LWE/SIS.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Використовує решіткові пастки.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Підпис: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z=y+cs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Перевірка базується на решіткових відносинах.</a:t>
            </a:r>
          </a:p>
        </p:txBody>
      </p:sp>
      <p:pic>
        <p:nvPicPr>
          <p:cNvPr id="25603" name="Picture 3" descr="A Signature Fit for a Post Quantum Era: Dilithium-Ed25519">
            <a:extLst>
              <a:ext uri="{FF2B5EF4-FFF2-40B4-BE49-F238E27FC236}">
                <a16:creationId xmlns:a16="http://schemas.microsoft.com/office/drawing/2014/main" id="{1F1C85FF-F4CB-C2A7-1B88-5F9D41A34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946" y="3393718"/>
            <a:ext cx="76200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8084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5A39-401C-90B4-0AB6-1CAB8FE4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77FEC-7D62-A23D-709E-CFCE7B7D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Інші кандидати (4 раунд)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702CF7-0CA8-8B44-EC33-70DFF130D23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34862" y="1526758"/>
            <a:ext cx="5561138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IKE, HQC, Classic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McEliece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(на основі коду).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Розглядаються з метою забезпечення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різноманітності шифрування/KEM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629" name="Picture 5" descr="McEliece Cryptosystem using extended Golay code | Download Scientific  Diagram">
            <a:extLst>
              <a:ext uri="{FF2B5EF4-FFF2-40B4-BE49-F238E27FC236}">
                <a16:creationId xmlns:a16="http://schemas.microsoft.com/office/drawing/2014/main" id="{9A1A33FD-64D4-D99B-098D-0ACE7189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662" y="2560824"/>
            <a:ext cx="5561138" cy="3932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80977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BAB7-CB66-6607-AC7C-7364F50F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5144C-DD1A-E3F2-09F6-CA99EE6F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Стратегія міграції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3DA59B-5748-68DD-1F27-2EE562C9CDC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77240" y="1690688"/>
            <a:ext cx="946404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Загроза «зараз збирай, потім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розшифровуй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“Harvest-now, decrypt-later”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Термінова міграція до PQC.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Гібридне шифрування: поєднання класичного + PQC.</a:t>
            </a:r>
          </a:p>
        </p:txBody>
      </p:sp>
      <p:pic>
        <p:nvPicPr>
          <p:cNvPr id="27651" name="Picture 3" descr="Hybrid Cryptography Model | Download Scientific Diagram">
            <a:extLst>
              <a:ext uri="{FF2B5EF4-FFF2-40B4-BE49-F238E27FC236}">
                <a16:creationId xmlns:a16="http://schemas.microsoft.com/office/drawing/2014/main" id="{2EF38481-38ED-FD75-42C2-A366BDEDE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217344"/>
            <a:ext cx="5885392" cy="267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9920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F60F-C37D-57E2-65B2-AB34FB39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52CBE-DA0E-5FC5-46C7-CC98804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Застосування за межами NIST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414A2E-FB25-4547-DEB2-9D621E5BE02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19925" y="1527255"/>
            <a:ext cx="8728075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Гомоморфне шифрування (BFV, CKKS, TFHE).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Докази з нульовим розкриттям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інформації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решіткові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зобов'язання, STARK).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Підписи блокчейну.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370DC4-8837-6272-70B0-726B670A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616" y="2814787"/>
            <a:ext cx="3778444" cy="3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91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45F1-040B-198D-1DB9-229E92B7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48AC9-31C3-C040-F0B2-BB9D8555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440" y="365125"/>
            <a:ext cx="5847080" cy="1325563"/>
          </a:xfrm>
        </p:spPr>
        <p:txBody>
          <a:bodyPr/>
          <a:lstStyle/>
          <a:p>
            <a:pPr algn="ctr"/>
            <a:r>
              <a:rPr lang="en-US" dirty="0"/>
              <a:t>Підсумок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CF5DEC-4BF3-6275-0669-FE135E96494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1032299" y="1690688"/>
            <a:ext cx="7136341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Квантово-безпечна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криптографія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основі фізики (QKD).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Математична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основа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(PQC).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 PQC: Kyber,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Dilithium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Falcon, SPHINCS+.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Перехід відбувається зараз.</a:t>
            </a:r>
          </a:p>
        </p:txBody>
      </p:sp>
      <p:pic>
        <p:nvPicPr>
          <p:cNvPr id="29700" name="Picture 4" descr="How to write a summary for a business document">
            <a:extLst>
              <a:ext uri="{FF2B5EF4-FFF2-40B4-BE49-F238E27FC236}">
                <a16:creationId xmlns:a16="http://schemas.microsoft.com/office/drawing/2014/main" id="{B2F96299-BCB3-67E4-2860-9EE9B45C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16251"/>
            <a:ext cx="47529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84633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caucasus university">
            <a:extLst>
              <a:ext uri="{FF2B5EF4-FFF2-40B4-BE49-F238E27FC236}">
                <a16:creationId xmlns:a16="http://schemas.microsoft.com/office/drawing/2014/main" id="{41160F76-96C7-DC1E-EEA7-A4872968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88" y="230687"/>
            <a:ext cx="1541081" cy="157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DA0928-EB30-F39D-6A09-83ED624004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1" y="89794"/>
            <a:ext cx="1852863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12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4499</Words>
  <Application>Microsoft Office PowerPoint</Application>
  <PresentationFormat>Широкий екран</PresentationFormat>
  <Paragraphs>654</Paragraphs>
  <Slides>117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117</vt:i4>
      </vt:variant>
    </vt:vector>
  </HeadingPairs>
  <TitlesOfParts>
    <vt:vector size="127" baseType="lpstr">
      <vt:lpstr>Aptos</vt:lpstr>
      <vt:lpstr>Arial</vt:lpstr>
      <vt:lpstr>Arial Unicode MS</vt:lpstr>
      <vt:lpstr>Calibri</vt:lpstr>
      <vt:lpstr>Calibri Light</vt:lpstr>
      <vt:lpstr>Cambria Math</vt:lpstr>
      <vt:lpstr>Georgia</vt:lpstr>
      <vt:lpstr>Inter</vt:lpstr>
      <vt:lpstr>Symbol</vt:lpstr>
      <vt:lpstr>Тема Office</vt:lpstr>
      <vt:lpstr>Квантова та постквантова безпека № 1</vt:lpstr>
      <vt:lpstr>Основи класичних обчислень</vt:lpstr>
      <vt:lpstr>Квантовий стрибок</vt:lpstr>
      <vt:lpstr>Кубіти</vt:lpstr>
      <vt:lpstr>Суперпозиція</vt:lpstr>
      <vt:lpstr>Заплутаність</vt:lpstr>
      <vt:lpstr>Стан дзвоника в Qiskit</vt:lpstr>
      <vt:lpstr>Презентація PowerPoint</vt:lpstr>
      <vt:lpstr>Квантова та постквантова безпека № 2</vt:lpstr>
      <vt:lpstr>Проблема неструктурованого пошуку</vt:lpstr>
      <vt:lpstr>Квантова перевага Гровера</vt:lpstr>
      <vt:lpstr>Ідея підсилення амплітуди</vt:lpstr>
      <vt:lpstr>Схема Гровера</vt:lpstr>
      <vt:lpstr>Впровадження Qiskit</vt:lpstr>
      <vt:lpstr>Криптографічні додатки</vt:lpstr>
      <vt:lpstr>Обмеження алгоритму Гровера</vt:lpstr>
      <vt:lpstr>Короткий зміст</vt:lpstr>
      <vt:lpstr>Презентація PowerPoint</vt:lpstr>
      <vt:lpstr>Квантова та постквантова безпека № 3</vt:lpstr>
      <vt:lpstr>Проблема факторизації</vt:lpstr>
      <vt:lpstr>Квантова перевага</vt:lpstr>
      <vt:lpstr>Проблема знаходження періоду</vt:lpstr>
      <vt:lpstr>Вилучення факторів</vt:lpstr>
      <vt:lpstr>Квантове перетворення Фур'є (QFT)</vt:lpstr>
      <vt:lpstr>Робочий процес алгоритму Шора</vt:lpstr>
      <vt:lpstr>Факторинг 15 </vt:lpstr>
      <vt:lpstr>Наслідки для криптографії</vt:lpstr>
      <vt:lpstr>Поточний стан</vt:lpstr>
      <vt:lpstr>Підсумок</vt:lpstr>
      <vt:lpstr>Презентація PowerPoint</vt:lpstr>
      <vt:lpstr>Квантова та постквантова безпека № 4</vt:lpstr>
      <vt:lpstr>Чому QKD?</vt:lpstr>
      <vt:lpstr>Ключова ідея QKD</vt:lpstr>
      <vt:lpstr>Стани поляризації фотонів </vt:lpstr>
      <vt:lpstr>Огляд протоколу BB84</vt:lpstr>
      <vt:lpstr>Імовірності вимірювання</vt:lpstr>
      <vt:lpstr>Виправлення помилок</vt:lpstr>
      <vt:lpstr>Посилення конфіденційності</vt:lpstr>
      <vt:lpstr>Презентація PowerPoint</vt:lpstr>
      <vt:lpstr>Квантова та постквантова безпека № 5</vt:lpstr>
      <vt:lpstr>Чому випадковість має значення?</vt:lpstr>
      <vt:lpstr>Класична випадковість проти квантової випадковості</vt:lpstr>
      <vt:lpstr>Принцип QRNG</vt:lpstr>
      <vt:lpstr>Архітектури QRNG</vt:lpstr>
      <vt:lpstr>Приклад QRNG з роздільником променя</vt:lpstr>
      <vt:lpstr>Недосконалості та упередженність</vt:lpstr>
      <vt:lpstr>Післяобробка</vt:lpstr>
      <vt:lpstr>Тестування випадковості</vt:lpstr>
      <vt:lpstr>Застосування QRNG</vt:lpstr>
      <vt:lpstr>Презентація PowerPoint</vt:lpstr>
      <vt:lpstr>Квантова та постквантова безпека № 6</vt:lpstr>
      <vt:lpstr>Що таке PRNG?</vt:lpstr>
      <vt:lpstr>Криптографічні вимоги</vt:lpstr>
      <vt:lpstr>Проблеми з класичними PRNG</vt:lpstr>
      <vt:lpstr>Стандартні класичні криптографічні PRNG</vt:lpstr>
      <vt:lpstr>Чому постквантові PRNG?</vt:lpstr>
      <vt:lpstr>PRNG на основі решіток</vt:lpstr>
      <vt:lpstr>Генератори випадкових чисел на основі хеш-функцій та XOF</vt:lpstr>
      <vt:lpstr>Гібридні моделі PRNG</vt:lpstr>
      <vt:lpstr>Застосування в PQC</vt:lpstr>
      <vt:lpstr>Підсумок</vt:lpstr>
      <vt:lpstr>Презентація PowerPoint</vt:lpstr>
      <vt:lpstr>Квантова та постквантова безпека № 7</vt:lpstr>
      <vt:lpstr>Мотивація</vt:lpstr>
      <vt:lpstr>ЦИФРОВИЙ ПІДПИС ЛАМПОРТА </vt:lpstr>
      <vt:lpstr>Генерація ключів</vt:lpstr>
      <vt:lpstr>Формування цифрового підпису</vt:lpstr>
      <vt:lpstr>ПЕРЕВІРКА ПІДПИСУ</vt:lpstr>
      <vt:lpstr>Чому LOTS є одноразовим </vt:lpstr>
      <vt:lpstr>Одноразовий підпис Вінтерніца</vt:lpstr>
      <vt:lpstr>ХЕШ-ЛАНЦЮГ</vt:lpstr>
      <vt:lpstr>Генерація ключів</vt:lpstr>
      <vt:lpstr>Генерація підпису</vt:lpstr>
      <vt:lpstr>Перевірка підпису</vt:lpstr>
      <vt:lpstr>Чому WOTS є одноразовим </vt:lpstr>
      <vt:lpstr>Презентація PowerPoint</vt:lpstr>
      <vt:lpstr>ГЕНЕРАЦІЯ КЛЮЧІВ</vt:lpstr>
      <vt:lpstr>СТВОРЕННЯ ТА ПЕРЕВІРКА ПІДПИСУ</vt:lpstr>
      <vt:lpstr>Дерева Меркла</vt:lpstr>
      <vt:lpstr>XMSS^MT (мультидерево)</vt:lpstr>
      <vt:lpstr>SPHINCS+</vt:lpstr>
      <vt:lpstr>Міркування безпеки</vt:lpstr>
      <vt:lpstr>Презентація PowerPoint</vt:lpstr>
      <vt:lpstr>Квантова та постквантова безпека № 8</vt:lpstr>
      <vt:lpstr>Мотивація</vt:lpstr>
      <vt:lpstr>Що таке решітка?</vt:lpstr>
      <vt:lpstr>Складні задачі решітки</vt:lpstr>
      <vt:lpstr>Навчання з помилками (LWE)</vt:lpstr>
      <vt:lpstr>Ring-LWE &amp; Module-LWE</vt:lpstr>
      <vt:lpstr>Шифрування з решітками</vt:lpstr>
      <vt:lpstr>Підписи з решіток</vt:lpstr>
      <vt:lpstr>Міркування безпеки</vt:lpstr>
      <vt:lpstr>Застосування</vt:lpstr>
      <vt:lpstr>Підсумок</vt:lpstr>
      <vt:lpstr>Презентація PowerPoint</vt:lpstr>
      <vt:lpstr>Квантова та постквантова безпека № 9</vt:lpstr>
      <vt:lpstr>Мотивація</vt:lpstr>
      <vt:lpstr>Основні принципи</vt:lpstr>
      <vt:lpstr>Протокол BB84</vt:lpstr>
      <vt:lpstr>Приклад BB84</vt:lpstr>
      <vt:lpstr>Виявлення прослуховування</vt:lpstr>
      <vt:lpstr>Інші протоколи QKD</vt:lpstr>
      <vt:lpstr>Практичне застосування</vt:lpstr>
      <vt:lpstr>Обмеження</vt:lpstr>
      <vt:lpstr>Короткий зміст</vt:lpstr>
      <vt:lpstr>Презентація PowerPoint</vt:lpstr>
      <vt:lpstr>Квантова та постквантова безпека № 10</vt:lpstr>
      <vt:lpstr>Мотивація</vt:lpstr>
      <vt:lpstr>Процес NIST PQC</vt:lpstr>
      <vt:lpstr>Остаточні стандарти (2022)</vt:lpstr>
      <vt:lpstr>Приклад: Kyber KEM</vt:lpstr>
      <vt:lpstr>Приклад: Dilithium</vt:lpstr>
      <vt:lpstr>Інші кандидати (4 раунд)</vt:lpstr>
      <vt:lpstr>Стратегія міграції</vt:lpstr>
      <vt:lpstr>Застосування за межами NIST</vt:lpstr>
      <vt:lpstr>Підсумок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 та постквантова безпека № 1</dc:title>
  <dc:creator>Alla Pinchuk</dc:creator>
  <cp:keywords>, docId:9A0E76D41C9A51B842CA243D69D03AE1</cp:keywords>
  <cp:lastModifiedBy>User</cp:lastModifiedBy>
  <cp:revision>119</cp:revision>
  <dcterms:created xsi:type="dcterms:W3CDTF">2025-07-11T12:38:56Z</dcterms:created>
  <dcterms:modified xsi:type="dcterms:W3CDTF">2025-10-12T21:56:16Z</dcterms:modified>
</cp:coreProperties>
</file>