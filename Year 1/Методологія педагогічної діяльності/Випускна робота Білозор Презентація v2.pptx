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ВИПУСКНА РОБОТА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Запобігання та протидія проявам корупції в системі освіти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41248" y="3246120"/>
            <a:ext cx="2011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29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Дмитро Олександрович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Освітньо-наукова програма «Кібербезпека»</a:t>
            </a:r>
            <a:endParaRPr lang="en-US" sz="1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swatdimonbil@gmail.com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ВСТУП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Актуальність теми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Освітня корупція має тривалий кумулятивний ефект: спотворює відбір та оцінювання знань, нівелює принцип меритократії.</a:t>
            </a:r>
            <a:endParaRPr lang="en-US" sz="13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Формує «корупційно толерантне» суспільство, яке відтворює деформовані норми у медицині, судівництві, публічному управлінні.</a:t>
            </a:r>
            <a:endParaRPr lang="en-US" sz="13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даними Transparency International — це глобальна проблема, що фіксується навіть у сталих демократіях.</a:t>
            </a:r>
            <a:endParaRPr lang="en-US" sz="13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України проблема особливо гостра: євроінтеграційний курс вимагає прозорості, підзвітності й академічної доброчесності.</a:t>
            </a:r>
            <a:endParaRPr lang="en-US" sz="135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Реформи (ЗУ «Про освіту» 2017, «Про вищу освіту» 2014) ще не отримали повноцінного практичного втілення.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ВСТУП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та методи дослідження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91440" cy="3063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 роботи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34747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Проаналізувати механізми запобігання та протидії корупційним проявам у системі освіти України —</a:t>
            </a:r>
            <a:endParaRPr lang="en-US" sz="1150" dirty="0"/>
          </a:p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урахуванням актуальної нормативно-правової бази та міжнародного досвіду.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3063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 дослідження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34747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теоретичний аналіз джерел і нормативно-правових актів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синтез і узагальнення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порівняльний аналіз вітчизняного та зарубіжного досвіду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системний підхід до антикорупційних механізмів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Поняття корупції в освіті та її форми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91440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44752"/>
            <a:ext cx="7635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Корупція в освіті — зловживання довіреними повноваженнями або ресурсами в межах освітніх установ чи процесу задля особистої або групової вигоди.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25877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395728"/>
            <a:ext cx="91440" cy="19933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5237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рівнем освіти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" y="2871216"/>
            <a:ext cx="21762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середня (хабарі на ЗНО/НМТ)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вища (вступ, ступені, плагіат)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управління та акредитація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8124" y="2395728"/>
            <a:ext cx="25877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8124" y="2395728"/>
            <a:ext cx="91440" cy="19933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15868" y="25237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суб'єктом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15868" y="2871216"/>
            <a:ext cx="21762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педагоги (хабарі за оцінки)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адміністрація (непотизм)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здобувачі (плагіат, підкуп)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07608" y="2395728"/>
            <a:ext cx="2587752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07608" y="2395728"/>
            <a:ext cx="91440" cy="199339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245352" y="2523744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«Системна»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45352" y="2871216"/>
            <a:ext cx="217627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Змова між кількома учасниками освітнього процесу — найскладніша для виявлення форма.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Наслідки освітньої корупції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Деградація якості освіти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Фахівці без реальних знань → зниження якості людського капіталу, гальмування економіки.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Порушення рівного доступу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Переваги отримують ті, хто «платить» → поглиблення соціальної нерівності.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07792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Хибний «образ успіху»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Молодь орієнтується на корупційні практики, а не на знання та зусилля.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07792"/>
            <a:ext cx="9144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Підрив репутації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4690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Знецінення закладів на міжнародному рівні, ускладнене визнання дипломів.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Нормативно-правова база в Україні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 «Про запобігання корупції»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2014, № 1700-VII — конфлікт інтересів, декларування, захист викривачів.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 «Про освіту» — ст. 42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— академічна доброчесність: заборона плагіату, фабрикацій, фальсифікацій.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07792"/>
            <a:ext cx="9144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 «Про вищу освіту»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 — прозорість управління, виборність органів, публічне звітування.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07792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Антикорупційна стратегія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4690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2021–2025 — окремий напрям доброчесності в освіті, незалежне оцінювання знань.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Інституційна архітектура контролю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9385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93852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4944" y="2267712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Моніторинг дотримання антикорупційного законодавства, у т.ч. в освітній галузі.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19385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554480"/>
            <a:ext cx="19385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5544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НАЗЯВО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98064" y="2267712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Акредитація освітніх програм, оцінка якості та дотримання доброчесності.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19385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554480"/>
            <a:ext cx="193852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01184" y="2267712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Розслідування корупційних злочинів посадовців у сфері освіти.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9385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554480"/>
            <a:ext cx="19385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554480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ProZorro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04304" y="2267712"/>
            <a:ext cx="164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Прозорість публічних закупівель → контроль витрачання коштів закладами.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Механізми запобігання корупції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Кодекси академічної доброчесності, уповноважені особи, чіткі процедури та санкції.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Технологічні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Unicheck / Turnitin, електронний документообіг, відкрита звітність, ProZorro.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07792"/>
            <a:ext cx="91440" cy="1463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Організаційні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Незалежні комісії з доброчесності, захист викривачів, анонімні «гарячі лінії».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07792"/>
            <a:ext cx="91440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4946904" y="30358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Культурно-освітні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46904" y="3383280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Антикорупційні теми в програмах, тренінги, особистий приклад керівництва.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Міжнародний досвід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877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2587752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Фінляндія · Нідерланди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2121408"/>
            <a:ext cx="22768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прозоре фінансування через публічні реєстри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висока автономія та статус педагогів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відсутність вступних іспитів — усуває «точку ризику»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незалежні агентства якості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8124" y="1463040"/>
            <a:ext cx="25877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8124" y="1463040"/>
            <a:ext cx="25877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69564" y="146304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Грузія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2716" y="2121408"/>
            <a:ext cx="22768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2004 — масове хабарництво при вступі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Єдині національні іспити (ЄНІ)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усунення «точок прийняття рішень»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корупція впала до незначимого рівня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07608" y="1463040"/>
            <a:ext cx="258775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07608" y="1463040"/>
            <a:ext cx="2587752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099048" y="146304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ОЕСР · Transparency International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2200" y="2121408"/>
            <a:ext cx="22768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регулярні незалежні оцінювання ризиків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відкриті критерії фінансування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стандарти конфлікту інтересів</a:t>
            </a:r>
            <a:endParaRPr lang="en-US" sz="1000" dirty="0"/>
          </a:p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залучення громадянського суспільства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РОЗДІЛ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і перспективи в Україні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91440" cy="3063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Досягнення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1801368"/>
            <a:ext cx="34747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розвинена нормативно-правова база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функціонують НАЗЯВО та інші органи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впроваджено антиплагіатні системи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прийнято кодекси доброчесності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зростання внутрішніх розслідувань (2022–2024)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3886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91440" cy="3063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946904" y="14538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Виклики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46904" y="1801368"/>
            <a:ext cx="347472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нерівномірне впровадження стандартів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формальне виконання вимог «на папері»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слабкий захист викривачів на практиці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нові ризики: ШІ, «замовлення» робіт</a:t>
            </a:r>
            <a:endParaRPr lang="en-US" sz="1150" dirty="0"/>
          </a:p>
          <a:p>
            <a:pPr algn="l" marL="177800" indent="-1778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кадрова проблема: низькі зарплати педагогів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" y="149047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1472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Соціально-культурна природа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83794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Корупція — не лише правова, а й ціннісна проблема. Нормативні заходи необхідні, але недостатні.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55464" y="149047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855464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67528" y="1472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Якість правозастосування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1837944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є (ЗУ, Антикорупційна стратегія) — ключове завдання: подолати розрив між нормою і практикою.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" y="307238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7008" y="30540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Комплексність відповіді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341985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Поєднання нормативних, технологічних, організаційних і культурних механізмів.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907792"/>
            <a:ext cx="3886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3D3B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55464" y="307238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67528" y="30540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Усунення структурних умов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3419856"/>
            <a:ext cx="3108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Досвід Грузії: ефективніше прибрати дискреційні «точки рішень», ніж лише посилювати покарання.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508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Д.О. · Випускна робота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8508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Дякую за увагу!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20116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063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Білозор Дмитро Олександрович</a:t>
            </a:r>
            <a:endParaRPr lang="en-US" sz="1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swatdimonbil@gmail.com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ЧДТУ — Кібербезпека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Запобігання та протидія проявам корупції в системі освіти</dc:title>
  <dc:subject>PptxGenJS Presentation</dc:subject>
  <dc:creator>Dmytro Bilozor</dc:creator>
  <cp:lastModifiedBy>Dmytro Bilozor</cp:lastModifiedBy>
  <cp:revision>1</cp:revision>
  <dcterms:created xsi:type="dcterms:W3CDTF">2026-06-01T22:04:22Z</dcterms:created>
  <dcterms:modified xsi:type="dcterms:W3CDTF">2026-06-01T22:04:22Z</dcterms:modified>
</cp:coreProperties>
</file>