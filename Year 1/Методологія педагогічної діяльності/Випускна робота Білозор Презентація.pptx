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Alexandria Semi Bold" pitchFamily="2" charset="-78"/>
      <p:regular r:id="rId14"/>
    </p:embeddedFont>
    <p:embeddedFont>
      <p:font typeface="Sora Light" pitchFamily="2" charset="0"/>
      <p:regular r:id="rId15"/>
    </p:embeddedFont>
  </p:embeddedFontLst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26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8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982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3943" y="1223367"/>
            <a:ext cx="4767114" cy="133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uk-UA" sz="28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Запобігання та протидія проявам корупції в системі освіти</a:t>
            </a:r>
            <a:endParaRPr lang="uk-UA" sz="2800" dirty="0"/>
          </a:p>
        </p:txBody>
      </p:sp>
      <p:sp>
        <p:nvSpPr>
          <p:cNvPr id="6" name="Text 3"/>
          <p:cNvSpPr/>
          <p:nvPr/>
        </p:nvSpPr>
        <p:spPr>
          <a:xfrm>
            <a:off x="473943" y="2762771"/>
            <a:ext cx="4767114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uk-UA" sz="1050" dirty="0">
                <a:solidFill>
                  <a:srgbClr val="334E68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Комплексне дослідження теоретичних та практичних засад антикорупційної діяльності в освіті України з урахуванням міжнародного досвіду.</a:t>
            </a:r>
            <a:endParaRPr lang="uk-UA" sz="1050" dirty="0"/>
          </a:p>
        </p:txBody>
      </p:sp>
      <p:sp>
        <p:nvSpPr>
          <p:cNvPr id="7" name="Shape 4"/>
          <p:cNvSpPr/>
          <p:nvPr/>
        </p:nvSpPr>
        <p:spPr>
          <a:xfrm>
            <a:off x="473943" y="3598962"/>
            <a:ext cx="4767114" cy="10120"/>
          </a:xfrm>
          <a:prstGeom prst="rect">
            <a:avLst/>
          </a:prstGeom>
          <a:solidFill>
            <a:srgbClr val="3B3535">
              <a:alpha val="50000"/>
            </a:srgbClr>
          </a:solidFill>
          <a:ln/>
        </p:spPr>
        <p:txBody>
          <a:bodyPr/>
          <a:lstStyle/>
          <a:p>
            <a:endParaRPr lang="uk-UA" dirty="0"/>
          </a:p>
        </p:txBody>
      </p:sp>
      <p:sp>
        <p:nvSpPr>
          <p:cNvPr id="8" name="Text 5"/>
          <p:cNvSpPr/>
          <p:nvPr/>
        </p:nvSpPr>
        <p:spPr>
          <a:xfrm>
            <a:off x="473943" y="3795192"/>
            <a:ext cx="4767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uk-UA" sz="1050" b="1" dirty="0" err="1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Білозор</a:t>
            </a:r>
            <a:r>
              <a:rPr lang="uk-UA" sz="1050" b="1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Дмитро Олександрович</a:t>
            </a:r>
            <a:r>
              <a:rPr lang="uk-UA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· </a:t>
            </a:r>
            <a:r>
              <a:rPr lang="uk-UA" sz="1050" dirty="0">
                <a:solidFill>
                  <a:srgbClr val="0F766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Освітньо-наукова програма «Кібербезпека»</a:t>
            </a:r>
            <a:r>
              <a:rPr lang="uk-UA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· </a:t>
            </a:r>
            <a:r>
              <a:rPr lang="uk-UA" sz="1050" dirty="0" err="1">
                <a:solidFill>
                  <a:srgbClr val="C65A46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swatdimonbil@gmail.com</a:t>
            </a:r>
            <a:endParaRPr lang="uk-UA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1693" y="384721"/>
            <a:ext cx="908596" cy="248245"/>
          </a:xfrm>
          <a:prstGeom prst="roundRect">
            <a:avLst>
              <a:gd name="adj" fmla="val 17469"/>
            </a:avLst>
          </a:prstGeom>
          <a:noFill/>
          <a:ln w="4763">
            <a:solidFill>
              <a:srgbClr val="1A2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33846" y="428179"/>
            <a:ext cx="744289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80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АКТУАЛЬНІСТЬ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1693" y="682154"/>
            <a:ext cx="4811613" cy="849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Чому освітня корупція — особливо небезпечна?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358750" y="1715691"/>
            <a:ext cx="2434233" cy="3043014"/>
          </a:xfrm>
          <a:prstGeom prst="roundRect">
            <a:avLst>
              <a:gd name="adj" fmla="val 3818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487784" y="1838697"/>
            <a:ext cx="1723206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Кумулятивний ефект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7784" y="2173932"/>
            <a:ext cx="2176165" cy="1411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На відміну від економічної корупції, освітня має тривалий кумулятивний ефект: спотворює відбір знань, нівелює меритократію та формує «корупційно толерантне» суспільство.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019723" y="1838697"/>
            <a:ext cx="1775445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0F766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Глобальний масштаб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19723" y="2173932"/>
            <a:ext cx="2248346" cy="120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За даними </a:t>
            </a:r>
            <a:r>
              <a:rPr lang="en-US" sz="10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Transparency International</a:t>
            </a: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корупція в освіті фіксується як у країнах, що розвиваються, так і в державах зі сталими демократичними традиціями.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019723" y="3506465"/>
            <a:ext cx="1698203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C65A4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Вимоги для України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19723" y="3841700"/>
            <a:ext cx="2248346" cy="806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Євроінтеграційний курс висуває чіткі вимоги до прозорості, підзвітності й академічної доброчесності освітніх установ.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974303"/>
            <a:ext cx="635124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1A2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59891" y="1019621"/>
            <a:ext cx="463228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РОЗДІЛ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1292349"/>
            <a:ext cx="4053185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Форми корупції в освіті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3943" y="1940868"/>
            <a:ext cx="8196114" cy="2228255"/>
          </a:xfrm>
          <a:prstGeom prst="roundRect">
            <a:avLst>
              <a:gd name="adj" fmla="val 255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14214" y="2031578"/>
            <a:ext cx="1200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Рівень освіти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90142" y="2031578"/>
            <a:ext cx="25079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Форми корупції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73526" y="2031578"/>
            <a:ext cx="168927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Суб'єкти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38280" y="2031578"/>
            <a:ext cx="169165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Наслідки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4214" y="2424931"/>
            <a:ext cx="1200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Загальна середня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90142" y="2424931"/>
            <a:ext cx="250790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Хабарі при ЗНО/НМТ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73526" y="2424931"/>
            <a:ext cx="168927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Педагоги, адміністрація, здобувачі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38280" y="2424931"/>
            <a:ext cx="1691655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Якість ↓; нерівність 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4214" y="3034978"/>
            <a:ext cx="1200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Вища освіта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90142" y="3034978"/>
            <a:ext cx="250790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Підкуп при вступі; купівля ступенів; плагіат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73526" y="3034978"/>
            <a:ext cx="168927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Педагоги, адміністрація, здобувачі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38280" y="3034978"/>
            <a:ext cx="169165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Фальш-успіх; визнання дипломів за кордоном 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4214" y="3645024"/>
            <a:ext cx="120044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Управління освітою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90142" y="3645024"/>
            <a:ext cx="250790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Акредитація; держзакупівлі; маніпуляції планами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73526" y="3645024"/>
            <a:ext cx="168927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Адміністрація; системна змова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38280" y="3645024"/>
            <a:ext cx="1691655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Якість ↓; нерівність ↑; визнання дипломів ↓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67941" y="327050"/>
            <a:ext cx="434504" cy="151805"/>
          </a:xfrm>
          <a:prstGeom prst="roundRect">
            <a:avLst>
              <a:gd name="adj" fmla="val 20137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322487" y="354285"/>
            <a:ext cx="325413" cy="9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РОЗДІЛ 2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267941" y="503262"/>
            <a:ext cx="4110930" cy="299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Нормативно-правова база України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1267941" y="894159"/>
            <a:ext cx="6608043" cy="3922216"/>
          </a:xfrm>
          <a:prstGeom prst="roundRect">
            <a:avLst>
              <a:gd name="adj" fmla="val 97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363787" y="940296"/>
            <a:ext cx="139935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Нормативний акт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949773" y="940296"/>
            <a:ext cx="73714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Рік прийняття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73550" y="940296"/>
            <a:ext cx="2056805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Ключові положення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116985" y="940296"/>
            <a:ext cx="1663303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b="1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Застосування в освіті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63787" y="1149474"/>
            <a:ext cx="139935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ЗУ «Про запобігання корупції»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949773" y="1149474"/>
            <a:ext cx="73714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2014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873550" y="1149474"/>
            <a:ext cx="2056805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Визначає корупцію та конфлікт інтересів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Регулює декларування і фінконтроль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Містить вимоги до доброчесності та захисту викривачів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116985" y="1149474"/>
            <a:ext cx="1663303" cy="888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Поширюється на керівників, педагогів і адміністрацію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Стосується закупівель, кадрів, стипендій і ресурсів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Запобігає поборам, зловживанням і конфлікту інтересів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363787" y="2106960"/>
            <a:ext cx="139935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ЗУ «Про вищу освіту»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949773" y="2106960"/>
            <a:ext cx="73714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2014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73550" y="2106960"/>
            <a:ext cx="2056805" cy="644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Закріплює автономію та прозоре управління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Передбачає виборність і конкурсність кадрів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Посилює академічну свободу й звітність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16985" y="2106960"/>
            <a:ext cx="1663303" cy="888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Вимагає відкритих конкурсів і прозорого вступу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Підтримує чесне оцінювання та публічність рішень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Зменшує кумівство, непрозорий розподіл ресурсів і ризики акредитації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363787" y="3064446"/>
            <a:ext cx="139935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ЗУ «Про освіту»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949773" y="3064446"/>
            <a:ext cx="73714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2017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873550" y="3064446"/>
            <a:ext cx="2056805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Ст. 42 закріплює академічну доброчесність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Забороняє плагіат, фабрикацію, фальсифікацію та списування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Вимагає об'єктивного оцінювання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16985" y="3064446"/>
            <a:ext cx="1663303" cy="76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Поширюється на всі рівні освіти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Регулює контрольні, іспити, роботи та </a:t>
            </a:r>
            <a:r>
              <a:rPr lang="en-US" sz="7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навчальні</a:t>
            </a: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</a:t>
            </a:r>
            <a:r>
              <a:rPr lang="en-US" sz="700" dirty="0" err="1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матеріали</a:t>
            </a: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63787" y="3900264"/>
            <a:ext cx="1399356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Антикорупційна стратегія 2021–2025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949773" y="3900264"/>
            <a:ext cx="737146" cy="121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2021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73550" y="3900264"/>
            <a:ext cx="2056805" cy="766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Визначає довгострокові пріоритети державної політики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Орієнтує на культуру доброчесності й прозорість процедур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Підкреслює незалежний контроль і відкриті конкурси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16985" y="3900264"/>
            <a:ext cx="1663303" cy="888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Сприяє нульовій толерантності до корупції в освіті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Підтримує прозорі вступні та кадрові процедури</a:t>
            </a:r>
            <a:endParaRPr lang="en-US" sz="7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Посилює незалежне оцінювання, відкритість і профілактику порушень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1215851"/>
            <a:ext cx="656555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1A2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59891" y="1261170"/>
            <a:ext cx="484659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РОЗДІЛ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1533897"/>
            <a:ext cx="6121078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Інституційна архітектура контролю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2182416"/>
            <a:ext cx="338510" cy="3385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1670" y="218241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F6B6B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НАПК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81670" y="2486248"/>
            <a:ext cx="350572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Моніторинг антикорупційного законодавства в освіті.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6609" y="2182416"/>
            <a:ext cx="338510" cy="3385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64336" y="2182416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НАЗЯВО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164336" y="2486248"/>
            <a:ext cx="350572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Акредитація програм, якість освіти, академдоброчесність.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943" y="3190429"/>
            <a:ext cx="338510" cy="3385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1670" y="319042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96B4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НАБУ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81670" y="3494261"/>
            <a:ext cx="3505721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Розслідування корупційних злочинів, зокрема в освіті.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6609" y="3190429"/>
            <a:ext cx="338510" cy="3385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64336" y="319042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F6B6B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ProZorro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164336" y="3494261"/>
            <a:ext cx="3505721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Прозорі публічні закупівлі для закладів освіти.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6885" y="382563"/>
            <a:ext cx="605433" cy="237902"/>
          </a:xfrm>
          <a:prstGeom prst="roundRect">
            <a:avLst>
              <a:gd name="adj" fmla="val 17631"/>
            </a:avLst>
          </a:prstGeom>
          <a:noFill/>
          <a:ln w="4763">
            <a:solidFill>
              <a:srgbClr val="1A2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16508" y="424755"/>
            <a:ext cx="446187" cy="1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РОЗДІЛ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6885" y="666452"/>
            <a:ext cx="5161434" cy="821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Механізми запобігання корупції</a:t>
            </a:r>
            <a:endParaRPr lang="en-US" sz="2550" dirty="0"/>
          </a:p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у закладах освіти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36885" y="1660252"/>
            <a:ext cx="4077593" cy="1492821"/>
          </a:xfrm>
          <a:prstGeom prst="roundRect">
            <a:avLst>
              <a:gd name="adj" fmla="val 3512"/>
            </a:avLst>
          </a:prstGeom>
          <a:solidFill>
            <a:srgbClr val="FFFAFA"/>
          </a:solidFill>
          <a:ln w="14288">
            <a:solidFill>
              <a:srgbClr val="BBC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1172" y="1674540"/>
            <a:ext cx="4049018" cy="374452"/>
          </a:xfrm>
          <a:prstGeom prst="roundRect">
            <a:avLst>
              <a:gd name="adj" fmla="val 942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2069" y="1765697"/>
            <a:ext cx="187226" cy="1872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5965" y="2164035"/>
            <a:ext cx="16425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0F766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Нормативні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75965" y="2438251"/>
            <a:ext cx="3799433" cy="575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• Кодекс доброчесності</a:t>
            </a:r>
            <a:endParaRPr lang="en-US" sz="9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• уповноважена особа</a:t>
            </a:r>
            <a:endParaRPr lang="en-US" sz="9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• правила звернень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29522" y="1660252"/>
            <a:ext cx="4077593" cy="1492821"/>
          </a:xfrm>
          <a:prstGeom prst="roundRect">
            <a:avLst>
              <a:gd name="adj" fmla="val 3512"/>
            </a:avLst>
          </a:prstGeom>
          <a:solidFill>
            <a:srgbClr val="FFFAFA"/>
          </a:solidFill>
          <a:ln w="14288">
            <a:solidFill>
              <a:srgbClr val="BBC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643810" y="1674540"/>
            <a:ext cx="4049018" cy="374452"/>
          </a:xfrm>
          <a:prstGeom prst="roundRect">
            <a:avLst>
              <a:gd name="adj" fmla="val 942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4706" y="1765697"/>
            <a:ext cx="187226" cy="1872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68602" y="2164035"/>
            <a:ext cx="16425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Технологічні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768602" y="2438251"/>
            <a:ext cx="3799433" cy="575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• Unicheck / Turnitin</a:t>
            </a:r>
            <a:endParaRPr lang="en-US" sz="9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• е-документообіг</a:t>
            </a:r>
            <a:endParaRPr lang="en-US" sz="9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• ProZorro, онлайн-апеляції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36885" y="3268117"/>
            <a:ext cx="4077593" cy="1492821"/>
          </a:xfrm>
          <a:prstGeom prst="roundRect">
            <a:avLst>
              <a:gd name="adj" fmla="val 3512"/>
            </a:avLst>
          </a:prstGeom>
          <a:solidFill>
            <a:srgbClr val="FFFAFA"/>
          </a:solidFill>
          <a:ln w="14288">
            <a:solidFill>
              <a:srgbClr val="BBC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451172" y="3282404"/>
            <a:ext cx="4049018" cy="374452"/>
          </a:xfrm>
          <a:prstGeom prst="roundRect">
            <a:avLst>
              <a:gd name="adj" fmla="val 942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82069" y="3373562"/>
            <a:ext cx="187226" cy="1872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5965" y="3771900"/>
            <a:ext cx="16425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C75C4D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Організаційні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75965" y="4046116"/>
            <a:ext cx="3799433" cy="575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• комісії доброчесності</a:t>
            </a:r>
            <a:endParaRPr lang="en-US" sz="9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• анонімні лінії</a:t>
            </a:r>
            <a:endParaRPr lang="en-US" sz="9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• захист викривачів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29522" y="3268117"/>
            <a:ext cx="4077593" cy="1492821"/>
          </a:xfrm>
          <a:prstGeom prst="roundRect">
            <a:avLst>
              <a:gd name="adj" fmla="val 3512"/>
            </a:avLst>
          </a:prstGeom>
          <a:solidFill>
            <a:srgbClr val="FFFAFA"/>
          </a:solidFill>
          <a:ln w="14288">
            <a:solidFill>
              <a:srgbClr val="BBC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4643810" y="3282404"/>
            <a:ext cx="4049018" cy="374452"/>
          </a:xfrm>
          <a:prstGeom prst="roundRect">
            <a:avLst>
              <a:gd name="adj" fmla="val 9423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4706" y="3373562"/>
            <a:ext cx="187226" cy="1872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68602" y="3771900"/>
            <a:ext cx="1642542" cy="205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0F766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Культурно-освітні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768602" y="4046116"/>
            <a:ext cx="3799433" cy="575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• антикорупція в програмах</a:t>
            </a:r>
            <a:endParaRPr lang="en-US" sz="9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• тренінги для педагогів</a:t>
            </a:r>
            <a:endParaRPr lang="en-US" sz="9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• приклад керівництва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894606"/>
            <a:ext cx="658416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1A2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59891" y="939924"/>
            <a:ext cx="486519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РОЗДІЛ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1212652"/>
            <a:ext cx="8196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Міжнародний досвід:</a:t>
            </a:r>
            <a:r>
              <a:rPr lang="en-US" sz="2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 Фінляндія, Нідерланди, Грузія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73943" y="2441972"/>
            <a:ext cx="215510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Фінляндія та Нідерланди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3943" y="2799978"/>
            <a:ext cx="3932858" cy="1008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Публічне фінансування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відкриті реєстри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Високий статус педагогів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Без вступних іспитів — менше ризиків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Незалежне оцінювання якості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44405" y="2306613"/>
            <a:ext cx="4127971" cy="1942281"/>
          </a:xfrm>
          <a:prstGeom prst="roundRect">
            <a:avLst>
              <a:gd name="adj" fmla="val 5020"/>
            </a:avLst>
          </a:prstGeom>
          <a:solidFill>
            <a:srgbClr val="1A2D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79764" y="2441972"/>
            <a:ext cx="212556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Грузія — реформа вступу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79764" y="2799978"/>
            <a:ext cx="3857253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До 2004 р. — масові хабарі при вступі.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79764" y="3138488"/>
            <a:ext cx="385725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Реформа:</a:t>
            </a: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ЄНІ — єдині комп'ютеризовані іспити без втручання ВНЗ.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9764" y="3693691"/>
            <a:ext cx="3857253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Результат:</a:t>
            </a: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корупція при вступі стала статистично незначною.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726132"/>
            <a:ext cx="658416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1A2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59891" y="771451"/>
            <a:ext cx="486519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РОЗДІЛ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1044178"/>
            <a:ext cx="8196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Рекомендації ОЕСР та Transparency International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694" y="2142306"/>
            <a:ext cx="203076" cy="2030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3954" y="2138139"/>
            <a:ext cx="178995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Оцінювання ризиків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3954" y="2441972"/>
            <a:ext cx="2179216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Регулярна незалежна оцінка ризиків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Фокус на освітній сектор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3137" y="2142306"/>
            <a:ext cx="203076" cy="2030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02397" y="2138139"/>
            <a:ext cx="199310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Прозоре фінансування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702397" y="2441972"/>
            <a:ext cx="2179216" cy="91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Відкриті критерії фінансування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Зрозумілі правила для закладів освіти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01581" y="2142306"/>
            <a:ext cx="203076" cy="2030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90841" y="2138139"/>
            <a:ext cx="2179216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D97757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Стандарти конфлікту інтересів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490841" y="2664619"/>
            <a:ext cx="2179216" cy="69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Правила щодо сумісництва посад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Обмеження на подарунки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694" y="3636987"/>
            <a:ext cx="203076" cy="2030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3954" y="3632820"/>
            <a:ext cx="1967285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F766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Залучення суспільства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913954" y="3936653"/>
            <a:ext cx="3573438" cy="480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Моніторинг за участі громадськості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Студенти — учасники контролю доброчесності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7359" y="3636987"/>
            <a:ext cx="203076" cy="2030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96619" y="3632820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Структурні умови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096619" y="3936653"/>
            <a:ext cx="3573438" cy="480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Потрібні не лише покарання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Важливо усувати причини корупції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704776"/>
            <a:ext cx="656853" cy="263947"/>
          </a:xfrm>
          <a:prstGeom prst="roundRect">
            <a:avLst>
              <a:gd name="adj" fmla="val 17238"/>
            </a:avLst>
          </a:prstGeom>
          <a:noFill/>
          <a:ln w="4763">
            <a:solidFill>
              <a:srgbClr val="1A2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59891" y="750094"/>
            <a:ext cx="484956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РОЗДІЛ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1022821"/>
            <a:ext cx="4960441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Стан і перспективи в Україні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76386" y="1671340"/>
            <a:ext cx="4127971" cy="2767385"/>
          </a:xfrm>
          <a:prstGeom prst="roundRect">
            <a:avLst>
              <a:gd name="adj" fmla="val 3523"/>
            </a:avLst>
          </a:prstGeom>
          <a:solidFill>
            <a:srgbClr val="EAF6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11746" y="180669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0F4C5C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Досягнення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1746" y="2164705"/>
            <a:ext cx="3857253" cy="1008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Розвинена нормативно-правова база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Функціонують НАЗЯВО та контролюючі органи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Більшість ЗВО впровадили антиплагіатні системи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Зростання внутрішніх розслідувань (2022–2024)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44405" y="1671340"/>
            <a:ext cx="4127971" cy="2767385"/>
          </a:xfrm>
          <a:prstGeom prst="roundRect">
            <a:avLst>
              <a:gd name="adj" fmla="val 3523"/>
            </a:avLst>
          </a:prstGeom>
          <a:solidFill>
            <a:srgbClr val="F9E9E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79764" y="1806699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Системні проблеми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9764" y="2164705"/>
            <a:ext cx="3857253" cy="1008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Нерівномірне впровадження стандартів у регіонах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Формальне виконання вимог «на папері»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Низький рівень захисту викривачів на практиці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Відсутність моніторингу ризиків у середній освіті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9764" y="3308821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C96B4B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Кадровий чинник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79764" y="3666827"/>
            <a:ext cx="3857253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Низька зарплата педагогів — структурний стимул до «вимушеної» корупції. Підвищення матеріального статусу є умовою євроінтеграції.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7268" y="325115"/>
            <a:ext cx="657448" cy="208211"/>
          </a:xfrm>
          <a:prstGeom prst="roundRect">
            <a:avLst>
              <a:gd name="adj" fmla="val 18779"/>
            </a:avLst>
          </a:prstGeom>
          <a:solidFill>
            <a:srgbClr val="D5DC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477069" y="360015"/>
            <a:ext cx="517847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ВИСНОВКИ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07268" y="573286"/>
            <a:ext cx="3062362" cy="3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Ключові висновки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07268" y="1105942"/>
            <a:ext cx="261789" cy="261789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446298" y="1122015"/>
            <a:ext cx="183728" cy="2296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995" y="1145902"/>
            <a:ext cx="2373660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F6B6B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Соціально-культурна проблема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995" y="1397273"/>
            <a:ext cx="4538737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Нормативні заходи — необхідна, але не достатня умова. Потрібна зміна ціннісних орієнтирів усіх учасників.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07268" y="1943398"/>
            <a:ext cx="261789" cy="261789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46298" y="1959471"/>
            <a:ext cx="183728" cy="2296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8995" y="1983358"/>
            <a:ext cx="2450976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A2D7A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Розрив між формою і практикою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995" y="2234729"/>
            <a:ext cx="4538737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Україна має нормативну базу — ключова проблема в якості правозастосування.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07268" y="2607766"/>
            <a:ext cx="261789" cy="261789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446298" y="2623840"/>
            <a:ext cx="183728" cy="2296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8995" y="2647727"/>
            <a:ext cx="1613297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85C4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Комплексна стратегія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8995" y="2899097"/>
            <a:ext cx="4538737" cy="34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Поєднання нормативних, технологічних, організаційних і культурних механізмів.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07268" y="3445222"/>
            <a:ext cx="261789" cy="261789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446298" y="3461296"/>
            <a:ext cx="183728" cy="2296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8995" y="3485183"/>
            <a:ext cx="206893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0F6B6B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Усунення структурних умов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8995" y="3736553"/>
            <a:ext cx="4538737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Досвід Грузії доводить: ефективніше усунути умови корупції, ніж лише карати.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07268" y="4022080"/>
            <a:ext cx="4900464" cy="796305"/>
          </a:xfrm>
          <a:prstGeom prst="roundRect">
            <a:avLst>
              <a:gd name="adj" fmla="val 613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77" y="4189437"/>
            <a:ext cx="145405" cy="11630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85292" y="4151040"/>
            <a:ext cx="4406131" cy="519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Перспективи досліджень:</a:t>
            </a:r>
            <a:r>
              <a:rPr lang="en-US" sz="9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оцінка ефективності антикорупційних програм, вплив ШІ на академічне шахрайство, стандарти порівняльного аналізу між регіонами.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3136" y="1634803"/>
            <a:ext cx="4917653" cy="614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38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Дякую за увагу!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1506959" y="2452613"/>
            <a:ext cx="6130082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Запобігання та протидія проявам корупції в системі освіти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73943" y="2922910"/>
            <a:ext cx="8196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Білозор Дмитро Олександрович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3943" y="3291929"/>
            <a:ext cx="81961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swatdimonbil@gmail.com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781</Words>
  <Application>Microsoft Macintosh PowerPoint</Application>
  <PresentationFormat>On-screen Show (16:9)</PresentationFormat>
  <Paragraphs>167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Sora Light</vt:lpstr>
      <vt:lpstr>Alexandria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Dmytro Bilozor</dc:creator>
  <cp:keywords/>
  <dc:description/>
  <cp:lastModifiedBy>Dima Bil</cp:lastModifiedBy>
  <cp:revision>3</cp:revision>
  <dcterms:created xsi:type="dcterms:W3CDTF">2026-05-12T06:00:49Z</dcterms:created>
  <dcterms:modified xsi:type="dcterms:W3CDTF">2026-05-12T06:23:54Z</dcterms:modified>
  <cp:category/>
</cp:coreProperties>
</file>